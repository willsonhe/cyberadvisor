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0"/>
            <a:ext cx="3810305" cy="381030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1390" y="0"/>
            <a:ext cx="3810305" cy="381030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4462" y="381305"/>
            <a:ext cx="380664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CHINA MACROSTRATEGY &amp; SUSTAINABILITY RESEARCH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91856" y="571500"/>
            <a:ext cx="3629254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Morgan Stanley </a:t>
            </a:r>
            <a:r>
              <a:rPr lang="en-US" sz="1000" b="1" kern="0" spc="-56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Style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659161" y="6096305"/>
            <a:ext cx="10415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March 02, 2026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t="-1100" b="-1100"/>
          <a:stretch>
            <a:fillRect/>
          </a:stretch>
        </p:blipFill>
        <p:spPr>
          <a:xfrm>
            <a:off x="10468966" y="6131966"/>
            <a:ext cx="114300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66506" y="6324905"/>
            <a:ext cx="341985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此报告基于摩根士丹利2026中国经济展望框架分析，仅供参考。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571500" y="6277356"/>
            <a:ext cx="11048695" cy="91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09905" y="1392631"/>
            <a:ext cx="9925812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2026年全国两会前瞻报告：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9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政策延续下的宏观定调与产业确定性</a:t>
            </a:r>
            <a:endParaRPr lang="en-US" sz="3600" dirty="0"/>
          </a:p>
        </p:txBody>
      </p:sp>
      <p:sp>
        <p:nvSpPr>
          <p:cNvPr id="15" name="Shape 11"/>
          <p:cNvSpPr/>
          <p:nvPr/>
        </p:nvSpPr>
        <p:spPr>
          <a:xfrm>
            <a:off x="609905" y="2688336"/>
            <a:ext cx="38405" cy="3813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91210" y="2688336"/>
            <a:ext cx="94869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Policy Continuity, Not a Pivot ｜ “5R”再通胀 </a:t>
            </a:r>
            <a:r>
              <a:rPr lang="en-US" sz="18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碳检测产业链 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09905" y="3678631"/>
            <a:ext cx="5333695" cy="1447495"/>
          </a:xfrm>
          <a:prstGeom prst="roundRect">
            <a:avLst>
              <a:gd name="adj" fmla="val 332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3544" y="4031590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28954" y="3993185"/>
            <a:ext cx="8001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宏观判断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23544" y="4374490"/>
            <a:ext cx="4782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2026年政策定调为“延续+校准”，而非全力拉升。再通胀是一场“慢火”，预计持续至2027年。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48095" y="3678631"/>
            <a:ext cx="5333695" cy="1447495"/>
          </a:xfrm>
          <a:prstGeom prst="roundRect">
            <a:avLst>
              <a:gd name="adj" fmla="val 332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62649" y="4031590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67144" y="3993185"/>
            <a:ext cx="8001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投资主线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562649" y="4374490"/>
            <a:ext cx="4782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锁定政策刚性赛道：</a:t>
            </a:r>
            <a:r>
              <a:rPr lang="en-US" sz="1000" b="1" dirty="0">
                <a:solidFill>
                  <a:srgbClr val="E5E7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全国碳市场扩容 + 欧盟CBAM + 绿色科技基建</a:t>
            </a:r>
            <a:r>
              <a:rPr lang="en-US" sz="1000" dirty="0">
                <a:solidFill>
                  <a:srgbClr val="E5E7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，规避宏观周期波动。 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09905" y="945490"/>
            <a:ext cx="1595628" cy="238658"/>
          </a:xfrm>
          <a:prstGeom prst="rect">
            <a:avLst/>
          </a:prstGeom>
          <a:solidFill>
            <a:srgbClr val="1E40A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BEAF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Thematic Research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l="-2512" r="-2512"/>
          <a:stretch>
            <a:fillRect/>
          </a:stretch>
        </p:blipFill>
        <p:spPr>
          <a:xfrm>
            <a:off x="5627218" y="2857500"/>
            <a:ext cx="105156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14300"/>
            <a:ext cx="49725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MACRO ENVIRONMENT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4495"/>
            <a:ext cx="504840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宏观环境：内外双重压力下的政策命题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91979" y="286207"/>
            <a:ext cx="172821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十五五开局之年的复杂背景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 t="-2083" b="-2083"/>
          <a:stretch>
            <a:fillRect/>
          </a:stretch>
        </p:blipFill>
        <p:spPr>
          <a:xfrm>
            <a:off x="6090818" y="286207"/>
            <a:ext cx="9144" cy="6286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1714500"/>
            <a:ext cx="5333695" cy="1920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" y="1116482"/>
            <a:ext cx="381305" cy="381305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7395" y="119329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5451" y="1047902"/>
            <a:ext cx="2924251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外部环境：更动荡、更高风险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095451" y="1380744"/>
            <a:ext cx="30815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Global Volatility &amp; External Constraints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71500" y="1919326"/>
            <a:ext cx="5333695" cy="790956"/>
          </a:xfrm>
          <a:prstGeom prst="roundRect">
            <a:avLst>
              <a:gd name="adj" fmla="val 16714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1500" y="1919326"/>
            <a:ext cx="38405" cy="790956"/>
          </a:xfrm>
          <a:prstGeom prst="roundRect">
            <a:avLst>
              <a:gd name="adj" fmla="val 344232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800100" y="2168957"/>
            <a:ext cx="190195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52144" y="2090318"/>
            <a:ext cx="47722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全球贸易体系持续受扰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152144" y="2361895"/>
            <a:ext cx="47722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关税不确定性高企，主要经济体贸易政策调整直接冲击外需稳定性与产业链分工。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71500" y="2895905"/>
            <a:ext cx="5333695" cy="790956"/>
          </a:xfrm>
          <a:prstGeom prst="roundRect">
            <a:avLst>
              <a:gd name="adj" fmla="val 16714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1500" y="2895905"/>
            <a:ext cx="38405" cy="790956"/>
          </a:xfrm>
          <a:prstGeom prst="roundRect">
            <a:avLst>
              <a:gd name="adj" fmla="val 344232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 l="-760" r="-760"/>
          <a:stretch>
            <a:fillRect/>
          </a:stretch>
        </p:blipFill>
        <p:spPr>
          <a:xfrm>
            <a:off x="819302" y="3145536"/>
            <a:ext cx="152705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52144" y="3066898"/>
            <a:ext cx="47722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地缘政治冲突持续发酵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52144" y="3338474"/>
            <a:ext cx="47722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推升全球外部摩擦，加剧供应链重构压力，增加宏观政策的外部约束。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71500" y="3871570"/>
            <a:ext cx="5333695" cy="790956"/>
          </a:xfrm>
          <a:prstGeom prst="roundRect">
            <a:avLst>
              <a:gd name="adj" fmla="val 16714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71500" y="3871570"/>
            <a:ext cx="38405" cy="790956"/>
          </a:xfrm>
          <a:prstGeom prst="roundRect">
            <a:avLst>
              <a:gd name="adj" fmla="val 344232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09244" y="4122115"/>
            <a:ext cx="171907" cy="17190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52144" y="4043477"/>
            <a:ext cx="47722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全球资本市场波动加大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1152144" y="4315054"/>
            <a:ext cx="47722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跨境资本流动不确定性上升，对汇率与金融市场稳定性构成挑战。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71500" y="4848149"/>
            <a:ext cx="5333695" cy="207660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619049" y="4990795"/>
            <a:ext cx="52395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全球地缘政治风险指数趋势</a:t>
            </a:r>
            <a:endParaRPr lang="en-US" sz="9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rcRect t="-8" b="-8"/>
          <a:stretch>
            <a:fillRect/>
          </a:stretch>
        </p:blipFill>
        <p:spPr>
          <a:xfrm>
            <a:off x="714146" y="5257800"/>
            <a:ext cx="5048402" cy="152430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286500" y="1714500"/>
            <a:ext cx="5333695" cy="19202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286500" y="1116482"/>
            <a:ext cx="381305" cy="381305"/>
          </a:xfrm>
          <a:prstGeom prst="ellipse">
            <a:avLst/>
          </a:prstGeom>
          <a:solidFill>
            <a:srgbClr val="0022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l="-133" r="-133"/>
          <a:stretch>
            <a:fillRect/>
          </a:stretch>
        </p:blipFill>
        <p:spPr>
          <a:xfrm>
            <a:off x="6391656" y="1193292"/>
            <a:ext cx="171907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810451" y="1047902"/>
            <a:ext cx="3343961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内部环境：多重约束下的韧性挑战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810451" y="1380744"/>
            <a:ext cx="326715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Domestic Structural Constraints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286500" y="1919326"/>
            <a:ext cx="5333695" cy="790956"/>
          </a:xfrm>
          <a:prstGeom prst="roundRect">
            <a:avLst>
              <a:gd name="adj" fmla="val 16714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286500" y="1919326"/>
            <a:ext cx="38405" cy="790956"/>
          </a:xfrm>
          <a:prstGeom prst="roundRect">
            <a:avLst>
              <a:gd name="adj" fmla="val 344232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 l="-1064" r="-1064"/>
          <a:stretch>
            <a:fillRect/>
          </a:stretch>
        </p:blipFill>
        <p:spPr>
          <a:xfrm>
            <a:off x="6500470" y="2168957"/>
            <a:ext cx="219456" cy="17190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67144" y="2090318"/>
            <a:ext cx="47722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房地产市场持续低迷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6867144" y="2361895"/>
            <a:ext cx="47722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拖累居民与企业资产负债表，成为经济循环的最大堵点，去库存压力仍存。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6286500" y="2895905"/>
            <a:ext cx="5333695" cy="790956"/>
          </a:xfrm>
          <a:prstGeom prst="roundRect">
            <a:avLst>
              <a:gd name="adj" fmla="val 16714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6286500" y="2895905"/>
            <a:ext cx="38405" cy="790956"/>
          </a:xfrm>
          <a:prstGeom prst="roundRect">
            <a:avLst>
              <a:gd name="adj" fmla="val 344232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9"/>
          <a:srcRect l="-1064" r="-1064"/>
          <a:stretch>
            <a:fillRect/>
          </a:stretch>
        </p:blipFill>
        <p:spPr>
          <a:xfrm>
            <a:off x="6500470" y="3145536"/>
            <a:ext cx="219456" cy="171907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867144" y="3066898"/>
            <a:ext cx="47722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就业与收入预期改善缓慢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6867144" y="3338474"/>
            <a:ext cx="47722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预防性储蓄意愿仍处高位，制约消费需求修复，微观主体信心待振。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6286500" y="3871570"/>
            <a:ext cx="5333695" cy="790956"/>
          </a:xfrm>
          <a:prstGeom prst="roundRect">
            <a:avLst>
              <a:gd name="adj" fmla="val 16714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6286500" y="3871570"/>
            <a:ext cx="38405" cy="790956"/>
          </a:xfrm>
          <a:prstGeom prst="roundRect">
            <a:avLst>
              <a:gd name="adj" fmla="val 344232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rcRect t="-842" b="-842"/>
          <a:stretch>
            <a:fillRect/>
          </a:stretch>
        </p:blipFill>
        <p:spPr>
          <a:xfrm>
            <a:off x="6515100" y="4122115"/>
            <a:ext cx="190195" cy="171907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6867144" y="4043477"/>
            <a:ext cx="47722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社会保障改善呈“零敲碎打”</a:t>
            </a:r>
            <a:endParaRPr lang="en-US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6867144" y="4315054"/>
            <a:ext cx="47722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政策改善偏向点状，缺乏系统性福利扩张，难以形成持续的需求提振闭环。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6286500" y="4848149"/>
            <a:ext cx="5333695" cy="207660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4" name="Text 42"/>
          <p:cNvSpPr txBox="1"/>
          <p:nvPr/>
        </p:nvSpPr>
        <p:spPr>
          <a:xfrm>
            <a:off x="6334049" y="4990795"/>
            <a:ext cx="52395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消费者信心指数与房地产景气度</a:t>
            </a:r>
            <a:endParaRPr lang="en-US" sz="9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1"/>
          <a:srcRect t="-8" b="-8"/>
          <a:stretch>
            <a:fillRect/>
          </a:stretch>
        </p:blipFill>
        <p:spPr>
          <a:xfrm>
            <a:off x="6429146" y="5257800"/>
            <a:ext cx="5048402" cy="1524305"/>
          </a:xfrm>
          <a:prstGeom prst="rect">
            <a:avLst/>
          </a:prstGeom>
        </p:spPr>
      </p:pic>
      <p:sp>
        <p:nvSpPr>
          <p:cNvPr id="56" name="Shape 4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Shape 4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58" name="Text 45"/>
          <p:cNvSpPr txBox="1"/>
          <p:nvPr/>
        </p:nvSpPr>
        <p:spPr>
          <a:xfrm>
            <a:off x="571500" y="6586423"/>
            <a:ext cx="282275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NBS, Wind</a:t>
            </a:r>
            <a:endParaRPr lang="en-US" sz="900" dirty="0"/>
          </a:p>
        </p:txBody>
      </p:sp>
      <p:sp>
        <p:nvSpPr>
          <p:cNvPr id="59" name="Text 46"/>
          <p:cNvSpPr txBox="1"/>
          <p:nvPr/>
        </p:nvSpPr>
        <p:spPr>
          <a:xfrm>
            <a:off x="11557102" y="6586423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902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28600"/>
            <a:ext cx="477225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MORGAN STANLEY MACRO FRAMEWORK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418795"/>
            <a:ext cx="4849063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大摩“5R”再通胀战略：五维进度卡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159898" y="400507"/>
            <a:ext cx="146121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截至2025年底进度评估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90295"/>
            <a:ext cx="12191695" cy="65727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 l="-6" r="-6"/>
          <a:stretch>
            <a:fillRect/>
          </a:stretch>
        </p:blipFill>
        <p:spPr>
          <a:xfrm>
            <a:off x="571500" y="1950415"/>
            <a:ext cx="3810305" cy="43479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2531059"/>
            <a:ext cx="3333902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" y="2188159"/>
            <a:ext cx="352501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总体评估结论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2617013"/>
            <a:ext cx="34107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五个维度中，最关键的“再通胀”和“改革”进度最慢，说明2026年政策基调仍是</a:t>
            </a:r>
            <a:r>
              <a:rPr lang="en-US" sz="1000" b="1" dirty="0">
                <a:solidFill>
                  <a:srgbClr val="1E40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托底而非全力拉升</a:t>
            </a:r>
            <a:r>
              <a:rPr lang="en-US" sz="10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 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l="-2" r="-2"/>
          <a:stretch>
            <a:fillRect/>
          </a:stretch>
        </p:blipFill>
        <p:spPr>
          <a:xfrm>
            <a:off x="809244" y="3203143"/>
            <a:ext cx="3333902" cy="28575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4807" y="6451092"/>
            <a:ext cx="39246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数据来源：Morgan Stanley Research (Feb 2026)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62195" y="1276502"/>
            <a:ext cx="6858000" cy="1086307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62195" y="1276502"/>
            <a:ext cx="38405" cy="1086307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90795" y="1438351"/>
            <a:ext cx="122438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Reflation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130138" y="1495044"/>
            <a:ext cx="4764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再通胀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0560406" y="1419149"/>
            <a:ext cx="9528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20-25%</a:t>
            </a:r>
            <a:endParaRPr lang="en-US" sz="1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>
            <a:fillRect/>
          </a:stretch>
        </p:blipFill>
        <p:spPr>
          <a:xfrm>
            <a:off x="4990795" y="1886407"/>
            <a:ext cx="6439205" cy="57607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t="-410" b="-410"/>
          <a:stretch>
            <a:fillRect/>
          </a:stretch>
        </p:blipFill>
        <p:spPr>
          <a:xfrm>
            <a:off x="4990795" y="1886407"/>
            <a:ext cx="1448410" cy="5760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990795" y="2048256"/>
            <a:ext cx="400507" cy="181051"/>
          </a:xfrm>
          <a:prstGeom prst="roundRect">
            <a:avLst>
              <a:gd name="adj" fmla="val 21265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990795" y="2048256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5447995" y="2048256"/>
            <a:ext cx="221467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赤字扩1.1pct / 降息10bp / 降准50bp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287207" y="2048256"/>
            <a:ext cx="304495" cy="181051"/>
          </a:xfrm>
          <a:prstGeom prst="roundRect">
            <a:avLst>
              <a:gd name="adj" fmla="val 212653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87207" y="2048256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6282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缺口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8648395" y="2048256"/>
            <a:ext cx="235458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以消费为核心的万亿级刺激 / 压低实际利率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762195" y="2505456"/>
            <a:ext cx="6858000" cy="1086307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62195" y="2505456"/>
            <a:ext cx="38405" cy="1086307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990795" y="2667305"/>
            <a:ext cx="161483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Rebalancing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494983" y="2723998"/>
            <a:ext cx="4764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再平衡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0560406" y="2648102"/>
            <a:ext cx="9528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25-30%</a:t>
            </a:r>
            <a:endParaRPr lang="en-US" sz="18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rcRect t="-398" b="-398"/>
          <a:stretch>
            <a:fillRect/>
          </a:stretch>
        </p:blipFill>
        <p:spPr>
          <a:xfrm>
            <a:off x="4990795" y="3114446"/>
            <a:ext cx="6439205" cy="57607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rcRect t="-409" b="-409"/>
          <a:stretch>
            <a:fillRect/>
          </a:stretch>
        </p:blipFill>
        <p:spPr>
          <a:xfrm>
            <a:off x="4990795" y="3114446"/>
            <a:ext cx="1770278" cy="57607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4990795" y="3276295"/>
            <a:ext cx="400507" cy="181051"/>
          </a:xfrm>
          <a:prstGeom prst="roundRect">
            <a:avLst>
              <a:gd name="adj" fmla="val 21265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4990795" y="3276295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5447995" y="3276295"/>
            <a:ext cx="2211019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以旧换新 / 公务员加薪 / 部分福利改善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8287207" y="3276295"/>
            <a:ext cx="304495" cy="181051"/>
          </a:xfrm>
          <a:prstGeom prst="roundRect">
            <a:avLst>
              <a:gd name="adj" fmla="val 212653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8287207" y="3276295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6282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缺口</a:t>
            </a:r>
            <a:endParaRPr lang="en-US" sz="800" dirty="0"/>
          </a:p>
        </p:txBody>
      </p:sp>
      <p:sp>
        <p:nvSpPr>
          <p:cNvPr id="40" name="Text 32"/>
          <p:cNvSpPr txBox="1"/>
          <p:nvPr/>
        </p:nvSpPr>
        <p:spPr>
          <a:xfrm>
            <a:off x="8648395" y="3276295"/>
            <a:ext cx="225308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福利大幅升级 / “结构改革2.0”解决内卷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762195" y="3733495"/>
            <a:ext cx="6858000" cy="1086307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62195" y="3733495"/>
            <a:ext cx="38405" cy="1086307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4990795" y="3895344"/>
            <a:ext cx="184800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Restructuring</a:t>
            </a:r>
            <a:endParaRPr lang="en-US" sz="1800" dirty="0"/>
          </a:p>
        </p:txBody>
      </p:sp>
      <p:sp>
        <p:nvSpPr>
          <p:cNvPr id="44" name="Text 36"/>
          <p:cNvSpPr txBox="1"/>
          <p:nvPr/>
        </p:nvSpPr>
        <p:spPr>
          <a:xfrm>
            <a:off x="6649517" y="3952951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再结构化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0560406" y="3877056"/>
            <a:ext cx="9528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60-80%</a:t>
            </a:r>
            <a:endParaRPr lang="en-US" sz="18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rcRect t="-398" b="-398"/>
          <a:stretch>
            <a:fillRect/>
          </a:stretch>
        </p:blipFill>
        <p:spPr>
          <a:xfrm>
            <a:off x="4990795" y="4343400"/>
            <a:ext cx="6439205" cy="57607"/>
          </a:xfrm>
          <a:prstGeom prst="rect">
            <a:avLst/>
          </a:prstGeom>
        </p:spPr>
      </p:pic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6"/>
          <a:srcRect t="-400" b="-400"/>
          <a:stretch>
            <a:fillRect/>
          </a:stretch>
        </p:blipFill>
        <p:spPr>
          <a:xfrm>
            <a:off x="4990795" y="4343400"/>
            <a:ext cx="4507078" cy="57607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4990795" y="4505249"/>
            <a:ext cx="400507" cy="181051"/>
          </a:xfrm>
          <a:prstGeom prst="roundRect">
            <a:avLst>
              <a:gd name="adj" fmla="val 21265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4990795" y="4505249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5447995" y="4505249"/>
            <a:ext cx="241493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10万亿化债 / 存量房收储 / 3000亿再贷款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8287207" y="4505249"/>
            <a:ext cx="304495" cy="181051"/>
          </a:xfrm>
          <a:prstGeom prst="roundRect">
            <a:avLst>
              <a:gd name="adj" fmla="val 212653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8287207" y="4505249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6282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缺口</a:t>
            </a:r>
            <a:endParaRPr lang="en-US" sz="800" dirty="0"/>
          </a:p>
        </p:txBody>
      </p:sp>
      <p:sp>
        <p:nvSpPr>
          <p:cNvPr id="53" name="Text 43"/>
          <p:cNvSpPr txBox="1"/>
          <p:nvPr/>
        </p:nvSpPr>
        <p:spPr>
          <a:xfrm>
            <a:off x="8648395" y="4505249"/>
            <a:ext cx="241218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中央资金直投收储 / LGFV债务四方分担机制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4762195" y="4962449"/>
            <a:ext cx="6858000" cy="1086307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4762195" y="4962449"/>
            <a:ext cx="38405" cy="1086307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>
                <a:alpha val="0"/>
              </a:srgbClr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4990795" y="5124298"/>
            <a:ext cx="905256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Reform</a:t>
            </a:r>
            <a:endParaRPr lang="en-US" sz="1800" dirty="0"/>
          </a:p>
        </p:txBody>
      </p:sp>
      <p:sp>
        <p:nvSpPr>
          <p:cNvPr id="57" name="Text 47"/>
          <p:cNvSpPr txBox="1"/>
          <p:nvPr/>
        </p:nvSpPr>
        <p:spPr>
          <a:xfrm>
            <a:off x="5932627" y="5181905"/>
            <a:ext cx="3429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改革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10926166" y="5105095"/>
            <a:ext cx="58155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25%</a:t>
            </a:r>
            <a:endParaRPr lang="en-US" sz="18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3"/>
          <a:srcRect t="-398" b="-398"/>
          <a:stretch>
            <a:fillRect/>
          </a:stretch>
        </p:blipFill>
        <p:spPr>
          <a:xfrm>
            <a:off x="4990795" y="5572354"/>
            <a:ext cx="6439205" cy="57607"/>
          </a:xfrm>
          <a:prstGeom prst="rect">
            <a:avLst/>
          </a:prstGeom>
        </p:spPr>
      </p:pic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7"/>
          <a:srcRect t="-412" b="-412"/>
          <a:stretch>
            <a:fillRect/>
          </a:stretch>
        </p:blipFill>
        <p:spPr>
          <a:xfrm>
            <a:off x="4990795" y="5572354"/>
            <a:ext cx="1609344" cy="57607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4990795" y="5734202"/>
            <a:ext cx="400507" cy="181051"/>
          </a:xfrm>
          <a:prstGeom prst="roundRect">
            <a:avLst>
              <a:gd name="adj" fmla="val 21265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4990795" y="5734202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800" dirty="0"/>
          </a:p>
        </p:txBody>
      </p:sp>
      <p:sp>
        <p:nvSpPr>
          <p:cNvPr id="63" name="Text 51"/>
          <p:cNvSpPr txBox="1"/>
          <p:nvPr/>
        </p:nvSpPr>
        <p:spPr>
          <a:xfrm>
            <a:off x="5447995" y="5734202"/>
            <a:ext cx="1739189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资本市场“九点指引”推动回报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8287207" y="5734202"/>
            <a:ext cx="304495" cy="181051"/>
          </a:xfrm>
          <a:prstGeom prst="roundRect">
            <a:avLst>
              <a:gd name="adj" fmla="val 212653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8287207" y="5734202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6282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缺口</a:t>
            </a:r>
            <a:endParaRPr lang="en-US" sz="800" dirty="0"/>
          </a:p>
        </p:txBody>
      </p:sp>
      <p:sp>
        <p:nvSpPr>
          <p:cNvPr id="66" name="Text 54"/>
          <p:cNvSpPr txBox="1"/>
          <p:nvPr/>
        </p:nvSpPr>
        <p:spPr>
          <a:xfrm>
            <a:off x="8648395" y="5734202"/>
            <a:ext cx="187909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国企效率实质提升 / 财税体制理顺</a:t>
            </a:r>
            <a:endParaRPr lang="en-US" sz="900" dirty="0"/>
          </a:p>
        </p:txBody>
      </p:sp>
      <p:sp>
        <p:nvSpPr>
          <p:cNvPr id="67" name="Shape 55"/>
          <p:cNvSpPr/>
          <p:nvPr/>
        </p:nvSpPr>
        <p:spPr>
          <a:xfrm>
            <a:off x="4762195" y="6191402"/>
            <a:ext cx="6858000" cy="1086307"/>
          </a:xfrm>
          <a:prstGeom prst="rect">
            <a:avLst/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8" name="Shape 56"/>
          <p:cNvSpPr/>
          <p:nvPr/>
        </p:nvSpPr>
        <p:spPr>
          <a:xfrm>
            <a:off x="4762195" y="6191402"/>
            <a:ext cx="38405" cy="1086307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</p:sp>
      <p:sp>
        <p:nvSpPr>
          <p:cNvPr id="69" name="Text 57"/>
          <p:cNvSpPr txBox="1"/>
          <p:nvPr/>
        </p:nvSpPr>
        <p:spPr>
          <a:xfrm>
            <a:off x="4990795" y="6353251"/>
            <a:ext cx="117409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Rekindle</a:t>
            </a:r>
            <a:endParaRPr lang="en-US" sz="1800" dirty="0"/>
          </a:p>
        </p:txBody>
      </p:sp>
      <p:sp>
        <p:nvSpPr>
          <p:cNvPr id="70" name="Text 58"/>
          <p:cNvSpPr txBox="1"/>
          <p:nvPr/>
        </p:nvSpPr>
        <p:spPr>
          <a:xfrm>
            <a:off x="6096305" y="6409944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重燃信心</a:t>
            </a:r>
            <a:endParaRPr lang="en-US" sz="1000" dirty="0"/>
          </a:p>
        </p:txBody>
      </p:sp>
      <p:sp>
        <p:nvSpPr>
          <p:cNvPr id="71" name="Text 59"/>
          <p:cNvSpPr txBox="1"/>
          <p:nvPr/>
        </p:nvSpPr>
        <p:spPr>
          <a:xfrm>
            <a:off x="10560406" y="6334049"/>
            <a:ext cx="9528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60-70%</a:t>
            </a:r>
            <a:endParaRPr lang="en-US" sz="1800" dirty="0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 r:embed="rId3"/>
          <a:srcRect t="-398" b="-398"/>
          <a:stretch>
            <a:fillRect/>
          </a:stretch>
        </p:blipFill>
        <p:spPr>
          <a:xfrm>
            <a:off x="4990795" y="6801307"/>
            <a:ext cx="6439205" cy="57607"/>
          </a:xfrm>
          <a:prstGeom prst="rect">
            <a:avLst/>
          </a:prstGeom>
        </p:spPr>
      </p:pic>
      <p:pic>
        <p:nvPicPr>
          <p:cNvPr id="73" name="Image 11" descr="preencoded.png"/>
          <p:cNvPicPr>
            <a:picLocks noChangeAspect="1"/>
          </p:cNvPicPr>
          <p:nvPr/>
        </p:nvPicPr>
        <p:blipFill>
          <a:blip r:embed="rId8"/>
          <a:srcRect t="-400" b="-400"/>
          <a:stretch>
            <a:fillRect/>
          </a:stretch>
        </p:blipFill>
        <p:spPr>
          <a:xfrm>
            <a:off x="4990795" y="6801307"/>
            <a:ext cx="4185209" cy="57607"/>
          </a:xfrm>
          <a:prstGeom prst="rect">
            <a:avLst/>
          </a:prstGeom>
        </p:spPr>
      </p:pic>
      <p:sp>
        <p:nvSpPr>
          <p:cNvPr id="74" name="Shape 60"/>
          <p:cNvSpPr/>
          <p:nvPr/>
        </p:nvSpPr>
        <p:spPr>
          <a:xfrm>
            <a:off x="4990795" y="6963156"/>
            <a:ext cx="400507" cy="181051"/>
          </a:xfrm>
          <a:prstGeom prst="roundRect">
            <a:avLst>
              <a:gd name="adj" fmla="val 21265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1"/>
          <p:cNvSpPr txBox="1"/>
          <p:nvPr/>
        </p:nvSpPr>
        <p:spPr>
          <a:xfrm>
            <a:off x="4990795" y="6963156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800" dirty="0"/>
          </a:p>
        </p:txBody>
      </p:sp>
      <p:sp>
        <p:nvSpPr>
          <p:cNvPr id="76" name="Text 62"/>
          <p:cNvSpPr txBox="1"/>
          <p:nvPr/>
        </p:nvSpPr>
        <p:spPr>
          <a:xfrm>
            <a:off x="5447995" y="6963156"/>
            <a:ext cx="187909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高层座谈民企 / 互换便利支撑股市</a:t>
            </a:r>
            <a:endParaRPr lang="en-US" sz="900" dirty="0"/>
          </a:p>
        </p:txBody>
      </p:sp>
      <p:sp>
        <p:nvSpPr>
          <p:cNvPr id="77" name="Shape 63"/>
          <p:cNvSpPr/>
          <p:nvPr/>
        </p:nvSpPr>
        <p:spPr>
          <a:xfrm>
            <a:off x="8287207" y="6963156"/>
            <a:ext cx="304495" cy="181051"/>
          </a:xfrm>
          <a:prstGeom prst="roundRect">
            <a:avLst>
              <a:gd name="adj" fmla="val 212653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4"/>
          <p:cNvSpPr txBox="1"/>
          <p:nvPr/>
        </p:nvSpPr>
        <p:spPr>
          <a:xfrm>
            <a:off x="8287207" y="6963156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6282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缺口</a:t>
            </a:r>
            <a:endParaRPr lang="en-US" sz="800" dirty="0"/>
          </a:p>
        </p:txBody>
      </p:sp>
      <p:sp>
        <p:nvSpPr>
          <p:cNvPr id="79" name="Text 65"/>
          <p:cNvSpPr txBox="1"/>
          <p:nvPr/>
        </p:nvSpPr>
        <p:spPr>
          <a:xfrm>
            <a:off x="8648395" y="6963156"/>
            <a:ext cx="211683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明确监管重置结束 / 服务业进一步开放</a:t>
            </a:r>
            <a:endParaRPr lang="en-US" sz="900" dirty="0"/>
          </a:p>
        </p:txBody>
      </p:sp>
      <p:sp>
        <p:nvSpPr>
          <p:cNvPr id="80" name="Shape 66"/>
          <p:cNvSpPr/>
          <p:nvPr/>
        </p:nvSpPr>
        <p:spPr>
          <a:xfrm>
            <a:off x="0" y="7563002"/>
            <a:ext cx="12191695" cy="4663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1" name="Shape 67"/>
          <p:cNvSpPr/>
          <p:nvPr/>
        </p:nvSpPr>
        <p:spPr>
          <a:xfrm>
            <a:off x="0" y="7563002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82" name="Text 68"/>
          <p:cNvSpPr txBox="1"/>
          <p:nvPr/>
        </p:nvSpPr>
        <p:spPr>
          <a:xfrm>
            <a:off x="571500" y="7715707"/>
            <a:ext cx="392643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National Bureau of Statistics</a:t>
            </a:r>
            <a:endParaRPr lang="en-US" sz="900" dirty="0"/>
          </a:p>
        </p:txBody>
      </p:sp>
      <p:sp>
        <p:nvSpPr>
          <p:cNvPr id="83" name="Text 69"/>
          <p:cNvSpPr txBox="1"/>
          <p:nvPr/>
        </p:nvSpPr>
        <p:spPr>
          <a:xfrm>
            <a:off x="11557102" y="7715707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14300"/>
            <a:ext cx="585856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CHINA MACRO OUTLOOK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4495"/>
            <a:ext cx="5934456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再通胀是“慢火”：GDP平减指数与通缩时长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593885" y="286207"/>
            <a:ext cx="202722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当前通缩周期预计持续16个季度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761695"/>
            <a:ext cx="12191695" cy="6152998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1047902"/>
            <a:ext cx="11048695" cy="34290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l="-6" r="-6"/>
          <a:stretch>
            <a:fillRect/>
          </a:stretch>
        </p:blipFill>
        <p:spPr>
          <a:xfrm>
            <a:off x="618185" y="1428598"/>
            <a:ext cx="10668305" cy="30476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973972" y="1071728"/>
            <a:ext cx="2381098" cy="705002"/>
          </a:xfrm>
          <a:prstGeom prst="roundRect">
            <a:avLst>
              <a:gd name="adj" fmla="val 14022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067495" y="1120369"/>
            <a:ext cx="206471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历史最长通缩周期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973642" y="1273048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087942" y="1273099"/>
            <a:ext cx="215341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本轮预计持续16个季度 (2023Q2-2027Q1)，远超1998年的7个季度。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71500" y="4667098"/>
            <a:ext cx="3562502" cy="1962302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1500" y="4667098"/>
            <a:ext cx="3562502" cy="38405"/>
          </a:xfrm>
          <a:prstGeom prst="roundRect">
            <a:avLst>
              <a:gd name="adj" fmla="val 18492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61695" y="4895698"/>
            <a:ext cx="32964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Phase I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761695" y="5115154"/>
            <a:ext cx="325800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放慢对过剩供给的投资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85139" y="5629046"/>
            <a:ext cx="32488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进展有限：</a:t>
            </a: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整体固定资产投资可能夸大放缓程度。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l="-133" r="-133"/>
          <a:stretch>
            <a:fillRect/>
          </a:stretch>
        </p:blipFill>
        <p:spPr>
          <a:xfrm>
            <a:off x="761695" y="5672023"/>
            <a:ext cx="85954" cy="1143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33602" y="5888736"/>
            <a:ext cx="3086100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现状：</a:t>
            </a: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制造业资本支出虽从峰值回落，但仍维持较高韧性，未出现断崖式下跌。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 l="-1911" r="-1911"/>
          <a:stretch>
            <a:fillRect/>
          </a:stretch>
        </p:blipFill>
        <p:spPr>
          <a:xfrm>
            <a:off x="761695" y="5930798"/>
            <a:ext cx="133502" cy="1143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317797" y="4667098"/>
            <a:ext cx="3562502" cy="1962302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317797" y="4667098"/>
            <a:ext cx="3562502" cy="38405"/>
          </a:xfrm>
          <a:prstGeom prst="roundRect">
            <a:avLst>
              <a:gd name="adj" fmla="val 184927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508906" y="4895698"/>
            <a:ext cx="32964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Phase II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4508906" y="5115154"/>
            <a:ext cx="325800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去除现有过剩产能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661611" y="5629046"/>
            <a:ext cx="3105302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结构复杂：</a:t>
            </a: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主要集中在上游（煤炭/金属），限产仅短暂提振价格。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08906" y="5672023"/>
            <a:ext cx="114300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661611" y="6071616"/>
            <a:ext cx="3105302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难点：</a:t>
            </a: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未能让企业永久退出；民企竞争激烈且产品差异化大，协调难度极高。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08906" y="6114593"/>
            <a:ext cx="114300" cy="1143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064094" y="4667098"/>
            <a:ext cx="3562502" cy="1962302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064094" y="4667098"/>
            <a:ext cx="3562502" cy="38405"/>
          </a:xfrm>
          <a:prstGeom prst="roundRect">
            <a:avLst>
              <a:gd name="adj" fmla="val 184927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255203" y="4895698"/>
            <a:ext cx="32964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Phase III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8255203" y="5115154"/>
            <a:ext cx="325800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提振终端需求（缺失的一环）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407908" y="5629046"/>
            <a:ext cx="32196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关键缺口：</a:t>
            </a: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以旧换新仅为边际改善，社会福利提升有限。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55203" y="5672023"/>
            <a:ext cx="114300" cy="1143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427110" y="5888736"/>
            <a:ext cx="3086100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结论：</a:t>
            </a: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单靠供给侧压缩只能在行业内重分配利润，无法整体抬升需求曲线。</a:t>
            </a:r>
            <a:endParaRPr lang="en-US" sz="9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rcRect l="-1911" r="-1911"/>
          <a:stretch>
            <a:fillRect/>
          </a:stretch>
        </p:blipFill>
        <p:spPr>
          <a:xfrm>
            <a:off x="8255203" y="5930798"/>
            <a:ext cx="133502" cy="11430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0" y="6913778"/>
            <a:ext cx="12191695" cy="3813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Shape 30"/>
          <p:cNvSpPr/>
          <p:nvPr/>
        </p:nvSpPr>
        <p:spPr>
          <a:xfrm>
            <a:off x="0" y="6913778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571500" y="7022592"/>
            <a:ext cx="349940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CEIC, Haver Analytics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11557102" y="7022592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14300"/>
            <a:ext cx="620146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NPC PREVIEW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4495"/>
            <a:ext cx="677296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两会政策定调：Policy Continuity, Not a Pivot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468051" y="286207"/>
            <a:ext cx="115214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政策延续而非转向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1047902"/>
            <a:ext cx="7181698" cy="1037844"/>
          </a:xfrm>
          <a:prstGeom prst="roundRect">
            <a:avLst>
              <a:gd name="adj" fmla="val 12933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" y="1047902"/>
            <a:ext cx="38405" cy="1037844"/>
          </a:xfrm>
          <a:prstGeom prst="roundRect">
            <a:avLst>
              <a:gd name="adj" fmla="val 349496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" y="1238098"/>
            <a:ext cx="457200" cy="457200"/>
          </a:xfrm>
          <a:prstGeom prst="ellipse">
            <a:avLst/>
          </a:prstGeom>
          <a:solidFill>
            <a:srgbClr val="0022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33602" y="1371600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47495" y="1238098"/>
            <a:ext cx="225308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GDP增长目标大概率维持约5%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04565" y="1290218"/>
            <a:ext cx="437998" cy="181051"/>
          </a:xfrm>
          <a:prstGeom prst="roundRect">
            <a:avLst>
              <a:gd name="adj" fmla="val 212653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04565" y="1290218"/>
            <a:ext cx="5148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08D2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大概率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447495" y="1524305"/>
            <a:ext cx="6191402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尽管部分省份下调目标，但加权平均仍有5.1%。作为十五五开局之年，北京需要提振信心，此时并非降低目标的时机。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1500" y="2276856"/>
            <a:ext cx="7181698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1500" y="2276856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0100" y="2467051"/>
            <a:ext cx="457200" cy="457200"/>
          </a:xfrm>
          <a:prstGeom prst="ellipse">
            <a:avLst/>
          </a:prstGeom>
          <a:solidFill>
            <a:srgbClr val="0022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9828" y="2600554"/>
            <a:ext cx="237744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447495" y="2467051"/>
            <a:ext cx="226222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财政规模大体持平 ≠ 更多刺激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574390" y="2519172"/>
            <a:ext cx="533095" cy="181051"/>
          </a:xfrm>
          <a:prstGeom prst="roundRect">
            <a:avLst>
              <a:gd name="adj" fmla="val 212653"/>
            </a:avLst>
          </a:prstGeom>
          <a:solidFill>
            <a:srgbClr val="0022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574390" y="2519172"/>
            <a:ext cx="6099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关键判断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1447495" y="2752344"/>
            <a:ext cx="63057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预算赤字率维持3%，广义赤字率约11.6%，债券配额基本不变。重点在于防风险而非强刺激。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71500" y="3319272"/>
            <a:ext cx="7181698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71500" y="3319272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0100" y="3510382"/>
            <a:ext cx="457200" cy="457200"/>
          </a:xfrm>
          <a:prstGeom prst="ellipse">
            <a:avLst/>
          </a:prstGeom>
          <a:solidFill>
            <a:srgbClr val="0022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9828" y="3642970"/>
            <a:ext cx="237744" cy="19019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47495" y="3510382"/>
            <a:ext cx="63057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政策组合：供给侧为主，消费地产设护栏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447495" y="3795674"/>
            <a:ext cx="63057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科技本土化、产业升级和公共投资仍是重心。消费和地产仅获被动式“护栏”支持，缺乏大力度“点火”操作。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71500" y="4362602"/>
            <a:ext cx="7181698" cy="1037844"/>
          </a:xfrm>
          <a:prstGeom prst="roundRect">
            <a:avLst>
              <a:gd name="adj" fmla="val 12933"/>
            </a:avLst>
          </a:prstGeom>
          <a:solidFill>
            <a:srgbClr val="FFFFFF"/>
          </a:solidFill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71500" y="4362602"/>
            <a:ext cx="38405" cy="1037844"/>
          </a:xfrm>
          <a:prstGeom prst="roundRect">
            <a:avLst>
              <a:gd name="adj" fmla="val 349496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00100" y="4552798"/>
            <a:ext cx="457200" cy="457200"/>
          </a:xfrm>
          <a:prstGeom prst="ellipse">
            <a:avLst/>
          </a:prstGeom>
          <a:solidFill>
            <a:srgbClr val="0022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rcRect l="-1282" r="-1282"/>
          <a:stretch>
            <a:fillRect/>
          </a:stretch>
        </p:blipFill>
        <p:spPr>
          <a:xfrm>
            <a:off x="918972" y="4686300"/>
            <a:ext cx="219456" cy="1901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447495" y="4552798"/>
            <a:ext cx="62298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年中备选方案 (Contingency Plan)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1447495" y="4839005"/>
            <a:ext cx="6191402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若增长动能显著走弱，年中可能动用约0.5% GDP规模的额外支出（剩余债券额度或准财政工具），定向支持服务消费与社保。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8033004" y="1047902"/>
            <a:ext cx="3590849" cy="5143500"/>
          </a:xfrm>
          <a:prstGeom prst="roundRect">
            <a:avLst>
              <a:gd name="adj" fmla="val 1081"/>
            </a:avLst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/>
          <a:stretch>
            <a:fillRect/>
          </a:stretch>
        </p:blipFill>
        <p:spPr>
          <a:xfrm>
            <a:off x="10382098" y="4953305"/>
            <a:ext cx="1429207" cy="1429207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270748" y="1666951"/>
            <a:ext cx="3114446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8270748" y="1285646"/>
            <a:ext cx="3191256" cy="2871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十五五规划前瞻 (15th FYP)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8394192" y="1819656"/>
            <a:ext cx="3067812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核心主线：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以科技为核心，聚焦AI、半导体、绿色能源、生物科技。</a:t>
            </a:r>
            <a:endParaRPr lang="en-US" sz="9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70748" y="1819656"/>
            <a:ext cx="123444" cy="1234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394192" y="2305202"/>
            <a:ext cx="3067812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范式转变：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从过去的“拼规模”转向强化研发生态，促进更健康的良性竞争。</a:t>
            </a:r>
            <a:endParaRPr lang="en-US" sz="9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70748" y="2305202"/>
            <a:ext cx="123444" cy="1234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8394192" y="2790749"/>
            <a:ext cx="3067812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抑制内卷：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政策重心将转向遏制“内卷式”恶性竞争，提升产业集中度。</a:t>
            </a:r>
            <a:endParaRPr lang="en-US" sz="9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70748" y="2790749"/>
            <a:ext cx="123444" cy="123444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8270748" y="5219395"/>
            <a:ext cx="3114446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8270748" y="5419649"/>
            <a:ext cx="322966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Potential Upside Risk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8270748" y="5648249"/>
            <a:ext cx="3191256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若明确设立消费/GDP占比目标，或大幅提升基础福利，将是显著超预期的积极信号。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" name="Shape 41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571500" y="6586423"/>
            <a:ext cx="296997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NPC Preview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1557102" y="6586423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14300"/>
            <a:ext cx="262524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NPC TRACKING LIST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4495"/>
            <a:ext cx="299008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两会跟踪 - 核心清单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460382" y="286207"/>
            <a:ext cx="216072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五大核心确认点与超预期信号判定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761695"/>
            <a:ext cx="12191695" cy="71250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 l="-8" r="-8"/>
          <a:stretch>
            <a:fillRect/>
          </a:stretch>
        </p:blipFill>
        <p:spPr>
          <a:xfrm>
            <a:off x="571500" y="1047902"/>
            <a:ext cx="11048695" cy="39044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1695" y="1143000"/>
            <a:ext cx="8385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类别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714500" y="1143000"/>
            <a:ext cx="29434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关注维度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879238" y="1143000"/>
            <a:ext cx="31821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基准预期 (Base Case)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l="-837" r="-837"/>
          <a:stretch>
            <a:fillRect/>
          </a:stretch>
        </p:blipFill>
        <p:spPr>
          <a:xfrm>
            <a:off x="4650638" y="1178662"/>
            <a:ext cx="152705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364017" y="1143000"/>
            <a:ext cx="31821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超预期信号 (Upside Surprise)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837" r="-837"/>
          <a:stretch>
            <a:fillRect/>
          </a:stretch>
        </p:blipFill>
        <p:spPr>
          <a:xfrm>
            <a:off x="8135417" y="1178662"/>
            <a:ext cx="152705" cy="133502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1" r="-1"/>
          <a:stretch>
            <a:fillRect/>
          </a:stretch>
        </p:blipFill>
        <p:spPr>
          <a:xfrm>
            <a:off x="571500" y="1628546"/>
            <a:ext cx="11048695" cy="597194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80644" y="1638605"/>
            <a:ext cx="11030407" cy="1190549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09244" y="2038198"/>
            <a:ext cx="381305" cy="381305"/>
          </a:xfrm>
          <a:prstGeom prst="ellipse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14400" y="2143354"/>
            <a:ext cx="171907" cy="1719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762049" y="2009851"/>
            <a:ext cx="29242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GDP增长目标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762049" y="2276856"/>
            <a:ext cx="29242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信心锚 vs 务实区间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4680814" y="1809598"/>
            <a:ext cx="3276295" cy="838505"/>
          </a:xfrm>
          <a:prstGeom prst="roundRect">
            <a:avLst>
              <a:gd name="adj" fmla="val 14871"/>
            </a:avLst>
          </a:prstGeom>
          <a:solidFill>
            <a:srgbClr val="F5F7FA"/>
          </a:solidFill>
        </p:spPr>
      </p:sp>
      <p:sp>
        <p:nvSpPr>
          <p:cNvPr id="23" name="Shape 16"/>
          <p:cNvSpPr/>
          <p:nvPr/>
        </p:nvSpPr>
        <p:spPr>
          <a:xfrm>
            <a:off x="4680814" y="1809598"/>
            <a:ext cx="28346" cy="838505"/>
          </a:xfrm>
          <a:prstGeom prst="roundRect">
            <a:avLst>
              <a:gd name="adj" fmla="val 439889"/>
            </a:avLst>
          </a:prstGeom>
          <a:solidFill>
            <a:srgbClr val="90CAF9"/>
          </a:solidFill>
          <a:ln w="12700">
            <a:solidFill>
              <a:srgbClr val="90CAF9">
                <a:alpha val="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52721" y="1933956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852721" y="1933956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65C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延续</a:t>
            </a:r>
            <a:endParaRPr lang="en-US" sz="800" dirty="0"/>
          </a:p>
        </p:txBody>
      </p:sp>
      <p:sp>
        <p:nvSpPr>
          <p:cNvPr id="26" name="Text 19"/>
          <p:cNvSpPr txBox="1"/>
          <p:nvPr/>
        </p:nvSpPr>
        <p:spPr>
          <a:xfrm>
            <a:off x="4852721" y="2162556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设定为"5%左右"或"5%左右的区间"，强调信心提振与十五五开局。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8146390" y="1902866"/>
            <a:ext cx="3276295" cy="657454"/>
          </a:xfrm>
          <a:prstGeom prst="roundRect">
            <a:avLst>
              <a:gd name="adj" fmla="val 24188"/>
            </a:avLst>
          </a:prstGeom>
          <a:solidFill>
            <a:srgbClr val="FFF8E1"/>
          </a:solidFill>
        </p:spPr>
      </p:sp>
      <p:sp>
        <p:nvSpPr>
          <p:cNvPr id="28" name="Shape 21"/>
          <p:cNvSpPr/>
          <p:nvPr/>
        </p:nvSpPr>
        <p:spPr>
          <a:xfrm>
            <a:off x="8146390" y="1902866"/>
            <a:ext cx="28346" cy="657454"/>
          </a:xfrm>
          <a:prstGeom prst="roundRect">
            <a:avLst>
              <a:gd name="adj" fmla="val 561018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17382" y="2026310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317382" y="2026310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信号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8317382" y="2254910"/>
            <a:ext cx="315285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明确设定为"5%以上"或不设区间下限的硬性目标。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80644" y="2829154"/>
            <a:ext cx="11030407" cy="1190549"/>
          </a:xfrm>
          <a:prstGeom prst="rect">
            <a:avLst/>
          </a:prstGeom>
          <a:solidFill>
            <a:srgbClr val="FCFCF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09244" y="3228746"/>
            <a:ext cx="381305" cy="381305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rcRect l="-1773" r="-1773"/>
          <a:stretch>
            <a:fillRect/>
          </a:stretch>
        </p:blipFill>
        <p:spPr>
          <a:xfrm>
            <a:off x="933602" y="3333902"/>
            <a:ext cx="133502" cy="17190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762049" y="3200400"/>
            <a:ext cx="29242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财政核心指标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1762049" y="3467405"/>
            <a:ext cx="29242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赤字率 &amp; 债券额度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680814" y="3000146"/>
            <a:ext cx="3276295" cy="838505"/>
          </a:xfrm>
          <a:prstGeom prst="roundRect">
            <a:avLst>
              <a:gd name="adj" fmla="val 14871"/>
            </a:avLst>
          </a:prstGeom>
          <a:solidFill>
            <a:srgbClr val="F5F7FA"/>
          </a:solidFill>
        </p:spPr>
      </p:sp>
      <p:sp>
        <p:nvSpPr>
          <p:cNvPr id="38" name="Shape 30"/>
          <p:cNvSpPr/>
          <p:nvPr/>
        </p:nvSpPr>
        <p:spPr>
          <a:xfrm>
            <a:off x="4680814" y="3000146"/>
            <a:ext cx="28346" cy="838505"/>
          </a:xfrm>
          <a:prstGeom prst="roundRect">
            <a:avLst>
              <a:gd name="adj" fmla="val 439889"/>
            </a:avLst>
          </a:prstGeom>
          <a:solidFill>
            <a:srgbClr val="90CAF9"/>
          </a:solidFill>
          <a:ln w="12700">
            <a:solidFill>
              <a:srgbClr val="90CAF9">
                <a:alpha val="0"/>
              </a:srgbClr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852721" y="3124505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4852721" y="3124505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65C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温和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4852721" y="3353105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赤字率3-4%，专项债额度基本持平，强调"稳底盘"与化债。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8146390" y="3000146"/>
            <a:ext cx="3276295" cy="838505"/>
          </a:xfrm>
          <a:prstGeom prst="roundRect">
            <a:avLst>
              <a:gd name="adj" fmla="val 14871"/>
            </a:avLst>
          </a:prstGeom>
          <a:solidFill>
            <a:srgbClr val="FFF8E1"/>
          </a:solidFill>
        </p:spPr>
      </p:sp>
      <p:sp>
        <p:nvSpPr>
          <p:cNvPr id="43" name="Shape 35"/>
          <p:cNvSpPr/>
          <p:nvPr/>
        </p:nvSpPr>
        <p:spPr>
          <a:xfrm>
            <a:off x="8146390" y="3000146"/>
            <a:ext cx="28346" cy="838505"/>
          </a:xfrm>
          <a:prstGeom prst="roundRect">
            <a:avLst>
              <a:gd name="adj" fmla="val 439889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317382" y="3124505"/>
            <a:ext cx="400507" cy="181051"/>
          </a:xfrm>
          <a:prstGeom prst="roundRect">
            <a:avLst>
              <a:gd name="adj" fmla="val 159490"/>
            </a:avLst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317382" y="3124505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强刺激</a:t>
            </a:r>
            <a:endParaRPr lang="en-US" sz="800" dirty="0"/>
          </a:p>
        </p:txBody>
      </p:sp>
      <p:sp>
        <p:nvSpPr>
          <p:cNvPr id="46" name="Text 38"/>
          <p:cNvSpPr txBox="1"/>
          <p:nvPr/>
        </p:nvSpPr>
        <p:spPr>
          <a:xfrm>
            <a:off x="8317382" y="3353105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赤字率突破4%或推出万亿级特别国债直接用于消费补贴。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580644" y="4019702"/>
            <a:ext cx="11030407" cy="1190549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809244" y="4419295"/>
            <a:ext cx="381305" cy="38130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7"/>
          <a:srcRect l="-760" r="-760"/>
          <a:stretch>
            <a:fillRect/>
          </a:stretch>
        </p:blipFill>
        <p:spPr>
          <a:xfrm>
            <a:off x="923544" y="4524451"/>
            <a:ext cx="152705" cy="171907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762049" y="4390949"/>
            <a:ext cx="29242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消费政策措辞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1762049" y="4657954"/>
            <a:ext cx="29242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支持方式与力度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4680814" y="4283964"/>
            <a:ext cx="3276295" cy="657454"/>
          </a:xfrm>
          <a:prstGeom prst="roundRect">
            <a:avLst>
              <a:gd name="adj" fmla="val 24188"/>
            </a:avLst>
          </a:prstGeom>
          <a:solidFill>
            <a:srgbClr val="F5F7FA"/>
          </a:solidFill>
        </p:spPr>
      </p:sp>
      <p:sp>
        <p:nvSpPr>
          <p:cNvPr id="53" name="Shape 44"/>
          <p:cNvSpPr/>
          <p:nvPr/>
        </p:nvSpPr>
        <p:spPr>
          <a:xfrm>
            <a:off x="4680814" y="4283964"/>
            <a:ext cx="28346" cy="657454"/>
          </a:xfrm>
          <a:prstGeom prst="roundRect">
            <a:avLst>
              <a:gd name="adj" fmla="val 561018"/>
            </a:avLst>
          </a:prstGeom>
          <a:solidFill>
            <a:srgbClr val="90CAF9"/>
          </a:solidFill>
          <a:ln w="12700">
            <a:solidFill>
              <a:srgbClr val="90CAF9">
                <a:alpha val="0"/>
              </a:srgbClr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4852721" y="4407408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4852721" y="4407408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65C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定向</a:t>
            </a:r>
            <a:endParaRPr lang="en-US" sz="800" dirty="0"/>
          </a:p>
        </p:txBody>
      </p:sp>
      <p:sp>
        <p:nvSpPr>
          <p:cNvPr id="56" name="Text 47"/>
          <p:cNvSpPr txBox="1"/>
          <p:nvPr/>
        </p:nvSpPr>
        <p:spPr>
          <a:xfrm>
            <a:off x="4852721" y="4636008"/>
            <a:ext cx="315285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延续"以旧换新"等定向支持，强调收入预期改善。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8146390" y="4190695"/>
            <a:ext cx="3276295" cy="838505"/>
          </a:xfrm>
          <a:prstGeom prst="roundRect">
            <a:avLst>
              <a:gd name="adj" fmla="val 14871"/>
            </a:avLst>
          </a:prstGeom>
          <a:solidFill>
            <a:srgbClr val="FFF8E1"/>
          </a:solidFill>
        </p:spPr>
      </p:sp>
      <p:sp>
        <p:nvSpPr>
          <p:cNvPr id="58" name="Shape 49"/>
          <p:cNvSpPr/>
          <p:nvPr/>
        </p:nvSpPr>
        <p:spPr>
          <a:xfrm>
            <a:off x="8146390" y="4190695"/>
            <a:ext cx="28346" cy="838505"/>
          </a:xfrm>
          <a:prstGeom prst="roundRect">
            <a:avLst>
              <a:gd name="adj" fmla="val 439889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8317382" y="4315054"/>
            <a:ext cx="400507" cy="181051"/>
          </a:xfrm>
          <a:prstGeom prst="roundRect">
            <a:avLst>
              <a:gd name="adj" fmla="val 159490"/>
            </a:avLst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8317382" y="4315054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制度型</a:t>
            </a:r>
            <a:endParaRPr lang="en-US" sz="800" dirty="0"/>
          </a:p>
        </p:txBody>
      </p:sp>
      <p:sp>
        <p:nvSpPr>
          <p:cNvPr id="61" name="Text 52"/>
          <p:cNvSpPr txBox="1"/>
          <p:nvPr/>
        </p:nvSpPr>
        <p:spPr>
          <a:xfrm>
            <a:off x="8317382" y="4543654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明确设立"消费/GDP占比"量化目标，或全员发钱/消费券。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580644" y="5210251"/>
            <a:ext cx="11030407" cy="1190549"/>
          </a:xfrm>
          <a:prstGeom prst="rect">
            <a:avLst/>
          </a:prstGeom>
          <a:solidFill>
            <a:srgbClr val="FCFCF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809244" y="56098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14400" y="5715000"/>
            <a:ext cx="171907" cy="171907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1762049" y="5581498"/>
            <a:ext cx="29242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科技与绿色转型</a:t>
            </a:r>
            <a:endParaRPr lang="en-US" sz="1200" dirty="0"/>
          </a:p>
        </p:txBody>
      </p:sp>
      <p:sp>
        <p:nvSpPr>
          <p:cNvPr id="66" name="Text 56"/>
          <p:cNvSpPr txBox="1"/>
          <p:nvPr/>
        </p:nvSpPr>
        <p:spPr>
          <a:xfrm>
            <a:off x="1762049" y="5848502"/>
            <a:ext cx="29242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十五五战略主线</a:t>
            </a:r>
            <a:endParaRPr lang="en-US" sz="900" dirty="0"/>
          </a:p>
        </p:txBody>
      </p:sp>
      <p:sp>
        <p:nvSpPr>
          <p:cNvPr id="67" name="Shape 57"/>
          <p:cNvSpPr/>
          <p:nvPr/>
        </p:nvSpPr>
        <p:spPr>
          <a:xfrm>
            <a:off x="4680814" y="5381244"/>
            <a:ext cx="3276295" cy="838505"/>
          </a:xfrm>
          <a:prstGeom prst="roundRect">
            <a:avLst>
              <a:gd name="adj" fmla="val 14871"/>
            </a:avLst>
          </a:prstGeom>
          <a:solidFill>
            <a:srgbClr val="F5F7FA"/>
          </a:solidFill>
        </p:spPr>
      </p:sp>
      <p:sp>
        <p:nvSpPr>
          <p:cNvPr id="68" name="Shape 58"/>
          <p:cNvSpPr/>
          <p:nvPr/>
        </p:nvSpPr>
        <p:spPr>
          <a:xfrm>
            <a:off x="4680814" y="5381244"/>
            <a:ext cx="28346" cy="838505"/>
          </a:xfrm>
          <a:prstGeom prst="roundRect">
            <a:avLst>
              <a:gd name="adj" fmla="val 439889"/>
            </a:avLst>
          </a:prstGeom>
          <a:solidFill>
            <a:srgbClr val="90CAF9"/>
          </a:solidFill>
          <a:ln w="12700">
            <a:solidFill>
              <a:srgbClr val="90CAF9">
                <a:alpha val="0"/>
              </a:srgbClr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4852721" y="5505602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0"/>
          <p:cNvSpPr txBox="1"/>
          <p:nvPr/>
        </p:nvSpPr>
        <p:spPr>
          <a:xfrm>
            <a:off x="4852721" y="5505602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65C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优先</a:t>
            </a:r>
            <a:endParaRPr lang="en-US" sz="800" dirty="0"/>
          </a:p>
        </p:txBody>
      </p:sp>
      <p:sp>
        <p:nvSpPr>
          <p:cNvPr id="71" name="Text 61"/>
          <p:cNvSpPr txBox="1"/>
          <p:nvPr/>
        </p:nvSpPr>
        <p:spPr>
          <a:xfrm>
            <a:off x="4852721" y="5734202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AI、半导体、绿色能源为核心，强调研发生态与反内卷。</a:t>
            </a:r>
            <a:endParaRPr lang="en-US" sz="900" dirty="0"/>
          </a:p>
        </p:txBody>
      </p:sp>
      <p:sp>
        <p:nvSpPr>
          <p:cNvPr id="72" name="Shape 62"/>
          <p:cNvSpPr/>
          <p:nvPr/>
        </p:nvSpPr>
        <p:spPr>
          <a:xfrm>
            <a:off x="8146390" y="5381244"/>
            <a:ext cx="3276295" cy="838505"/>
          </a:xfrm>
          <a:prstGeom prst="roundRect">
            <a:avLst>
              <a:gd name="adj" fmla="val 14871"/>
            </a:avLst>
          </a:prstGeom>
          <a:solidFill>
            <a:srgbClr val="FFF8E1"/>
          </a:solidFill>
        </p:spPr>
      </p:sp>
      <p:sp>
        <p:nvSpPr>
          <p:cNvPr id="73" name="Shape 63"/>
          <p:cNvSpPr/>
          <p:nvPr/>
        </p:nvSpPr>
        <p:spPr>
          <a:xfrm>
            <a:off x="8146390" y="5381244"/>
            <a:ext cx="28346" cy="838505"/>
          </a:xfrm>
          <a:prstGeom prst="roundRect">
            <a:avLst>
              <a:gd name="adj" fmla="val 439889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8317382" y="5505602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5"/>
          <p:cNvSpPr txBox="1"/>
          <p:nvPr/>
        </p:nvSpPr>
        <p:spPr>
          <a:xfrm>
            <a:off x="8317382" y="5505602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加速</a:t>
            </a:r>
            <a:endParaRPr lang="en-US" sz="800" dirty="0"/>
          </a:p>
        </p:txBody>
      </p:sp>
      <p:sp>
        <p:nvSpPr>
          <p:cNvPr id="76" name="Text 66"/>
          <p:cNvSpPr txBox="1"/>
          <p:nvPr/>
        </p:nvSpPr>
        <p:spPr>
          <a:xfrm>
            <a:off x="8317382" y="5734202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提出超常规的科技举国体制投入或更激进的碳达峰时间表。</a:t>
            </a:r>
            <a:endParaRPr lang="en-US" sz="900" dirty="0"/>
          </a:p>
        </p:txBody>
      </p:sp>
      <p:sp>
        <p:nvSpPr>
          <p:cNvPr id="77" name="Shape 67"/>
          <p:cNvSpPr/>
          <p:nvPr/>
        </p:nvSpPr>
        <p:spPr>
          <a:xfrm>
            <a:off x="580644" y="6400800"/>
            <a:ext cx="11030407" cy="1190549"/>
          </a:xfrm>
          <a:prstGeom prst="roundRect">
            <a:avLst>
              <a:gd name="adj" fmla="val 9831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809244" y="6801307"/>
            <a:ext cx="381305" cy="381305"/>
          </a:xfrm>
          <a:prstGeom prst="ellipse">
            <a:avLst/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9" name="Image 8" descr="preencoded.png"/>
          <p:cNvPicPr>
            <a:picLocks noChangeAspect="1"/>
          </p:cNvPicPr>
          <p:nvPr/>
        </p:nvPicPr>
        <p:blipFill>
          <a:blip r:embed="rId9"/>
          <a:srcRect l="-1773" r="-1773"/>
          <a:stretch>
            <a:fillRect/>
          </a:stretch>
        </p:blipFill>
        <p:spPr>
          <a:xfrm>
            <a:off x="933602" y="6905549"/>
            <a:ext cx="133502" cy="171907"/>
          </a:xfrm>
          <a:prstGeom prst="rect">
            <a:avLst/>
          </a:prstGeom>
        </p:spPr>
      </p:pic>
      <p:sp>
        <p:nvSpPr>
          <p:cNvPr id="80" name="Text 69"/>
          <p:cNvSpPr txBox="1"/>
          <p:nvPr/>
        </p:nvSpPr>
        <p:spPr>
          <a:xfrm>
            <a:off x="1762049" y="6772046"/>
            <a:ext cx="29242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房地产政策定调</a:t>
            </a:r>
            <a:endParaRPr lang="en-US" sz="1200" dirty="0"/>
          </a:p>
        </p:txBody>
      </p:sp>
      <p:sp>
        <p:nvSpPr>
          <p:cNvPr id="81" name="Text 70"/>
          <p:cNvSpPr txBox="1"/>
          <p:nvPr/>
        </p:nvSpPr>
        <p:spPr>
          <a:xfrm>
            <a:off x="1762049" y="7039051"/>
            <a:ext cx="29242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定位与处置路径</a:t>
            </a:r>
            <a:endParaRPr lang="en-US" sz="900" dirty="0"/>
          </a:p>
        </p:txBody>
      </p:sp>
      <p:sp>
        <p:nvSpPr>
          <p:cNvPr id="82" name="Shape 71"/>
          <p:cNvSpPr/>
          <p:nvPr/>
        </p:nvSpPr>
        <p:spPr>
          <a:xfrm>
            <a:off x="4680814" y="6665062"/>
            <a:ext cx="3276295" cy="657454"/>
          </a:xfrm>
          <a:prstGeom prst="roundRect">
            <a:avLst>
              <a:gd name="adj" fmla="val 24188"/>
            </a:avLst>
          </a:prstGeom>
          <a:solidFill>
            <a:srgbClr val="F5F7FA"/>
          </a:solidFill>
        </p:spPr>
      </p:sp>
      <p:sp>
        <p:nvSpPr>
          <p:cNvPr id="83" name="Shape 72"/>
          <p:cNvSpPr/>
          <p:nvPr/>
        </p:nvSpPr>
        <p:spPr>
          <a:xfrm>
            <a:off x="4680814" y="6665062"/>
            <a:ext cx="28346" cy="657454"/>
          </a:xfrm>
          <a:prstGeom prst="roundRect">
            <a:avLst>
              <a:gd name="adj" fmla="val 561018"/>
            </a:avLst>
          </a:prstGeom>
          <a:solidFill>
            <a:srgbClr val="90CAF9"/>
          </a:solidFill>
          <a:ln w="12700">
            <a:solidFill>
              <a:srgbClr val="90CAF9">
                <a:alpha val="0"/>
              </a:srgbClr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4852721" y="6788506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74"/>
          <p:cNvSpPr txBox="1"/>
          <p:nvPr/>
        </p:nvSpPr>
        <p:spPr>
          <a:xfrm>
            <a:off x="4852721" y="6788506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65C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托底</a:t>
            </a:r>
            <a:endParaRPr lang="en-US" sz="800" dirty="0"/>
          </a:p>
        </p:txBody>
      </p:sp>
      <p:sp>
        <p:nvSpPr>
          <p:cNvPr id="86" name="Text 75"/>
          <p:cNvSpPr txBox="1"/>
          <p:nvPr/>
        </p:nvSpPr>
        <p:spPr>
          <a:xfrm>
            <a:off x="4852721" y="7017106"/>
            <a:ext cx="315285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延续"防风险+去库存"护栏式定位，强调存量房收储。</a:t>
            </a:r>
            <a:endParaRPr lang="en-US" sz="900" dirty="0"/>
          </a:p>
        </p:txBody>
      </p:sp>
      <p:sp>
        <p:nvSpPr>
          <p:cNvPr id="87" name="Shape 76"/>
          <p:cNvSpPr/>
          <p:nvPr/>
        </p:nvSpPr>
        <p:spPr>
          <a:xfrm>
            <a:off x="8146390" y="6572707"/>
            <a:ext cx="3276295" cy="838505"/>
          </a:xfrm>
          <a:prstGeom prst="roundRect">
            <a:avLst>
              <a:gd name="adj" fmla="val 14871"/>
            </a:avLst>
          </a:prstGeom>
          <a:solidFill>
            <a:srgbClr val="FFF8E1"/>
          </a:solidFill>
        </p:spPr>
      </p:sp>
      <p:sp>
        <p:nvSpPr>
          <p:cNvPr id="88" name="Shape 77"/>
          <p:cNvSpPr/>
          <p:nvPr/>
        </p:nvSpPr>
        <p:spPr>
          <a:xfrm>
            <a:off x="8146390" y="6572707"/>
            <a:ext cx="28346" cy="838505"/>
          </a:xfrm>
          <a:prstGeom prst="roundRect">
            <a:avLst>
              <a:gd name="adj" fmla="val 439889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89" name="Shape 78"/>
          <p:cNvSpPr/>
          <p:nvPr/>
        </p:nvSpPr>
        <p:spPr>
          <a:xfrm>
            <a:off x="8317382" y="6696151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79"/>
          <p:cNvSpPr txBox="1"/>
          <p:nvPr/>
        </p:nvSpPr>
        <p:spPr>
          <a:xfrm>
            <a:off x="8317382" y="6696151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反转</a:t>
            </a:r>
            <a:endParaRPr lang="en-US" sz="800" dirty="0"/>
          </a:p>
        </p:txBody>
      </p:sp>
      <p:sp>
        <p:nvSpPr>
          <p:cNvPr id="91" name="Text 80"/>
          <p:cNvSpPr txBox="1"/>
          <p:nvPr/>
        </p:nvSpPr>
        <p:spPr>
          <a:xfrm>
            <a:off x="8317382" y="6924751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640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推出中央财政直投收储或全面取消限购限贷等强刺激组合拳。</a:t>
            </a:r>
            <a:endParaRPr lang="en-US" sz="900" dirty="0"/>
          </a:p>
        </p:txBody>
      </p:sp>
      <p:sp>
        <p:nvSpPr>
          <p:cNvPr id="92" name="Shape 81"/>
          <p:cNvSpPr/>
          <p:nvPr/>
        </p:nvSpPr>
        <p:spPr>
          <a:xfrm>
            <a:off x="0" y="7886700"/>
            <a:ext cx="12191695" cy="3813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3" name="Shape 82"/>
          <p:cNvSpPr/>
          <p:nvPr/>
        </p:nvSpPr>
        <p:spPr>
          <a:xfrm>
            <a:off x="0" y="7886700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94" name="Text 83"/>
          <p:cNvSpPr txBox="1"/>
          <p:nvPr/>
        </p:nvSpPr>
        <p:spPr>
          <a:xfrm>
            <a:off x="571500" y="7996428"/>
            <a:ext cx="351038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NPC Preview Analysis</a:t>
            </a:r>
            <a:endParaRPr lang="en-US" sz="900" dirty="0"/>
          </a:p>
        </p:txBody>
      </p:sp>
      <p:sp>
        <p:nvSpPr>
          <p:cNvPr id="95" name="Text 84"/>
          <p:cNvSpPr txBox="1"/>
          <p:nvPr/>
        </p:nvSpPr>
        <p:spPr>
          <a:xfrm>
            <a:off x="11557102" y="7996428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14300"/>
            <a:ext cx="591525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MARKET CATALYSTS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4495"/>
            <a:ext cx="5992063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两大外部催化：全国碳市场扩容 × 欧盟CBAM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748418" y="286207"/>
            <a:ext cx="18726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政策刚性驱动下的确定性增量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1047902"/>
            <a:ext cx="5333695" cy="5143500"/>
          </a:xfrm>
          <a:prstGeom prst="roundRect">
            <a:avLst>
              <a:gd name="adj" fmla="val 527"/>
            </a:avLst>
          </a:prstGeom>
          <a:solidFill>
            <a:srgbClr val="FFFFFF"/>
          </a:solidFill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" y="1047902"/>
            <a:ext cx="5333695" cy="57607"/>
          </a:xfrm>
          <a:prstGeom prst="roundRect">
            <a:avLst>
              <a:gd name="adj" fmla="val 47031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" y="1104595"/>
            <a:ext cx="5333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571500" y="2009851"/>
            <a:ext cx="5333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1295705"/>
            <a:ext cx="4714646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全国碳市场扩容 </a:t>
            </a:r>
            <a:r>
              <a:rPr lang="en-US" sz="800" b="1" dirty="0">
                <a:solidFill>
                  <a:srgbClr val="2E7D3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覆盖数 5-10倍 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rcRect l="-1282" r="-1282"/>
          <a:stretch>
            <a:fillRect/>
          </a:stretch>
        </p:blipFill>
        <p:spPr>
          <a:xfrm>
            <a:off x="809244" y="1343254"/>
            <a:ext cx="219456" cy="190195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t="-1958" b="-1958"/>
          <a:stretch>
            <a:fillRect/>
          </a:stretch>
        </p:blipFill>
        <p:spPr>
          <a:xfrm>
            <a:off x="3353105" y="1386230"/>
            <a:ext cx="75895" cy="1051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33856" y="1628546"/>
            <a:ext cx="47247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从单一电力行业向全工业体系延伸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3743" b="-3743"/>
          <a:stretch>
            <a:fillRect/>
          </a:stretch>
        </p:blipFill>
        <p:spPr>
          <a:xfrm>
            <a:off x="809244" y="2204618"/>
            <a:ext cx="4858207" cy="190469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3077" y="4315968"/>
            <a:ext cx="123444" cy="1234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14654" y="4252874"/>
            <a:ext cx="46863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覆盖范围大扩容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14654" y="4476902"/>
            <a:ext cx="46863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目前仅覆盖电力（约2162家）。钢铁、水泥、电解铝、石化等6大高排放行业将陆续纳入。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t="-1359" b="-1359"/>
          <a:stretch>
            <a:fillRect/>
          </a:stretch>
        </p:blipFill>
        <p:spPr>
          <a:xfrm>
            <a:off x="852221" y="4807001"/>
            <a:ext cx="105156" cy="1234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4654" y="4743907"/>
            <a:ext cx="41532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CCER重启与方法学落地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1114654" y="4967021"/>
            <a:ext cx="41532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2024年初重启，林业碳汇/可再生能源方法学落地，项目审定与核证需求激增。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809244" y="5376672"/>
            <a:ext cx="4858207" cy="694944"/>
          </a:xfrm>
          <a:prstGeom prst="roundRect">
            <a:avLst>
              <a:gd name="adj" fmla="val 21629"/>
            </a:avLst>
          </a:prstGeom>
          <a:solidFill>
            <a:srgbClr val="002244">
              <a:alpha val="3000"/>
            </a:srgbClr>
          </a:solidFill>
        </p:spPr>
      </p:sp>
      <p:sp>
        <p:nvSpPr>
          <p:cNvPr id="25" name="Shape 18"/>
          <p:cNvSpPr/>
          <p:nvPr/>
        </p:nvSpPr>
        <p:spPr>
          <a:xfrm>
            <a:off x="809244" y="5376672"/>
            <a:ext cx="28346" cy="694944"/>
          </a:xfrm>
          <a:prstGeom prst="roundRect">
            <a:avLst>
              <a:gd name="adj" fmla="val 530277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81151" y="5519318"/>
            <a:ext cx="46579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INVESTMENT IMPLICATION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981151" y="5738774"/>
            <a:ext cx="47347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每一家新增纳入企业，每年均为碳核查的刚性客户，市场空间呈倍数级增长。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286500" y="1047902"/>
            <a:ext cx="5333695" cy="5143500"/>
          </a:xfrm>
          <a:prstGeom prst="roundRect">
            <a:avLst>
              <a:gd name="adj" fmla="val 527"/>
            </a:avLst>
          </a:prstGeom>
          <a:solidFill>
            <a:srgbClr val="FFFFFF"/>
          </a:solidFill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86500" y="1047902"/>
            <a:ext cx="5333695" cy="57607"/>
          </a:xfrm>
          <a:prstGeom prst="roundRect">
            <a:avLst>
              <a:gd name="adj" fmla="val 47031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86500" y="1104595"/>
            <a:ext cx="5333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Shape 24"/>
          <p:cNvSpPr/>
          <p:nvPr/>
        </p:nvSpPr>
        <p:spPr>
          <a:xfrm>
            <a:off x="6286500" y="2009851"/>
            <a:ext cx="5333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28739" y="1295705"/>
            <a:ext cx="4743907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欧盟CBAM (碳边境调节机制) </a:t>
            </a:r>
            <a:r>
              <a:rPr lang="en-US" sz="800" b="1" dirty="0">
                <a:solidFill>
                  <a:srgbClr val="B08D2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2026正式征税</a:t>
            </a:r>
            <a:endParaRPr lang="en-US" sz="15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524244" y="1343254"/>
            <a:ext cx="190195" cy="19019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48856" y="1628546"/>
            <a:ext cx="47247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出口导向型企业的合规“生死线”</a:t>
            </a:r>
            <a:endParaRPr lang="en-US" sz="9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t="-3743" b="-3743"/>
          <a:stretch>
            <a:fillRect/>
          </a:stretch>
        </p:blipFill>
        <p:spPr>
          <a:xfrm>
            <a:off x="6524244" y="2204618"/>
            <a:ext cx="4858207" cy="1904695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rcRect l="-1358" r="-1358"/>
          <a:stretch>
            <a:fillRect/>
          </a:stretch>
        </p:blipFill>
        <p:spPr>
          <a:xfrm>
            <a:off x="6539789" y="4315968"/>
            <a:ext cx="142646" cy="12344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812280" y="4252874"/>
            <a:ext cx="47631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第三方核查是前置条件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6812280" y="4476902"/>
            <a:ext cx="464881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钢铁、铝、水泥、化肥等产品出口必须提供经过认证的碳排放数据，否则无法通关或面临高额税负。</a:t>
            </a:r>
            <a:endParaRPr lang="en-US" sz="9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 l="-1358" r="-1358"/>
          <a:stretch>
            <a:fillRect/>
          </a:stretch>
        </p:blipFill>
        <p:spPr>
          <a:xfrm>
            <a:off x="6542532" y="4958791"/>
            <a:ext cx="142646" cy="123444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817766" y="4895698"/>
            <a:ext cx="47631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4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出口份额提升放大需求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6817766" y="5119726"/>
            <a:ext cx="464881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大摩预测：中国全球出口份额将从15%升至16.5% (2030E)，出口体量扩张意味着认证基数扩大。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6524244" y="5682082"/>
            <a:ext cx="4858207" cy="694944"/>
          </a:xfrm>
          <a:prstGeom prst="roundRect">
            <a:avLst>
              <a:gd name="adj" fmla="val 21629"/>
            </a:avLst>
          </a:prstGeom>
          <a:solidFill>
            <a:srgbClr val="002244">
              <a:alpha val="3000"/>
            </a:srgbClr>
          </a:solidFill>
        </p:spPr>
      </p:sp>
      <p:sp>
        <p:nvSpPr>
          <p:cNvPr id="43" name="Shape 32"/>
          <p:cNvSpPr/>
          <p:nvPr/>
        </p:nvSpPr>
        <p:spPr>
          <a:xfrm>
            <a:off x="6524244" y="5682082"/>
            <a:ext cx="28346" cy="694944"/>
          </a:xfrm>
          <a:prstGeom prst="roundRect">
            <a:avLst>
              <a:gd name="adj" fmla="val 530277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6696151" y="5824728"/>
            <a:ext cx="46579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A7D0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INVESTMENT IMPLICATION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6696151" y="6043270"/>
            <a:ext cx="47347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无法绕开的合规门槛，与地产周期无关，纯粹由出口贸易活动驱动的增量需求。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Shape 3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571500" y="6586423"/>
            <a:ext cx="39154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European Commission, MEE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11557102" y="6586423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14300"/>
            <a:ext cx="46863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INDUSTRY VALUE CHAIN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4495"/>
            <a:ext cx="47631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碳检测产业链：四大环节与关键玩家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30768" y="286207"/>
            <a:ext cx="31994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基础设施 -&gt; 软件数据 -&gt; 核心认证 -&gt; 综合服务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1047902"/>
            <a:ext cx="2619756" cy="5048402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" y="1047902"/>
            <a:ext cx="2619756" cy="47549"/>
          </a:xfrm>
          <a:prstGeom prst="roundRect">
            <a:avLst>
              <a:gd name="adj" fmla="val 111888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4094" y="1190549"/>
            <a:ext cx="54315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>
                    <a:alpha val="3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1695" y="1285646"/>
            <a:ext cx="476402" cy="47640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 l="-461" r="-461"/>
          <a:stretch>
            <a:fillRect/>
          </a:stretch>
        </p:blipFill>
        <p:spPr>
          <a:xfrm>
            <a:off x="881482" y="1419149"/>
            <a:ext cx="237744" cy="20939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61695" y="1904695"/>
            <a:ext cx="241767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监测硬件设备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2157984"/>
            <a:ext cx="241767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数据源头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56793" y="2567635"/>
            <a:ext cx="2220163" cy="372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CEMS系统为核心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烟气排放连续监测系统是刚需。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1695" y="2567635"/>
            <a:ext cx="95098" cy="9509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6793" y="3054096"/>
            <a:ext cx="2220163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高壁垒：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精度、稳定性、防篡改要求高，有国家强制检定门槛。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1695" y="3054096"/>
            <a:ext cx="95098" cy="9509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6793" y="3539642"/>
            <a:ext cx="232257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趋势：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从核算法向在线监测转移。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1695" y="3539642"/>
            <a:ext cx="95098" cy="9509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71500" y="4957877"/>
            <a:ext cx="2619756" cy="1143000"/>
          </a:xfrm>
          <a:prstGeom prst="roundRect">
            <a:avLst>
              <a:gd name="adj" fmla="val 10667"/>
            </a:avLst>
          </a:prstGeom>
          <a:solidFill>
            <a:srgbClr val="FCFCFC"/>
          </a:solidFill>
        </p:spPr>
      </p:sp>
      <p:sp>
        <p:nvSpPr>
          <p:cNvPr id="23" name="Shape 17"/>
          <p:cNvSpPr/>
          <p:nvPr/>
        </p:nvSpPr>
        <p:spPr>
          <a:xfrm>
            <a:off x="571500" y="4957877"/>
            <a:ext cx="2619756" cy="9144"/>
          </a:xfrm>
          <a:prstGeom prst="roundRect">
            <a:avLst>
              <a:gd name="adj" fmla="val 1333333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61695" y="5110582"/>
            <a:ext cx="232806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999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Players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761695" y="5352898"/>
            <a:ext cx="504749" cy="247802"/>
          </a:xfrm>
          <a:prstGeom prst="roundRect">
            <a:avLst>
              <a:gd name="adj" fmla="val 113540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61695" y="5352898"/>
            <a:ext cx="5623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雪迪龙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304849" y="5352898"/>
            <a:ext cx="619049" cy="247802"/>
          </a:xfrm>
          <a:prstGeom prst="roundRect">
            <a:avLst>
              <a:gd name="adj" fmla="val 113540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304849" y="5352898"/>
            <a:ext cx="6766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聚光科技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962302" y="5352898"/>
            <a:ext cx="619049" cy="247802"/>
          </a:xfrm>
          <a:prstGeom prst="roundRect">
            <a:avLst>
              <a:gd name="adj" fmla="val 113540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962302" y="5352898"/>
            <a:ext cx="6766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先河环保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61695" y="5658307"/>
            <a:ext cx="619049" cy="247802"/>
          </a:xfrm>
          <a:prstGeom prst="roundRect">
            <a:avLst>
              <a:gd name="adj" fmla="val 113540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61695" y="5658307"/>
            <a:ext cx="6766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皖仪科技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381451" y="1047902"/>
            <a:ext cx="2619756" cy="5048402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381451" y="1047902"/>
            <a:ext cx="2619756" cy="47549"/>
          </a:xfrm>
          <a:prstGeom prst="roundRect">
            <a:avLst>
              <a:gd name="adj" fmla="val 111888"/>
            </a:avLst>
          </a:prstGeom>
          <a:solidFill>
            <a:srgbClr val="42A5F5"/>
          </a:solidFill>
          <a:ln w="12700">
            <a:solidFill>
              <a:srgbClr val="42A5F5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394046" y="1190549"/>
            <a:ext cx="54315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>
                    <a:alpha val="3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3000" dirty="0"/>
          </a:p>
        </p:txBody>
      </p:sp>
      <p:sp>
        <p:nvSpPr>
          <p:cNvPr id="36" name="Shape 30"/>
          <p:cNvSpPr/>
          <p:nvPr/>
        </p:nvSpPr>
        <p:spPr>
          <a:xfrm>
            <a:off x="3571646" y="1285646"/>
            <a:ext cx="476402" cy="47640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rcRect l="-1004" r="-1004"/>
          <a:stretch>
            <a:fillRect/>
          </a:stretch>
        </p:blipFill>
        <p:spPr>
          <a:xfrm>
            <a:off x="3676802" y="1419149"/>
            <a:ext cx="267005" cy="20939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3571646" y="1904695"/>
            <a:ext cx="241767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碳核算软件/平台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3571646" y="2157984"/>
            <a:ext cx="241767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数据处理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3666744" y="2567635"/>
            <a:ext cx="2220163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数字化工具：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碳盘查系统、碳足迹核算、碳资产管理。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71646" y="2567635"/>
            <a:ext cx="95098" cy="9509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3666744" y="3054096"/>
            <a:ext cx="2220163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赋能：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结合十五五科技主线，SaaS化与AI应用提升效率。</a:t>
            </a:r>
            <a:endParaRPr lang="en-US" sz="9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71646" y="3054096"/>
            <a:ext cx="95098" cy="95098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3666744" y="3539642"/>
            <a:ext cx="232257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蓝海市场：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标准化程度正在快速提升。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71646" y="3539642"/>
            <a:ext cx="95098" cy="95098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3381451" y="5262372"/>
            <a:ext cx="2619756" cy="838505"/>
          </a:xfrm>
          <a:prstGeom prst="roundRect">
            <a:avLst>
              <a:gd name="adj" fmla="val 19827"/>
            </a:avLst>
          </a:prstGeom>
          <a:solidFill>
            <a:srgbClr val="FCFCFC"/>
          </a:solidFill>
        </p:spPr>
      </p:sp>
      <p:sp>
        <p:nvSpPr>
          <p:cNvPr id="47" name="Shape 37"/>
          <p:cNvSpPr/>
          <p:nvPr/>
        </p:nvSpPr>
        <p:spPr>
          <a:xfrm>
            <a:off x="3381451" y="5262372"/>
            <a:ext cx="2619756" cy="9144"/>
          </a:xfrm>
          <a:prstGeom prst="roundRect">
            <a:avLst>
              <a:gd name="adj" fmla="val 1818182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3571646" y="5415077"/>
            <a:ext cx="232806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999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Players</a:t>
            </a:r>
            <a:endParaRPr lang="en-US" sz="800" dirty="0"/>
          </a:p>
        </p:txBody>
      </p:sp>
      <p:sp>
        <p:nvSpPr>
          <p:cNvPr id="49" name="Shape 39"/>
          <p:cNvSpPr/>
          <p:nvPr/>
        </p:nvSpPr>
        <p:spPr>
          <a:xfrm>
            <a:off x="3571646" y="5658307"/>
            <a:ext cx="619049" cy="247802"/>
          </a:xfrm>
          <a:prstGeom prst="roundRect">
            <a:avLst>
              <a:gd name="adj" fmla="val 113540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3571646" y="5658307"/>
            <a:ext cx="6766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华测检测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4229100" y="5658307"/>
            <a:ext cx="619049" cy="247802"/>
          </a:xfrm>
          <a:prstGeom prst="roundRect">
            <a:avLst>
              <a:gd name="adj" fmla="val 113540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4229100" y="5658307"/>
            <a:ext cx="6766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国检集团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9001354" y="1047902"/>
            <a:ext cx="2619756" cy="5048402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9001354" y="1047902"/>
            <a:ext cx="2619756" cy="47549"/>
          </a:xfrm>
          <a:prstGeom prst="roundRect">
            <a:avLst>
              <a:gd name="adj" fmla="val 111888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11013034" y="1190549"/>
            <a:ext cx="54315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>
                    <a:alpha val="3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3000" dirty="0"/>
          </a:p>
        </p:txBody>
      </p:sp>
      <p:sp>
        <p:nvSpPr>
          <p:cNvPr id="56" name="Shape 46"/>
          <p:cNvSpPr/>
          <p:nvPr/>
        </p:nvSpPr>
        <p:spPr>
          <a:xfrm>
            <a:off x="9191549" y="1285646"/>
            <a:ext cx="476402" cy="476402"/>
          </a:xfrm>
          <a:prstGeom prst="ellipse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5"/>
          <a:srcRect l="-1004" r="-1004"/>
          <a:stretch>
            <a:fillRect/>
          </a:stretch>
        </p:blipFill>
        <p:spPr>
          <a:xfrm>
            <a:off x="9296705" y="1419149"/>
            <a:ext cx="267005" cy="209398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9191549" y="1904695"/>
            <a:ext cx="241767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碳咨询与综合服务</a:t>
            </a:r>
            <a:endParaRPr lang="en-US" sz="1300" dirty="0"/>
          </a:p>
        </p:txBody>
      </p:sp>
      <p:sp>
        <p:nvSpPr>
          <p:cNvPr id="59" name="Text 48"/>
          <p:cNvSpPr txBox="1"/>
          <p:nvPr/>
        </p:nvSpPr>
        <p:spPr>
          <a:xfrm>
            <a:off x="9191549" y="2157984"/>
            <a:ext cx="241767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价值挖掘</a:t>
            </a:r>
            <a:endParaRPr lang="en-US" sz="900" dirty="0"/>
          </a:p>
        </p:txBody>
      </p:sp>
      <p:sp>
        <p:nvSpPr>
          <p:cNvPr id="60" name="Text 49"/>
          <p:cNvSpPr txBox="1"/>
          <p:nvPr/>
        </p:nvSpPr>
        <p:spPr>
          <a:xfrm>
            <a:off x="9286646" y="2567635"/>
            <a:ext cx="2220163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综合解决方案：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碳达峰方案、碳交易策略、ESG报告编制。</a:t>
            </a:r>
            <a:endParaRPr lang="en-US" sz="900" dirty="0"/>
          </a:p>
        </p:txBody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191549" y="2567635"/>
            <a:ext cx="95098" cy="95098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9286646" y="3054096"/>
            <a:ext cx="2220163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知识密集型：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与核查业务协同性强，客户转化率高。</a:t>
            </a:r>
            <a:endParaRPr lang="en-US" sz="900" dirty="0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191549" y="3054096"/>
            <a:ext cx="95098" cy="95098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9286646" y="3539642"/>
            <a:ext cx="232257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催化剂：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ESG信息披露监管趋严。</a:t>
            </a:r>
            <a:endParaRPr lang="en-US" sz="900" dirty="0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191549" y="3539642"/>
            <a:ext cx="95098" cy="95098"/>
          </a:xfrm>
          <a:prstGeom prst="rect">
            <a:avLst/>
          </a:prstGeom>
        </p:spPr>
      </p:pic>
      <p:sp>
        <p:nvSpPr>
          <p:cNvPr id="66" name="Shape 52"/>
          <p:cNvSpPr/>
          <p:nvPr/>
        </p:nvSpPr>
        <p:spPr>
          <a:xfrm>
            <a:off x="9001354" y="5262372"/>
            <a:ext cx="2619756" cy="838505"/>
          </a:xfrm>
          <a:prstGeom prst="roundRect">
            <a:avLst>
              <a:gd name="adj" fmla="val 19827"/>
            </a:avLst>
          </a:prstGeom>
          <a:solidFill>
            <a:srgbClr val="FCFCFC"/>
          </a:solidFill>
        </p:spPr>
      </p:sp>
      <p:sp>
        <p:nvSpPr>
          <p:cNvPr id="67" name="Shape 53"/>
          <p:cNvSpPr/>
          <p:nvPr/>
        </p:nvSpPr>
        <p:spPr>
          <a:xfrm>
            <a:off x="9001354" y="5262372"/>
            <a:ext cx="2619756" cy="9144"/>
          </a:xfrm>
          <a:prstGeom prst="roundRect">
            <a:avLst>
              <a:gd name="adj" fmla="val 1818182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68" name="Text 54"/>
          <p:cNvSpPr txBox="1"/>
          <p:nvPr/>
        </p:nvSpPr>
        <p:spPr>
          <a:xfrm>
            <a:off x="9191549" y="5415077"/>
            <a:ext cx="232806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999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Players</a:t>
            </a:r>
            <a:endParaRPr lang="en-US" sz="800" dirty="0"/>
          </a:p>
        </p:txBody>
      </p:sp>
      <p:sp>
        <p:nvSpPr>
          <p:cNvPr id="69" name="Shape 55"/>
          <p:cNvSpPr/>
          <p:nvPr/>
        </p:nvSpPr>
        <p:spPr>
          <a:xfrm>
            <a:off x="9191549" y="5658307"/>
            <a:ext cx="619049" cy="247802"/>
          </a:xfrm>
          <a:prstGeom prst="roundRect">
            <a:avLst>
              <a:gd name="adj" fmla="val 113540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56"/>
          <p:cNvSpPr txBox="1"/>
          <p:nvPr/>
        </p:nvSpPr>
        <p:spPr>
          <a:xfrm>
            <a:off x="9191549" y="5658307"/>
            <a:ext cx="6766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华测检测</a:t>
            </a:r>
            <a:endParaRPr lang="en-US" sz="900" dirty="0"/>
          </a:p>
        </p:txBody>
      </p:sp>
      <p:sp>
        <p:nvSpPr>
          <p:cNvPr id="71" name="Shape 57"/>
          <p:cNvSpPr/>
          <p:nvPr/>
        </p:nvSpPr>
        <p:spPr>
          <a:xfrm>
            <a:off x="9849002" y="5658307"/>
            <a:ext cx="619049" cy="247802"/>
          </a:xfrm>
          <a:prstGeom prst="roundRect">
            <a:avLst>
              <a:gd name="adj" fmla="val 113540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8"/>
          <p:cNvSpPr txBox="1"/>
          <p:nvPr/>
        </p:nvSpPr>
        <p:spPr>
          <a:xfrm>
            <a:off x="9849002" y="5658307"/>
            <a:ext cx="6766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国检集团</a:t>
            </a:r>
            <a:endParaRPr lang="en-US" sz="900" dirty="0"/>
          </a:p>
        </p:txBody>
      </p:sp>
      <p:sp>
        <p:nvSpPr>
          <p:cNvPr id="73" name="Shape 59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Shape 60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75" name="Text 61"/>
          <p:cNvSpPr txBox="1"/>
          <p:nvPr/>
        </p:nvSpPr>
        <p:spPr>
          <a:xfrm>
            <a:off x="571500" y="6586423"/>
            <a:ext cx="324246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Corporate Filings</a:t>
            </a:r>
            <a:endParaRPr lang="en-US" sz="900" dirty="0"/>
          </a:p>
        </p:txBody>
      </p:sp>
      <p:sp>
        <p:nvSpPr>
          <p:cNvPr id="76" name="Text 62"/>
          <p:cNvSpPr txBox="1"/>
          <p:nvPr/>
        </p:nvSpPr>
        <p:spPr>
          <a:xfrm>
            <a:off x="11557102" y="6586423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</a:t>
            </a:r>
            <a:endParaRPr lang="en-US" sz="900" dirty="0"/>
          </a:p>
        </p:txBody>
      </p:sp>
      <p:pic>
        <p:nvPicPr>
          <p:cNvPr id="77" name="Image 12" descr="preencoded.png"/>
          <p:cNvPicPr>
            <a:picLocks noChangeAspect="1"/>
          </p:cNvPicPr>
          <p:nvPr/>
        </p:nvPicPr>
        <p:blipFill>
          <a:blip r:embed="rId7"/>
          <a:srcRect l="-1923" r="-1923"/>
          <a:stretch>
            <a:fillRect/>
          </a:stretch>
        </p:blipFill>
        <p:spPr>
          <a:xfrm>
            <a:off x="3200400" y="3504895"/>
            <a:ext cx="123444" cy="190195"/>
          </a:xfrm>
          <a:prstGeom prst="rect">
            <a:avLst/>
          </a:prstGeom>
        </p:spPr>
      </p:pic>
      <p:pic>
        <p:nvPicPr>
          <p:cNvPr id="78" name="Image 13" descr="preencoded.png"/>
          <p:cNvPicPr>
            <a:picLocks noChangeAspect="1"/>
          </p:cNvPicPr>
          <p:nvPr/>
        </p:nvPicPr>
        <p:blipFill>
          <a:blip r:embed="rId7"/>
          <a:srcRect l="-1923" r="-1923"/>
          <a:stretch>
            <a:fillRect/>
          </a:stretch>
        </p:blipFill>
        <p:spPr>
          <a:xfrm>
            <a:off x="6010351" y="3504895"/>
            <a:ext cx="123444" cy="190195"/>
          </a:xfrm>
          <a:prstGeom prst="rect">
            <a:avLst/>
          </a:prstGeom>
        </p:spPr>
      </p:pic>
      <p:pic>
        <p:nvPicPr>
          <p:cNvPr id="79" name="Image 14" descr="preencoded.png"/>
          <p:cNvPicPr>
            <a:picLocks noChangeAspect="1"/>
          </p:cNvPicPr>
          <p:nvPr/>
        </p:nvPicPr>
        <p:blipFill>
          <a:blip r:embed="rId8"/>
          <a:srcRect l="-4" r="-4"/>
          <a:stretch>
            <a:fillRect/>
          </a:stretch>
        </p:blipFill>
        <p:spPr>
          <a:xfrm>
            <a:off x="6164885" y="997610"/>
            <a:ext cx="2671877" cy="5148986"/>
          </a:xfrm>
          <a:prstGeom prst="rect">
            <a:avLst/>
          </a:prstGeom>
        </p:spPr>
      </p:pic>
      <p:sp>
        <p:nvSpPr>
          <p:cNvPr id="80" name="Shape 63"/>
          <p:cNvSpPr/>
          <p:nvPr/>
        </p:nvSpPr>
        <p:spPr>
          <a:xfrm>
            <a:off x="6359652" y="1239926"/>
            <a:ext cx="485546" cy="48554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1" name="Image 15" descr="preencoded.png"/>
          <p:cNvPicPr>
            <a:picLocks noChangeAspect="1"/>
          </p:cNvPicPr>
          <p:nvPr/>
        </p:nvPicPr>
        <p:blipFill>
          <a:blip r:embed="rId9"/>
          <a:srcRect l="-185" r="-185"/>
          <a:stretch>
            <a:fillRect/>
          </a:stretch>
        </p:blipFill>
        <p:spPr>
          <a:xfrm>
            <a:off x="6481267" y="1376172"/>
            <a:ext cx="247802" cy="219456"/>
          </a:xfrm>
          <a:prstGeom prst="rect">
            <a:avLst/>
          </a:prstGeom>
        </p:spPr>
      </p:pic>
      <p:sp>
        <p:nvSpPr>
          <p:cNvPr id="82" name="Text 64"/>
          <p:cNvSpPr txBox="1"/>
          <p:nvPr/>
        </p:nvSpPr>
        <p:spPr>
          <a:xfrm>
            <a:off x="6359652" y="1871777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第三方核查与认证</a:t>
            </a:r>
            <a:endParaRPr lang="en-US" sz="1300" dirty="0"/>
          </a:p>
        </p:txBody>
      </p:sp>
      <p:sp>
        <p:nvSpPr>
          <p:cNvPr id="83" name="Text 65"/>
          <p:cNvSpPr txBox="1"/>
          <p:nvPr/>
        </p:nvSpPr>
        <p:spPr>
          <a:xfrm>
            <a:off x="6359652" y="2129638"/>
            <a:ext cx="246888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数据背书 (核心环节)</a:t>
            </a:r>
            <a:endParaRPr lang="en-US" sz="900" dirty="0"/>
          </a:p>
        </p:txBody>
      </p:sp>
      <p:sp>
        <p:nvSpPr>
          <p:cNvPr id="84" name="Text 66"/>
          <p:cNvSpPr txBox="1"/>
          <p:nvPr/>
        </p:nvSpPr>
        <p:spPr>
          <a:xfrm>
            <a:off x="6456578" y="2780690"/>
            <a:ext cx="2265883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资质壁垒最高：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需获得监管机构授权及国际互认资质。</a:t>
            </a:r>
            <a:endParaRPr lang="en-US" sz="900" dirty="0"/>
          </a:p>
        </p:txBody>
      </p:sp>
      <p:pic>
        <p:nvPicPr>
          <p:cNvPr id="85" name="Image 16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359652" y="2780690"/>
            <a:ext cx="105156" cy="105156"/>
          </a:xfrm>
          <a:prstGeom prst="rect">
            <a:avLst/>
          </a:prstGeom>
        </p:spPr>
      </p:pic>
      <p:sp>
        <p:nvSpPr>
          <p:cNvPr id="86" name="Text 67"/>
          <p:cNvSpPr txBox="1"/>
          <p:nvPr/>
        </p:nvSpPr>
        <p:spPr>
          <a:xfrm>
            <a:off x="6456578" y="3276295"/>
            <a:ext cx="2265883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商业模式优：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按项目收费，客户复购率极高，属刚性合规支出。</a:t>
            </a:r>
            <a:endParaRPr lang="en-US" sz="900" dirty="0"/>
          </a:p>
        </p:txBody>
      </p:sp>
      <p:pic>
        <p:nvPicPr>
          <p:cNvPr id="87" name="Image 1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359652" y="3276295"/>
            <a:ext cx="105156" cy="105156"/>
          </a:xfrm>
          <a:prstGeom prst="rect">
            <a:avLst/>
          </a:prstGeom>
        </p:spPr>
      </p:pic>
      <p:sp>
        <p:nvSpPr>
          <p:cNvPr id="88" name="Text 68"/>
          <p:cNvSpPr txBox="1"/>
          <p:nvPr/>
        </p:nvSpPr>
        <p:spPr>
          <a:xfrm>
            <a:off x="6456578" y="3771900"/>
            <a:ext cx="2265883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不可绕开：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所有出口企业必须经过此环节。</a:t>
            </a:r>
            <a:endParaRPr lang="en-US" sz="900" dirty="0"/>
          </a:p>
        </p:txBody>
      </p:sp>
      <p:pic>
        <p:nvPicPr>
          <p:cNvPr id="89" name="Image 18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359652" y="3771900"/>
            <a:ext cx="105156" cy="105156"/>
          </a:xfrm>
          <a:prstGeom prst="rect">
            <a:avLst/>
          </a:prstGeom>
        </p:spPr>
      </p:pic>
      <p:sp>
        <p:nvSpPr>
          <p:cNvPr id="90" name="Shape 69"/>
          <p:cNvSpPr/>
          <p:nvPr/>
        </p:nvSpPr>
        <p:spPr>
          <a:xfrm>
            <a:off x="6164885" y="5287061"/>
            <a:ext cx="2676449" cy="866851"/>
          </a:xfrm>
          <a:prstGeom prst="roundRect">
            <a:avLst>
              <a:gd name="adj" fmla="val 18547"/>
            </a:avLst>
          </a:prstGeom>
          <a:solidFill>
            <a:srgbClr val="FFFCF5"/>
          </a:solidFill>
        </p:spPr>
      </p:sp>
      <p:sp>
        <p:nvSpPr>
          <p:cNvPr id="91" name="Shape 70"/>
          <p:cNvSpPr/>
          <p:nvPr/>
        </p:nvSpPr>
        <p:spPr>
          <a:xfrm>
            <a:off x="6164885" y="5287061"/>
            <a:ext cx="2676449" cy="9144"/>
          </a:xfrm>
          <a:prstGeom prst="roundRect">
            <a:avLst>
              <a:gd name="adj" fmla="val 1758242"/>
            </a:avLst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92" name="Text 71"/>
          <p:cNvSpPr txBox="1"/>
          <p:nvPr/>
        </p:nvSpPr>
        <p:spPr>
          <a:xfrm>
            <a:off x="6359652" y="5442509"/>
            <a:ext cx="237744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B08D2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Players</a:t>
            </a:r>
            <a:endParaRPr lang="en-US" sz="800" dirty="0"/>
          </a:p>
        </p:txBody>
      </p:sp>
      <p:sp>
        <p:nvSpPr>
          <p:cNvPr id="93" name="Shape 72"/>
          <p:cNvSpPr/>
          <p:nvPr/>
        </p:nvSpPr>
        <p:spPr>
          <a:xfrm>
            <a:off x="6359652" y="2353666"/>
            <a:ext cx="780898" cy="190195"/>
          </a:xfrm>
          <a:prstGeom prst="roundRect">
            <a:avLst>
              <a:gd name="adj" fmla="val 144231"/>
            </a:avLst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Text 73"/>
          <p:cNvSpPr txBox="1"/>
          <p:nvPr/>
        </p:nvSpPr>
        <p:spPr>
          <a:xfrm>
            <a:off x="6359652" y="2353666"/>
            <a:ext cx="8577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08D2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CBAM直接受益</a:t>
            </a:r>
            <a:endParaRPr lang="en-US" sz="800" dirty="0"/>
          </a:p>
        </p:txBody>
      </p:sp>
      <p:sp>
        <p:nvSpPr>
          <p:cNvPr id="95" name="Shape 74"/>
          <p:cNvSpPr/>
          <p:nvPr/>
        </p:nvSpPr>
        <p:spPr>
          <a:xfrm>
            <a:off x="6359652" y="5680253"/>
            <a:ext cx="647395" cy="276149"/>
          </a:xfrm>
          <a:prstGeom prst="roundRect">
            <a:avLst>
              <a:gd name="adj" fmla="val 91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6" name="Text 75"/>
          <p:cNvSpPr txBox="1"/>
          <p:nvPr/>
        </p:nvSpPr>
        <p:spPr>
          <a:xfrm>
            <a:off x="6359652" y="5680253"/>
            <a:ext cx="7050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华测检测</a:t>
            </a:r>
            <a:endParaRPr lang="en-US" sz="900" dirty="0"/>
          </a:p>
        </p:txBody>
      </p:sp>
      <p:sp>
        <p:nvSpPr>
          <p:cNvPr id="97" name="Shape 76"/>
          <p:cNvSpPr/>
          <p:nvPr/>
        </p:nvSpPr>
        <p:spPr>
          <a:xfrm>
            <a:off x="7049110" y="5680253"/>
            <a:ext cx="647395" cy="276149"/>
          </a:xfrm>
          <a:prstGeom prst="roundRect">
            <a:avLst>
              <a:gd name="adj" fmla="val 91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8" name="Text 77"/>
          <p:cNvSpPr txBox="1"/>
          <p:nvPr/>
        </p:nvSpPr>
        <p:spPr>
          <a:xfrm>
            <a:off x="7049110" y="5680253"/>
            <a:ext cx="7050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中国汽研</a:t>
            </a:r>
            <a:endParaRPr lang="en-US" sz="900" dirty="0"/>
          </a:p>
        </p:txBody>
      </p:sp>
      <p:sp>
        <p:nvSpPr>
          <p:cNvPr id="99" name="Shape 78"/>
          <p:cNvSpPr/>
          <p:nvPr/>
        </p:nvSpPr>
        <p:spPr>
          <a:xfrm>
            <a:off x="7739482" y="5680253"/>
            <a:ext cx="676656" cy="276149"/>
          </a:xfrm>
          <a:prstGeom prst="roundRect">
            <a:avLst>
              <a:gd name="adj" fmla="val 91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0" name="Text 79"/>
          <p:cNvSpPr txBox="1"/>
          <p:nvPr/>
        </p:nvSpPr>
        <p:spPr>
          <a:xfrm>
            <a:off x="7739482" y="5680253"/>
            <a:ext cx="734263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SGS/TÜV</a:t>
            </a:r>
            <a:endParaRPr lang="en-US" sz="900" dirty="0"/>
          </a:p>
        </p:txBody>
      </p:sp>
      <p:sp>
        <p:nvSpPr>
          <p:cNvPr id="101" name="Text 80"/>
          <p:cNvSpPr txBox="1"/>
          <p:nvPr/>
        </p:nvSpPr>
        <p:spPr>
          <a:xfrm>
            <a:off x="8217713" y="1143000"/>
            <a:ext cx="55321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F37">
                    <a:alpha val="1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3000" dirty="0"/>
          </a:p>
        </p:txBody>
      </p:sp>
      <p:pic>
        <p:nvPicPr>
          <p:cNvPr id="102" name="Image 19" descr="preencoded.png"/>
          <p:cNvPicPr>
            <a:picLocks noChangeAspect="1"/>
          </p:cNvPicPr>
          <p:nvPr/>
        </p:nvPicPr>
        <p:blipFill>
          <a:blip r:embed="rId11"/>
          <a:srcRect l="-3333" r="-3333"/>
          <a:stretch>
            <a:fillRect/>
          </a:stretch>
        </p:blipFill>
        <p:spPr>
          <a:xfrm>
            <a:off x="8846820" y="3503981"/>
            <a:ext cx="133502" cy="2002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14300"/>
            <a:ext cx="44010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STRATEGIC RESONANCE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4495"/>
            <a:ext cx="447690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宏观框架与碳检测：四重逻辑共振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422892" y="286207"/>
            <a:ext cx="219913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Macro Trends × Industry Logic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761695"/>
            <a:ext cx="12191695" cy="5848502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1143000"/>
            <a:ext cx="5381244" cy="240030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" y="1143000"/>
            <a:ext cx="5381244" cy="1037844"/>
          </a:xfrm>
          <a:prstGeom prst="roundRect">
            <a:avLst>
              <a:gd name="adj" fmla="val 12933"/>
            </a:avLst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" y="1333195"/>
            <a:ext cx="5020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MACRO VIEW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" y="1538021"/>
            <a:ext cx="4981651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地产下行是长期变量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周期性需求持续偏弱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2174443"/>
            <a:ext cx="5381244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571500" y="3507638"/>
            <a:ext cx="5381244" cy="38405"/>
          </a:xfrm>
          <a:prstGeom prst="roundRect">
            <a:avLst>
              <a:gd name="adj" fmla="val 264549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" y="2413102"/>
            <a:ext cx="5020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INDUSTRY LOGIC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" y="2617927"/>
            <a:ext cx="50959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稀缺的“抗周期”属性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" y="2894076"/>
            <a:ext cx="49816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碳检测需求源自政府监管合规，不依赖居民消费意愿或地产景气度，具备极强的政策刚性。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38951" y="1143000"/>
            <a:ext cx="5381244" cy="240030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8951" y="1143000"/>
            <a:ext cx="5381244" cy="1037844"/>
          </a:xfrm>
          <a:prstGeom prst="roundRect">
            <a:avLst>
              <a:gd name="adj" fmla="val 12933"/>
            </a:avLst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6695" y="1333195"/>
            <a:ext cx="5020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MACRO VIEW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476695" y="1538021"/>
            <a:ext cx="4981651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供给侧科技主线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绿色能源为核心方向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8951" y="2174443"/>
            <a:ext cx="5381244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6238951" y="3507638"/>
            <a:ext cx="5381244" cy="38405"/>
          </a:xfrm>
          <a:prstGeom prst="roundRect">
            <a:avLst>
              <a:gd name="adj" fmla="val 264549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6695" y="2413102"/>
            <a:ext cx="5020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INDUSTRY LOGIC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476695" y="2617927"/>
            <a:ext cx="50959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绿色转型的“基础设施”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76695" y="2894076"/>
            <a:ext cx="49816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没有可靠的碳数据，碳市场无法运转。碳检测是实现15th FYP绿色科技目标的底层数据基石。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" y="3827678"/>
            <a:ext cx="5381244" cy="240030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1500" y="3827678"/>
            <a:ext cx="5381244" cy="1037844"/>
          </a:xfrm>
          <a:prstGeom prst="roundRect">
            <a:avLst>
              <a:gd name="adj" fmla="val 12933"/>
            </a:avLst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9244" y="4017874"/>
            <a:ext cx="5020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MACRO VIEW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" y="4222699"/>
            <a:ext cx="4981651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出口份额持续提升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2030年预计达16.5%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1500" y="4859122"/>
            <a:ext cx="5381244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</p:spPr>
      </p:sp>
      <p:sp>
        <p:nvSpPr>
          <p:cNvPr id="32" name="Shape 30"/>
          <p:cNvSpPr/>
          <p:nvPr/>
        </p:nvSpPr>
        <p:spPr>
          <a:xfrm>
            <a:off x="571500" y="6192317"/>
            <a:ext cx="5381244" cy="38405"/>
          </a:xfrm>
          <a:prstGeom prst="roundRect">
            <a:avLst>
              <a:gd name="adj" fmla="val 264549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9244" y="5096866"/>
            <a:ext cx="5020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INDUSTRY LOGIC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09244" y="5301691"/>
            <a:ext cx="50959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CBAM认证需求同步扩张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09244" y="5577840"/>
            <a:ext cx="49816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出口体量越大，需通过CBAM核查的企业越多。中国制造的全球份额韧性直接支撑检测业务量。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38951" y="3827678"/>
            <a:ext cx="5381244" cy="240030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8951" y="3827678"/>
            <a:ext cx="5381244" cy="1037844"/>
          </a:xfrm>
          <a:prstGeom prst="roundRect">
            <a:avLst>
              <a:gd name="adj" fmla="val 12933"/>
            </a:avLst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76695" y="4017874"/>
            <a:ext cx="5020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MACRO VIEW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476695" y="4222699"/>
            <a:ext cx="4981651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赋能而非替代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知识密集型服务受益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8951" y="4859122"/>
            <a:ext cx="5381244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</p:spPr>
      </p:sp>
      <p:sp>
        <p:nvSpPr>
          <p:cNvPr id="41" name="Shape 39"/>
          <p:cNvSpPr/>
          <p:nvPr/>
        </p:nvSpPr>
        <p:spPr>
          <a:xfrm>
            <a:off x="6238951" y="6192317"/>
            <a:ext cx="5381244" cy="38405"/>
          </a:xfrm>
          <a:prstGeom prst="roundRect">
            <a:avLst>
              <a:gd name="adj" fmla="val 264549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76695" y="5096866"/>
            <a:ext cx="5020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INDUSTRY LOGIC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476695" y="5301691"/>
            <a:ext cx="50959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头部机构效率与估值双升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76695" y="5577840"/>
            <a:ext cx="49816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核查认证需资质背书，AI无法替代法律效力，但能大幅提升头部机构的服务半径与人均产出。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606540"/>
            <a:ext cx="12191695" cy="3813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Shape 44"/>
          <p:cNvSpPr/>
          <p:nvPr/>
        </p:nvSpPr>
        <p:spPr>
          <a:xfrm>
            <a:off x="0" y="6606540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1500" y="6716268"/>
            <a:ext cx="441929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Goldman Sachs Sustainable Finance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557102" y="6716268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9244" y="2174443"/>
            <a:ext cx="190195" cy="142646"/>
          </a:xfrm>
          <a:prstGeom prst="rect">
            <a:avLst/>
          </a:prstGeom>
          <a:noFill/>
          <a:ln w="190500">
            <a:solidFill>
              <a:srgbClr val="0022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76695" y="2174443"/>
            <a:ext cx="190195" cy="142646"/>
          </a:xfrm>
          <a:prstGeom prst="rect">
            <a:avLst/>
          </a:prstGeom>
          <a:noFill/>
          <a:ln w="190500">
            <a:solidFill>
              <a:srgbClr val="0022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9244" y="4859122"/>
            <a:ext cx="190195" cy="142646"/>
          </a:xfrm>
          <a:prstGeom prst="rect">
            <a:avLst/>
          </a:prstGeom>
          <a:noFill/>
          <a:ln w="190500">
            <a:solidFill>
              <a:srgbClr val="0022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76695" y="4859122"/>
            <a:ext cx="190195" cy="142646"/>
          </a:xfrm>
          <a:prstGeom prst="rect">
            <a:avLst/>
          </a:prstGeom>
          <a:noFill/>
          <a:ln w="190500">
            <a:solidFill>
              <a:srgbClr val="002244"/>
            </a:solidFill>
            <a:prstDash val="solid"/>
          </a:ln>
        </p:spPr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43500" y="1936699"/>
            <a:ext cx="571500" cy="571500"/>
          </a:xfrm>
          <a:prstGeom prst="rect">
            <a:avLst/>
          </a:prstGeom>
        </p:spPr>
      </p:pic>
      <p:pic>
        <p:nvPicPr>
          <p:cNvPr id="5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15407" y="2107692"/>
            <a:ext cx="228600" cy="228600"/>
          </a:xfrm>
          <a:prstGeom prst="rect">
            <a:avLst/>
          </a:prstGeom>
        </p:spPr>
      </p:pic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10951" y="1936699"/>
            <a:ext cx="571500" cy="571500"/>
          </a:xfrm>
          <a:prstGeom prst="rect">
            <a:avLst/>
          </a:prstGeom>
        </p:spPr>
      </p:pic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3"/>
          <a:srcRect l="-57" r="-57"/>
          <a:stretch>
            <a:fillRect/>
          </a:stretch>
        </p:blipFill>
        <p:spPr>
          <a:xfrm>
            <a:off x="10996574" y="2107692"/>
            <a:ext cx="200254" cy="228600"/>
          </a:xfrm>
          <a:prstGeom prst="rect">
            <a:avLst/>
          </a:prstGeom>
        </p:spPr>
      </p:pic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43500" y="4620463"/>
            <a:ext cx="571500" cy="571500"/>
          </a:xfrm>
          <a:prstGeom prst="rect">
            <a:avLst/>
          </a:prstGeom>
        </p:spPr>
      </p:pic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15407" y="4792370"/>
            <a:ext cx="228600" cy="228600"/>
          </a:xfrm>
          <a:prstGeom prst="rect">
            <a:avLst/>
          </a:prstGeom>
        </p:spPr>
      </p:pic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10951" y="4620463"/>
            <a:ext cx="571500" cy="571500"/>
          </a:xfrm>
          <a:prstGeom prst="rect">
            <a:avLst/>
          </a:prstGeom>
        </p:spPr>
      </p:pic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5"/>
          <a:srcRect l="-80" r="-80"/>
          <a:stretch>
            <a:fillRect/>
          </a:stretch>
        </p:blipFill>
        <p:spPr>
          <a:xfrm>
            <a:off x="10953598" y="4792370"/>
            <a:ext cx="286207" cy="228600"/>
          </a:xfrm>
          <a:prstGeom prst="rect">
            <a:avLst/>
          </a:prstGeom>
        </p:spPr>
      </p:pic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715000" y="3303727"/>
            <a:ext cx="761695" cy="761695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5798210" y="3737153"/>
            <a:ext cx="67665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RESONANCE</a:t>
            </a:r>
            <a:endParaRPr lang="en-US" sz="800" dirty="0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968289" y="3475634"/>
            <a:ext cx="256946" cy="2569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2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114300"/>
            <a:ext cx="41148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INVESTMENT SUMMARY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4495"/>
            <a:ext cx="41916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标的与配置框架：确定性与弹性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546336" y="286207"/>
            <a:ext cx="208026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RECOMMENDATION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761695"/>
            <a:ext cx="12191695" cy="6077102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1047902"/>
            <a:ext cx="3524098" cy="4276649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" y="1047902"/>
            <a:ext cx="3524098" cy="57607"/>
          </a:xfrm>
          <a:prstGeom prst="roundRect">
            <a:avLst>
              <a:gd name="adj" fmla="val 68640"/>
            </a:avLst>
          </a:prstGeom>
          <a:solidFill>
            <a:srgbClr val="002244"/>
          </a:solidFill>
          <a:ln w="12700">
            <a:solidFill>
              <a:srgbClr val="0022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" y="2057400"/>
            <a:ext cx="35240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" y="1333195"/>
            <a:ext cx="905256" cy="200254"/>
          </a:xfrm>
          <a:prstGeom prst="roundRect">
            <a:avLst>
              <a:gd name="adj" fmla="val 173951"/>
            </a:avLst>
          </a:prstGeom>
          <a:solidFill>
            <a:srgbClr val="0022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" y="1333195"/>
            <a:ext cx="9628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0022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0 - 12 MONTHS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" y="1609344"/>
            <a:ext cx="1296619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短期确定性配置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>
            <a:alphaModFix amt="20000"/>
          </a:blip>
          <a:srcRect/>
          <a:stretch>
            <a:fillRect/>
          </a:stretch>
        </p:blipFill>
        <p:spPr>
          <a:xfrm>
            <a:off x="3666744" y="1643177"/>
            <a:ext cx="190195" cy="19019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09244" y="2305202"/>
            <a:ext cx="3047695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1949" y="2409444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华测检测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139135" y="2431390"/>
            <a:ext cx="648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300012.SZ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09244" y="2809951"/>
            <a:ext cx="3047695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1949" y="2915107"/>
            <a:ext cx="4764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雪迪龙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139135" y="2936138"/>
            <a:ext cx="648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002658.SZ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09244" y="3448202"/>
            <a:ext cx="3047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9244" y="3685946"/>
            <a:ext cx="95098" cy="9509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05256" y="3685946"/>
            <a:ext cx="3029407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CBAM 刚需兑现：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2026年正式执行，出口企业核查需求在未来12个月集中爆发。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9244" y="4153205"/>
            <a:ext cx="95098" cy="9509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05256" y="4153205"/>
            <a:ext cx="3029407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CEMS 订单放量：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碳市场扩容带来监测设备强制性安装需求。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9244" y="4619549"/>
            <a:ext cx="95098" cy="9509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05256" y="4619549"/>
            <a:ext cx="26773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低风险：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业绩确定性高，受宏观波动影响小。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334256" y="1047902"/>
            <a:ext cx="3524098" cy="4276649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34256" y="1047902"/>
            <a:ext cx="3524098" cy="57607"/>
          </a:xfrm>
          <a:prstGeom prst="roundRect">
            <a:avLst>
              <a:gd name="adj" fmla="val 68640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334256" y="2057400"/>
            <a:ext cx="35240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572000" y="1333195"/>
            <a:ext cx="724205" cy="200254"/>
          </a:xfrm>
          <a:prstGeom prst="roundRect">
            <a:avLst>
              <a:gd name="adj" fmla="val 173951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4572000" y="1333195"/>
            <a:ext cx="7818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A7D0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1 - 3 YEARS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4572000" y="1609344"/>
            <a:ext cx="111099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中期弹性配置</a:t>
            </a:r>
            <a:endParaRPr lang="en-US" sz="13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>
            <a:fillRect/>
          </a:stretch>
        </p:blipFill>
        <p:spPr>
          <a:xfrm>
            <a:off x="7429500" y="1643177"/>
            <a:ext cx="190195" cy="19019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4572000" y="2305202"/>
            <a:ext cx="3047695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724705" y="2409444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聚光科技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901891" y="2431390"/>
            <a:ext cx="648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300203.SZ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4572000" y="2809951"/>
            <a:ext cx="3047695" cy="409651"/>
          </a:xfrm>
          <a:prstGeom prst="roundRect">
            <a:avLst>
              <a:gd name="adj" fmla="val 622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4724705" y="2915107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皖仪科技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901891" y="2936138"/>
            <a:ext cx="648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688600.SH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4572000" y="3448202"/>
            <a:ext cx="3047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4"/>
          <a:srcRect l="-1648" r="-1648"/>
          <a:stretch>
            <a:fillRect/>
          </a:stretch>
        </p:blipFill>
        <p:spPr>
          <a:xfrm>
            <a:off x="4572000" y="3685946"/>
            <a:ext cx="85954" cy="95098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4657954" y="3685946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科创属性 Beta：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小市值 + 科创板属性，在科技主线市场风格中具备更高弹性。</a:t>
            </a:r>
            <a:endParaRPr lang="en-US" sz="9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4"/>
          <a:srcRect l="-1648" r="-1648"/>
          <a:stretch>
            <a:fillRect/>
          </a:stretch>
        </p:blipFill>
        <p:spPr>
          <a:xfrm>
            <a:off x="4572000" y="4153205"/>
            <a:ext cx="85954" cy="95098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4657954" y="4153205"/>
            <a:ext cx="303855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布局深化：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从单一设备向综合监测解决方案转型，业绩释放有滞后性。</a:t>
            </a:r>
            <a:endParaRPr lang="en-US" sz="9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l="-1648" r="-1648"/>
          <a:stretch>
            <a:fillRect/>
          </a:stretch>
        </p:blipFill>
        <p:spPr>
          <a:xfrm>
            <a:off x="4572000" y="4619549"/>
            <a:ext cx="85954" cy="95098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4657954" y="4619549"/>
            <a:ext cx="30486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国产替代：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高端仪器国产化率提升带来的中期红利。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8096098" y="1047902"/>
            <a:ext cx="3524098" cy="4276649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8096098" y="1047902"/>
            <a:ext cx="3524098" cy="57607"/>
          </a:xfrm>
          <a:prstGeom prst="roundRect">
            <a:avLst>
              <a:gd name="adj" fmla="val 68640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8096098" y="2057400"/>
            <a:ext cx="35240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8334756" y="1333195"/>
            <a:ext cx="657454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8334756" y="1333195"/>
            <a:ext cx="7150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47556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 YEARS +</a:t>
            </a:r>
            <a:endParaRPr lang="en-US" sz="800" dirty="0"/>
          </a:p>
        </p:txBody>
      </p:sp>
      <p:sp>
        <p:nvSpPr>
          <p:cNvPr id="54" name="Text 44"/>
          <p:cNvSpPr txBox="1"/>
          <p:nvPr/>
        </p:nvSpPr>
        <p:spPr>
          <a:xfrm>
            <a:off x="8334756" y="1609344"/>
            <a:ext cx="111099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长期关注赛道</a:t>
            </a:r>
            <a:endParaRPr lang="en-US" sz="13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/>
          <a:stretch>
            <a:fillRect/>
          </a:stretch>
        </p:blipFill>
        <p:spPr>
          <a:xfrm>
            <a:off x="11192256" y="1643177"/>
            <a:ext cx="190195" cy="190195"/>
          </a:xfrm>
          <a:prstGeom prst="rect">
            <a:avLst/>
          </a:prstGeom>
        </p:spPr>
      </p:pic>
      <p:sp>
        <p:nvSpPr>
          <p:cNvPr id="56" name="Shape 45"/>
          <p:cNvSpPr/>
          <p:nvPr/>
        </p:nvSpPr>
        <p:spPr>
          <a:xfrm>
            <a:off x="8334756" y="2305202"/>
            <a:ext cx="3047695" cy="9144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46"/>
          <p:cNvSpPr txBox="1"/>
          <p:nvPr/>
        </p:nvSpPr>
        <p:spPr>
          <a:xfrm>
            <a:off x="9310421" y="2572207"/>
            <a:ext cx="11055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碳核算 SaaS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9250985" y="2800807"/>
            <a:ext cx="122438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Waiting for Leaders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8334756" y="3448202"/>
            <a:ext cx="3047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334756" y="3685946"/>
            <a:ext cx="95098" cy="95098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8429854" y="3685946"/>
            <a:ext cx="3029407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标准化加速：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随着碳足迹国标完善，非标服务将转向标准化软件。</a:t>
            </a:r>
            <a:endParaRPr lang="en-US" sz="900" dirty="0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334756" y="4153205"/>
            <a:ext cx="95098" cy="95098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8429854" y="4153205"/>
            <a:ext cx="3029407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渗透：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人工智能将重塑碳核算流程，诞生新的科技型独角兽。</a:t>
            </a:r>
            <a:endParaRPr lang="en-US" sz="900" dirty="0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334756" y="4619549"/>
            <a:ext cx="95098" cy="9509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8429854" y="4619549"/>
            <a:ext cx="3029407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一级市场：</a:t>
            </a: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密切关注相关领域的融资动态与头部初创企业。</a:t>
            </a:r>
            <a:endParaRPr lang="en-US" sz="900" dirty="0"/>
          </a:p>
        </p:txBody>
      </p:sp>
      <p:sp>
        <p:nvSpPr>
          <p:cNvPr id="66" name="Shape 52"/>
          <p:cNvSpPr/>
          <p:nvPr/>
        </p:nvSpPr>
        <p:spPr>
          <a:xfrm>
            <a:off x="571500" y="5514746"/>
            <a:ext cx="11048695" cy="1037844"/>
          </a:xfrm>
          <a:prstGeom prst="roundRect">
            <a:avLst>
              <a:gd name="adj" fmla="val 12933"/>
            </a:avLst>
          </a:prstGeom>
          <a:solidFill>
            <a:srgbClr val="FFFFFF"/>
          </a:solidFill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67" name="Shape 53"/>
          <p:cNvSpPr/>
          <p:nvPr/>
        </p:nvSpPr>
        <p:spPr>
          <a:xfrm>
            <a:off x="571500" y="5514746"/>
            <a:ext cx="38405" cy="1037844"/>
          </a:xfrm>
          <a:prstGeom prst="roundRect">
            <a:avLst>
              <a:gd name="adj" fmla="val 34949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8" name="Text 54"/>
          <p:cNvSpPr txBox="1"/>
          <p:nvPr/>
        </p:nvSpPr>
        <p:spPr>
          <a:xfrm>
            <a:off x="847649" y="5658307"/>
            <a:ext cx="1064910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Risks &amp; Disclaimer</a:t>
            </a:r>
            <a:endParaRPr lang="en-US" sz="900" dirty="0"/>
          </a:p>
        </p:txBody>
      </p:sp>
      <p:sp>
        <p:nvSpPr>
          <p:cNvPr id="69" name="Text 55"/>
          <p:cNvSpPr txBox="1"/>
          <p:nvPr/>
        </p:nvSpPr>
        <p:spPr>
          <a:xfrm>
            <a:off x="961949" y="5924398"/>
            <a:ext cx="137800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碳市场扩容进度不及预期</a:t>
            </a:r>
            <a:endParaRPr lang="en-US" sz="900" dirty="0"/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47649" y="5952744"/>
            <a:ext cx="114300" cy="114300"/>
          </a:xfrm>
          <a:prstGeom prst="rect">
            <a:avLst/>
          </a:prstGeom>
        </p:spPr>
      </p:pic>
      <p:sp>
        <p:nvSpPr>
          <p:cNvPr id="71" name="Text 56"/>
          <p:cNvSpPr txBox="1"/>
          <p:nvPr/>
        </p:nvSpPr>
        <p:spPr>
          <a:xfrm>
            <a:off x="2524658" y="5924398"/>
            <a:ext cx="150144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国际互认标准出现贸易摩擦</a:t>
            </a:r>
            <a:endParaRPr lang="en-US" sz="900" dirty="0"/>
          </a:p>
        </p:txBody>
      </p:sp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410358" y="5952744"/>
            <a:ext cx="114300" cy="114300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4200754" y="5924398"/>
            <a:ext cx="170718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财政支付节奏放缓影响G端回款</a:t>
            </a:r>
            <a:endParaRPr lang="en-US" sz="900" dirty="0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86454" y="5952744"/>
            <a:ext cx="114300" cy="114300"/>
          </a:xfrm>
          <a:prstGeom prst="rect">
            <a:avLst/>
          </a:prstGeom>
        </p:spPr>
      </p:pic>
      <p:sp>
        <p:nvSpPr>
          <p:cNvPr id="75" name="Shape 58"/>
          <p:cNvSpPr/>
          <p:nvPr/>
        </p:nvSpPr>
        <p:spPr>
          <a:xfrm>
            <a:off x="847649" y="6191402"/>
            <a:ext cx="105348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76" name="Text 59"/>
          <p:cNvSpPr txBox="1"/>
          <p:nvPr/>
        </p:nvSpPr>
        <p:spPr>
          <a:xfrm>
            <a:off x="847649" y="6276442"/>
            <a:ext cx="10611612" cy="1344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本报告基于公开信息整理，仅供研究参考，不构成任何投资建议。股票历史表现不代表未来收益，投资有风险，入市需谨慎。所涉标的可能存在价格大幅波动风险。</a:t>
            </a:r>
            <a:endParaRPr lang="en-US" sz="800" dirty="0"/>
          </a:p>
        </p:txBody>
      </p:sp>
      <p:sp>
        <p:nvSpPr>
          <p:cNvPr id="77" name="Shape 60"/>
          <p:cNvSpPr/>
          <p:nvPr/>
        </p:nvSpPr>
        <p:spPr>
          <a:xfrm>
            <a:off x="0" y="6838798"/>
            <a:ext cx="12191695" cy="3813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Shape 61"/>
          <p:cNvSpPr/>
          <p:nvPr/>
        </p:nvSpPr>
        <p:spPr>
          <a:xfrm>
            <a:off x="0" y="6838798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</p:sp>
      <p:sp>
        <p:nvSpPr>
          <p:cNvPr id="79" name="Text 62"/>
          <p:cNvSpPr txBox="1"/>
          <p:nvPr/>
        </p:nvSpPr>
        <p:spPr>
          <a:xfrm>
            <a:off x="571500" y="6948526"/>
            <a:ext cx="359816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Morgan Stanley Research, Wind, Company Filings</a:t>
            </a:r>
            <a:endParaRPr lang="en-US" sz="900" dirty="0"/>
          </a:p>
        </p:txBody>
      </p:sp>
      <p:sp>
        <p:nvSpPr>
          <p:cNvPr id="80" name="Text 63"/>
          <p:cNvSpPr txBox="1"/>
          <p:nvPr/>
        </p:nvSpPr>
        <p:spPr>
          <a:xfrm>
            <a:off x="11557102" y="6948526"/>
            <a:ext cx="1435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5014</Words>
  <Application>WPS 演示</Application>
  <PresentationFormat>On-screen Show (16:9)</PresentationFormat>
  <Paragraphs>572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Noto Sans SC</vt:lpstr>
      <vt:lpstr>Noto Sans SC</vt:lpstr>
      <vt:lpstr>Courier New</vt:lpstr>
      <vt:lpstr>Courier New</vt:lpstr>
      <vt:lpstr>Courier New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2</cp:revision>
  <dcterms:created xsi:type="dcterms:W3CDTF">2026-03-02T12:01:00Z</dcterms:created>
  <dcterms:modified xsi:type="dcterms:W3CDTF">2026-03-02T13:10:33Z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F4E4A22949114BB8B7E427CDCF933D73_12</vt:lpwstr>
  </property>
</Properties>
</file>