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58" r:id="rId6"/>
    <p:sldId id="259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png"/><Relationship Id="rId8" Type="http://schemas.openxmlformats.org/officeDocument/2006/relationships/image" Target="../media/image37.png"/><Relationship Id="rId7" Type="http://schemas.openxmlformats.org/officeDocument/2006/relationships/image" Target="../media/image36.png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9.png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58.png"/><Relationship Id="rId13" Type="http://schemas.openxmlformats.org/officeDocument/2006/relationships/image" Target="../media/image57.png"/><Relationship Id="rId12" Type="http://schemas.openxmlformats.org/officeDocument/2006/relationships/image" Target="../media/image56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55.png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3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7.png"/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305" y="0"/>
            <a:ext cx="6096305" cy="6858000"/>
          </a:xfrm>
          <a:custGeom>
            <a:avLst/>
            <a:gdLst/>
            <a:ahLst/>
            <a:cxnLst/>
            <a:rect l="l" t="t" r="r" b="b"/>
            <a:pathLst>
              <a:path w="6096305" h="6858000">
                <a:moveTo>
                  <a:pt x="1219261" y="0"/>
                </a:moveTo>
                <a:lnTo>
                  <a:pt x="6096305" y="0"/>
                </a:lnTo>
                <a:lnTo>
                  <a:pt x="609630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293B"/>
          </a:solidFill>
        </p:spPr>
      </p:sp>
      <p:sp>
        <p:nvSpPr>
          <p:cNvPr id="6" name="Shape 3"/>
          <p:cNvSpPr/>
          <p:nvPr/>
        </p:nvSpPr>
        <p:spPr>
          <a:xfrm>
            <a:off x="761695" y="61155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71093" y="6277356"/>
            <a:ext cx="69915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特别声明：本脚本所涉及个股、行业及数据仅用于教学方法演示，不构成任何投资建议。投资有风险，入市需谨慎。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1695" y="6313018"/>
            <a:ext cx="133502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421063" y="6277356"/>
            <a:ext cx="23920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7556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Powered by Genspark AI Slides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7810805" y="2762402"/>
            <a:ext cx="3810305" cy="2381098"/>
          </a:xfrm>
          <a:prstGeom prst="roundRect">
            <a:avLst>
              <a:gd name="adj" fmla="val 3687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rcRect l="-7" r="-7"/>
          <a:stretch>
            <a:fillRect/>
          </a:stretch>
        </p:blipFill>
        <p:spPr>
          <a:xfrm>
            <a:off x="7972654" y="2924251"/>
            <a:ext cx="3486607" cy="20574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/>
          <a:srcRect t="-35" b="-35"/>
          <a:stretch>
            <a:fillRect/>
          </a:stretch>
        </p:blipFill>
        <p:spPr>
          <a:xfrm>
            <a:off x="761695" y="1242670"/>
            <a:ext cx="10668305" cy="31455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23798" y="1242670"/>
            <a:ext cx="10382098" cy="3145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核心估值课程 · 模块二 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14400" y="1333195"/>
            <a:ext cx="133502" cy="1335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61695" y="1785823"/>
            <a:ext cx="10972800" cy="762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</a:t>
            </a:r>
            <a:r>
              <a:rPr lang="en-US" sz="5400" b="1" kern="0" spc="-108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成长估值法</a:t>
            </a:r>
            <a:endParaRPr lang="en-US" sz="54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2692908"/>
            <a:ext cx="10972800" cy="5056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kern="0" spc="-72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捕捉戴维斯双击的关键</a:t>
            </a:r>
            <a:endParaRPr lang="en-US" sz="3600" dirty="0"/>
          </a:p>
        </p:txBody>
      </p:sp>
      <p:sp>
        <p:nvSpPr>
          <p:cNvPr id="18" name="Shape 10"/>
          <p:cNvSpPr/>
          <p:nvPr/>
        </p:nvSpPr>
        <p:spPr>
          <a:xfrm>
            <a:off x="761695" y="3424428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90295" y="3424428"/>
            <a:ext cx="106299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4A3B8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在增长维度上重构“贵与便宜”的投资逻辑</a:t>
            </a:r>
            <a:endParaRPr lang="en-US" sz="2400" dirty="0"/>
          </a:p>
        </p:txBody>
      </p:sp>
      <p:sp>
        <p:nvSpPr>
          <p:cNvPr id="22" name="Text 14"/>
          <p:cNvSpPr txBox="1"/>
          <p:nvPr/>
        </p:nvSpPr>
        <p:spPr>
          <a:xfrm>
            <a:off x="1228954" y="5119726"/>
            <a:ext cx="169346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青枫浦上</a:t>
            </a:r>
            <a:endParaRPr lang="zh-CN" altLang="en-US" sz="1300" dirty="0">
              <a:solidFill>
                <a:srgbClr val="E2E8F0"/>
              </a:solidFill>
              <a:latin typeface="Noto Sans SC" panose="020B0200000000000000" pitchFamily="34" charset="-122"/>
              <a:ea typeface="Noto Sans SC" panose="020B0200000000000000" pitchFamily="34" charset="-122"/>
              <a:cs typeface="Noto Sans SC" panose="020B0200000000000000" pitchFamily="34" charset="-120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4630522" y="4881982"/>
            <a:ext cx="8961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基准量能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4859122" y="5119726"/>
            <a:ext cx="66751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2.5万亿</a:t>
            </a:r>
            <a:endParaRPr lang="en-US" sz="13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rcRect l="-760" r="-760"/>
          <a:stretch>
            <a:fillRect/>
          </a:stretch>
        </p:blipFill>
        <p:spPr>
          <a:xfrm>
            <a:off x="1000354" y="5170018"/>
            <a:ext cx="152705" cy="171907"/>
          </a:xfrm>
          <a:prstGeom prst="rect">
            <a:avLst/>
          </a:prstGeom>
        </p:spPr>
      </p:pic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7"/>
          <a:srcRect l="-760" r="-760"/>
          <a:stretch>
            <a:fillRect/>
          </a:stretch>
        </p:blipFill>
        <p:spPr>
          <a:xfrm>
            <a:off x="4630522" y="5170018"/>
            <a:ext cx="152705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000" y="1524000"/>
            <a:ext cx="5506085" cy="4407535"/>
          </a:xfrm>
          <a:prstGeom prst="roundRect">
            <a:avLst>
              <a:gd name="adj" fmla="val 1333"/>
            </a:avLst>
          </a:prstGeom>
          <a:solidFill>
            <a:srgbClr val="EF4444">
              <a:alpha val="1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0507" y="1543507"/>
            <a:ext cx="5486400" cy="866851"/>
          </a:xfrm>
          <a:prstGeom prst="rect">
            <a:avLst/>
          </a:prstGeom>
          <a:solidFill>
            <a:srgbClr val="EF4444">
              <a:alpha val="2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400507" y="2401214"/>
            <a:ext cx="54864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67305" y="1772107"/>
            <a:ext cx="318211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某消费龙头</a:t>
            </a:r>
            <a:endParaRPr lang="en-US" sz="2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rcRect l="-685" r="-685"/>
          <a:stretch>
            <a:fillRect/>
          </a:stretch>
        </p:blipFill>
        <p:spPr>
          <a:xfrm>
            <a:off x="2286000" y="1852574"/>
            <a:ext cx="304495" cy="2670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684678" y="2704795"/>
            <a:ext cx="9244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当前静态PE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476195" y="3010205"/>
            <a:ext cx="1339596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CA5A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18</a:t>
            </a:r>
            <a:r>
              <a:rPr lang="en-US" sz="1800" b="1" dirty="0">
                <a:solidFill>
                  <a:srgbClr val="FCA5A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倍</a:t>
            </a:r>
            <a:endParaRPr lang="en-US" sz="4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133" r="-133"/>
          <a:stretch>
            <a:fillRect/>
          </a:stretch>
        </p:blipFill>
        <p:spPr>
          <a:xfrm>
            <a:off x="3057754" y="3895344"/>
            <a:ext cx="171907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24328" y="4362602"/>
            <a:ext cx="103967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年度净利增速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609698" y="4667098"/>
            <a:ext cx="1069848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CA5A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3</a:t>
            </a:r>
            <a:r>
              <a:rPr lang="en-US" sz="1800" b="1" dirty="0">
                <a:solidFill>
                  <a:srgbClr val="FCA5A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%</a:t>
            </a:r>
            <a:endParaRPr lang="en-US" sz="4200" dirty="0"/>
          </a:p>
        </p:txBody>
      </p:sp>
      <p:sp>
        <p:nvSpPr>
          <p:cNvPr id="14" name="Shape 10"/>
          <p:cNvSpPr/>
          <p:nvPr/>
        </p:nvSpPr>
        <p:spPr>
          <a:xfrm>
            <a:off x="2391156" y="5495544"/>
            <a:ext cx="1505102" cy="352044"/>
          </a:xfrm>
          <a:prstGeom prst="roundRect">
            <a:avLst>
              <a:gd name="adj" fmla="val 259740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360981" y="5495544"/>
            <a:ext cx="1565453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看似便宜，实则滞涨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86500" y="1524000"/>
            <a:ext cx="5447665" cy="4406900"/>
          </a:xfrm>
          <a:prstGeom prst="roundRect">
            <a:avLst>
              <a:gd name="adj" fmla="val 1333"/>
            </a:avLst>
          </a:prstGeom>
          <a:solidFill>
            <a:srgbClr val="22C55E">
              <a:alpha val="1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5702" y="1543507"/>
            <a:ext cx="5486400" cy="866851"/>
          </a:xfrm>
          <a:prstGeom prst="rect">
            <a:avLst/>
          </a:prstGeom>
          <a:solidFill>
            <a:srgbClr val="22C55E">
              <a:alpha val="20000"/>
            </a:srgbClr>
          </a:solidFill>
        </p:spPr>
      </p:sp>
      <p:sp>
        <p:nvSpPr>
          <p:cNvPr id="18" name="Shape 14"/>
          <p:cNvSpPr/>
          <p:nvPr/>
        </p:nvSpPr>
        <p:spPr>
          <a:xfrm>
            <a:off x="6305702" y="2401214"/>
            <a:ext cx="54864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87207" y="1772107"/>
            <a:ext cx="3467405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某半导体成长股</a:t>
            </a:r>
            <a:endParaRPr lang="en-US" sz="2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43393" y="1852574"/>
            <a:ext cx="267005" cy="26700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579815" y="2704795"/>
            <a:ext cx="943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当前静态PE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365846" y="3010205"/>
            <a:ext cx="1369771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6EFA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55</a:t>
            </a:r>
            <a:r>
              <a:rPr lang="en-US" sz="1800" b="1" dirty="0">
                <a:solidFill>
                  <a:srgbClr val="86EFA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倍</a:t>
            </a:r>
            <a:endParaRPr lang="en-US" sz="4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rcRect l="-133" r="-133"/>
          <a:stretch>
            <a:fillRect/>
          </a:stretch>
        </p:blipFill>
        <p:spPr>
          <a:xfrm>
            <a:off x="8962949" y="3895344"/>
            <a:ext cx="171907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530438" y="4362602"/>
            <a:ext cx="103967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年度净利增速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8349386" y="4667098"/>
            <a:ext cx="1399946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86EFA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85</a:t>
            </a:r>
            <a:r>
              <a:rPr lang="en-US" sz="1800" b="1" dirty="0">
                <a:solidFill>
                  <a:srgbClr val="86EFA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%</a:t>
            </a:r>
            <a:endParaRPr lang="en-US" sz="4200" dirty="0"/>
          </a:p>
        </p:txBody>
      </p:sp>
      <p:sp>
        <p:nvSpPr>
          <p:cNvPr id="26" name="Shape 20"/>
          <p:cNvSpPr/>
          <p:nvPr/>
        </p:nvSpPr>
        <p:spPr>
          <a:xfrm>
            <a:off x="8096098" y="5495544"/>
            <a:ext cx="1904695" cy="352044"/>
          </a:xfrm>
          <a:prstGeom prst="roundRect">
            <a:avLst>
              <a:gd name="adj" fmla="val 259740"/>
            </a:avLst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058607" y="5495544"/>
            <a:ext cx="1981505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4E3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看似昂贵，实则极具性价比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00990" y="6005830"/>
            <a:ext cx="11430000" cy="761695"/>
          </a:xfrm>
          <a:prstGeom prst="roundRect">
            <a:avLst>
              <a:gd name="adj" fmla="val 36014"/>
            </a:avLst>
          </a:prstGeom>
          <a:solidFill>
            <a:srgbClr val="1E293B"/>
          </a:solidFill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81305" y="6005830"/>
            <a:ext cx="57607" cy="761695"/>
          </a:xfrm>
          <a:prstGeom prst="roundRect">
            <a:avLst>
              <a:gd name="adj" fmla="val 476192"/>
            </a:avLst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50" r="-50"/>
          <a:stretch>
            <a:fillRect/>
          </a:stretch>
        </p:blipFill>
        <p:spPr>
          <a:xfrm>
            <a:off x="667690" y="6260465"/>
            <a:ext cx="228600" cy="30449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2805" y="6019800"/>
            <a:ext cx="6029554" cy="762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核心结论：估值判断必须对应</a:t>
            </a:r>
            <a:r>
              <a:rPr lang="en-US" sz="1500" b="1" dirty="0">
                <a:solidFill>
                  <a:srgbClr val="EAB30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</a:t>
            </a:r>
            <a:r>
              <a:rPr lang="en-US" sz="15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来看，不能只看PE表面数字的高低。 </a:t>
            </a:r>
            <a:endParaRPr lang="en-US" sz="15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PE高不一定贵，PE低不一定便宜。PEG就是解决这一矛盾的量化工具。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3" name="Shape 26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781812" y="204826"/>
            <a:ext cx="200710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反直觉的估值悖论 </a:t>
            </a:r>
            <a:endParaRPr lang="en-US" sz="18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rcRect l="-80" r="-80"/>
          <a:stretch>
            <a:fillRect/>
          </a:stretch>
        </p:blipFill>
        <p:spPr>
          <a:xfrm>
            <a:off x="381305" y="261518"/>
            <a:ext cx="286207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715000" y="3429000"/>
            <a:ext cx="761695" cy="76169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86654" y="3429000"/>
            <a:ext cx="819302" cy="762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4" b="-4"/>
          <a:stretch>
            <a:fillRect/>
          </a:stretch>
        </p:blipFill>
        <p:spPr>
          <a:xfrm>
            <a:off x="381305" y="733349"/>
            <a:ext cx="11430000" cy="2943454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>
            <a:fillRect/>
          </a:stretch>
        </p:blipFill>
        <p:spPr>
          <a:xfrm>
            <a:off x="8943746" y="743407"/>
            <a:ext cx="2857500" cy="28575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442716" y="1123798"/>
            <a:ext cx="6069787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150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PEG</a:t>
            </a:r>
            <a:r>
              <a:rPr lang="en-US" sz="6000" b="1" kern="0" spc="150" dirty="0">
                <a:solidFill>
                  <a:srgbClr val="64748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=</a:t>
            </a:r>
            <a:r>
              <a:rPr lang="en-US" sz="6000" b="1" kern="0" spc="150" dirty="0">
                <a:solidFill>
                  <a:srgbClr val="60A5F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PE</a:t>
            </a:r>
            <a:r>
              <a:rPr lang="en-US" sz="6000" b="1" kern="0" spc="150" dirty="0">
                <a:solidFill>
                  <a:srgbClr val="64748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÷</a:t>
            </a:r>
            <a:r>
              <a:rPr lang="en-US" sz="6000" b="1" kern="0" spc="150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G</a:t>
            </a:r>
            <a:endParaRPr lang="en-US" sz="6000" dirty="0"/>
          </a:p>
        </p:txBody>
      </p:sp>
      <p:sp>
        <p:nvSpPr>
          <p:cNvPr id="7" name="Shape 3"/>
          <p:cNvSpPr/>
          <p:nvPr/>
        </p:nvSpPr>
        <p:spPr>
          <a:xfrm>
            <a:off x="771754" y="2553005"/>
            <a:ext cx="106491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2167128" y="2790749"/>
            <a:ext cx="169987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 (Price/Earnings)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1811426" y="3029407"/>
            <a:ext cx="240761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市盈率（需对应未来预测值）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5660136" y="2790749"/>
            <a:ext cx="13432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 (Growth Rate)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604918" y="3029407"/>
            <a:ext cx="34482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B30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未来一年盈利增速</a:t>
            </a: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（去掉百分号的纯数字）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529523" y="2790749"/>
            <a:ext cx="9144" cy="495605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287561" y="2790749"/>
            <a:ext cx="6382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2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核心逻辑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8865108" y="3029407"/>
            <a:ext cx="148132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为成长性支付溢价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81305" y="4058107"/>
            <a:ext cx="5572354" cy="2657246"/>
          </a:xfrm>
          <a:prstGeom prst="roundRect">
            <a:avLst>
              <a:gd name="adj" fmla="val 2960"/>
            </a:avLst>
          </a:prstGeom>
          <a:solidFill>
            <a:srgbClr val="22C55E">
              <a:alpha val="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1305" y="4058107"/>
            <a:ext cx="57607" cy="2657246"/>
          </a:xfrm>
          <a:prstGeom prst="roundRect">
            <a:avLst>
              <a:gd name="adj" fmla="val 136543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66598" y="4696358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66598" y="4295851"/>
            <a:ext cx="2009851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 A：高PE但高成长</a:t>
            </a:r>
            <a:endParaRPr lang="en-US" sz="15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86400" y="4324198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6598" y="4895698"/>
            <a:ext cx="67665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 PE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306263" y="4895698"/>
            <a:ext cx="48829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 倍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66598" y="5305349"/>
            <a:ext cx="93268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盈利增速 G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889297" y="5305349"/>
            <a:ext cx="98663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40% </a:t>
            </a:r>
            <a:r>
              <a:rPr lang="en-US" sz="1000" b="1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(G=40)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66598" y="5715000"/>
            <a:ext cx="5048402" cy="761695"/>
          </a:xfrm>
          <a:prstGeom prst="roundRect">
            <a:avLst>
              <a:gd name="adj" fmla="val 24010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19302" y="5867705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计算结果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19302" y="6077102"/>
            <a:ext cx="694944" cy="247802"/>
          </a:xfrm>
          <a:prstGeom prst="roundRect">
            <a:avLst>
              <a:gd name="adj" fmla="val 11354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9302" y="6077102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ADE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估值合理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5144414" y="5896051"/>
            <a:ext cx="49926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ADE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1.0</a:t>
            </a:r>
            <a:endParaRPr lang="en-US" sz="2100" dirty="0"/>
          </a:p>
        </p:txBody>
      </p:sp>
      <p:sp>
        <p:nvSpPr>
          <p:cNvPr id="29" name="Shape 24"/>
          <p:cNvSpPr/>
          <p:nvPr/>
        </p:nvSpPr>
        <p:spPr>
          <a:xfrm>
            <a:off x="6238951" y="4058107"/>
            <a:ext cx="5572354" cy="2657246"/>
          </a:xfrm>
          <a:prstGeom prst="roundRect">
            <a:avLst>
              <a:gd name="adj" fmla="val 2960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38951" y="4058107"/>
            <a:ext cx="57607" cy="2657246"/>
          </a:xfrm>
          <a:prstGeom prst="roundRect">
            <a:avLst>
              <a:gd name="adj" fmla="val 13654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524244" y="4696358"/>
            <a:ext cx="50484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524244" y="4295851"/>
            <a:ext cx="2019910" cy="4096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 B：低PE但低成长</a:t>
            </a:r>
            <a:endParaRPr lang="en-US" sz="15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344046" y="4324198"/>
            <a:ext cx="228600" cy="2286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524244" y="4895698"/>
            <a:ext cx="67665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 PE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11163910" y="4895698"/>
            <a:ext cx="48829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 倍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6524244" y="5305349"/>
            <a:ext cx="93268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盈利增速 G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10924337" y="5305349"/>
            <a:ext cx="78272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5% </a:t>
            </a:r>
            <a:r>
              <a:rPr lang="en-US" sz="1000" b="1" dirty="0">
                <a:solidFill>
                  <a:srgbClr val="6B728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(G=5)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6524244" y="5715000"/>
            <a:ext cx="5048402" cy="761695"/>
          </a:xfrm>
          <a:prstGeom prst="roundRect">
            <a:avLst>
              <a:gd name="adj" fmla="val 24010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676949" y="5867705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计算结果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676949" y="6077102"/>
            <a:ext cx="694944" cy="247802"/>
          </a:xfrm>
          <a:prstGeom prst="roundRect">
            <a:avLst>
              <a:gd name="adj" fmla="val 11354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676949" y="6077102"/>
            <a:ext cx="7525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严重高估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1002061" y="5896051"/>
            <a:ext cx="499262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4.0</a:t>
            </a:r>
            <a:endParaRPr lang="en-US" sz="2100" dirty="0"/>
          </a:p>
        </p:txBody>
      </p:sp>
      <p:sp>
        <p:nvSpPr>
          <p:cNvPr id="43" name="Shape 37"/>
          <p:cNvSpPr/>
          <p:nvPr/>
        </p:nvSpPr>
        <p:spPr>
          <a:xfrm>
            <a:off x="381305" y="6943954"/>
            <a:ext cx="11430000" cy="533095"/>
          </a:xfrm>
          <a:prstGeom prst="roundRect">
            <a:avLst>
              <a:gd name="adj" fmla="val 49008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09905" y="7114946"/>
            <a:ext cx="190195" cy="19019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52805" y="6943954"/>
            <a:ext cx="8791956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关键认知：</a:t>
            </a: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PE绝对值的“高”不一定代表“贵”，PE绝对值的“低”也不一定代表“便宜”。必须结合G（增速）进行相对评估。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0" y="0"/>
            <a:ext cx="12191695" cy="352044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7" name="Shape 40"/>
          <p:cNvSpPr/>
          <p:nvPr/>
        </p:nvSpPr>
        <p:spPr>
          <a:xfrm>
            <a:off x="0" y="3429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67512" y="0"/>
            <a:ext cx="224485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PEG定义与核心公式 </a:t>
            </a:r>
            <a:endParaRPr lang="en-US" sz="18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/>
          <a:srcRect l="-133" r="-133"/>
          <a:stretch>
            <a:fillRect/>
          </a:stretch>
        </p:blipFill>
        <p:spPr>
          <a:xfrm>
            <a:off x="381305" y="57607"/>
            <a:ext cx="171907" cy="22860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10079431" y="57607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1305" y="1047902"/>
            <a:ext cx="11430000" cy="1095451"/>
          </a:xfrm>
          <a:prstGeom prst="roundRect">
            <a:avLst>
              <a:gd name="adj" fmla="val 1742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180283" y="1248156"/>
            <a:ext cx="127650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EPS增幅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097987" y="1742846"/>
            <a:ext cx="144018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业绩贡献（内生增长）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71339" y="1395374"/>
            <a:ext cx="352958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×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258714" y="1248156"/>
            <a:ext cx="175930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PE扩张幅度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14162" y="1742846"/>
            <a:ext cx="144018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估值提升（情绪溢价）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230161" y="1367028"/>
            <a:ext cx="39136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≈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771486" y="1248156"/>
            <a:ext cx="132770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股价涨幅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925105" y="1742846"/>
            <a:ext cx="10104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戴维斯双击效应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l="-5410" r="-5410"/>
          <a:stretch>
            <a:fillRect/>
          </a:stretch>
        </p:blipFill>
        <p:spPr>
          <a:xfrm>
            <a:off x="381305" y="2428646"/>
            <a:ext cx="9525305" cy="343814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81305" y="2428646"/>
            <a:ext cx="4667098" cy="3438144"/>
          </a:xfrm>
          <a:prstGeom prst="roundRect">
            <a:avLst>
              <a:gd name="adj" fmla="val 176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" y="3029407"/>
            <a:ext cx="4267505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0644" y="262890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3154" y="262890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00354" y="2652674"/>
            <a:ext cx="129661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第一阶段：启动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0644" y="3181198"/>
            <a:ext cx="4267505" cy="457200"/>
          </a:xfrm>
          <a:prstGeom prst="roundRect">
            <a:avLst>
              <a:gd name="adj" fmla="val 6666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4944" y="3295498"/>
            <a:ext cx="5907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EPS表现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026103" y="3295498"/>
            <a:ext cx="7909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翻倍 </a:t>
            </a:r>
            <a:r>
              <a:rPr lang="en-US" sz="9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x2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80644" y="3752698"/>
            <a:ext cx="4267505" cy="457200"/>
          </a:xfrm>
          <a:prstGeom prst="roundRect">
            <a:avLst>
              <a:gd name="adj" fmla="val 6666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94944" y="3866998"/>
            <a:ext cx="5148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PE估值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435401" y="3866998"/>
            <a:ext cx="13816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20倍 → 40倍 </a:t>
            </a:r>
            <a:r>
              <a:rPr lang="en-US" sz="9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x2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80644" y="4819802"/>
            <a:ext cx="4267505" cy="847649"/>
          </a:xfrm>
          <a:prstGeom prst="roundRect">
            <a:avLst>
              <a:gd name="adj" fmla="val 1939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8251" y="4972507"/>
            <a:ext cx="41532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阶段股价涨幅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76656" y="5210251"/>
            <a:ext cx="407731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4倍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5238598" y="2428646"/>
            <a:ext cx="4667098" cy="3438144"/>
          </a:xfrm>
          <a:prstGeom prst="roundRect">
            <a:avLst>
              <a:gd name="adj" fmla="val 1768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38851" y="3029407"/>
            <a:ext cx="4267505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38851" y="2628900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00446" y="2628900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857646" y="2652674"/>
            <a:ext cx="1296619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第二阶段：加速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38851" y="3181198"/>
            <a:ext cx="4267505" cy="457200"/>
          </a:xfrm>
          <a:prstGeom prst="roundRect">
            <a:avLst>
              <a:gd name="adj" fmla="val 6666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53151" y="3295498"/>
            <a:ext cx="5907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EPS表现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731606" y="3295498"/>
            <a:ext cx="943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再翻倍 </a:t>
            </a:r>
            <a:r>
              <a:rPr lang="en-US" sz="9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x2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38851" y="3752698"/>
            <a:ext cx="4267505" cy="457200"/>
          </a:xfrm>
          <a:prstGeom prst="roundRect">
            <a:avLst>
              <a:gd name="adj" fmla="val 66667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553151" y="3866998"/>
            <a:ext cx="5148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PE估值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202168" y="3866998"/>
            <a:ext cx="149230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AF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40倍 → 60倍 </a:t>
            </a:r>
            <a:r>
              <a:rPr lang="en-US" sz="900" b="1" dirty="0">
                <a:solidFill>
                  <a:srgbClr val="FBBF24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x1.5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438851" y="4819802"/>
            <a:ext cx="4267505" cy="847649"/>
          </a:xfrm>
          <a:prstGeom prst="roundRect">
            <a:avLst>
              <a:gd name="adj" fmla="val 19393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95544" y="4972507"/>
            <a:ext cx="41532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C5F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阶段股价涨幅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5533949" y="5210251"/>
            <a:ext cx="4077310" cy="3054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3倍</a:t>
            </a:r>
            <a:endParaRPr lang="en-US" sz="24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2"/>
          <a:srcRect t="-44" b="-44"/>
          <a:stretch>
            <a:fillRect/>
          </a:stretch>
        </p:blipFill>
        <p:spPr>
          <a:xfrm>
            <a:off x="381305" y="6057900"/>
            <a:ext cx="11430000" cy="514807"/>
          </a:xfrm>
          <a:prstGeom prst="rect">
            <a:avLst/>
          </a:prstGeom>
        </p:spPr>
      </p:pic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905" y="6219749"/>
            <a:ext cx="142646" cy="190195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866851" y="6057900"/>
            <a:ext cx="8030261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核心意义：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PEG是捕捉这种“业绩×估值”共振过程的量化工具，帮助你在双击启动前（低估值、高增长预期）介入。 </a:t>
            </a:r>
            <a:endParaRPr lang="en-US" sz="1200" dirty="0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rcRect t="-80" b="-80"/>
          <a:stretch>
            <a:fillRect/>
          </a:stretch>
        </p:blipFill>
        <p:spPr>
          <a:xfrm>
            <a:off x="5143500" y="4147718"/>
            <a:ext cx="142646" cy="228600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47" name="Shape 41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724205" y="204826"/>
            <a:ext cx="38487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戴维斯双击：涨幅是乘法，不是加法 </a:t>
            </a:r>
            <a:endParaRPr lang="en-US" sz="1800" dirty="0"/>
          </a:p>
        </p:txBody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159035" y="3295371"/>
            <a:ext cx="1714500" cy="1714500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10295560" y="3479267"/>
            <a:ext cx="14401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累计回报</a:t>
            </a:r>
            <a:endParaRPr lang="en-US" sz="1200" dirty="0"/>
          </a:p>
        </p:txBody>
      </p:sp>
      <p:sp>
        <p:nvSpPr>
          <p:cNvPr id="53" name="Text 45"/>
          <p:cNvSpPr txBox="1"/>
          <p:nvPr/>
        </p:nvSpPr>
        <p:spPr>
          <a:xfrm>
            <a:off x="10244557" y="3797097"/>
            <a:ext cx="1628546" cy="5340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</a:t>
            </a: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倍</a:t>
            </a:r>
            <a:endParaRPr lang="en-US" sz="4200" dirty="0"/>
          </a:p>
        </p:txBody>
      </p:sp>
      <p:sp>
        <p:nvSpPr>
          <p:cNvPr id="54" name="Text 46"/>
          <p:cNvSpPr txBox="1"/>
          <p:nvPr/>
        </p:nvSpPr>
        <p:spPr>
          <a:xfrm>
            <a:off x="10325430" y="4481627"/>
            <a:ext cx="14100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4倍 × 3倍 = 12倍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5000"/>
          </a:blip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776326"/>
            <a:ext cx="11048695" cy="990295"/>
          </a:xfrm>
          <a:prstGeom prst="roundRect">
            <a:avLst>
              <a:gd name="adj" fmla="val 21308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9244" y="671170"/>
            <a:ext cx="1857146" cy="276149"/>
          </a:xfrm>
          <a:prstGeom prst="roundRect">
            <a:avLst>
              <a:gd name="adj" fmla="val 9134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" y="671170"/>
            <a:ext cx="193212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核心公式：滚动12个月加权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507846" y="1100023"/>
            <a:ext cx="145115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8FAFC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未来一年EPS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942539" y="1100023"/>
            <a:ext cx="21031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=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47034" y="1014070"/>
            <a:ext cx="3448202" cy="514807"/>
          </a:xfrm>
          <a:prstGeom prst="roundRect">
            <a:avLst>
              <a:gd name="adj" fmla="val 5262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7034" y="1014070"/>
            <a:ext cx="3534156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60A5F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(今年剩余月 ÷ 12) × 今年EPS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861658" y="1100023"/>
            <a:ext cx="21031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64748B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165238" y="1014070"/>
            <a:ext cx="3448202" cy="514807"/>
          </a:xfrm>
          <a:prstGeom prst="roundRect">
            <a:avLst>
              <a:gd name="adj" fmla="val 52628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65238" y="1014070"/>
            <a:ext cx="3534156" cy="5148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ACC1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(明年已过月 ÷ 12) × 明年EPS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71500" y="1995221"/>
            <a:ext cx="11048695" cy="3571646"/>
          </a:xfrm>
          <a:prstGeom prst="roundRect">
            <a:avLst>
              <a:gd name="adj" fmla="val 16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9244" y="2548433"/>
            <a:ext cx="10573207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" y="2233879"/>
            <a:ext cx="10287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时间节点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762049" y="2233879"/>
            <a:ext cx="30486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计算逻辑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619549" y="2233879"/>
            <a:ext cx="695401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权重可视化 (今年蓝 vs 明年黄)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09244" y="3244291"/>
            <a:ext cx="10573207" cy="9144"/>
          </a:xfrm>
          <a:prstGeom prst="rect">
            <a:avLst/>
          </a:prstGeom>
          <a:solidFill>
            <a:srgbClr val="475569">
              <a:alpha val="30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244" y="2824582"/>
            <a:ext cx="571500" cy="304495"/>
          </a:xfrm>
          <a:prstGeom prst="roundRect">
            <a:avLst>
              <a:gd name="adj" fmla="val 112613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0898" y="2824582"/>
            <a:ext cx="6291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2月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762049" y="2862072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10/12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今年 + </a:t>
            </a:r>
            <a:r>
              <a:rPr lang="en-US" sz="1200" b="1" kern="0" spc="38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2/12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明年 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1762049" y="2881274"/>
            <a:ext cx="562356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10/12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3134563" y="2881274"/>
            <a:ext cx="4672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19549" y="2862072"/>
            <a:ext cx="6762902" cy="228600"/>
          </a:xfrm>
          <a:prstGeom prst="roundRect">
            <a:avLst>
              <a:gd name="adj" fmla="val 400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2856" y="2862072"/>
            <a:ext cx="5753405" cy="22860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83%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214762" y="2862072"/>
            <a:ext cx="1209751" cy="228600"/>
          </a:xfrm>
          <a:prstGeom prst="rect">
            <a:avLst/>
          </a:prstGeom>
          <a:solidFill>
            <a:srgbClr val="EAB30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17%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09244" y="3939235"/>
            <a:ext cx="10573207" cy="9144"/>
          </a:xfrm>
          <a:prstGeom prst="rect">
            <a:avLst/>
          </a:prstGeom>
          <a:solidFill>
            <a:srgbClr val="475569">
              <a:alpha val="30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9244" y="3519526"/>
            <a:ext cx="571500" cy="304495"/>
          </a:xfrm>
          <a:prstGeom prst="roundRect">
            <a:avLst>
              <a:gd name="adj" fmla="val 112613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80898" y="3519526"/>
            <a:ext cx="6291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6月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762049" y="355793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6/12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今年 + </a:t>
            </a:r>
            <a:r>
              <a:rPr lang="en-US" sz="1200" b="1" kern="0" spc="38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6/12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明年 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762049" y="3576218"/>
            <a:ext cx="4672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6/12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619549" y="3557930"/>
            <a:ext cx="6762902" cy="228600"/>
          </a:xfrm>
          <a:prstGeom prst="roundRect">
            <a:avLst>
              <a:gd name="adj" fmla="val 400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562856" y="3557930"/>
            <a:ext cx="3495751" cy="22860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50%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7944307" y="3557930"/>
            <a:ext cx="3495751" cy="228600"/>
          </a:xfrm>
          <a:prstGeom prst="rect">
            <a:avLst/>
          </a:prstGeom>
          <a:solidFill>
            <a:srgbClr val="EAB30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50%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09244" y="4634179"/>
            <a:ext cx="10573207" cy="9144"/>
          </a:xfrm>
          <a:prstGeom prst="rect">
            <a:avLst/>
          </a:prstGeom>
          <a:solidFill>
            <a:srgbClr val="475569">
              <a:alpha val="30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09244" y="4214470"/>
            <a:ext cx="571500" cy="304495"/>
          </a:xfrm>
          <a:prstGeom prst="roundRect">
            <a:avLst>
              <a:gd name="adj" fmla="val 112613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80898" y="4214470"/>
            <a:ext cx="6291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9月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1762049" y="4252874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3/12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今年 + </a:t>
            </a:r>
            <a:r>
              <a:rPr lang="en-US" sz="1200" b="1" kern="0" spc="38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9/12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明年 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762049" y="4272077"/>
            <a:ext cx="4672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3/12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619549" y="4252874"/>
            <a:ext cx="6762902" cy="228600"/>
          </a:xfrm>
          <a:prstGeom prst="roundRect">
            <a:avLst>
              <a:gd name="adj" fmla="val 400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581144" y="4252874"/>
            <a:ext cx="1772107" cy="22860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25%</a:t>
            </a:r>
            <a:endParaRPr lang="en-US" sz="900" dirty="0"/>
          </a:p>
        </p:txBody>
      </p:sp>
      <p:sp>
        <p:nvSpPr>
          <p:cNvPr id="46" name="Text 43"/>
          <p:cNvSpPr txBox="1"/>
          <p:nvPr/>
        </p:nvSpPr>
        <p:spPr>
          <a:xfrm>
            <a:off x="6253582" y="4252874"/>
            <a:ext cx="5191963" cy="228600"/>
          </a:xfrm>
          <a:prstGeom prst="rect">
            <a:avLst/>
          </a:prstGeom>
          <a:solidFill>
            <a:srgbClr val="EAB30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75%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809244" y="4910328"/>
            <a:ext cx="571500" cy="304495"/>
          </a:xfrm>
          <a:prstGeom prst="roundRect">
            <a:avLst>
              <a:gd name="adj" fmla="val 112613"/>
            </a:avLst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80898" y="4910328"/>
            <a:ext cx="629107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11月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1762049" y="4947818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今年 + </a:t>
            </a:r>
            <a:r>
              <a:rPr lang="en-US" sz="1200" b="1" kern="0" spc="38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11/12</a:t>
            </a:r>
            <a:r>
              <a:rPr lang="en-US" sz="1200" kern="0" spc="38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明年 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1762049" y="4967021"/>
            <a:ext cx="4672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1/12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4619549" y="4947818"/>
            <a:ext cx="6762902" cy="228600"/>
          </a:xfrm>
          <a:prstGeom prst="roundRect">
            <a:avLst>
              <a:gd name="adj" fmla="val 400000"/>
            </a:avLst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81144" y="4947818"/>
            <a:ext cx="638251" cy="228600"/>
          </a:xfrm>
          <a:prstGeom prst="rect">
            <a:avLst/>
          </a:prstGeom>
          <a:solidFill>
            <a:srgbClr val="3B82F6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8%</a:t>
            </a:r>
            <a:endParaRPr lang="en-US" sz="900" dirty="0"/>
          </a:p>
        </p:txBody>
      </p:sp>
      <p:sp>
        <p:nvSpPr>
          <p:cNvPr id="54" name="Text 51"/>
          <p:cNvSpPr txBox="1"/>
          <p:nvPr/>
        </p:nvSpPr>
        <p:spPr>
          <a:xfrm>
            <a:off x="5123383" y="4947818"/>
            <a:ext cx="6324905" cy="228600"/>
          </a:xfrm>
          <a:prstGeom prst="rect">
            <a:avLst/>
          </a:prstGeom>
          <a:solidFill>
            <a:srgbClr val="EAB308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0000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92%</a:t>
            </a:r>
            <a:endParaRPr lang="en-US" sz="900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2"/>
          <a:srcRect t="-4" b="-4"/>
          <a:stretch>
            <a:fillRect/>
          </a:stretch>
        </p:blipFill>
        <p:spPr>
          <a:xfrm>
            <a:off x="571500" y="5796382"/>
            <a:ext cx="11048695" cy="776326"/>
          </a:xfrm>
          <a:prstGeom prst="rect">
            <a:avLst/>
          </a:prstGeom>
        </p:spPr>
      </p:pic>
      <p:pic>
        <p:nvPicPr>
          <p:cNvPr id="56" name="Image 2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838505" y="6069787"/>
            <a:ext cx="200254" cy="228600"/>
          </a:xfrm>
          <a:prstGeom prst="rect">
            <a:avLst/>
          </a:prstGeom>
        </p:spPr>
      </p:pic>
      <p:sp>
        <p:nvSpPr>
          <p:cNvPr id="57" name="Text 52"/>
          <p:cNvSpPr txBox="1"/>
          <p:nvPr/>
        </p:nvSpPr>
        <p:spPr>
          <a:xfrm>
            <a:off x="1228954" y="5948172"/>
            <a:ext cx="832561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数据源关键原则：拒绝单一预测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1228954" y="6205118"/>
            <a:ext cx="832561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EPS预测值必须参考 5家以上券商研报的一致预期均值（推荐使用 Wind / Choice 数据库），避免单一机构预测偏差导致估值失真。</a:t>
            </a:r>
            <a:endParaRPr lang="en-US" sz="1100" dirty="0"/>
          </a:p>
        </p:txBody>
      </p:sp>
      <p:sp>
        <p:nvSpPr>
          <p:cNvPr id="59" name="Shape 54"/>
          <p:cNvSpPr/>
          <p:nvPr/>
        </p:nvSpPr>
        <p:spPr>
          <a:xfrm>
            <a:off x="0" y="0"/>
            <a:ext cx="12191695" cy="49560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0" name="Shape 55"/>
          <p:cNvSpPr/>
          <p:nvPr/>
        </p:nvSpPr>
        <p:spPr>
          <a:xfrm>
            <a:off x="0" y="48646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4"/>
          <a:srcRect l="-133" r="-133"/>
          <a:stretch>
            <a:fillRect/>
          </a:stretch>
        </p:blipFill>
        <p:spPr>
          <a:xfrm>
            <a:off x="381305" y="126187"/>
            <a:ext cx="171907" cy="228600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666598" y="69494"/>
            <a:ext cx="382950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关键环节：未来一年EPS的正确折算</a:t>
            </a:r>
            <a:endParaRPr lang="en-US" sz="1800" dirty="0"/>
          </a:p>
        </p:txBody>
      </p:sp>
      <p:sp>
        <p:nvSpPr>
          <p:cNvPr id="63" name="Text 57"/>
          <p:cNvSpPr txBox="1"/>
          <p:nvPr/>
        </p:nvSpPr>
        <p:spPr>
          <a:xfrm>
            <a:off x="10079431" y="126187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1047902"/>
            <a:ext cx="11430000" cy="476402"/>
          </a:xfrm>
          <a:prstGeom prst="roundRect">
            <a:avLst>
              <a:gd name="adj" fmla="val 6142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505" y="1185977"/>
            <a:ext cx="277154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量能区间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rcRect l="-3425" r="-3425"/>
          <a:stretch>
            <a:fillRect/>
          </a:stretch>
        </p:blipFill>
        <p:spPr>
          <a:xfrm>
            <a:off x="619049" y="1221638"/>
            <a:ext cx="142646" cy="1335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578047" y="1185977"/>
            <a:ext cx="35341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市场环境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 l="-1507" r="-1507"/>
          <a:stretch>
            <a:fillRect/>
          </a:stretch>
        </p:blipFill>
        <p:spPr>
          <a:xfrm>
            <a:off x="3416198" y="1221638"/>
            <a:ext cx="85954" cy="13350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093001" y="1185977"/>
            <a:ext cx="22466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PEG买点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2512" r="-2512"/>
          <a:stretch>
            <a:fillRect/>
          </a:stretch>
        </p:blipFill>
        <p:spPr>
          <a:xfrm>
            <a:off x="6911950" y="1221638"/>
            <a:ext cx="105156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422892" y="1185977"/>
            <a:ext cx="224668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PEG卖点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2512" r="-2512"/>
          <a:stretch>
            <a:fillRect/>
          </a:stretch>
        </p:blipFill>
        <p:spPr>
          <a:xfrm>
            <a:off x="9241841" y="1221638"/>
            <a:ext cx="105156" cy="133502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81305" y="1600200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619049" y="1819656"/>
            <a:ext cx="291236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&lt; 1.5万亿</a:t>
            </a:r>
            <a:endParaRPr lang="en-US" sz="1300" dirty="0"/>
          </a:p>
        </p:txBody>
      </p:sp>
      <p:sp>
        <p:nvSpPr>
          <p:cNvPr id="16" name="Text 9"/>
          <p:cNvSpPr txBox="1"/>
          <p:nvPr/>
        </p:nvSpPr>
        <p:spPr>
          <a:xfrm>
            <a:off x="3491763" y="1840052"/>
            <a:ext cx="369600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缩量萎缩 市场降温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416198" y="1910182"/>
            <a:ext cx="75895" cy="75895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6911950" y="1805026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DE8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&lt; 0.7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9241841" y="1805026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1.5 </a:t>
            </a:r>
            <a:r>
              <a:rPr lang="en-US" sz="900" b="1" dirty="0">
                <a:solidFill>
                  <a:srgbClr val="F87171"/>
                </a:solidFill>
                <a:latin typeface="Microsoft Sans Serif" panose="020B0604020202020204" charset="0"/>
                <a:ea typeface="Microsoft Sans Serif" panose="020B0604020202020204" charset="0"/>
                <a:cs typeface="Microsoft Sans Serif" panose="020B0604020202020204" charset="0"/>
              </a:rPr>
              <a:t>开始减仓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381305" y="2371954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19049" y="2590495"/>
            <a:ext cx="291236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1.5万亿 ～ 2万亿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3501923" y="2612441"/>
            <a:ext cx="369600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正常活跃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3416198" y="2681021"/>
            <a:ext cx="75895" cy="75895"/>
          </a:xfrm>
          <a:prstGeom prst="ellipse">
            <a:avLst/>
          </a:prstGeom>
          <a:solidFill>
            <a:srgbClr val="60A5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911950" y="2576779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DE8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&lt; 0.8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9241841" y="2576779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2.0 </a:t>
            </a:r>
            <a:r>
              <a:rPr lang="en-US" sz="900" b="1" dirty="0">
                <a:solidFill>
                  <a:srgbClr val="9CA3AF"/>
                </a:solidFill>
                <a:latin typeface="Microsoft Sans Serif" panose="020B0604020202020204" charset="0"/>
                <a:ea typeface="Microsoft Sans Serif" panose="020B0604020202020204" charset="0"/>
                <a:cs typeface="Microsoft Sans Serif" panose="020B0604020202020204" charset="0"/>
              </a:rPr>
              <a:t>逐步卖出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381305" y="3143707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19049" y="3362249"/>
            <a:ext cx="291236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2万亿 ～ 2.5万亿</a:t>
            </a:r>
            <a:endParaRPr lang="en-US" sz="1300" dirty="0"/>
          </a:p>
        </p:txBody>
      </p:sp>
      <p:sp>
        <p:nvSpPr>
          <p:cNvPr id="30" name="Text 23"/>
          <p:cNvSpPr txBox="1"/>
          <p:nvPr/>
        </p:nvSpPr>
        <p:spPr>
          <a:xfrm>
            <a:off x="3491763" y="3384194"/>
            <a:ext cx="369600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明显放量 情绪回升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416198" y="3452774"/>
            <a:ext cx="75895" cy="75895"/>
          </a:xfrm>
          <a:prstGeom prst="ellipse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911950" y="3347618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DE8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&lt; 1.0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9241841" y="3347618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2.5 </a:t>
            </a:r>
            <a:r>
              <a:rPr lang="en-US" sz="900" b="1" dirty="0">
                <a:solidFill>
                  <a:srgbClr val="9CA3AF"/>
                </a:solidFill>
                <a:latin typeface="Microsoft Sans Serif" panose="020B0604020202020204" charset="0"/>
                <a:ea typeface="Microsoft Sans Serif" panose="020B0604020202020204" charset="0"/>
                <a:cs typeface="Microsoft Sans Serif" panose="020B0604020202020204" charset="0"/>
              </a:rPr>
              <a:t>注意风险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381305" y="3914546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EAB308">
              <a:alpha val="10000"/>
            </a:srgbClr>
          </a:solidFill>
          <a:ln w="25400">
            <a:solidFill>
              <a:srgbClr val="EAB308"/>
            </a:solidFill>
            <a:prstDash val="solid"/>
          </a:ln>
          <a:effectLst>
            <a:outerShdw blurRad="139700" dist="12700" dir="16200000" algn="bl" rotWithShape="0">
              <a:srgbClr val="EAB308">
                <a:alpha val="10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629107" y="4134002"/>
            <a:ext cx="291236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2.5万亿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3491890" y="4172179"/>
            <a:ext cx="36868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EF3C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高度活跃 流动性宽松</a:t>
            </a:r>
            <a:endParaRPr lang="en-US" sz="110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420770" y="4224528"/>
            <a:ext cx="75895" cy="758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910121" y="4119372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DE8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≤ 1.2 </a:t>
            </a:r>
            <a:r>
              <a:rPr lang="en-US" sz="900" b="1" dirty="0">
                <a:solidFill>
                  <a:srgbClr val="A7F3D0"/>
                </a:solidFill>
                <a:latin typeface="Microsoft Sans Serif" panose="020B0604020202020204" charset="0"/>
                <a:ea typeface="Microsoft Sans Serif" panose="020B0604020202020204" charset="0"/>
                <a:cs typeface="Microsoft Sans Serif" panose="020B0604020202020204" charset="0"/>
              </a:rPr>
              <a:t>均有价值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9236354" y="4119372"/>
            <a:ext cx="242773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3.0 </a:t>
            </a:r>
            <a:r>
              <a:rPr lang="en-US" sz="900" b="1" dirty="0">
                <a:solidFill>
                  <a:srgbClr val="FECACA"/>
                </a:solidFill>
                <a:latin typeface="Microsoft Sans Serif" panose="020B0604020202020204" charset="0"/>
                <a:ea typeface="Microsoft Sans Serif" panose="020B0604020202020204" charset="0"/>
                <a:cs typeface="Microsoft Sans Serif" panose="020B0604020202020204" charset="0"/>
              </a:rPr>
              <a:t>警惕情绪顶</a:t>
            </a:r>
            <a:endParaRPr lang="en-US" sz="1500" dirty="0"/>
          </a:p>
        </p:txBody>
      </p:sp>
      <p:sp>
        <p:nvSpPr>
          <p:cNvPr id="43" name="Shape 35"/>
          <p:cNvSpPr/>
          <p:nvPr/>
        </p:nvSpPr>
        <p:spPr>
          <a:xfrm>
            <a:off x="381305" y="4686300"/>
            <a:ext cx="11430000" cy="694944"/>
          </a:xfrm>
          <a:prstGeom prst="roundRect">
            <a:avLst>
              <a:gd name="adj" fmla="val 2883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619049" y="4905756"/>
            <a:ext cx="291236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≥ 3万亿</a:t>
            </a:r>
            <a:endParaRPr lang="en-US" sz="1300" dirty="0"/>
          </a:p>
        </p:txBody>
      </p:sp>
      <p:sp>
        <p:nvSpPr>
          <p:cNvPr id="45" name="Text 37"/>
          <p:cNvSpPr txBox="1"/>
          <p:nvPr/>
        </p:nvSpPr>
        <p:spPr>
          <a:xfrm>
            <a:off x="3482873" y="4926787"/>
            <a:ext cx="369600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ECAC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极度亢奋 牛市特征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3416198" y="4996282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6911950" y="4938674"/>
            <a:ext cx="252100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DE80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右侧追高需谨慎</a:t>
            </a:r>
            <a:endParaRPr lang="en-US" sz="1500" dirty="0"/>
          </a:p>
        </p:txBody>
      </p:sp>
      <p:sp>
        <p:nvSpPr>
          <p:cNvPr id="48" name="Text 40"/>
          <p:cNvSpPr txBox="1"/>
          <p:nvPr/>
        </p:nvSpPr>
        <p:spPr>
          <a:xfrm>
            <a:off x="9241841" y="4938674"/>
            <a:ext cx="252100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PE整体偏贵需控仓</a:t>
            </a:r>
            <a:endParaRPr lang="en-US" sz="15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rcRect t="-21" b="-21"/>
          <a:stretch>
            <a:fillRect/>
          </a:stretch>
        </p:blipFill>
        <p:spPr>
          <a:xfrm>
            <a:off x="381305" y="5667451"/>
            <a:ext cx="11430000" cy="905256"/>
          </a:xfrm>
          <a:prstGeom prst="rect">
            <a:avLst/>
          </a:prstGeom>
        </p:spPr>
      </p:pic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>
            <a:fillRect/>
          </a:stretch>
        </p:blipFill>
        <p:spPr>
          <a:xfrm>
            <a:off x="724205" y="5967374"/>
            <a:ext cx="381305" cy="3044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1333195" y="5857646"/>
            <a:ext cx="748710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核心原则：量能决定估值容忍度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1333195" y="6152998"/>
            <a:ext cx="7487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市场水多、钱多，愿意给高PEG；市场缩量、情绪差，PEG标准同步下移。</a:t>
            </a: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永远要先看量能，再看PEG数值。</a:t>
            </a:r>
            <a:endParaRPr lang="en-US" sz="12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9"/>
          <a:srcRect l="-31" r="-31"/>
          <a:stretch>
            <a:fillRect/>
          </a:stretch>
        </p:blipFill>
        <p:spPr>
          <a:xfrm>
            <a:off x="286207" y="3976726"/>
            <a:ext cx="495605" cy="5715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256946" y="3976726"/>
            <a:ext cx="553212" cy="571500"/>
          </a:xfrm>
          <a:prstGeom prst="rect">
            <a:avLst/>
          </a:prstGeom>
          <a:noFill/>
        </p:spPr>
        <p:txBody>
          <a:bodyPr vert="eaVert"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当前基准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6" name="Shape 45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724205" y="204826"/>
            <a:ext cx="3248863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2025量能基准与PEG买卖阈值</a:t>
            </a:r>
            <a:endParaRPr lang="en-US" sz="1800" dirty="0"/>
          </a:p>
        </p:txBody>
      </p:sp>
      <p:sp>
        <p:nvSpPr>
          <p:cNvPr id="59" name="Text 47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l="-17" r="-17"/>
          <a:stretch>
            <a:fillRect/>
          </a:stretch>
        </p:blipFill>
        <p:spPr>
          <a:xfrm>
            <a:off x="381305" y="1047902"/>
            <a:ext cx="11430000" cy="875995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6598" y="1390802"/>
            <a:ext cx="190195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72007" y="1343254"/>
            <a:ext cx="2053742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中际旭创</a:t>
            </a: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(300308.SZ)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2816352" y="1362456"/>
            <a:ext cx="1000354" cy="247802"/>
          </a:xfrm>
          <a:prstGeom prst="roundRect">
            <a:avLst>
              <a:gd name="adj" fmla="val 1135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2816352" y="1362456"/>
            <a:ext cx="10579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算力光模块龙头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6429146" y="1190549"/>
            <a:ext cx="1143000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6590995" y="1276502"/>
            <a:ext cx="8961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当时股价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590995" y="146669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¥531.00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763256" y="1190549"/>
            <a:ext cx="1143000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925105" y="1276502"/>
            <a:ext cx="8961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2026E EPS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7925105" y="146669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18.11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096451" y="1190549"/>
            <a:ext cx="1143000" cy="590702"/>
          </a:xfrm>
          <a:prstGeom prst="roundRect">
            <a:avLst>
              <a:gd name="adj" fmla="val 2996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58300" y="1276502"/>
            <a:ext cx="8961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2027E EPS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9258300" y="146669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25.22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10429646" y="1190549"/>
            <a:ext cx="1143000" cy="590702"/>
          </a:xfrm>
          <a:prstGeom prst="roundRect">
            <a:avLst>
              <a:gd name="adj" fmla="val 29961"/>
            </a:avLst>
          </a:prstGeom>
          <a:solidFill>
            <a:srgbClr val="EAB308">
              <a:alpha val="1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591495" y="1276502"/>
            <a:ext cx="89611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当时量能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0591495" y="1466698"/>
            <a:ext cx="896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2.0万亿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81305" y="2115007"/>
            <a:ext cx="2553005" cy="3029407"/>
          </a:xfrm>
          <a:prstGeom prst="roundRect">
            <a:avLst>
              <a:gd name="adj" fmla="val 3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80644" y="2029054"/>
            <a:ext cx="562356" cy="228600"/>
          </a:xfrm>
          <a:prstGeom prst="roundRect">
            <a:avLst>
              <a:gd name="adj" fmla="val 133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0644" y="2029054"/>
            <a:ext cx="6382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1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580644" y="2714854"/>
            <a:ext cx="2152498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80644" y="2409444"/>
            <a:ext cx="22293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折算未来一年EPS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80644" y="2838298"/>
            <a:ext cx="2152498" cy="504749"/>
          </a:xfrm>
          <a:prstGeom prst="roundRect">
            <a:avLst>
              <a:gd name="adj" fmla="val 273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80644" y="2838298"/>
            <a:ext cx="22293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(10/12) × 18.11 +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(2/12) × 25.22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494690" y="4429354"/>
            <a:ext cx="22393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滚动EPS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494690" y="4600346"/>
            <a:ext cx="223936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≈ 18.7</a:t>
            </a:r>
            <a:endParaRPr lang="en-US" sz="18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rcRect t="-1087" b="-1087"/>
          <a:stretch>
            <a:fillRect/>
          </a:stretch>
        </p:blipFill>
        <p:spPr>
          <a:xfrm>
            <a:off x="3083357" y="3543300"/>
            <a:ext cx="105156" cy="171907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3341218" y="2115007"/>
            <a:ext cx="2553005" cy="3029407"/>
          </a:xfrm>
          <a:prstGeom prst="roundRect">
            <a:avLst>
              <a:gd name="adj" fmla="val 3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540557" y="2029054"/>
            <a:ext cx="562356" cy="228600"/>
          </a:xfrm>
          <a:prstGeom prst="roundRect">
            <a:avLst>
              <a:gd name="adj" fmla="val 133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540557" y="2029054"/>
            <a:ext cx="6382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2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3540557" y="2714854"/>
            <a:ext cx="2152498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3540557" y="2409444"/>
            <a:ext cx="22293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计算当前PE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3540557" y="2838298"/>
            <a:ext cx="2152498" cy="504749"/>
          </a:xfrm>
          <a:prstGeom prst="roundRect">
            <a:avLst>
              <a:gd name="adj" fmla="val 273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3540557" y="2838298"/>
            <a:ext cx="22293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股价 ÷ 滚动EPS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531 ÷ 18.7</a:t>
            </a:r>
            <a:endParaRPr lang="en-US" sz="900" dirty="0"/>
          </a:p>
        </p:txBody>
      </p:sp>
      <p:sp>
        <p:nvSpPr>
          <p:cNvPr id="39" name="Text 33"/>
          <p:cNvSpPr txBox="1"/>
          <p:nvPr/>
        </p:nvSpPr>
        <p:spPr>
          <a:xfrm>
            <a:off x="3454603" y="4429354"/>
            <a:ext cx="2239366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动态PE</a:t>
            </a:r>
            <a:endParaRPr lang="en-US" sz="900" dirty="0"/>
          </a:p>
        </p:txBody>
      </p:sp>
      <p:sp>
        <p:nvSpPr>
          <p:cNvPr id="40" name="Text 34"/>
          <p:cNvSpPr txBox="1"/>
          <p:nvPr/>
        </p:nvSpPr>
        <p:spPr>
          <a:xfrm>
            <a:off x="3454603" y="4600346"/>
            <a:ext cx="223936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28.4 倍</a:t>
            </a:r>
            <a:endParaRPr lang="en-US" sz="18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rcRect t="-1087" b="-1087"/>
          <a:stretch>
            <a:fillRect/>
          </a:stretch>
        </p:blipFill>
        <p:spPr>
          <a:xfrm>
            <a:off x="6043270" y="3543300"/>
            <a:ext cx="105156" cy="171907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6301130" y="2115007"/>
            <a:ext cx="2553005" cy="3029407"/>
          </a:xfrm>
          <a:prstGeom prst="roundRect">
            <a:avLst>
              <a:gd name="adj" fmla="val 320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500470" y="2029054"/>
            <a:ext cx="562356" cy="228600"/>
          </a:xfrm>
          <a:prstGeom prst="roundRect">
            <a:avLst>
              <a:gd name="adj" fmla="val 133333"/>
            </a:avLst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6500470" y="2029054"/>
            <a:ext cx="6382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3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500470" y="2714854"/>
            <a:ext cx="2152498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500470" y="2409444"/>
            <a:ext cx="22293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计算成长率 G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6500470" y="2838298"/>
            <a:ext cx="2152498" cy="504749"/>
          </a:xfrm>
          <a:prstGeom prst="roundRect">
            <a:avLst>
              <a:gd name="adj" fmla="val 273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500470" y="2838298"/>
            <a:ext cx="22293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(25.22 - 18.11) ÷ 18.11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× 100 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6328562" y="4429354"/>
            <a:ext cx="232531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增速数值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6414516" y="4600346"/>
            <a:ext cx="223936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39.26</a:t>
            </a:r>
            <a:endParaRPr lang="en-US" sz="180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4"/>
          <a:srcRect t="-1087" b="-1087"/>
          <a:stretch>
            <a:fillRect/>
          </a:stretch>
        </p:blipFill>
        <p:spPr>
          <a:xfrm>
            <a:off x="9003182" y="3543300"/>
            <a:ext cx="105156" cy="171907"/>
          </a:xfrm>
          <a:prstGeom prst="rect">
            <a:avLst/>
          </a:prstGeom>
        </p:spPr>
      </p:pic>
      <p:sp>
        <p:nvSpPr>
          <p:cNvPr id="52" name="Shape 44"/>
          <p:cNvSpPr/>
          <p:nvPr/>
        </p:nvSpPr>
        <p:spPr>
          <a:xfrm>
            <a:off x="9261043" y="2115007"/>
            <a:ext cx="2553005" cy="3029407"/>
          </a:xfrm>
          <a:prstGeom prst="roundRect">
            <a:avLst>
              <a:gd name="adj" fmla="val 320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>
            <a:off x="9460382" y="2029054"/>
            <a:ext cx="543154" cy="209398"/>
          </a:xfrm>
          <a:prstGeom prst="roundRect">
            <a:avLst>
              <a:gd name="adj" fmla="val 158793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9460382" y="2029054"/>
            <a:ext cx="619963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25400" rIns="1016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Step 4</a:t>
            </a:r>
            <a:endParaRPr lang="en-US" sz="900" dirty="0"/>
          </a:p>
        </p:txBody>
      </p:sp>
      <p:sp>
        <p:nvSpPr>
          <p:cNvPr id="55" name="Shape 47"/>
          <p:cNvSpPr/>
          <p:nvPr/>
        </p:nvSpPr>
        <p:spPr>
          <a:xfrm>
            <a:off x="9460382" y="2714854"/>
            <a:ext cx="2152498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9460382" y="2409444"/>
            <a:ext cx="2229307" cy="2295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计算PEG</a:t>
            </a:r>
            <a:endParaRPr lang="en-US" sz="1200" dirty="0"/>
          </a:p>
        </p:txBody>
      </p:sp>
      <p:sp>
        <p:nvSpPr>
          <p:cNvPr id="57" name="Shape 49"/>
          <p:cNvSpPr/>
          <p:nvPr/>
        </p:nvSpPr>
        <p:spPr>
          <a:xfrm>
            <a:off x="9460382" y="2838298"/>
            <a:ext cx="2152498" cy="504749"/>
          </a:xfrm>
          <a:prstGeom prst="roundRect">
            <a:avLst>
              <a:gd name="adj" fmla="val 27345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9460382" y="2838298"/>
            <a:ext cx="2229307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PE ÷ G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2"/>
              </a:rPr>
              <a:t> 28.4 ÷ 39.26</a:t>
            </a:r>
            <a:endParaRPr lang="en-US" sz="900" dirty="0"/>
          </a:p>
        </p:txBody>
      </p:sp>
      <p:sp>
        <p:nvSpPr>
          <p:cNvPr id="59" name="Text 51"/>
          <p:cNvSpPr txBox="1"/>
          <p:nvPr/>
        </p:nvSpPr>
        <p:spPr>
          <a:xfrm>
            <a:off x="9288475" y="4429354"/>
            <a:ext cx="232531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最终估值</a:t>
            </a:r>
            <a:endParaRPr lang="en-US" sz="900" dirty="0"/>
          </a:p>
        </p:txBody>
      </p:sp>
      <p:sp>
        <p:nvSpPr>
          <p:cNvPr id="60" name="Text 52"/>
          <p:cNvSpPr txBox="1"/>
          <p:nvPr/>
        </p:nvSpPr>
        <p:spPr>
          <a:xfrm>
            <a:off x="9374429" y="4600346"/>
            <a:ext cx="2239366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B82F6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0.72</a:t>
            </a:r>
            <a:endParaRPr lang="en-US" sz="1800" dirty="0"/>
          </a:p>
        </p:txBody>
      </p:sp>
      <p:sp>
        <p:nvSpPr>
          <p:cNvPr id="61" name="Shape 53"/>
          <p:cNvSpPr/>
          <p:nvPr/>
        </p:nvSpPr>
        <p:spPr>
          <a:xfrm>
            <a:off x="381305" y="5429707"/>
            <a:ext cx="11430000" cy="1143000"/>
          </a:xfrm>
          <a:prstGeom prst="roundRect">
            <a:avLst>
              <a:gd name="adj" fmla="val 16000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390449" y="5438851"/>
            <a:ext cx="2381098" cy="1123798"/>
          </a:xfrm>
          <a:prstGeom prst="roundRect">
            <a:avLst>
              <a:gd name="adj" fmla="val 16549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63" name="Shape 55"/>
          <p:cNvSpPr/>
          <p:nvPr/>
        </p:nvSpPr>
        <p:spPr>
          <a:xfrm>
            <a:off x="2762402" y="5438851"/>
            <a:ext cx="9144" cy="1123798"/>
          </a:xfrm>
          <a:prstGeom prst="roundRect">
            <a:avLst>
              <a:gd name="adj" fmla="val 2033898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1161288" y="5652821"/>
            <a:ext cx="9144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计算结果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1078078" y="5891479"/>
            <a:ext cx="1214323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0.72</a:t>
            </a:r>
            <a:endParaRPr lang="en-US" sz="3600" dirty="0"/>
          </a:p>
        </p:txBody>
      </p:sp>
      <p:pic>
        <p:nvPicPr>
          <p:cNvPr id="66" name="Image 6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057754" y="5662879"/>
            <a:ext cx="171907" cy="171907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3323844" y="5619902"/>
            <a:ext cx="248808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极度低估区间 (Strong Buy)</a:t>
            </a:r>
            <a:endParaRPr lang="en-US" sz="1300" dirty="0"/>
          </a:p>
        </p:txBody>
      </p:sp>
      <p:sp>
        <p:nvSpPr>
          <p:cNvPr id="68" name="Text 59"/>
          <p:cNvSpPr txBox="1"/>
          <p:nvPr/>
        </p:nvSpPr>
        <p:spPr>
          <a:xfrm>
            <a:off x="3057754" y="5952744"/>
            <a:ext cx="8535010" cy="42885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zh-CN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PEG ≈ 0.72 &lt; 0.75</a:t>
            </a:r>
            <a:r>
              <a:rPr lang="zh-CN" alt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，在量能偏低环境下属于可投资区间。机构会在估值合理的点位逢跌买入，形成下方支撑。</a:t>
            </a:r>
            <a:endParaRPr lang="zh-CN" altLang="en-US" sz="11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9" name="Shape 60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0" name="Shape 61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6"/>
          <a:srcRect l="-133" r="-133"/>
          <a:stretch>
            <a:fillRect/>
          </a:stretch>
        </p:blipFill>
        <p:spPr>
          <a:xfrm>
            <a:off x="381305" y="261518"/>
            <a:ext cx="171907" cy="228600"/>
          </a:xfrm>
          <a:prstGeom prst="rect">
            <a:avLst/>
          </a:prstGeom>
        </p:spPr>
      </p:pic>
      <p:sp>
        <p:nvSpPr>
          <p:cNvPr id="72" name="Text 62"/>
          <p:cNvSpPr txBox="1"/>
          <p:nvPr/>
        </p:nvSpPr>
        <p:spPr>
          <a:xfrm>
            <a:off x="666598" y="204826"/>
            <a:ext cx="3610051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实战案例：</a:t>
            </a:r>
            <a:r>
              <a:rPr lang="zh-CN" alt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中际旭创</a:t>
            </a: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（2026年2月）</a:t>
            </a:r>
            <a:endParaRPr lang="en-US" sz="1800" dirty="0"/>
          </a:p>
        </p:txBody>
      </p:sp>
      <p:sp>
        <p:nvSpPr>
          <p:cNvPr id="73" name="Text 63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305" y="1047902"/>
            <a:ext cx="11430000" cy="571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6598" y="1238098"/>
            <a:ext cx="190195" cy="19019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972007" y="1190549"/>
            <a:ext cx="323880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反面教材：高增速下的估值泡沫警示</a:t>
            </a:r>
            <a:endParaRPr lang="en-US" sz="1500" dirty="0"/>
          </a:p>
        </p:txBody>
      </p:sp>
      <p:sp>
        <p:nvSpPr>
          <p:cNvPr id="8" name="Shape 3"/>
          <p:cNvSpPr/>
          <p:nvPr/>
        </p:nvSpPr>
        <p:spPr>
          <a:xfrm>
            <a:off x="4134002" y="1209751"/>
            <a:ext cx="771754" cy="247802"/>
          </a:xfrm>
          <a:prstGeom prst="roundRect">
            <a:avLst>
              <a:gd name="adj" fmla="val 113540"/>
            </a:avLst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4134002" y="1209751"/>
            <a:ext cx="8293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高波动典型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8917229" y="1233526"/>
            <a:ext cx="28483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同一标的，不同时间节点，PEG结论完全相反 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07831" y="1269187"/>
            <a:ext cx="133502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03681" y="2286000"/>
            <a:ext cx="668426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 水平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4283" y="2553005"/>
            <a:ext cx="133502" cy="1335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79576" y="3066898"/>
            <a:ext cx="592531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 G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69264" y="3333902"/>
            <a:ext cx="133502" cy="133502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08583" y="3847795"/>
            <a:ext cx="763524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状态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7"/>
          <a:srcRect l="-2512" r="-2512"/>
          <a:stretch>
            <a:fillRect/>
          </a:stretch>
        </p:blipFill>
        <p:spPr>
          <a:xfrm>
            <a:off x="826618" y="4114800"/>
            <a:ext cx="105156" cy="133502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1038758" y="4629607"/>
            <a:ext cx="733349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投资判断</a:t>
            </a:r>
            <a:endParaRPr lang="en-US" sz="10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8446" y="4895698"/>
            <a:ext cx="133502" cy="13350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1828800" y="1809598"/>
            <a:ext cx="2409444" cy="476402"/>
          </a:xfrm>
          <a:prstGeom prst="roundRect">
            <a:avLst>
              <a:gd name="adj" fmla="val 61420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21" name="Shape 11"/>
          <p:cNvSpPr/>
          <p:nvPr/>
        </p:nvSpPr>
        <p:spPr>
          <a:xfrm>
            <a:off x="1828800" y="2257654"/>
            <a:ext cx="2409444" cy="28346"/>
          </a:xfrm>
          <a:prstGeom prst="roundRect">
            <a:avLst>
              <a:gd name="adj" fmla="val 1032273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2701138" y="1919326"/>
            <a:ext cx="7434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2025年初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1828800" y="2400300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4" name="Text 14"/>
          <p:cNvSpPr txBox="1"/>
          <p:nvPr/>
        </p:nvSpPr>
        <p:spPr>
          <a:xfrm>
            <a:off x="2672791" y="2499970"/>
            <a:ext cx="83759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80-100倍</a:t>
            </a:r>
            <a:endParaRPr lang="en-US" sz="1300" dirty="0"/>
          </a:p>
        </p:txBody>
      </p:sp>
      <p:sp>
        <p:nvSpPr>
          <p:cNvPr id="25" name="Text 15"/>
          <p:cNvSpPr txBox="1"/>
          <p:nvPr/>
        </p:nvSpPr>
        <p:spPr>
          <a:xfrm>
            <a:off x="2691079" y="2795321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业绩验证初期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1828800" y="3181198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2776118" y="3281782"/>
            <a:ext cx="5907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爆发期</a:t>
            </a:r>
            <a:endParaRPr lang="en-US" sz="1300" dirty="0"/>
          </a:p>
        </p:txBody>
      </p:sp>
      <p:sp>
        <p:nvSpPr>
          <p:cNvPr id="28" name="Text 18"/>
          <p:cNvSpPr txBox="1"/>
          <p:nvPr/>
        </p:nvSpPr>
        <p:spPr>
          <a:xfrm>
            <a:off x="2805379" y="357621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扭亏为盈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1828800" y="3962095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0" name="Text 20"/>
          <p:cNvSpPr txBox="1"/>
          <p:nvPr/>
        </p:nvSpPr>
        <p:spPr>
          <a:xfrm>
            <a:off x="2841041" y="4062679"/>
            <a:ext cx="46725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&lt; 1.0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2747772" y="4358030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极具性价比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1828800" y="4743907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2938882" y="4748479"/>
            <a:ext cx="190195" cy="190195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2728570" y="49962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合理买点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2709367" y="5234026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机构建仓期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4352544" y="1809598"/>
            <a:ext cx="2409444" cy="476402"/>
          </a:xfrm>
          <a:prstGeom prst="roundRect">
            <a:avLst>
              <a:gd name="adj" fmla="val 61420"/>
            </a:avLst>
          </a:prstGeom>
          <a:solidFill>
            <a:srgbClr val="EAB308">
              <a:alpha val="10000"/>
            </a:srgbClr>
          </a:solidFill>
        </p:spPr>
      </p:sp>
      <p:sp>
        <p:nvSpPr>
          <p:cNvPr id="37" name="Shape 26"/>
          <p:cNvSpPr/>
          <p:nvPr/>
        </p:nvSpPr>
        <p:spPr>
          <a:xfrm>
            <a:off x="4352544" y="2257654"/>
            <a:ext cx="2409444" cy="28346"/>
          </a:xfrm>
          <a:prstGeom prst="roundRect">
            <a:avLst>
              <a:gd name="adj" fmla="val 1032273"/>
            </a:avLst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5225796" y="1919326"/>
            <a:ext cx="7434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2025年中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4352544" y="2400300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AB308">
              <a:alpha val="5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5146243" y="2499970"/>
            <a:ext cx="94731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ACC1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150-200倍</a:t>
            </a:r>
            <a:endParaRPr lang="en-US" sz="1300" dirty="0"/>
          </a:p>
        </p:txBody>
      </p:sp>
      <p:sp>
        <p:nvSpPr>
          <p:cNvPr id="41" name="Text 30"/>
          <p:cNvSpPr txBox="1"/>
          <p:nvPr/>
        </p:nvSpPr>
        <p:spPr>
          <a:xfrm>
            <a:off x="5214823" y="2795321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估值快速扩张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4352544" y="3181198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214823" y="3281782"/>
            <a:ext cx="7626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持续高增</a:t>
            </a:r>
            <a:endParaRPr lang="en-US" sz="1300" dirty="0"/>
          </a:p>
        </p:txBody>
      </p:sp>
      <p:sp>
        <p:nvSpPr>
          <p:cNvPr id="44" name="Text 33"/>
          <p:cNvSpPr txBox="1"/>
          <p:nvPr/>
        </p:nvSpPr>
        <p:spPr>
          <a:xfrm>
            <a:off x="5329123" y="357621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符合预期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4352544" y="3962095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AB308">
              <a:alpha val="5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</p:sp>
      <p:sp>
        <p:nvSpPr>
          <p:cNvPr id="46" name="Text 35"/>
          <p:cNvSpPr txBox="1"/>
          <p:nvPr/>
        </p:nvSpPr>
        <p:spPr>
          <a:xfrm>
            <a:off x="5233111" y="4062679"/>
            <a:ext cx="78272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ACC15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1.5 - 2.0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5329123" y="435803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估值偏贵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4352544" y="4743907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AB308">
              <a:alpha val="5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5462626" y="4748479"/>
            <a:ext cx="190195" cy="190195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5253228" y="49962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谨慎持有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5234026" y="5234026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性价比下降</a:t>
            </a:r>
            <a:endParaRPr lang="en-US" sz="900" dirty="0"/>
          </a:p>
        </p:txBody>
      </p:sp>
      <p:sp>
        <p:nvSpPr>
          <p:cNvPr id="52" name="Shape 40"/>
          <p:cNvSpPr/>
          <p:nvPr/>
        </p:nvSpPr>
        <p:spPr>
          <a:xfrm>
            <a:off x="6877202" y="1809598"/>
            <a:ext cx="2409444" cy="476402"/>
          </a:xfrm>
          <a:prstGeom prst="roundRect">
            <a:avLst>
              <a:gd name="adj" fmla="val 61420"/>
            </a:avLst>
          </a:prstGeom>
          <a:solidFill>
            <a:srgbClr val="EF4444">
              <a:alpha val="10000"/>
            </a:srgbClr>
          </a:solidFill>
        </p:spPr>
      </p:sp>
      <p:sp>
        <p:nvSpPr>
          <p:cNvPr id="53" name="Shape 41"/>
          <p:cNvSpPr/>
          <p:nvPr/>
        </p:nvSpPr>
        <p:spPr>
          <a:xfrm>
            <a:off x="6877202" y="2257654"/>
            <a:ext cx="2409444" cy="28346"/>
          </a:xfrm>
          <a:prstGeom prst="roundRect">
            <a:avLst>
              <a:gd name="adj" fmla="val 1032273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54" name="Text 42"/>
          <p:cNvSpPr txBox="1"/>
          <p:nvPr/>
        </p:nvSpPr>
        <p:spPr>
          <a:xfrm>
            <a:off x="7808062" y="1919326"/>
            <a:ext cx="6291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8月高点</a:t>
            </a:r>
            <a:endParaRPr lang="en-US" sz="1200" dirty="0"/>
          </a:p>
        </p:txBody>
      </p:sp>
      <p:sp>
        <p:nvSpPr>
          <p:cNvPr id="55" name="Shape 43"/>
          <p:cNvSpPr/>
          <p:nvPr/>
        </p:nvSpPr>
        <p:spPr>
          <a:xfrm>
            <a:off x="6877202" y="2400300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7770571" y="2499970"/>
            <a:ext cx="72694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&gt; 270倍</a:t>
            </a:r>
            <a:endParaRPr lang="en-US" sz="1300" dirty="0"/>
          </a:p>
        </p:txBody>
      </p:sp>
      <p:sp>
        <p:nvSpPr>
          <p:cNvPr id="57" name="Text 45"/>
          <p:cNvSpPr txBox="1"/>
          <p:nvPr/>
        </p:nvSpPr>
        <p:spPr>
          <a:xfrm>
            <a:off x="7852867" y="27953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严重透支</a:t>
            </a:r>
            <a:endParaRPr lang="en-US" sz="900" dirty="0"/>
          </a:p>
        </p:txBody>
      </p:sp>
      <p:sp>
        <p:nvSpPr>
          <p:cNvPr id="58" name="Shape 46"/>
          <p:cNvSpPr/>
          <p:nvPr/>
        </p:nvSpPr>
        <p:spPr>
          <a:xfrm>
            <a:off x="6877202" y="3181198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7739482" y="3281782"/>
            <a:ext cx="7626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高位钝化</a:t>
            </a:r>
            <a:endParaRPr lang="en-US" sz="1300" dirty="0"/>
          </a:p>
        </p:txBody>
      </p:sp>
      <p:sp>
        <p:nvSpPr>
          <p:cNvPr id="60" name="Text 48"/>
          <p:cNvSpPr txBox="1"/>
          <p:nvPr/>
        </p:nvSpPr>
        <p:spPr>
          <a:xfrm>
            <a:off x="7852867" y="3576218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边际递减</a:t>
            </a:r>
            <a:endParaRPr lang="en-US" sz="900" dirty="0"/>
          </a:p>
        </p:txBody>
      </p:sp>
      <p:sp>
        <p:nvSpPr>
          <p:cNvPr id="61" name="Shape 49"/>
          <p:cNvSpPr/>
          <p:nvPr/>
        </p:nvSpPr>
        <p:spPr>
          <a:xfrm>
            <a:off x="6877202" y="3962095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50"/>
          <p:cNvSpPr txBox="1"/>
          <p:nvPr/>
        </p:nvSpPr>
        <p:spPr>
          <a:xfrm>
            <a:off x="7878470" y="4062679"/>
            <a:ext cx="48829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7171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&gt; 3.0</a:t>
            </a:r>
            <a:endParaRPr lang="en-US" sz="1300" dirty="0"/>
          </a:p>
        </p:txBody>
      </p:sp>
      <p:sp>
        <p:nvSpPr>
          <p:cNvPr id="63" name="Text 51"/>
          <p:cNvSpPr txBox="1"/>
          <p:nvPr/>
        </p:nvSpPr>
        <p:spPr>
          <a:xfrm>
            <a:off x="7852867" y="435803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显著泡沫</a:t>
            </a:r>
            <a:endParaRPr lang="en-US" sz="900" dirty="0"/>
          </a:p>
        </p:txBody>
      </p:sp>
      <p:sp>
        <p:nvSpPr>
          <p:cNvPr id="64" name="Shape 52"/>
          <p:cNvSpPr/>
          <p:nvPr/>
        </p:nvSpPr>
        <p:spPr>
          <a:xfrm>
            <a:off x="6877202" y="4743907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986370" y="4748479"/>
            <a:ext cx="190195" cy="190195"/>
          </a:xfrm>
          <a:prstGeom prst="rect">
            <a:avLst/>
          </a:prstGeom>
        </p:spPr>
      </p:pic>
      <p:sp>
        <p:nvSpPr>
          <p:cNvPr id="66" name="Text 53"/>
          <p:cNvSpPr txBox="1"/>
          <p:nvPr/>
        </p:nvSpPr>
        <p:spPr>
          <a:xfrm>
            <a:off x="7776972" y="49962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极度风险</a:t>
            </a:r>
            <a:endParaRPr lang="en-US" sz="1000" dirty="0"/>
          </a:p>
        </p:txBody>
      </p:sp>
      <p:sp>
        <p:nvSpPr>
          <p:cNvPr id="67" name="Text 54"/>
          <p:cNvSpPr txBox="1"/>
          <p:nvPr/>
        </p:nvSpPr>
        <p:spPr>
          <a:xfrm>
            <a:off x="7757770" y="5234026"/>
            <a:ext cx="6574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情绪博弈区</a:t>
            </a:r>
            <a:endParaRPr lang="en-US" sz="900" dirty="0"/>
          </a:p>
        </p:txBody>
      </p:sp>
      <p:sp>
        <p:nvSpPr>
          <p:cNvPr id="68" name="Shape 55"/>
          <p:cNvSpPr/>
          <p:nvPr/>
        </p:nvSpPr>
        <p:spPr>
          <a:xfrm>
            <a:off x="9400946" y="1809598"/>
            <a:ext cx="2409444" cy="476402"/>
          </a:xfrm>
          <a:prstGeom prst="roundRect">
            <a:avLst>
              <a:gd name="adj" fmla="val 61420"/>
            </a:avLst>
          </a:prstGeom>
          <a:solidFill>
            <a:srgbClr val="3B82F6">
              <a:alpha val="10000"/>
            </a:srgbClr>
          </a:solidFill>
        </p:spPr>
      </p:sp>
      <p:sp>
        <p:nvSpPr>
          <p:cNvPr id="69" name="Shape 56"/>
          <p:cNvSpPr/>
          <p:nvPr/>
        </p:nvSpPr>
        <p:spPr>
          <a:xfrm>
            <a:off x="9400946" y="2257654"/>
            <a:ext cx="2409444" cy="28346"/>
          </a:xfrm>
          <a:prstGeom prst="roundRect">
            <a:avLst>
              <a:gd name="adj" fmla="val 103227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0" name="Text 57"/>
          <p:cNvSpPr txBox="1"/>
          <p:nvPr/>
        </p:nvSpPr>
        <p:spPr>
          <a:xfrm>
            <a:off x="10224821" y="1919326"/>
            <a:ext cx="8485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高点回落后</a:t>
            </a:r>
            <a:endParaRPr lang="en-US" sz="1200" dirty="0"/>
          </a:p>
        </p:txBody>
      </p:sp>
      <p:sp>
        <p:nvSpPr>
          <p:cNvPr id="71" name="Shape 58"/>
          <p:cNvSpPr/>
          <p:nvPr/>
        </p:nvSpPr>
        <p:spPr>
          <a:xfrm>
            <a:off x="9400946" y="2400300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2" name="Text 59"/>
          <p:cNvSpPr txBox="1"/>
          <p:nvPr/>
        </p:nvSpPr>
        <p:spPr>
          <a:xfrm>
            <a:off x="10263226" y="2499970"/>
            <a:ext cx="7626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压缩回归</a:t>
            </a:r>
            <a:endParaRPr lang="en-US" sz="1300" dirty="0"/>
          </a:p>
        </p:txBody>
      </p:sp>
      <p:sp>
        <p:nvSpPr>
          <p:cNvPr id="73" name="Text 60"/>
          <p:cNvSpPr txBox="1"/>
          <p:nvPr/>
        </p:nvSpPr>
        <p:spPr>
          <a:xfrm>
            <a:off x="10377526" y="2795321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消化估值</a:t>
            </a:r>
            <a:endParaRPr lang="en-US" sz="900" dirty="0"/>
          </a:p>
        </p:txBody>
      </p:sp>
      <p:sp>
        <p:nvSpPr>
          <p:cNvPr id="74" name="Shape 61"/>
          <p:cNvSpPr/>
          <p:nvPr/>
        </p:nvSpPr>
        <p:spPr>
          <a:xfrm>
            <a:off x="9400946" y="3181198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62"/>
          <p:cNvSpPr txBox="1"/>
          <p:nvPr/>
        </p:nvSpPr>
        <p:spPr>
          <a:xfrm>
            <a:off x="10263226" y="3281782"/>
            <a:ext cx="7626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稳健增长</a:t>
            </a:r>
            <a:endParaRPr lang="en-US" sz="1300" dirty="0"/>
          </a:p>
        </p:txBody>
      </p:sp>
      <p:sp>
        <p:nvSpPr>
          <p:cNvPr id="76" name="Text 63"/>
          <p:cNvSpPr txBox="1"/>
          <p:nvPr/>
        </p:nvSpPr>
        <p:spPr>
          <a:xfrm>
            <a:off x="10263226" y="3576218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增速回归常态</a:t>
            </a:r>
            <a:endParaRPr lang="en-US" sz="900" dirty="0"/>
          </a:p>
        </p:txBody>
      </p:sp>
      <p:sp>
        <p:nvSpPr>
          <p:cNvPr id="77" name="Shape 64"/>
          <p:cNvSpPr/>
          <p:nvPr/>
        </p:nvSpPr>
        <p:spPr>
          <a:xfrm>
            <a:off x="9400946" y="3962095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10263226" y="4062679"/>
            <a:ext cx="7626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区间震荡</a:t>
            </a:r>
            <a:endParaRPr lang="en-US" sz="1300" dirty="0"/>
          </a:p>
        </p:txBody>
      </p:sp>
      <p:sp>
        <p:nvSpPr>
          <p:cNvPr id="79" name="Text 66"/>
          <p:cNvSpPr txBox="1"/>
          <p:nvPr/>
        </p:nvSpPr>
        <p:spPr>
          <a:xfrm>
            <a:off x="10377526" y="4358030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等待匹配</a:t>
            </a:r>
            <a:endParaRPr lang="en-US" sz="900" dirty="0"/>
          </a:p>
        </p:txBody>
      </p:sp>
      <p:sp>
        <p:nvSpPr>
          <p:cNvPr id="80" name="Shape 67"/>
          <p:cNvSpPr/>
          <p:nvPr/>
        </p:nvSpPr>
        <p:spPr>
          <a:xfrm>
            <a:off x="9400946" y="4743907"/>
            <a:ext cx="2409444" cy="666598"/>
          </a:xfrm>
          <a:prstGeom prst="roundRect">
            <a:avLst>
              <a:gd name="adj" fmla="val 31354"/>
            </a:avLst>
          </a:prstGeom>
          <a:solidFill>
            <a:srgbClr val="3B82F6">
              <a:alpha val="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pic>
        <p:nvPicPr>
          <p:cNvPr id="81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0511028" y="4748479"/>
            <a:ext cx="190195" cy="190195"/>
          </a:xfrm>
          <a:prstGeom prst="rect">
            <a:avLst/>
          </a:prstGeom>
        </p:spPr>
      </p:pic>
      <p:sp>
        <p:nvSpPr>
          <p:cNvPr id="82" name="Text 68"/>
          <p:cNvSpPr txBox="1"/>
          <p:nvPr/>
        </p:nvSpPr>
        <p:spPr>
          <a:xfrm>
            <a:off x="10301630" y="4996282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观察等待</a:t>
            </a:r>
            <a:endParaRPr lang="en-US" sz="1000" dirty="0"/>
          </a:p>
        </p:txBody>
      </p:sp>
      <p:sp>
        <p:nvSpPr>
          <p:cNvPr id="83" name="Text 69"/>
          <p:cNvSpPr txBox="1"/>
          <p:nvPr/>
        </p:nvSpPr>
        <p:spPr>
          <a:xfrm>
            <a:off x="10224821" y="5234026"/>
            <a:ext cx="7717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重回合理区间</a:t>
            </a:r>
            <a:endParaRPr lang="en-US" sz="900" dirty="0"/>
          </a:p>
        </p:txBody>
      </p:sp>
      <p:sp>
        <p:nvSpPr>
          <p:cNvPr id="84" name="Shape 70"/>
          <p:cNvSpPr/>
          <p:nvPr/>
        </p:nvSpPr>
        <p:spPr>
          <a:xfrm>
            <a:off x="381305" y="5810098"/>
            <a:ext cx="11430000" cy="761695"/>
          </a:xfrm>
          <a:prstGeom prst="roundRect">
            <a:avLst>
              <a:gd name="adj" fmla="val 24010"/>
            </a:avLst>
          </a:prstGeom>
          <a:solidFill>
            <a:srgbClr val="1E293B"/>
          </a:solidFill>
        </p:spPr>
      </p:sp>
      <p:sp>
        <p:nvSpPr>
          <p:cNvPr id="85" name="Shape 71"/>
          <p:cNvSpPr/>
          <p:nvPr/>
        </p:nvSpPr>
        <p:spPr>
          <a:xfrm>
            <a:off x="381305" y="5810098"/>
            <a:ext cx="11430000" cy="9144"/>
          </a:xfrm>
          <a:prstGeom prst="roundRect">
            <a:avLst>
              <a:gd name="adj" fmla="val 2000000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86" name="Image 12" descr="preencoded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619049" y="6062472"/>
            <a:ext cx="200254" cy="267005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1009498" y="5962802"/>
            <a:ext cx="82204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核心启示：动态视角的必要性</a:t>
            </a:r>
            <a:endParaRPr lang="en-US" sz="1200" dirty="0"/>
          </a:p>
        </p:txBody>
      </p:sp>
      <p:sp>
        <p:nvSpPr>
          <p:cNvPr id="88" name="Text 73"/>
          <p:cNvSpPr txBox="1"/>
          <p:nvPr/>
        </p:nvSpPr>
        <p:spPr>
          <a:xfrm>
            <a:off x="1009498" y="6229807"/>
            <a:ext cx="8220456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PEG不是静态标签。即使是同一家优质公司，在</a:t>
            </a: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&lt; 1时是机会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，在</a:t>
            </a: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&gt; 3时就是风险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。必须结合股价位置和最新业绩预期动态评估。</a:t>
            </a:r>
            <a:endParaRPr lang="en-US" sz="1000" dirty="0"/>
          </a:p>
        </p:txBody>
      </p:sp>
      <p:sp>
        <p:nvSpPr>
          <p:cNvPr id="89" name="Shape 74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0" name="Shape 75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91" name="Image 13" descr="preencoded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92" name="Text 76"/>
          <p:cNvSpPr txBox="1"/>
          <p:nvPr/>
        </p:nvSpPr>
        <p:spPr>
          <a:xfrm>
            <a:off x="724205" y="204826"/>
            <a:ext cx="33915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实战案例：寒武纪（阶段对比）</a:t>
            </a:r>
            <a:endParaRPr lang="en-US" sz="1800" dirty="0"/>
          </a:p>
        </p:txBody>
      </p:sp>
      <p:sp>
        <p:nvSpPr>
          <p:cNvPr id="93" name="Text 77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000" y="638175"/>
            <a:ext cx="5572125" cy="5991225"/>
          </a:xfrm>
          <a:prstGeom prst="roundRect">
            <a:avLst>
              <a:gd name="adj" fmla="val 6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0449" y="647395"/>
            <a:ext cx="5553151" cy="676656"/>
          </a:xfrm>
          <a:prstGeom prst="roundRect">
            <a:avLst>
              <a:gd name="adj" fmla="val 45679"/>
            </a:avLst>
          </a:prstGeom>
          <a:solidFill>
            <a:srgbClr val="10B981">
              <a:alpha val="10000"/>
            </a:srgbClr>
          </a:solidFill>
        </p:spPr>
      </p:sp>
      <p:sp>
        <p:nvSpPr>
          <p:cNvPr id="7" name="Shape 4"/>
          <p:cNvSpPr/>
          <p:nvPr/>
        </p:nvSpPr>
        <p:spPr>
          <a:xfrm>
            <a:off x="390449" y="1314907"/>
            <a:ext cx="5553151" cy="9144"/>
          </a:xfrm>
          <a:prstGeom prst="roundRect">
            <a:avLst>
              <a:gd name="adj" fmla="val 3380282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0644" y="886054"/>
            <a:ext cx="190195" cy="1901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86054" y="838505"/>
            <a:ext cx="1396289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 PEG 估值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990795" y="857707"/>
            <a:ext cx="771754" cy="247802"/>
          </a:xfrm>
          <a:prstGeom prst="roundRect">
            <a:avLst>
              <a:gd name="adj" fmla="val 11354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90795" y="857707"/>
            <a:ext cx="82936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成长驱动型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80644" y="1657807"/>
            <a:ext cx="5171846" cy="923544"/>
          </a:xfrm>
          <a:prstGeom prst="roundRect">
            <a:avLst>
              <a:gd name="adj" fmla="val 16332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33349" y="1809598"/>
            <a:ext cx="50584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适用逻辑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33349" y="2029054"/>
            <a:ext cx="4944161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适用于有稳定研发投入、处于成长期、且未来1-3年盈利增速可预测的行业。核心是"成长性"。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80644" y="2695651"/>
            <a:ext cx="5171846" cy="705002"/>
          </a:xfrm>
          <a:prstGeom prst="roundRect">
            <a:avLst>
              <a:gd name="adj" fmla="val 280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5002" y="2838298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72007" y="2819095"/>
            <a:ext cx="4849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AI算力链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972007" y="3086100"/>
            <a:ext cx="47722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光模块 / 服务器 / 液冷 / GPU / 存储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80644" y="3510382"/>
            <a:ext cx="5171846" cy="705002"/>
          </a:xfrm>
          <a:prstGeom prst="roundRect">
            <a:avLst>
              <a:gd name="adj" fmla="val 280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05002" y="3653028"/>
            <a:ext cx="152705" cy="152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72007" y="3633826"/>
            <a:ext cx="4849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半导体设备与材料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972007" y="3900830"/>
            <a:ext cx="48490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刻蚀 / 薄膜 / 清洗 / 电子特气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580644" y="4324198"/>
            <a:ext cx="5171846" cy="705002"/>
          </a:xfrm>
          <a:prstGeom prst="roundRect">
            <a:avLst>
              <a:gd name="adj" fmla="val 280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rcRect l="-33" r="-33"/>
          <a:stretch>
            <a:fillRect/>
          </a:stretch>
        </p:blipFill>
        <p:spPr>
          <a:xfrm>
            <a:off x="705002" y="4466844"/>
            <a:ext cx="171907" cy="15270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90295" y="4448556"/>
            <a:ext cx="47530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创新药 &amp; CXO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990295" y="4714646"/>
            <a:ext cx="47530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创新药研发 / CDMO / CRO / 医疗器械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80644" y="5138928"/>
            <a:ext cx="5171846" cy="705002"/>
          </a:xfrm>
          <a:prstGeom prst="roundRect">
            <a:avLst>
              <a:gd name="adj" fmla="val 2804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t="-180" b="-180"/>
          <a:stretch>
            <a:fillRect/>
          </a:stretch>
        </p:blipFill>
        <p:spPr>
          <a:xfrm>
            <a:off x="705002" y="5281574"/>
            <a:ext cx="190195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009498" y="5262372"/>
            <a:ext cx="48106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高端制造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1009498" y="5529377"/>
            <a:ext cx="48106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军工 / 锂电 / 机器人 / 消费电子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238875" y="638175"/>
            <a:ext cx="5572125" cy="6214110"/>
          </a:xfrm>
          <a:prstGeom prst="roundRect">
            <a:avLst>
              <a:gd name="adj" fmla="val 67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248095" y="647395"/>
            <a:ext cx="5553151" cy="676656"/>
          </a:xfrm>
          <a:prstGeom prst="roundRect">
            <a:avLst>
              <a:gd name="adj" fmla="val 45679"/>
            </a:avLst>
          </a:prstGeom>
          <a:solidFill>
            <a:srgbClr val="EF4444">
              <a:alpha val="10000"/>
            </a:srgbClr>
          </a:solidFill>
        </p:spPr>
      </p:sp>
      <p:sp>
        <p:nvSpPr>
          <p:cNvPr id="33" name="Shape 25"/>
          <p:cNvSpPr/>
          <p:nvPr/>
        </p:nvSpPr>
        <p:spPr>
          <a:xfrm>
            <a:off x="6248095" y="1314907"/>
            <a:ext cx="5553151" cy="9144"/>
          </a:xfrm>
          <a:prstGeom prst="roundRect">
            <a:avLst>
              <a:gd name="adj" fmla="val 3380282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39205" y="886054"/>
            <a:ext cx="190195" cy="19019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743700" y="838505"/>
            <a:ext cx="1592885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不适用 PEG 估值</a:t>
            </a:r>
            <a:endParaRPr lang="en-US" sz="1500" dirty="0"/>
          </a:p>
        </p:txBody>
      </p:sp>
      <p:sp>
        <p:nvSpPr>
          <p:cNvPr id="36" name="Shape 27"/>
          <p:cNvSpPr/>
          <p:nvPr/>
        </p:nvSpPr>
        <p:spPr>
          <a:xfrm>
            <a:off x="10804550" y="857707"/>
            <a:ext cx="809244" cy="247802"/>
          </a:xfrm>
          <a:prstGeom prst="roundRect">
            <a:avLst>
              <a:gd name="adj" fmla="val 113540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10804550" y="857707"/>
            <a:ext cx="86685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周期/资产型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439205" y="1657807"/>
            <a:ext cx="5171846" cy="923544"/>
          </a:xfrm>
          <a:prstGeom prst="roundRect">
            <a:avLst>
              <a:gd name="adj" fmla="val 16332"/>
            </a:avLst>
          </a:prstGeom>
          <a:solidFill>
            <a:srgbClr val="EF4444">
              <a:alpha val="5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590995" y="1809598"/>
            <a:ext cx="505846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不适用逻辑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6590995" y="2029054"/>
            <a:ext cx="4944161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盈利波动巨大、受宏观周期影响极深、或增长停滞靠分红的行业。EPS无法作为估值锚点。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6439205" y="2695651"/>
            <a:ext cx="5171846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562649" y="2838298"/>
            <a:ext cx="152705" cy="15270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829654" y="2819095"/>
            <a:ext cx="48490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大金融板块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6829654" y="3086100"/>
            <a:ext cx="47722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 / 保险 / 券商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6829654" y="3329330"/>
            <a:ext cx="1362456" cy="228600"/>
          </a:xfrm>
          <a:prstGeom prst="roundRect">
            <a:avLst>
              <a:gd name="adj" fmla="val 133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46" name="Text 36"/>
          <p:cNvSpPr txBox="1"/>
          <p:nvPr/>
        </p:nvSpPr>
        <p:spPr>
          <a:xfrm>
            <a:off x="6829654" y="3329330"/>
            <a:ext cx="147127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替代方法：PB + 股息率</a:t>
            </a:r>
            <a:endParaRPr lang="en-US" sz="900" dirty="0"/>
          </a:p>
        </p:txBody>
      </p:sp>
      <p:sp>
        <p:nvSpPr>
          <p:cNvPr id="47" name="Shape 37"/>
          <p:cNvSpPr/>
          <p:nvPr/>
        </p:nvSpPr>
        <p:spPr>
          <a:xfrm>
            <a:off x="6439205" y="3795674"/>
            <a:ext cx="5171846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rcRect l="-33" r="-33"/>
          <a:stretch>
            <a:fillRect/>
          </a:stretch>
        </p:blipFill>
        <p:spPr>
          <a:xfrm>
            <a:off x="6562649" y="3938321"/>
            <a:ext cx="171907" cy="152705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6848856" y="3919118"/>
            <a:ext cx="48298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强周期资源</a:t>
            </a:r>
            <a:endParaRPr lang="en-US" sz="1200" dirty="0"/>
          </a:p>
        </p:txBody>
      </p:sp>
      <p:sp>
        <p:nvSpPr>
          <p:cNvPr id="50" name="Text 39"/>
          <p:cNvSpPr txBox="1"/>
          <p:nvPr/>
        </p:nvSpPr>
        <p:spPr>
          <a:xfrm>
            <a:off x="6848856" y="4186123"/>
            <a:ext cx="482986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钢铁 / 煤炭 / 有色金属 / 化工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848856" y="4429354"/>
            <a:ext cx="1476756" cy="228600"/>
          </a:xfrm>
          <a:prstGeom prst="roundRect">
            <a:avLst>
              <a:gd name="adj" fmla="val 133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2" name="Text 41"/>
          <p:cNvSpPr txBox="1"/>
          <p:nvPr/>
        </p:nvSpPr>
        <p:spPr>
          <a:xfrm>
            <a:off x="6848856" y="4429354"/>
            <a:ext cx="159471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替代方法：PB + 周期位置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6439205" y="4895698"/>
            <a:ext cx="5171846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0"/>
          <a:srcRect t="-100" b="-100"/>
          <a:stretch>
            <a:fillRect/>
          </a:stretch>
        </p:blipFill>
        <p:spPr>
          <a:xfrm>
            <a:off x="6562649" y="5038344"/>
            <a:ext cx="114300" cy="152705"/>
          </a:xfrm>
          <a:prstGeom prst="rect">
            <a:avLst/>
          </a:prstGeom>
        </p:spPr>
      </p:pic>
      <p:sp>
        <p:nvSpPr>
          <p:cNvPr id="55" name="Text 43"/>
          <p:cNvSpPr txBox="1"/>
          <p:nvPr/>
        </p:nvSpPr>
        <p:spPr>
          <a:xfrm>
            <a:off x="6791249" y="5020056"/>
            <a:ext cx="48865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房地产</a:t>
            </a:r>
            <a:endParaRPr lang="en-US" sz="1200" dirty="0"/>
          </a:p>
        </p:txBody>
      </p:sp>
      <p:sp>
        <p:nvSpPr>
          <p:cNvPr id="56" name="Text 44"/>
          <p:cNvSpPr txBox="1"/>
          <p:nvPr/>
        </p:nvSpPr>
        <p:spPr>
          <a:xfrm>
            <a:off x="6791249" y="5286146"/>
            <a:ext cx="4886554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住宅开发 / 商业地产</a:t>
            </a:r>
            <a:endParaRPr lang="en-US" sz="900" dirty="0"/>
          </a:p>
        </p:txBody>
      </p:sp>
      <p:sp>
        <p:nvSpPr>
          <p:cNvPr id="57" name="Shape 45"/>
          <p:cNvSpPr/>
          <p:nvPr/>
        </p:nvSpPr>
        <p:spPr>
          <a:xfrm>
            <a:off x="6791249" y="5529377"/>
            <a:ext cx="1466698" cy="228600"/>
          </a:xfrm>
          <a:prstGeom prst="roundRect">
            <a:avLst>
              <a:gd name="adj" fmla="val 133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58" name="Text 46"/>
          <p:cNvSpPr txBox="1"/>
          <p:nvPr/>
        </p:nvSpPr>
        <p:spPr>
          <a:xfrm>
            <a:off x="6791249" y="5529377"/>
            <a:ext cx="15435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替代方法：PB + NAV折价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6439205" y="5995721"/>
            <a:ext cx="5171846" cy="990295"/>
          </a:xfrm>
          <a:prstGeom prst="roundRect">
            <a:avLst>
              <a:gd name="adj" fmla="val 14206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1"/>
          <a:srcRect t="-43" b="-43"/>
          <a:stretch>
            <a:fillRect/>
          </a:stretch>
        </p:blipFill>
        <p:spPr>
          <a:xfrm>
            <a:off x="6562649" y="6139282"/>
            <a:ext cx="133502" cy="152705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6810451" y="6120079"/>
            <a:ext cx="48673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公用事业</a:t>
            </a:r>
            <a:endParaRPr lang="en-US" sz="1200" dirty="0"/>
          </a:p>
        </p:txBody>
      </p:sp>
      <p:sp>
        <p:nvSpPr>
          <p:cNvPr id="62" name="Text 49"/>
          <p:cNvSpPr txBox="1"/>
          <p:nvPr/>
        </p:nvSpPr>
        <p:spPr>
          <a:xfrm>
            <a:off x="6810451" y="6386170"/>
            <a:ext cx="486735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电力 / 水务 / 高速公路</a:t>
            </a:r>
            <a:endParaRPr lang="en-US" sz="900" dirty="0"/>
          </a:p>
        </p:txBody>
      </p:sp>
      <p:sp>
        <p:nvSpPr>
          <p:cNvPr id="63" name="Shape 50"/>
          <p:cNvSpPr/>
          <p:nvPr/>
        </p:nvSpPr>
        <p:spPr>
          <a:xfrm>
            <a:off x="6810451" y="6629400"/>
            <a:ext cx="1666951" cy="228600"/>
          </a:xfrm>
          <a:prstGeom prst="roundRect">
            <a:avLst>
              <a:gd name="adj" fmla="val 133333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64" name="Text 51"/>
          <p:cNvSpPr txBox="1"/>
          <p:nvPr/>
        </p:nvSpPr>
        <p:spPr>
          <a:xfrm>
            <a:off x="6810451" y="6629400"/>
            <a:ext cx="18004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替代方法：股息率 + 绝对收益</a:t>
            </a:r>
            <a:endParaRPr lang="en-US" sz="900" dirty="0"/>
          </a:p>
        </p:txBody>
      </p:sp>
      <p:sp>
        <p:nvSpPr>
          <p:cNvPr id="65" name="Shape 52"/>
          <p:cNvSpPr/>
          <p:nvPr/>
        </p:nvSpPr>
        <p:spPr>
          <a:xfrm>
            <a:off x="0" y="0"/>
            <a:ext cx="12191695" cy="352044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6" name="Shape 53"/>
          <p:cNvSpPr/>
          <p:nvPr/>
        </p:nvSpPr>
        <p:spPr>
          <a:xfrm>
            <a:off x="0" y="3429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12"/>
          <a:srcRect t="-45" b="-45"/>
          <a:stretch>
            <a:fillRect/>
          </a:stretch>
        </p:blipFill>
        <p:spPr>
          <a:xfrm>
            <a:off x="381305" y="57607"/>
            <a:ext cx="256946" cy="22860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752551" y="0"/>
            <a:ext cx="29343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PEG适用与不适用行业清单</a:t>
            </a:r>
            <a:endParaRPr lang="en-US" sz="1800" dirty="0"/>
          </a:p>
        </p:txBody>
      </p:sp>
      <p:sp>
        <p:nvSpPr>
          <p:cNvPr id="69" name="Text 55"/>
          <p:cNvSpPr txBox="1"/>
          <p:nvPr/>
        </p:nvSpPr>
        <p:spPr>
          <a:xfrm>
            <a:off x="10079431" y="57607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1305" y="1047902"/>
            <a:ext cx="11430000" cy="1047902"/>
          </a:xfrm>
          <a:prstGeom prst="roundRect">
            <a:avLst>
              <a:gd name="adj" fmla="val 190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90449" y="1057046"/>
            <a:ext cx="571500" cy="10287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7" name="Shape 4"/>
          <p:cNvSpPr/>
          <p:nvPr/>
        </p:nvSpPr>
        <p:spPr>
          <a:xfrm>
            <a:off x="952805" y="1057046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2102" y="1057046"/>
            <a:ext cx="619963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1949" y="1057046"/>
            <a:ext cx="4981651" cy="1028700"/>
          </a:xfrm>
          <a:prstGeom prst="rect">
            <a:avLst/>
          </a:prstGeom>
          <a:solidFill>
            <a:srgbClr val="EF4444">
              <a:alpha val="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5934456" y="1057046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05349" y="1152144"/>
            <a:ext cx="4764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Don't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90549" y="1380744"/>
            <a:ext cx="381305" cy="381305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133" r="-133"/>
          <a:stretch>
            <a:fillRect/>
          </a:stretch>
        </p:blipFill>
        <p:spPr>
          <a:xfrm>
            <a:off x="1295705" y="1457554"/>
            <a:ext cx="171907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23644" y="1338682"/>
            <a:ext cx="233812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用历史EPS算PEG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723644" y="1604772"/>
            <a:ext cx="242773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使用去年静态EPS，导致估值严重滞后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36285" y="1057046"/>
            <a:ext cx="5867705" cy="1028700"/>
          </a:xfrm>
          <a:prstGeom prst="roundRect">
            <a:avLst>
              <a:gd name="adj" fmla="val 19753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64885" y="1152144"/>
            <a:ext cx="2670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64885" y="1380744"/>
            <a:ext cx="381305" cy="381305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6254496" y="1457554"/>
            <a:ext cx="200254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97980" y="1338682"/>
            <a:ext cx="314370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使用未来一年滚动EPS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697980" y="1604772"/>
            <a:ext cx="314370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按当前月份加权折算未来12个月预测值，匹配预期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81305" y="2247595"/>
            <a:ext cx="11430000" cy="1047902"/>
          </a:xfrm>
          <a:prstGeom prst="roundRect">
            <a:avLst>
              <a:gd name="adj" fmla="val 190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90449" y="2257654"/>
            <a:ext cx="571500" cy="10287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4" name="Shape 19"/>
          <p:cNvSpPr/>
          <p:nvPr/>
        </p:nvSpPr>
        <p:spPr>
          <a:xfrm>
            <a:off x="952805" y="2257654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62102" y="2257654"/>
            <a:ext cx="619963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961949" y="2257654"/>
            <a:ext cx="4981651" cy="1028700"/>
          </a:xfrm>
          <a:prstGeom prst="rect">
            <a:avLst/>
          </a:prstGeom>
          <a:solidFill>
            <a:srgbClr val="EF4444">
              <a:alpha val="5000"/>
            </a:srgbClr>
          </a:solidFill>
        </p:spPr>
      </p:sp>
      <p:sp>
        <p:nvSpPr>
          <p:cNvPr id="27" name="Shape 22"/>
          <p:cNvSpPr/>
          <p:nvPr/>
        </p:nvSpPr>
        <p:spPr>
          <a:xfrm>
            <a:off x="5934456" y="2257654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5349" y="2352751"/>
            <a:ext cx="4764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Don't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1190549" y="2581351"/>
            <a:ext cx="381305" cy="381305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2"/>
          <a:srcRect l="-133" r="-133"/>
          <a:stretch>
            <a:fillRect/>
          </a:stretch>
        </p:blipFill>
        <p:spPr>
          <a:xfrm>
            <a:off x="1295705" y="2657246"/>
            <a:ext cx="171907" cy="22860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723644" y="2538374"/>
            <a:ext cx="235823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G用百分数 (0.X)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1723644" y="2805379"/>
            <a:ext cx="235823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增速40%写成0.4，导致PEG放大100倍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936285" y="2257654"/>
            <a:ext cx="5867705" cy="1028700"/>
          </a:xfrm>
          <a:prstGeom prst="roundRect">
            <a:avLst>
              <a:gd name="adj" fmla="val 19753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164885" y="2352751"/>
            <a:ext cx="2670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164885" y="2581351"/>
            <a:ext cx="381305" cy="381305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6254496" y="2657246"/>
            <a:ext cx="200254" cy="22860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6697980" y="2538374"/>
            <a:ext cx="22329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G乘100去掉百分号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6697980" y="2805379"/>
            <a:ext cx="223296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增速40%应写为 </a:t>
            </a:r>
            <a:r>
              <a:rPr lang="en-US" sz="1000" b="1" dirty="0">
                <a:solidFill>
                  <a:srgbClr val="EAB30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</a:t>
            </a: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，确保量纲一致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381305" y="3448202"/>
            <a:ext cx="11430000" cy="1047902"/>
          </a:xfrm>
          <a:prstGeom prst="roundRect">
            <a:avLst>
              <a:gd name="adj" fmla="val 190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90449" y="3457346"/>
            <a:ext cx="571500" cy="10287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1" name="Shape 34"/>
          <p:cNvSpPr/>
          <p:nvPr/>
        </p:nvSpPr>
        <p:spPr>
          <a:xfrm>
            <a:off x="952805" y="3457346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362102" y="3457346"/>
            <a:ext cx="619963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Shape 36"/>
          <p:cNvSpPr/>
          <p:nvPr/>
        </p:nvSpPr>
        <p:spPr>
          <a:xfrm>
            <a:off x="961949" y="3457346"/>
            <a:ext cx="4981651" cy="1028700"/>
          </a:xfrm>
          <a:prstGeom prst="rect">
            <a:avLst/>
          </a:prstGeom>
          <a:solidFill>
            <a:srgbClr val="EF4444">
              <a:alpha val="5000"/>
            </a:srgbClr>
          </a:solidFill>
        </p:spPr>
      </p:sp>
      <p:sp>
        <p:nvSpPr>
          <p:cNvPr id="44" name="Shape 37"/>
          <p:cNvSpPr/>
          <p:nvPr/>
        </p:nvSpPr>
        <p:spPr>
          <a:xfrm>
            <a:off x="5934456" y="3457346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305349" y="3552444"/>
            <a:ext cx="4764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Don't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1190549" y="3781044"/>
            <a:ext cx="381305" cy="381305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2"/>
          <a:srcRect l="-133" r="-133"/>
          <a:stretch>
            <a:fillRect/>
          </a:stretch>
        </p:blipFill>
        <p:spPr>
          <a:xfrm>
            <a:off x="1295705" y="3857854"/>
            <a:ext cx="171907" cy="22860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723644" y="3738982"/>
            <a:ext cx="24487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只用单家券商预测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1723644" y="4005072"/>
            <a:ext cx="24487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单一机构可能存在极大偏差，误导判断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5936285" y="3457346"/>
            <a:ext cx="5867705" cy="1028700"/>
          </a:xfrm>
          <a:prstGeom prst="roundRect">
            <a:avLst>
              <a:gd name="adj" fmla="val 19753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6164885" y="3552444"/>
            <a:ext cx="2670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</a:t>
            </a:r>
            <a:endParaRPr lang="en-US" sz="900" dirty="0"/>
          </a:p>
        </p:txBody>
      </p:sp>
      <p:sp>
        <p:nvSpPr>
          <p:cNvPr id="52" name="Shape 44"/>
          <p:cNvSpPr/>
          <p:nvPr/>
        </p:nvSpPr>
        <p:spPr>
          <a:xfrm>
            <a:off x="6164885" y="3781044"/>
            <a:ext cx="381305" cy="381305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6254496" y="3857854"/>
            <a:ext cx="200254" cy="228600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697980" y="3738982"/>
            <a:ext cx="31153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取5家以上一致预期</a:t>
            </a:r>
            <a:endParaRPr lang="en-US" sz="1200" dirty="0"/>
          </a:p>
        </p:txBody>
      </p:sp>
      <p:sp>
        <p:nvSpPr>
          <p:cNvPr id="55" name="Text 46"/>
          <p:cNvSpPr txBox="1"/>
          <p:nvPr/>
        </p:nvSpPr>
        <p:spPr>
          <a:xfrm>
            <a:off x="6697980" y="4005072"/>
            <a:ext cx="311536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参考Wind/Choice的一致预期均值，消除个体偏差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381305" y="4647895"/>
            <a:ext cx="11430000" cy="1047902"/>
          </a:xfrm>
          <a:prstGeom prst="roundRect">
            <a:avLst>
              <a:gd name="adj" fmla="val 1903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390449" y="4657954"/>
            <a:ext cx="571500" cy="102870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58" name="Shape 49"/>
          <p:cNvSpPr/>
          <p:nvPr/>
        </p:nvSpPr>
        <p:spPr>
          <a:xfrm>
            <a:off x="952805" y="4657954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362102" y="4657954"/>
            <a:ext cx="619963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800" dirty="0"/>
          </a:p>
        </p:txBody>
      </p:sp>
      <p:sp>
        <p:nvSpPr>
          <p:cNvPr id="60" name="Shape 51"/>
          <p:cNvSpPr/>
          <p:nvPr/>
        </p:nvSpPr>
        <p:spPr>
          <a:xfrm>
            <a:off x="961949" y="4657954"/>
            <a:ext cx="4981651" cy="1028700"/>
          </a:xfrm>
          <a:prstGeom prst="rect">
            <a:avLst/>
          </a:prstGeom>
          <a:solidFill>
            <a:srgbClr val="EF4444">
              <a:alpha val="5000"/>
            </a:srgbClr>
          </a:solidFill>
        </p:spPr>
      </p:sp>
      <p:sp>
        <p:nvSpPr>
          <p:cNvPr id="61" name="Shape 52"/>
          <p:cNvSpPr/>
          <p:nvPr/>
        </p:nvSpPr>
        <p:spPr>
          <a:xfrm>
            <a:off x="5934456" y="4657954"/>
            <a:ext cx="9144" cy="10287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62" name="Text 53"/>
          <p:cNvSpPr txBox="1"/>
          <p:nvPr/>
        </p:nvSpPr>
        <p:spPr>
          <a:xfrm>
            <a:off x="5305349" y="4753051"/>
            <a:ext cx="476402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Don't</a:t>
            </a:r>
            <a:endParaRPr lang="en-US" sz="900" dirty="0"/>
          </a:p>
        </p:txBody>
      </p:sp>
      <p:sp>
        <p:nvSpPr>
          <p:cNvPr id="63" name="Shape 54"/>
          <p:cNvSpPr/>
          <p:nvPr/>
        </p:nvSpPr>
        <p:spPr>
          <a:xfrm>
            <a:off x="1190549" y="4981651"/>
            <a:ext cx="381305" cy="381305"/>
          </a:xfrm>
          <a:prstGeom prst="ellipse">
            <a:avLst/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2"/>
          <a:srcRect l="-133" r="-133"/>
          <a:stretch>
            <a:fillRect/>
          </a:stretch>
        </p:blipFill>
        <p:spPr>
          <a:xfrm>
            <a:off x="1295705" y="5057546"/>
            <a:ext cx="171907" cy="228600"/>
          </a:xfrm>
          <a:prstGeom prst="rect">
            <a:avLst/>
          </a:prstGeom>
        </p:spPr>
      </p:pic>
      <p:sp>
        <p:nvSpPr>
          <p:cNvPr id="65" name="Text 55"/>
          <p:cNvSpPr txBox="1"/>
          <p:nvPr/>
        </p:nvSpPr>
        <p:spPr>
          <a:xfrm>
            <a:off x="1723644" y="4938674"/>
            <a:ext cx="23042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忽视量能用固定门槛</a:t>
            </a:r>
            <a:endParaRPr lang="en-US" sz="1200" dirty="0"/>
          </a:p>
        </p:txBody>
      </p:sp>
      <p:sp>
        <p:nvSpPr>
          <p:cNvPr id="66" name="Text 56"/>
          <p:cNvSpPr txBox="1"/>
          <p:nvPr/>
        </p:nvSpPr>
        <p:spPr>
          <a:xfrm>
            <a:off x="1723644" y="5205679"/>
            <a:ext cx="230428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不管市场冷热，死守同一套买卖标准</a:t>
            </a:r>
            <a:endParaRPr lang="en-US" sz="1000" dirty="0"/>
          </a:p>
        </p:txBody>
      </p:sp>
      <p:sp>
        <p:nvSpPr>
          <p:cNvPr id="67" name="Shape 57"/>
          <p:cNvSpPr/>
          <p:nvPr/>
        </p:nvSpPr>
        <p:spPr>
          <a:xfrm>
            <a:off x="5936285" y="4657954"/>
            <a:ext cx="5867705" cy="1028700"/>
          </a:xfrm>
          <a:prstGeom prst="roundRect">
            <a:avLst>
              <a:gd name="adj" fmla="val 19753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6164885" y="4753051"/>
            <a:ext cx="2670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Do</a:t>
            </a:r>
            <a:endParaRPr lang="en-US" sz="900" dirty="0"/>
          </a:p>
        </p:txBody>
      </p:sp>
      <p:sp>
        <p:nvSpPr>
          <p:cNvPr id="69" name="Shape 59"/>
          <p:cNvSpPr/>
          <p:nvPr/>
        </p:nvSpPr>
        <p:spPr>
          <a:xfrm>
            <a:off x="6164885" y="4981651"/>
            <a:ext cx="381305" cy="381305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8" descr="preencoded.png"/>
          <p:cNvPicPr>
            <a:picLocks noChangeAspect="1"/>
          </p:cNvPicPr>
          <p:nvPr/>
        </p:nvPicPr>
        <p:blipFill>
          <a:blip r:embed="rId3"/>
          <a:srcRect l="-57" r="-57"/>
          <a:stretch>
            <a:fillRect/>
          </a:stretch>
        </p:blipFill>
        <p:spPr>
          <a:xfrm>
            <a:off x="6254496" y="5057546"/>
            <a:ext cx="200254" cy="228600"/>
          </a:xfrm>
          <a:prstGeom prst="rect">
            <a:avLst/>
          </a:prstGeom>
        </p:spPr>
      </p:pic>
      <p:sp>
        <p:nvSpPr>
          <p:cNvPr id="71" name="Text 60"/>
          <p:cNvSpPr txBox="1"/>
          <p:nvPr/>
        </p:nvSpPr>
        <p:spPr>
          <a:xfrm>
            <a:off x="6697980" y="4938674"/>
            <a:ext cx="32772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EE7B7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先判量能，再调买卖线</a:t>
            </a:r>
            <a:endParaRPr lang="en-US" sz="1200" dirty="0"/>
          </a:p>
        </p:txBody>
      </p:sp>
      <p:sp>
        <p:nvSpPr>
          <p:cNvPr id="72" name="Text 61"/>
          <p:cNvSpPr txBox="1"/>
          <p:nvPr/>
        </p:nvSpPr>
        <p:spPr>
          <a:xfrm>
            <a:off x="6697980" y="5205679"/>
            <a:ext cx="337505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缩量时标准收严(0.7买入)，放量时适度放宽(1.0买入)</a:t>
            </a:r>
            <a:endParaRPr lang="en-US" sz="1000" dirty="0"/>
          </a:p>
        </p:txBody>
      </p:sp>
      <p:sp>
        <p:nvSpPr>
          <p:cNvPr id="73" name="Shape 62"/>
          <p:cNvSpPr/>
          <p:nvPr/>
        </p:nvSpPr>
        <p:spPr>
          <a:xfrm>
            <a:off x="5821985" y="1457554"/>
            <a:ext cx="228600" cy="228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4" name="Image 9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5883250" y="1514246"/>
            <a:ext cx="105156" cy="114300"/>
          </a:xfrm>
          <a:prstGeom prst="rect">
            <a:avLst/>
          </a:prstGeom>
        </p:spPr>
      </p:pic>
      <p:sp>
        <p:nvSpPr>
          <p:cNvPr id="75" name="Shape 63"/>
          <p:cNvSpPr/>
          <p:nvPr/>
        </p:nvSpPr>
        <p:spPr>
          <a:xfrm>
            <a:off x="5821985" y="2657246"/>
            <a:ext cx="228600" cy="228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5883250" y="2714854"/>
            <a:ext cx="105156" cy="114300"/>
          </a:xfrm>
          <a:prstGeom prst="rect">
            <a:avLst/>
          </a:prstGeom>
        </p:spPr>
      </p:pic>
      <p:sp>
        <p:nvSpPr>
          <p:cNvPr id="77" name="Shape 64"/>
          <p:cNvSpPr/>
          <p:nvPr/>
        </p:nvSpPr>
        <p:spPr>
          <a:xfrm>
            <a:off x="5821985" y="3857854"/>
            <a:ext cx="228600" cy="228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78" name="Image 11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5883250" y="3914546"/>
            <a:ext cx="105156" cy="114300"/>
          </a:xfrm>
          <a:prstGeom prst="rect">
            <a:avLst/>
          </a:prstGeom>
        </p:spPr>
      </p:pic>
      <p:sp>
        <p:nvSpPr>
          <p:cNvPr id="79" name="Shape 65"/>
          <p:cNvSpPr/>
          <p:nvPr/>
        </p:nvSpPr>
        <p:spPr>
          <a:xfrm>
            <a:off x="5821985" y="5057546"/>
            <a:ext cx="228600" cy="2286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80" name="Image 12" descr="preencoded.png"/>
          <p:cNvPicPr>
            <a:picLocks noChangeAspect="1"/>
          </p:cNvPicPr>
          <p:nvPr/>
        </p:nvPicPr>
        <p:blipFill>
          <a:blip r:embed="rId4"/>
          <a:srcRect l="-2571" r="-2571"/>
          <a:stretch>
            <a:fillRect/>
          </a:stretch>
        </p:blipFill>
        <p:spPr>
          <a:xfrm>
            <a:off x="5883250" y="5115154"/>
            <a:ext cx="105156" cy="114300"/>
          </a:xfrm>
          <a:prstGeom prst="rect">
            <a:avLst/>
          </a:prstGeom>
        </p:spPr>
      </p:pic>
      <p:sp>
        <p:nvSpPr>
          <p:cNvPr id="81" name="Shape 66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2" name="Shape 67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83" name="Image 13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724205" y="204826"/>
            <a:ext cx="222199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四大常见误区与纠正</a:t>
            </a:r>
            <a:endParaRPr lang="en-US" sz="1800" dirty="0"/>
          </a:p>
        </p:txBody>
      </p:sp>
      <p:sp>
        <p:nvSpPr>
          <p:cNvPr id="85" name="Text 69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alphaModFix amt="10000"/>
          </a:blip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5" y="990295"/>
            <a:ext cx="2171700" cy="5009998"/>
          </a:xfrm>
          <a:prstGeom prst="roundRect">
            <a:avLst>
              <a:gd name="adj" fmla="val 44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1305" y="990295"/>
            <a:ext cx="2171700" cy="38405"/>
          </a:xfrm>
          <a:prstGeom prst="roundRect">
            <a:avLst>
              <a:gd name="adj" fmla="val 2506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0449" y="1028700"/>
            <a:ext cx="2152498" cy="952805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390449" y="1972361"/>
            <a:ext cx="21524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25296" y="1181405"/>
            <a:ext cx="476402" cy="381305"/>
          </a:xfrm>
          <a:prstGeom prst="roundRect">
            <a:avLst>
              <a:gd name="adj" fmla="val 23980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rcRect l="-881" r="-881"/>
          <a:stretch>
            <a:fillRect/>
          </a:stretch>
        </p:blipFill>
        <p:spPr>
          <a:xfrm>
            <a:off x="1344168" y="1237183"/>
            <a:ext cx="237744" cy="2670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20140" y="1636776"/>
            <a:ext cx="6958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老牌龙头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3154" y="2133295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市值区间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43154" y="2328977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43154" y="2328977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超 1000 亿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43154" y="2749601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估值方法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543154" y="2945282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3154" y="2945282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+ DCF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543154" y="3365906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操作策略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43154" y="3561588"/>
            <a:ext cx="1848002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43154" y="3561588"/>
            <a:ext cx="1922069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适合中长期持有，追求确定性收益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90449" y="5447995"/>
            <a:ext cx="2152498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30000"/>
            </a:srgbClr>
          </a:solidFill>
        </p:spPr>
      </p:sp>
      <p:sp>
        <p:nvSpPr>
          <p:cNvPr id="23" name="Shape 19"/>
          <p:cNvSpPr/>
          <p:nvPr/>
        </p:nvSpPr>
        <p:spPr>
          <a:xfrm>
            <a:off x="390449" y="5447995"/>
            <a:ext cx="2152498" cy="9144"/>
          </a:xfrm>
          <a:prstGeom prst="roundRect">
            <a:avLst>
              <a:gd name="adj" fmla="val 4210526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3154" y="5572354"/>
            <a:ext cx="1848002" cy="304495"/>
          </a:xfrm>
          <a:prstGeom prst="roundRect">
            <a:avLst>
              <a:gd name="adj" fmla="val 75075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05663" y="5572354"/>
            <a:ext cx="192206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核心仓配置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697480" y="990295"/>
            <a:ext cx="2171700" cy="5009998"/>
          </a:xfrm>
          <a:prstGeom prst="roundRect">
            <a:avLst>
              <a:gd name="adj" fmla="val 44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697480" y="990295"/>
            <a:ext cx="2171700" cy="38405"/>
          </a:xfrm>
          <a:prstGeom prst="roundRect">
            <a:avLst>
              <a:gd name="adj" fmla="val 250625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2706624" y="1028700"/>
            <a:ext cx="2152498" cy="952805"/>
          </a:xfrm>
          <a:prstGeom prst="rect">
            <a:avLst/>
          </a:prstGeom>
          <a:solidFill>
            <a:srgbClr val="2DD4BF">
              <a:alpha val="10000"/>
            </a:srgbClr>
          </a:solidFill>
        </p:spPr>
      </p:sp>
      <p:sp>
        <p:nvSpPr>
          <p:cNvPr id="29" name="Shape 25"/>
          <p:cNvSpPr/>
          <p:nvPr/>
        </p:nvSpPr>
        <p:spPr>
          <a:xfrm>
            <a:off x="2706624" y="1972361"/>
            <a:ext cx="21524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541471" y="1181405"/>
            <a:ext cx="476402" cy="381305"/>
          </a:xfrm>
          <a:prstGeom prst="roundRect">
            <a:avLst>
              <a:gd name="adj" fmla="val 239808"/>
            </a:avLst>
          </a:prstGeom>
          <a:solidFill>
            <a:srgbClr val="2DD4B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45713" y="1237183"/>
            <a:ext cx="267005" cy="267005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3360420" y="1636776"/>
            <a:ext cx="8485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挑战型成长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2859329" y="2133295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市值区间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2859329" y="2328977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2859329" y="2328977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200 ~ 1000 亿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2859329" y="2749601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估值方法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2859329" y="2945282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2859329" y="2945282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DD4B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&lt; 2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2859329" y="3365906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操作策略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2859329" y="3561588"/>
            <a:ext cx="1848002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2859329" y="3561588"/>
            <a:ext cx="1922069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右侧交易，月K或周K趋势确认后介入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2706624" y="5447995"/>
            <a:ext cx="2152498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30000"/>
            </a:srgbClr>
          </a:solidFill>
        </p:spPr>
      </p:sp>
      <p:sp>
        <p:nvSpPr>
          <p:cNvPr id="43" name="Shape 38"/>
          <p:cNvSpPr/>
          <p:nvPr/>
        </p:nvSpPr>
        <p:spPr>
          <a:xfrm>
            <a:off x="2706624" y="5447995"/>
            <a:ext cx="2152498" cy="9144"/>
          </a:xfrm>
          <a:prstGeom prst="roundRect">
            <a:avLst>
              <a:gd name="adj" fmla="val 4210526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2859329" y="5572354"/>
            <a:ext cx="1848002" cy="304495"/>
          </a:xfrm>
          <a:prstGeom prst="roundRect">
            <a:avLst>
              <a:gd name="adj" fmla="val 75075"/>
            </a:avLst>
          </a:prstGeom>
          <a:solidFill>
            <a:srgbClr val="2DD4BF">
              <a:alpha val="15000"/>
            </a:srgbClr>
          </a:solidFill>
          <a:ln w="12700">
            <a:solidFill>
              <a:srgbClr val="2DD4BF">
                <a:alpha val="3000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2822753" y="5572354"/>
            <a:ext cx="192206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积极配置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5013655" y="990295"/>
            <a:ext cx="2171700" cy="5009998"/>
          </a:xfrm>
          <a:prstGeom prst="roundRect">
            <a:avLst>
              <a:gd name="adj" fmla="val 44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5013655" y="990295"/>
            <a:ext cx="2171700" cy="38405"/>
          </a:xfrm>
          <a:prstGeom prst="roundRect">
            <a:avLst>
              <a:gd name="adj" fmla="val 250625"/>
            </a:avLst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5023714" y="1028700"/>
            <a:ext cx="2152498" cy="952805"/>
          </a:xfrm>
          <a:prstGeom prst="rect">
            <a:avLst/>
          </a:prstGeom>
          <a:solidFill>
            <a:srgbClr val="FACC15">
              <a:alpha val="10000"/>
            </a:srgbClr>
          </a:solidFill>
        </p:spPr>
      </p:sp>
      <p:sp>
        <p:nvSpPr>
          <p:cNvPr id="49" name="Shape 44"/>
          <p:cNvSpPr/>
          <p:nvPr/>
        </p:nvSpPr>
        <p:spPr>
          <a:xfrm>
            <a:off x="5023714" y="1972361"/>
            <a:ext cx="21524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5857646" y="1181405"/>
            <a:ext cx="476402" cy="381305"/>
          </a:xfrm>
          <a:prstGeom prst="roundRect">
            <a:avLst>
              <a:gd name="adj" fmla="val 239808"/>
            </a:avLst>
          </a:prstGeom>
          <a:solidFill>
            <a:srgbClr val="FACC15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/>
          <a:srcRect l="-881" r="-881"/>
          <a:stretch>
            <a:fillRect/>
          </a:stretch>
        </p:blipFill>
        <p:spPr>
          <a:xfrm>
            <a:off x="5976518" y="1237183"/>
            <a:ext cx="237744" cy="267005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5676595" y="1636776"/>
            <a:ext cx="8485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小市值高速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5175504" y="2133295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市值区间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5175504" y="2328977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5175504" y="2328977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200 亿以下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5175504" y="2749601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估值方法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5175504" y="2945282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5175504" y="2945282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辅助参考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5175504" y="3365906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操作策略</a:t>
            </a:r>
            <a:endParaRPr lang="en-US" sz="800" dirty="0"/>
          </a:p>
        </p:txBody>
      </p:sp>
      <p:sp>
        <p:nvSpPr>
          <p:cNvPr id="60" name="Shape 54"/>
          <p:cNvSpPr/>
          <p:nvPr/>
        </p:nvSpPr>
        <p:spPr>
          <a:xfrm>
            <a:off x="5175504" y="3561588"/>
            <a:ext cx="1848002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5"/>
          <p:cNvSpPr txBox="1"/>
          <p:nvPr/>
        </p:nvSpPr>
        <p:spPr>
          <a:xfrm>
            <a:off x="5175504" y="3561588"/>
            <a:ext cx="1922069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波段操作为主，增速滑落即刻止损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5023714" y="5447995"/>
            <a:ext cx="2152498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30000"/>
            </a:srgbClr>
          </a:solidFill>
        </p:spPr>
      </p:sp>
      <p:sp>
        <p:nvSpPr>
          <p:cNvPr id="63" name="Shape 57"/>
          <p:cNvSpPr/>
          <p:nvPr/>
        </p:nvSpPr>
        <p:spPr>
          <a:xfrm>
            <a:off x="5023714" y="5447995"/>
            <a:ext cx="2152498" cy="9144"/>
          </a:xfrm>
          <a:prstGeom prst="roundRect">
            <a:avLst>
              <a:gd name="adj" fmla="val 4210526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5175504" y="5572354"/>
            <a:ext cx="1848002" cy="304495"/>
          </a:xfrm>
          <a:prstGeom prst="roundRect">
            <a:avLst>
              <a:gd name="adj" fmla="val 75075"/>
            </a:avLst>
          </a:prstGeom>
          <a:solidFill>
            <a:srgbClr val="FACC15">
              <a:alpha val="15000"/>
            </a:srgbClr>
          </a:solidFill>
          <a:ln w="12700">
            <a:solidFill>
              <a:srgbClr val="FACC15">
                <a:alpha val="30000"/>
              </a:srgbClr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5138928" y="5572354"/>
            <a:ext cx="192206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适度参与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7330745" y="990295"/>
            <a:ext cx="2171700" cy="5009998"/>
          </a:xfrm>
          <a:prstGeom prst="roundRect">
            <a:avLst>
              <a:gd name="adj" fmla="val 44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7330745" y="990295"/>
            <a:ext cx="2171700" cy="38405"/>
          </a:xfrm>
          <a:prstGeom prst="roundRect">
            <a:avLst>
              <a:gd name="adj" fmla="val 25062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8" name="Shape 62"/>
          <p:cNvSpPr/>
          <p:nvPr/>
        </p:nvSpPr>
        <p:spPr>
          <a:xfrm>
            <a:off x="7339889" y="1028700"/>
            <a:ext cx="2152498" cy="952805"/>
          </a:xfrm>
          <a:prstGeom prst="rect">
            <a:avLst/>
          </a:prstGeom>
          <a:solidFill>
            <a:srgbClr val="A78BFA">
              <a:alpha val="10000"/>
            </a:srgbClr>
          </a:solidFill>
        </p:spPr>
      </p:sp>
      <p:sp>
        <p:nvSpPr>
          <p:cNvPr id="69" name="Shape 63"/>
          <p:cNvSpPr/>
          <p:nvPr/>
        </p:nvSpPr>
        <p:spPr>
          <a:xfrm>
            <a:off x="7339889" y="1972361"/>
            <a:ext cx="21524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8173822" y="1181405"/>
            <a:ext cx="476402" cy="381305"/>
          </a:xfrm>
          <a:prstGeom prst="roundRect">
            <a:avLst>
              <a:gd name="adj" fmla="val 239808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278978" y="1237183"/>
            <a:ext cx="267005" cy="267005"/>
          </a:xfrm>
          <a:prstGeom prst="rect">
            <a:avLst/>
          </a:prstGeom>
        </p:spPr>
      </p:pic>
      <p:sp>
        <p:nvSpPr>
          <p:cNvPr id="72" name="Text 65"/>
          <p:cNvSpPr txBox="1"/>
          <p:nvPr/>
        </p:nvSpPr>
        <p:spPr>
          <a:xfrm>
            <a:off x="7993685" y="1636776"/>
            <a:ext cx="848563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未盈利爆发</a:t>
            </a:r>
            <a:endParaRPr lang="en-US" sz="1200" dirty="0"/>
          </a:p>
        </p:txBody>
      </p:sp>
      <p:sp>
        <p:nvSpPr>
          <p:cNvPr id="73" name="Text 66"/>
          <p:cNvSpPr txBox="1"/>
          <p:nvPr/>
        </p:nvSpPr>
        <p:spPr>
          <a:xfrm>
            <a:off x="7492594" y="2133295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市值区间</a:t>
            </a:r>
            <a:endParaRPr lang="en-US" sz="800" dirty="0"/>
          </a:p>
        </p:txBody>
      </p:sp>
      <p:sp>
        <p:nvSpPr>
          <p:cNvPr id="74" name="Shape 67"/>
          <p:cNvSpPr/>
          <p:nvPr/>
        </p:nvSpPr>
        <p:spPr>
          <a:xfrm>
            <a:off x="7492594" y="2328977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7492594" y="2328977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不限</a:t>
            </a:r>
            <a:endParaRPr lang="en-US" sz="900" dirty="0"/>
          </a:p>
        </p:txBody>
      </p:sp>
      <p:sp>
        <p:nvSpPr>
          <p:cNvPr id="76" name="Text 69"/>
          <p:cNvSpPr txBox="1"/>
          <p:nvPr/>
        </p:nvSpPr>
        <p:spPr>
          <a:xfrm>
            <a:off x="7492594" y="2749601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估值方法</a:t>
            </a:r>
            <a:endParaRPr lang="en-US" sz="800" dirty="0"/>
          </a:p>
        </p:txBody>
      </p:sp>
      <p:sp>
        <p:nvSpPr>
          <p:cNvPr id="77" name="Shape 70"/>
          <p:cNvSpPr/>
          <p:nvPr/>
        </p:nvSpPr>
        <p:spPr>
          <a:xfrm>
            <a:off x="7492594" y="2945282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7492594" y="2945282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烧钱率 / 营收增速</a:t>
            </a:r>
            <a:endParaRPr lang="en-US" sz="900" dirty="0"/>
          </a:p>
        </p:txBody>
      </p:sp>
      <p:sp>
        <p:nvSpPr>
          <p:cNvPr id="79" name="Text 72"/>
          <p:cNvSpPr txBox="1"/>
          <p:nvPr/>
        </p:nvSpPr>
        <p:spPr>
          <a:xfrm>
            <a:off x="7492594" y="3365906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操作策略</a:t>
            </a:r>
            <a:endParaRPr lang="en-US" sz="800" dirty="0"/>
          </a:p>
        </p:txBody>
      </p:sp>
      <p:sp>
        <p:nvSpPr>
          <p:cNvPr id="80" name="Shape 73"/>
          <p:cNvSpPr/>
          <p:nvPr/>
        </p:nvSpPr>
        <p:spPr>
          <a:xfrm>
            <a:off x="7492594" y="3561588"/>
            <a:ext cx="1848002" cy="485546"/>
          </a:xfrm>
          <a:prstGeom prst="roundRect">
            <a:avLst>
              <a:gd name="adj" fmla="val 29541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1" name="Text 74"/>
          <p:cNvSpPr txBox="1"/>
          <p:nvPr/>
        </p:nvSpPr>
        <p:spPr>
          <a:xfrm>
            <a:off x="7492594" y="3561588"/>
            <a:ext cx="1922069" cy="4864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看行业地位与大厂验证，长期跟踪</a:t>
            </a:r>
            <a:endParaRPr lang="en-US" sz="900" dirty="0"/>
          </a:p>
        </p:txBody>
      </p:sp>
      <p:sp>
        <p:nvSpPr>
          <p:cNvPr id="82" name="Shape 75"/>
          <p:cNvSpPr/>
          <p:nvPr/>
        </p:nvSpPr>
        <p:spPr>
          <a:xfrm>
            <a:off x="7339889" y="5447995"/>
            <a:ext cx="2152498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30000"/>
            </a:srgbClr>
          </a:solidFill>
        </p:spPr>
      </p:sp>
      <p:sp>
        <p:nvSpPr>
          <p:cNvPr id="83" name="Shape 76"/>
          <p:cNvSpPr/>
          <p:nvPr/>
        </p:nvSpPr>
        <p:spPr>
          <a:xfrm>
            <a:off x="7339889" y="5447995"/>
            <a:ext cx="2152498" cy="9144"/>
          </a:xfrm>
          <a:prstGeom prst="roundRect">
            <a:avLst>
              <a:gd name="adj" fmla="val 4210526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4" name="Shape 77"/>
          <p:cNvSpPr/>
          <p:nvPr/>
        </p:nvSpPr>
        <p:spPr>
          <a:xfrm>
            <a:off x="7492594" y="5572354"/>
            <a:ext cx="1848002" cy="304495"/>
          </a:xfrm>
          <a:prstGeom prst="roundRect">
            <a:avLst>
              <a:gd name="adj" fmla="val 75075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7455103" y="5572354"/>
            <a:ext cx="192206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博弈仓 ≤ 10%</a:t>
            </a:r>
            <a:endParaRPr lang="en-US" sz="900" dirty="0"/>
          </a:p>
        </p:txBody>
      </p:sp>
      <p:sp>
        <p:nvSpPr>
          <p:cNvPr id="86" name="Shape 79"/>
          <p:cNvSpPr/>
          <p:nvPr/>
        </p:nvSpPr>
        <p:spPr>
          <a:xfrm>
            <a:off x="9646920" y="990295"/>
            <a:ext cx="2171700" cy="5009998"/>
          </a:xfrm>
          <a:prstGeom prst="roundRect">
            <a:avLst>
              <a:gd name="adj" fmla="val 44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7" name="Shape 80"/>
          <p:cNvSpPr/>
          <p:nvPr/>
        </p:nvSpPr>
        <p:spPr>
          <a:xfrm>
            <a:off x="9646920" y="990295"/>
            <a:ext cx="2171700" cy="38405"/>
          </a:xfrm>
          <a:prstGeom prst="roundRect">
            <a:avLst>
              <a:gd name="adj" fmla="val 25062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88" name="Shape 81"/>
          <p:cNvSpPr/>
          <p:nvPr/>
        </p:nvSpPr>
        <p:spPr>
          <a:xfrm>
            <a:off x="9656064" y="1028700"/>
            <a:ext cx="2152498" cy="952805"/>
          </a:xfrm>
          <a:prstGeom prst="rect">
            <a:avLst/>
          </a:prstGeom>
          <a:solidFill>
            <a:srgbClr val="F87171">
              <a:alpha val="10000"/>
            </a:srgbClr>
          </a:solidFill>
        </p:spPr>
      </p:sp>
      <p:sp>
        <p:nvSpPr>
          <p:cNvPr id="89" name="Shape 82"/>
          <p:cNvSpPr/>
          <p:nvPr/>
        </p:nvSpPr>
        <p:spPr>
          <a:xfrm>
            <a:off x="9656064" y="1972361"/>
            <a:ext cx="21524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3"/>
          <p:cNvSpPr/>
          <p:nvPr/>
        </p:nvSpPr>
        <p:spPr>
          <a:xfrm>
            <a:off x="10490911" y="1181405"/>
            <a:ext cx="476402" cy="381305"/>
          </a:xfrm>
          <a:prstGeom prst="roundRect">
            <a:avLst>
              <a:gd name="adj" fmla="val 239808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1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595153" y="1237183"/>
            <a:ext cx="267005" cy="267005"/>
          </a:xfrm>
          <a:prstGeom prst="rect">
            <a:avLst/>
          </a:prstGeom>
        </p:spPr>
      </p:pic>
      <p:sp>
        <p:nvSpPr>
          <p:cNvPr id="92" name="Text 84"/>
          <p:cNvSpPr txBox="1"/>
          <p:nvPr/>
        </p:nvSpPr>
        <p:spPr>
          <a:xfrm>
            <a:off x="10385755" y="1636776"/>
            <a:ext cx="6958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价值崩塌</a:t>
            </a:r>
            <a:endParaRPr lang="en-US" sz="1200" dirty="0"/>
          </a:p>
        </p:txBody>
      </p:sp>
      <p:sp>
        <p:nvSpPr>
          <p:cNvPr id="93" name="Text 85"/>
          <p:cNvSpPr txBox="1"/>
          <p:nvPr/>
        </p:nvSpPr>
        <p:spPr>
          <a:xfrm>
            <a:off x="9808769" y="2133295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市值区间</a:t>
            </a:r>
            <a:endParaRPr lang="en-US" sz="800" dirty="0"/>
          </a:p>
        </p:txBody>
      </p:sp>
      <p:sp>
        <p:nvSpPr>
          <p:cNvPr id="94" name="Shape 86"/>
          <p:cNvSpPr/>
          <p:nvPr/>
        </p:nvSpPr>
        <p:spPr>
          <a:xfrm>
            <a:off x="9808769" y="2328977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5" name="Text 87"/>
          <p:cNvSpPr txBox="1"/>
          <p:nvPr/>
        </p:nvSpPr>
        <p:spPr>
          <a:xfrm>
            <a:off x="9808769" y="2328977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不限</a:t>
            </a:r>
            <a:endParaRPr lang="en-US" sz="900" dirty="0"/>
          </a:p>
        </p:txBody>
      </p:sp>
      <p:sp>
        <p:nvSpPr>
          <p:cNvPr id="96" name="Text 88"/>
          <p:cNvSpPr txBox="1"/>
          <p:nvPr/>
        </p:nvSpPr>
        <p:spPr>
          <a:xfrm>
            <a:off x="9808769" y="2749601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特征表现</a:t>
            </a:r>
            <a:endParaRPr lang="en-US" sz="800" dirty="0"/>
          </a:p>
        </p:txBody>
      </p:sp>
      <p:sp>
        <p:nvSpPr>
          <p:cNvPr id="97" name="Shape 89"/>
          <p:cNvSpPr/>
          <p:nvPr/>
        </p:nvSpPr>
        <p:spPr>
          <a:xfrm>
            <a:off x="9808769" y="2945282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9808769" y="2945282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 为负或趋零</a:t>
            </a:r>
            <a:endParaRPr lang="en-US" sz="900" dirty="0"/>
          </a:p>
        </p:txBody>
      </p:sp>
      <p:sp>
        <p:nvSpPr>
          <p:cNvPr id="99" name="Text 91"/>
          <p:cNvSpPr txBox="1"/>
          <p:nvPr/>
        </p:nvSpPr>
        <p:spPr>
          <a:xfrm>
            <a:off x="9808769" y="3365906"/>
            <a:ext cx="1996135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操作策略</a:t>
            </a:r>
            <a:endParaRPr lang="en-US" sz="800" dirty="0"/>
          </a:p>
        </p:txBody>
      </p:sp>
      <p:sp>
        <p:nvSpPr>
          <p:cNvPr id="100" name="Shape 92"/>
          <p:cNvSpPr/>
          <p:nvPr/>
        </p:nvSpPr>
        <p:spPr>
          <a:xfrm>
            <a:off x="9808769" y="3561588"/>
            <a:ext cx="1848002" cy="314554"/>
          </a:xfrm>
          <a:prstGeom prst="roundRect">
            <a:avLst>
              <a:gd name="adj" fmla="val 7047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1" name="Text 93"/>
          <p:cNvSpPr txBox="1"/>
          <p:nvPr/>
        </p:nvSpPr>
        <p:spPr>
          <a:xfrm>
            <a:off x="9808769" y="3561588"/>
            <a:ext cx="1922069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63500" rIns="101600" bIns="635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低PEG也是假象，切勿抄底</a:t>
            </a:r>
            <a:endParaRPr lang="en-US" sz="900" dirty="0"/>
          </a:p>
        </p:txBody>
      </p:sp>
      <p:sp>
        <p:nvSpPr>
          <p:cNvPr id="102" name="Shape 94"/>
          <p:cNvSpPr/>
          <p:nvPr/>
        </p:nvSpPr>
        <p:spPr>
          <a:xfrm>
            <a:off x="9656064" y="5447995"/>
            <a:ext cx="2152498" cy="543154"/>
          </a:xfrm>
          <a:prstGeom prst="roundRect">
            <a:avLst>
              <a:gd name="adj" fmla="val 70884"/>
            </a:avLst>
          </a:prstGeom>
          <a:solidFill>
            <a:srgbClr val="0F172A">
              <a:alpha val="30000"/>
            </a:srgbClr>
          </a:solidFill>
        </p:spPr>
      </p:sp>
      <p:sp>
        <p:nvSpPr>
          <p:cNvPr id="103" name="Shape 95"/>
          <p:cNvSpPr/>
          <p:nvPr/>
        </p:nvSpPr>
        <p:spPr>
          <a:xfrm>
            <a:off x="9656064" y="5447995"/>
            <a:ext cx="2152498" cy="9144"/>
          </a:xfrm>
          <a:prstGeom prst="roundRect">
            <a:avLst>
              <a:gd name="adj" fmla="val 4210526"/>
            </a:avLst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04" name="Shape 96"/>
          <p:cNvSpPr/>
          <p:nvPr/>
        </p:nvSpPr>
        <p:spPr>
          <a:xfrm>
            <a:off x="9808769" y="5572354"/>
            <a:ext cx="1848002" cy="304495"/>
          </a:xfrm>
          <a:prstGeom prst="roundRect">
            <a:avLst>
              <a:gd name="adj" fmla="val 75075"/>
            </a:avLst>
          </a:prstGeom>
          <a:solidFill>
            <a:srgbClr val="F87171">
              <a:alpha val="15000"/>
            </a:srgbClr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105" name="Text 97"/>
          <p:cNvSpPr txBox="1"/>
          <p:nvPr/>
        </p:nvSpPr>
        <p:spPr>
          <a:xfrm>
            <a:off x="9772193" y="5572354"/>
            <a:ext cx="1922069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63500" rIns="63500" bIns="6350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坚决回避</a:t>
            </a:r>
            <a:endParaRPr lang="en-US" sz="900" dirty="0"/>
          </a:p>
        </p:txBody>
      </p:sp>
      <p:sp>
        <p:nvSpPr>
          <p:cNvPr id="106" name="Shape 98"/>
          <p:cNvSpPr/>
          <p:nvPr/>
        </p:nvSpPr>
        <p:spPr>
          <a:xfrm>
            <a:off x="381305" y="6191402"/>
            <a:ext cx="11430000" cy="437998"/>
          </a:xfrm>
          <a:prstGeom prst="roundRect">
            <a:avLst>
              <a:gd name="adj" fmla="val 726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7" name="Text 99"/>
          <p:cNvSpPr txBox="1"/>
          <p:nvPr/>
        </p:nvSpPr>
        <p:spPr>
          <a:xfrm>
            <a:off x="819302" y="6317590"/>
            <a:ext cx="581558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策略提示</a:t>
            </a:r>
            <a:endParaRPr lang="en-US" sz="900" dirty="0"/>
          </a:p>
        </p:txBody>
      </p:sp>
      <p:pic>
        <p:nvPicPr>
          <p:cNvPr id="10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19049" y="6352337"/>
            <a:ext cx="123444" cy="123444"/>
          </a:xfrm>
          <a:prstGeom prst="rect">
            <a:avLst/>
          </a:prstGeom>
        </p:spPr>
      </p:pic>
      <p:sp>
        <p:nvSpPr>
          <p:cNvPr id="109" name="Text 100"/>
          <p:cNvSpPr txBox="1"/>
          <p:nvPr/>
        </p:nvSpPr>
        <p:spPr>
          <a:xfrm>
            <a:off x="1657807" y="6314846"/>
            <a:ext cx="579181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不同类型的成长股对应不同的风险收益特征，切忌用同一套仓位管理和止损标准应对所有股票。</a:t>
            </a:r>
            <a:endParaRPr lang="en-US" sz="1000" dirty="0"/>
          </a:p>
        </p:txBody>
      </p:sp>
      <p:sp>
        <p:nvSpPr>
          <p:cNvPr id="110" name="Shape 101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11" name="Shape 102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112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113" name="Text 103"/>
          <p:cNvSpPr txBox="1"/>
          <p:nvPr/>
        </p:nvSpPr>
        <p:spPr>
          <a:xfrm>
            <a:off x="724205" y="204826"/>
            <a:ext cx="29343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成长股五类分型与应用策略</a:t>
            </a:r>
            <a:endParaRPr lang="en-US" sz="1800" dirty="0"/>
          </a:p>
        </p:txBody>
      </p:sp>
      <p:sp>
        <p:nvSpPr>
          <p:cNvPr id="114" name="Text 104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81305" y="1047902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0644" y="1648663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80644" y="1248156"/>
            <a:ext cx="304495" cy="30449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2298" y="124815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00354" y="1301191"/>
            <a:ext cx="116311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行业适用性判断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0644" y="1772107"/>
            <a:ext cx="3333902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确认该行业是否有稳定研发投入且增速可预测，排除不适用行业。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" y="2971800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580644" y="2971800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0644" y="2971800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周期股/银行/地产换用PB；公用事业用股息率。 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05002" y="3066898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4134002" y="2276856"/>
            <a:ext cx="123444" cy="19019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67505" y="1047902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66844" y="1648663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66844" y="1248156"/>
            <a:ext cx="304495" cy="304495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8498" y="124815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4886554" y="1301191"/>
            <a:ext cx="10003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量能环境判断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466844" y="1772107"/>
            <a:ext cx="3333902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查看当日及近期成交额均值，确定本轮操作的买卖阈值标准。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466844" y="2971800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24" name="Shape 20"/>
          <p:cNvSpPr/>
          <p:nvPr/>
        </p:nvSpPr>
        <p:spPr>
          <a:xfrm>
            <a:off x="4466844" y="2971800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466844" y="2971800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2.5万亿以上宽松；1.5万亿以下收严(买点降至0.7)。 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4591202" y="3066898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8020202" y="2276856"/>
            <a:ext cx="123444" cy="190195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153705" y="1047902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353044" y="1648663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353044" y="1248156"/>
            <a:ext cx="304495" cy="304495"/>
          </a:xfrm>
          <a:prstGeom prst="ellipse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324698" y="1248156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CC1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772754" y="1301191"/>
            <a:ext cx="9811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获取EPS预期</a:t>
            </a:r>
            <a:endParaRPr lang="en-US" sz="1200" dirty="0"/>
          </a:p>
        </p:txBody>
      </p:sp>
      <p:sp>
        <p:nvSpPr>
          <p:cNvPr id="33" name="Text 28"/>
          <p:cNvSpPr txBox="1"/>
          <p:nvPr/>
        </p:nvSpPr>
        <p:spPr>
          <a:xfrm>
            <a:off x="8353044" y="1772107"/>
            <a:ext cx="3333902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查询Wind/Choice等终端，获取今明两年EPS预测数据。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8353044" y="2971800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35" name="Shape 30"/>
          <p:cNvSpPr/>
          <p:nvPr/>
        </p:nvSpPr>
        <p:spPr>
          <a:xfrm>
            <a:off x="8353044" y="2971800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EAB308"/>
          </a:solidFill>
          <a:ln w="12700">
            <a:solidFill>
              <a:srgbClr val="EAB308">
                <a:alpha val="0"/>
              </a:srgbClr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8353044" y="2971800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必须取5家以上机构的一致预期均值，勿信单家。 </a:t>
            </a:r>
            <a:endParaRPr lang="en-US" sz="900" dirty="0"/>
          </a:p>
        </p:txBody>
      </p:sp>
      <p:sp>
        <p:nvSpPr>
          <p:cNvPr id="37" name="Text 32"/>
          <p:cNvSpPr txBox="1"/>
          <p:nvPr/>
        </p:nvSpPr>
        <p:spPr>
          <a:xfrm>
            <a:off x="8477402" y="3066898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3"/>
          <a:srcRect l="-16667" r="-16667"/>
          <a:stretch>
            <a:fillRect/>
          </a:stretch>
        </p:blipFill>
        <p:spPr>
          <a:xfrm>
            <a:off x="11039551" y="3666744"/>
            <a:ext cx="286207" cy="286207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381305" y="3924605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580644" y="4524451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580644" y="4123944"/>
            <a:ext cx="304495" cy="304495"/>
          </a:xfrm>
          <a:prstGeom prst="ellipse">
            <a:avLst/>
          </a:prstGeom>
          <a:solidFill>
            <a:srgbClr val="EC4899">
              <a:alpha val="20000"/>
            </a:srgbClr>
          </a:solidFill>
          <a:ln w="12700">
            <a:solidFill>
              <a:srgbClr val="EC4899">
                <a:alpha val="4000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552298" y="412394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1000354" y="4177894"/>
            <a:ext cx="100035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对照阈值执行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80644" y="4647895"/>
            <a:ext cx="3333902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&lt; 买点线 → 分批买入；PEG &gt; 卖点线 → 逐步减仓。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580644" y="5848502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46" name="Shape 40"/>
          <p:cNvSpPr/>
          <p:nvPr/>
        </p:nvSpPr>
        <p:spPr>
          <a:xfrm>
            <a:off x="580644" y="5848502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80644" y="5848502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不可单独依赖PEG，需结合技术面(趋势/缺口)确认。 </a:t>
            </a:r>
            <a:endParaRPr lang="en-US" sz="900" dirty="0"/>
          </a:p>
        </p:txBody>
      </p:sp>
      <p:sp>
        <p:nvSpPr>
          <p:cNvPr id="48" name="Text 42"/>
          <p:cNvSpPr txBox="1"/>
          <p:nvPr/>
        </p:nvSpPr>
        <p:spPr>
          <a:xfrm>
            <a:off x="705002" y="5943600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sp>
        <p:nvSpPr>
          <p:cNvPr id="49" name="Shape 43"/>
          <p:cNvSpPr/>
          <p:nvPr/>
        </p:nvSpPr>
        <p:spPr>
          <a:xfrm>
            <a:off x="4267505" y="3924605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4466844" y="4524451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466844" y="4123944"/>
            <a:ext cx="304495" cy="304495"/>
          </a:xfrm>
          <a:prstGeom prst="ellipse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4438498" y="412394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84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4886554" y="4177894"/>
            <a:ext cx="8385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计算PE与G</a:t>
            </a:r>
            <a:endParaRPr lang="en-US" sz="1200" dirty="0"/>
          </a:p>
        </p:txBody>
      </p:sp>
      <p:sp>
        <p:nvSpPr>
          <p:cNvPr id="54" name="Text 48"/>
          <p:cNvSpPr txBox="1"/>
          <p:nvPr/>
        </p:nvSpPr>
        <p:spPr>
          <a:xfrm>
            <a:off x="4466844" y="4647895"/>
            <a:ext cx="3333902" cy="400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 = 股价 ÷ 滚动EPS；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 = (未来EPS增速) × 100。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4466844" y="5848502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56" name="Shape 50"/>
          <p:cNvSpPr/>
          <p:nvPr/>
        </p:nvSpPr>
        <p:spPr>
          <a:xfrm>
            <a:off x="4466844" y="5848502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57" name="Text 51"/>
          <p:cNvSpPr txBox="1"/>
          <p:nvPr/>
        </p:nvSpPr>
        <p:spPr>
          <a:xfrm>
            <a:off x="4466844" y="5848502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G必须去掉百分号(如40%→40)，确保量纲一致。 </a:t>
            </a:r>
            <a:endParaRPr lang="en-US" sz="900" dirty="0"/>
          </a:p>
        </p:txBody>
      </p:sp>
      <p:sp>
        <p:nvSpPr>
          <p:cNvPr id="58" name="Text 52"/>
          <p:cNvSpPr txBox="1"/>
          <p:nvPr/>
        </p:nvSpPr>
        <p:spPr>
          <a:xfrm>
            <a:off x="4591202" y="5943600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A78B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8020202" y="5152644"/>
            <a:ext cx="123444" cy="190195"/>
          </a:xfrm>
          <a:prstGeom prst="rect">
            <a:avLst/>
          </a:prstGeom>
        </p:spPr>
      </p:pic>
      <p:sp>
        <p:nvSpPr>
          <p:cNvPr id="60" name="Shape 53"/>
          <p:cNvSpPr/>
          <p:nvPr/>
        </p:nvSpPr>
        <p:spPr>
          <a:xfrm>
            <a:off x="8153705" y="3924605"/>
            <a:ext cx="3657600" cy="2648102"/>
          </a:xfrm>
          <a:prstGeom prst="roundRect">
            <a:avLst>
              <a:gd name="adj" fmla="val 29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8353044" y="4524451"/>
            <a:ext cx="3258007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8353044" y="4123944"/>
            <a:ext cx="304495" cy="304495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8324698" y="4123944"/>
            <a:ext cx="36210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923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000" dirty="0"/>
          </a:p>
        </p:txBody>
      </p:sp>
      <p:sp>
        <p:nvSpPr>
          <p:cNvPr id="64" name="Text 57"/>
          <p:cNvSpPr txBox="1"/>
          <p:nvPr/>
        </p:nvSpPr>
        <p:spPr>
          <a:xfrm>
            <a:off x="8772754" y="4177894"/>
            <a:ext cx="981151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折算滚动EPS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8353044" y="4647895"/>
            <a:ext cx="34482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按当前月份权重，加权计算未来12个月的滚动EPS。</a:t>
            </a:r>
            <a:endParaRPr lang="en-US" sz="1000" dirty="0"/>
          </a:p>
        </p:txBody>
      </p:sp>
      <p:sp>
        <p:nvSpPr>
          <p:cNvPr id="66" name="Shape 59"/>
          <p:cNvSpPr/>
          <p:nvPr/>
        </p:nvSpPr>
        <p:spPr>
          <a:xfrm>
            <a:off x="8353044" y="5848502"/>
            <a:ext cx="3258007" cy="523951"/>
          </a:xfrm>
          <a:prstGeom prst="roundRect">
            <a:avLst>
              <a:gd name="adj" fmla="val 38077"/>
            </a:avLst>
          </a:prstGeom>
          <a:solidFill>
            <a:srgbClr val="0F172A">
              <a:alpha val="50000"/>
            </a:srgbClr>
          </a:solidFill>
        </p:spPr>
      </p:sp>
      <p:sp>
        <p:nvSpPr>
          <p:cNvPr id="67" name="Shape 60"/>
          <p:cNvSpPr/>
          <p:nvPr/>
        </p:nvSpPr>
        <p:spPr>
          <a:xfrm>
            <a:off x="8353044" y="5848502"/>
            <a:ext cx="28346" cy="523951"/>
          </a:xfrm>
          <a:prstGeom prst="roundRect">
            <a:avLst>
              <a:gd name="adj" fmla="val 70382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68" name="Text 61"/>
          <p:cNvSpPr txBox="1"/>
          <p:nvPr/>
        </p:nvSpPr>
        <p:spPr>
          <a:xfrm>
            <a:off x="8353044" y="5848502"/>
            <a:ext cx="3333902" cy="5239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这是最易算错的一步，务必按(12-n)/12公式细算。 </a:t>
            </a:r>
            <a:endParaRPr lang="en-US" sz="900" dirty="0"/>
          </a:p>
        </p:txBody>
      </p:sp>
      <p:sp>
        <p:nvSpPr>
          <p:cNvPr id="69" name="Text 62"/>
          <p:cNvSpPr txBox="1"/>
          <p:nvPr/>
        </p:nvSpPr>
        <p:spPr>
          <a:xfrm>
            <a:off x="8477402" y="5943600"/>
            <a:ext cx="3229661" cy="1435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</a:t>
            </a:r>
            <a:endParaRPr lang="en-US" sz="800" dirty="0"/>
          </a:p>
        </p:txBody>
      </p:sp>
      <p:pic>
        <p:nvPicPr>
          <p:cNvPr id="70" name="Image 5" descr="preencoded.png"/>
          <p:cNvPicPr>
            <a:picLocks noChangeAspect="1"/>
          </p:cNvPicPr>
          <p:nvPr/>
        </p:nvPicPr>
        <p:blipFill>
          <a:blip r:embed="rId2"/>
          <a:srcRect l="-1923" r="-1923"/>
          <a:stretch>
            <a:fillRect/>
          </a:stretch>
        </p:blipFill>
        <p:spPr>
          <a:xfrm>
            <a:off x="11906402" y="5152644"/>
            <a:ext cx="123444" cy="190195"/>
          </a:xfrm>
          <a:prstGeom prst="rect">
            <a:avLst/>
          </a:prstGeom>
        </p:spPr>
      </p:pic>
      <p:sp>
        <p:nvSpPr>
          <p:cNvPr id="71" name="Shape 63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72" name="Shape 64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73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1305" y="261518"/>
            <a:ext cx="228600" cy="228600"/>
          </a:xfrm>
          <a:prstGeom prst="rect">
            <a:avLst/>
          </a:prstGeom>
        </p:spPr>
      </p:pic>
      <p:sp>
        <p:nvSpPr>
          <p:cNvPr id="74" name="Text 65"/>
          <p:cNvSpPr txBox="1"/>
          <p:nvPr/>
        </p:nvSpPr>
        <p:spPr>
          <a:xfrm>
            <a:off x="724205" y="204826"/>
            <a:ext cx="246888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PEG实战操作流程六步</a:t>
            </a:r>
            <a:endParaRPr lang="en-US" sz="1800" dirty="0"/>
          </a:p>
        </p:txBody>
      </p:sp>
      <p:sp>
        <p:nvSpPr>
          <p:cNvPr id="75" name="Text 66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1E293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5591556"/>
            <a:ext cx="11048695" cy="886054"/>
          </a:xfrm>
          <a:prstGeom prst="roundRect">
            <a:avLst>
              <a:gd name="adj" fmla="val 26632"/>
            </a:avLst>
          </a:prstGeom>
          <a:solidFill>
            <a:srgbClr val="EF4444">
              <a:alpha val="5000"/>
            </a:srgbClr>
          </a:solidFill>
          <a:ln w="25400">
            <a:solidFill>
              <a:srgbClr val="EF4444">
                <a:alpha val="4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38805" y="5919826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581705" y="5800954"/>
            <a:ext cx="609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524098" y="6038698"/>
            <a:ext cx="55348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CA5A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本材料仅供投资方法学习参考，不构成任何投资建议，投资有风险，入市需谨慎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1500" y="1265530"/>
            <a:ext cx="11048695" cy="1095451"/>
          </a:xfrm>
          <a:prstGeom prst="roundRect">
            <a:avLst>
              <a:gd name="adj" fmla="val 23227"/>
            </a:avLst>
          </a:prstGeom>
          <a:solidFill>
            <a:srgbClr val="1E293B"/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" y="1265530"/>
            <a:ext cx="75895" cy="1095451"/>
          </a:xfrm>
          <a:prstGeom prst="roundRect">
            <a:avLst>
              <a:gd name="adj" fmla="val 33525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2805" y="1265530"/>
            <a:ext cx="543154" cy="10954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B82F6">
                    <a:alpha val="80000"/>
                  </a:srgbClr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1741932" y="1504188"/>
            <a:ext cx="9763963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估值必须对应增速判断贵便宜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741932" y="1889150"/>
            <a:ext cx="97639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PE高不一定贵，PE低不一定便宜，增速是核心变量。</a:t>
            </a:r>
            <a:endParaRPr lang="en-US" sz="12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>
            <a:alphaModFix amt="10000"/>
          </a:blip>
          <a:srcRect/>
          <a:stretch>
            <a:fillRect/>
          </a:stretch>
        </p:blipFill>
        <p:spPr>
          <a:xfrm>
            <a:off x="10658246" y="1429207"/>
            <a:ext cx="761695" cy="76169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71500" y="2584094"/>
            <a:ext cx="11048695" cy="1095451"/>
          </a:xfrm>
          <a:prstGeom prst="roundRect">
            <a:avLst>
              <a:gd name="adj" fmla="val 23227"/>
            </a:avLst>
          </a:prstGeom>
          <a:solidFill>
            <a:srgbClr val="1E293B"/>
          </a:solidFill>
          <a:ln w="12700">
            <a:solidFill>
              <a:srgbClr val="10B981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" y="2584094"/>
            <a:ext cx="75895" cy="1095451"/>
          </a:xfrm>
          <a:prstGeom prst="roundRect">
            <a:avLst>
              <a:gd name="adj" fmla="val 33525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52805" y="2584094"/>
            <a:ext cx="600761" cy="10954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>
                    <a:alpha val="80000"/>
                  </a:srgbClr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5"/>
          <p:cNvSpPr txBox="1"/>
          <p:nvPr/>
        </p:nvSpPr>
        <p:spPr>
          <a:xfrm>
            <a:off x="1800454" y="2821838"/>
            <a:ext cx="9706356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量能决定估值容忍度与PEG门槛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1800454" y="3206801"/>
            <a:ext cx="97063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2.5万亿是基准，缩量时买点需下移至0.7以下。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-47" r="-47"/>
          <a:stretch>
            <a:fillRect/>
          </a:stretch>
        </p:blipFill>
        <p:spPr>
          <a:xfrm>
            <a:off x="10563149" y="2747772"/>
            <a:ext cx="857707" cy="76169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71500" y="3902659"/>
            <a:ext cx="11048695" cy="1095451"/>
          </a:xfrm>
          <a:prstGeom prst="roundRect">
            <a:avLst>
              <a:gd name="adj" fmla="val 23227"/>
            </a:avLst>
          </a:prstGeom>
          <a:solidFill>
            <a:srgbClr val="1E293B"/>
          </a:solidFill>
          <a:ln w="12700">
            <a:solidFill>
              <a:srgbClr val="F59E0B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71500" y="3902659"/>
            <a:ext cx="75895" cy="1095451"/>
          </a:xfrm>
          <a:prstGeom prst="roundRect">
            <a:avLst>
              <a:gd name="adj" fmla="val 33525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2805" y="3902659"/>
            <a:ext cx="600761" cy="10954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59E0B">
                    <a:alpha val="80000"/>
                  </a:srgbClr>
                </a:solidFill>
                <a:latin typeface="Noto Serif SC" panose="02020200000000000000" pitchFamily="34" charset="-122"/>
                <a:ea typeface="Noto Serif SC" panose="02020200000000000000" pitchFamily="34" charset="-122"/>
                <a:cs typeface="Noto Serif SC" panose="02020200000000000000" pitchFamily="34" charset="-120"/>
              </a:rPr>
              <a:t>03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1799539" y="4140403"/>
            <a:ext cx="9706356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PEG是工具不是信仰，风控与仓位同等重要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1799539" y="4525366"/>
            <a:ext cx="97063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不区分好坏公司，只衡量性价比；需结合技术面风控。</a:t>
            </a:r>
            <a:endParaRPr lang="en-US" sz="12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>
            <a:alphaModFix amt="10000"/>
          </a:blip>
          <a:srcRect l="-36" r="-36"/>
          <a:stretch>
            <a:fillRect/>
          </a:stretch>
        </p:blipFill>
        <p:spPr>
          <a:xfrm>
            <a:off x="10468051" y="4066337"/>
            <a:ext cx="952805" cy="76169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9" name="Shape 23"/>
          <p:cNvSpPr/>
          <p:nvPr/>
        </p:nvSpPr>
        <p:spPr>
          <a:xfrm>
            <a:off x="0" y="752551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rcRect l="-57" r="-57"/>
          <a:stretch>
            <a:fillRect/>
          </a:stretch>
        </p:blipFill>
        <p:spPr>
          <a:xfrm>
            <a:off x="381305" y="261518"/>
            <a:ext cx="200254" cy="2286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4944" y="204826"/>
            <a:ext cx="2221992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三句话总结PEG精髓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0079431" y="261518"/>
            <a:ext cx="187269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PEG成长估值法 · 模块二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演示</Application>
  <PresentationFormat>On-screen Show (16:9)</PresentationFormat>
  <Paragraphs>756</Paragraphs>
  <Slides>13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Noto Sans SC</vt:lpstr>
      <vt:lpstr>Noto Sans SC</vt:lpstr>
      <vt:lpstr>Noto Serif SC</vt:lpstr>
      <vt:lpstr>Noto Serif SC</vt:lpstr>
      <vt:lpstr>Microsoft Sans Serif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6</cp:revision>
  <dcterms:created xsi:type="dcterms:W3CDTF">2026-02-28T10:14:00Z</dcterms:created>
  <dcterms:modified xsi:type="dcterms:W3CDTF">2026-03-01T09:06:53Z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5B054EEE389B4508A7929A9E35E86618_12</vt:lpwstr>
  </property>
  <property fmtid="{D5CDD505-2E9C-101B-9397-08002B2CF9AE}" pid="3" name="KSOProductBuildVer">
    <vt:lpwstr>2052-12.1.0.25225</vt:lpwstr>
  </property>
</Properties>
</file>