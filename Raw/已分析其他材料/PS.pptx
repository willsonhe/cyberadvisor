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png"/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33.png"/><Relationship Id="rId10" Type="http://schemas.openxmlformats.org/officeDocument/2006/relationships/image" Target="../media/image32.png"/><Relationship Id="rId1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3.png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png"/><Relationship Id="rId8" Type="http://schemas.openxmlformats.org/officeDocument/2006/relationships/image" Target="../media/image59.png"/><Relationship Id="rId7" Type="http://schemas.openxmlformats.org/officeDocument/2006/relationships/image" Target="../media/image58.png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3.png"/><Relationship Id="rId11" Type="http://schemas.openxmlformats.org/officeDocument/2006/relationships/image" Target="../media/image62.png"/><Relationship Id="rId10" Type="http://schemas.openxmlformats.org/officeDocument/2006/relationships/image" Target="../media/image61.png"/><Relationship Id="rId1" Type="http://schemas.openxmlformats.org/officeDocument/2006/relationships/image" Target="../media/image52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78.png"/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image" Target="../media/image7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891065" y="381305"/>
            <a:ext cx="2063801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>
                    <a:alpha val="3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Genspark AI Slides</a:t>
            </a:r>
            <a:endParaRPr lang="en-US" sz="15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rcRect t="-1" b="-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rcRect t="-420" b="-420"/>
          <a:stretch>
            <a:fillRect/>
          </a:stretch>
        </p:blipFill>
        <p:spPr>
          <a:xfrm>
            <a:off x="761695" y="1031443"/>
            <a:ext cx="761695" cy="57607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61695" y="1822399"/>
            <a:ext cx="10840212" cy="15151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B8BAB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/ 市销率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B8BAB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营收倍数估值法</a:t>
            </a:r>
            <a:endParaRPr lang="en-US" sz="5400" dirty="0"/>
          </a:p>
        </p:txBody>
      </p:sp>
      <p:sp>
        <p:nvSpPr>
          <p:cNvPr id="8" name="Shape 3"/>
          <p:cNvSpPr/>
          <p:nvPr/>
        </p:nvSpPr>
        <p:spPr>
          <a:xfrm>
            <a:off x="761695" y="3521354"/>
            <a:ext cx="38405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990295" y="3521354"/>
            <a:ext cx="10554005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当PE失效的时候 —— </a:t>
            </a:r>
            <a:r>
              <a:rPr lang="en-US" sz="240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PS登场</a:t>
            </a:r>
            <a:endParaRPr lang="en-US" sz="2400" dirty="0"/>
          </a:p>
        </p:txBody>
      </p:sp>
      <p:sp>
        <p:nvSpPr>
          <p:cNvPr id="10" name="Shape 5"/>
          <p:cNvSpPr/>
          <p:nvPr/>
        </p:nvSpPr>
        <p:spPr>
          <a:xfrm>
            <a:off x="761695" y="4454957"/>
            <a:ext cx="106683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761695" y="4750308"/>
            <a:ext cx="35625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核心场景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4998110"/>
            <a:ext cx="35625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亏损AI企业 / 高成长科技股 / 跨境比较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4412894" y="4750308"/>
            <a:ext cx="35625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案例分析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4412894" y="4998110"/>
            <a:ext cx="35625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寒武纪 · 科大讯飞 · 英伟达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064094" y="4750308"/>
            <a:ext cx="35625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75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课程参数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8064094" y="4998110"/>
            <a:ext cx="348660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数据截至2025年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61695" y="1374343"/>
            <a:ext cx="3590849" cy="352044"/>
          </a:xfrm>
          <a:prstGeom prst="roundRect">
            <a:avLst>
              <a:gd name="adj" fmla="val 5616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61695" y="1374343"/>
            <a:ext cx="3667658" cy="3529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300" b="1" kern="0" spc="150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MODULE 03 · VALUATION SERIES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761695" y="6133795"/>
            <a:ext cx="5915254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特别声明：本脚本所涉及个股、行业及数据仅用于教学方法演示，不构成任何投资建议。投资有风险，入市需谨慎。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量能基准：2.5万亿（2025年A股日均成交额基准）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05295" y="0"/>
            <a:ext cx="5486400" cy="6858000"/>
          </a:xfrm>
          <a:custGeom>
            <a:avLst/>
            <a:gdLst/>
            <a:ahLst/>
            <a:cxnLst/>
            <a:rect l="l" t="t" r="r" b="b"/>
            <a:pathLst>
              <a:path w="5486400" h="6858000">
                <a:moveTo>
                  <a:pt x="1097280" y="0"/>
                </a:moveTo>
                <a:lnTo>
                  <a:pt x="5486400" y="0"/>
                </a:lnTo>
                <a:lnTo>
                  <a:pt x="5486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1E293B"/>
          </a:solidFill>
        </p:spPr>
      </p:sp>
      <p:sp>
        <p:nvSpPr>
          <p:cNvPr id="5" name="Text 3"/>
          <p:cNvSpPr txBox="1"/>
          <p:nvPr/>
        </p:nvSpPr>
        <p:spPr>
          <a:xfrm>
            <a:off x="924458" y="6277356"/>
            <a:ext cx="2980944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数据来源：WIND，截至2025年8月27日盘中数据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61695" y="6313018"/>
            <a:ext cx="133502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-190195" y="-381305"/>
            <a:ext cx="1263701" cy="1905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F59E0B">
                    <a:alpha val="1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?</a:t>
            </a:r>
            <a:endParaRPr lang="en-US" sz="15000" dirty="0"/>
          </a:p>
        </p:txBody>
      </p:sp>
      <p:sp>
        <p:nvSpPr>
          <p:cNvPr id="8" name="Text 5"/>
          <p:cNvSpPr txBox="1"/>
          <p:nvPr/>
        </p:nvSpPr>
        <p:spPr>
          <a:xfrm>
            <a:off x="761695" y="424282"/>
            <a:ext cx="6115507" cy="1105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当PE失效的时候——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PS登场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711757"/>
            <a:ext cx="6134710" cy="3246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如果PE是4010倍，你还敢买吗？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761695" y="2413102"/>
            <a:ext cx="5943600" cy="3743554"/>
          </a:xfrm>
          <a:prstGeom prst="roundRect">
            <a:avLst>
              <a:gd name="adj" fmla="val 149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57046" y="2307946"/>
            <a:ext cx="1362456" cy="276149"/>
          </a:xfrm>
          <a:prstGeom prst="roundRect">
            <a:avLst>
              <a:gd name="adj" fmla="val 91345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57046" y="2307946"/>
            <a:ext cx="14200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关键案例 · 寒武纪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57046" y="3450946"/>
            <a:ext cx="5352898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7046" y="3002890"/>
            <a:ext cx="167152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2025年8月27日 总市值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994453" y="2707538"/>
            <a:ext cx="2147926" cy="6007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5800 </a:t>
            </a:r>
            <a:r>
              <a:rPr lang="en-US" sz="15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亿元</a:t>
            </a:r>
            <a:endParaRPr lang="en-US" sz="3100" dirty="0"/>
          </a:p>
        </p:txBody>
      </p:sp>
      <p:sp>
        <p:nvSpPr>
          <p:cNvPr id="17" name="Text 14"/>
          <p:cNvSpPr txBox="1"/>
          <p:nvPr/>
        </p:nvSpPr>
        <p:spPr>
          <a:xfrm>
            <a:off x="1057046" y="3688690"/>
            <a:ext cx="1439266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2025年上半年 营收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574182" y="3603650"/>
            <a:ext cx="99761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28.8 </a:t>
            </a:r>
            <a:r>
              <a:rPr lang="en-US" sz="12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亿元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057046" y="4136746"/>
            <a:ext cx="2609698" cy="752551"/>
          </a:xfrm>
          <a:prstGeom prst="roundRect">
            <a:avLst>
              <a:gd name="adj" fmla="val 184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04595" y="4231843"/>
            <a:ext cx="251642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对应市销率 (PS)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04595" y="4451299"/>
            <a:ext cx="2516429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≈ 111 倍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3804818" y="4136746"/>
            <a:ext cx="2609698" cy="752551"/>
          </a:xfrm>
          <a:prstGeom prst="roundRect">
            <a:avLst>
              <a:gd name="adj" fmla="val 1845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52367" y="4231843"/>
            <a:ext cx="2516429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对应市盈率 (PE)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3852367" y="4451299"/>
            <a:ext cx="2516429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4010 倍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1057046" y="4984394"/>
            <a:ext cx="5352898" cy="875995"/>
          </a:xfrm>
          <a:prstGeom prst="rect">
            <a:avLst/>
          </a:prstGeom>
          <a:solidFill>
            <a:srgbClr val="0F172A">
              <a:alpha val="60000"/>
            </a:srgbClr>
          </a:solidFill>
        </p:spPr>
      </p:sp>
      <p:sp>
        <p:nvSpPr>
          <p:cNvPr id="27" name="Shape 24"/>
          <p:cNvSpPr/>
          <p:nvPr/>
        </p:nvSpPr>
        <p:spPr>
          <a:xfrm>
            <a:off x="1057046" y="4984394"/>
            <a:ext cx="38405" cy="875995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514246" y="5174590"/>
            <a:ext cx="4782312" cy="4956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核心冲突：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PE完全失效（无意义数字），但市场仍给出天价估值。这是为什么？ </a:t>
            </a:r>
            <a:endParaRPr lang="en-US" sz="12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85646" y="5222138"/>
            <a:ext cx="152705" cy="152705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7467905" y="1981505"/>
            <a:ext cx="381305" cy="38130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72146" y="2085746"/>
            <a:ext cx="171907" cy="17190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8039405" y="1981505"/>
            <a:ext cx="3096158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PS到底是什么？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8039405" y="2314346"/>
            <a:ext cx="30961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揭示营收倍数背后的底层逻辑与直觉理解。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7467905" y="2781605"/>
            <a:ext cx="381305" cy="38130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rcRect l="-1064" r="-1064"/>
          <a:stretch>
            <a:fillRect/>
          </a:stretch>
        </p:blipFill>
        <p:spPr>
          <a:xfrm>
            <a:off x="7548372" y="2885846"/>
            <a:ext cx="219456" cy="171907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039405" y="2781605"/>
            <a:ext cx="3229661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为什么在这里比PE更有用？</a:t>
            </a:r>
            <a:endParaRPr lang="en-US" sz="1500" dirty="0"/>
          </a:p>
        </p:txBody>
      </p:sp>
      <p:sp>
        <p:nvSpPr>
          <p:cNvPr id="37" name="Text 31"/>
          <p:cNvSpPr txBox="1"/>
          <p:nvPr/>
        </p:nvSpPr>
        <p:spPr>
          <a:xfrm>
            <a:off x="8039405" y="3114446"/>
            <a:ext cx="322966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解析亏损AI企业与高成长科技股的定价锚点。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7467905" y="3581705"/>
            <a:ext cx="381305" cy="381305"/>
          </a:xfrm>
          <a:prstGeom prst="ellipse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572146" y="3685946"/>
            <a:ext cx="171907" cy="17190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8039405" y="3581705"/>
            <a:ext cx="327721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怎么判断是合理还是泡沫？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8039405" y="3914546"/>
            <a:ext cx="32772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掌握PS估值的核心驱动因素与实战判断框架。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7467905" y="4762195"/>
            <a:ext cx="3962095" cy="857707"/>
          </a:xfrm>
          <a:prstGeom prst="roundRect">
            <a:avLst>
              <a:gd name="adj" fmla="val 18953"/>
            </a:avLst>
          </a:prstGeom>
          <a:solidFill>
            <a:srgbClr val="F59E0B">
              <a:alpha val="1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7911389" y="4962449"/>
            <a:ext cx="3395167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思考题：如果你只看PE，你会错过整个AI时代吗？ </a:t>
            </a:r>
            <a:endParaRPr lang="en-US" sz="1200" dirty="0"/>
          </a:p>
        </p:txBody>
      </p:sp>
      <p:sp>
        <p:nvSpPr>
          <p:cNvPr id="44" name="Shape 37"/>
          <p:cNvSpPr/>
          <p:nvPr/>
        </p:nvSpPr>
        <p:spPr>
          <a:xfrm>
            <a:off x="7467905" y="1676095"/>
            <a:ext cx="1371600" cy="1920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7467905" y="1238098"/>
            <a:ext cx="1481328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本讲核心目标</a:t>
            </a:r>
            <a:endParaRPr lang="en-US" sz="1800" dirty="0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6"/>
          <a:srcRect t="-100" b="-100"/>
          <a:stretch>
            <a:fillRect/>
          </a:stretch>
        </p:blipFill>
        <p:spPr>
          <a:xfrm>
            <a:off x="7667244" y="5009998"/>
            <a:ext cx="114300" cy="1527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810598" y="4476902"/>
            <a:ext cx="2857500" cy="2857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71500" y="381305"/>
            <a:ext cx="4366260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PE失效的五大典型场景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4287622" y="590702"/>
            <a:ext cx="27624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为什么利润指标在这里没有意义？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085832" y="619049"/>
            <a:ext cx="1543507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085832" y="619049"/>
            <a:ext cx="160477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SCENARIO ANALYSIS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1343254"/>
            <a:ext cx="11048695" cy="3981298"/>
          </a:xfrm>
          <a:prstGeom prst="roundRect">
            <a:avLst>
              <a:gd name="adj" fmla="val 1319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" y="1352398"/>
            <a:ext cx="2210105" cy="580644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2" name="Shape 9"/>
          <p:cNvSpPr/>
          <p:nvPr/>
        </p:nvSpPr>
        <p:spPr>
          <a:xfrm>
            <a:off x="580644" y="1913839"/>
            <a:ext cx="221010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80644" y="1352398"/>
            <a:ext cx="2286000" cy="3904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失效场景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87091" y="1352398"/>
            <a:ext cx="2762402" cy="580644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5" name="Shape 12"/>
          <p:cNvSpPr/>
          <p:nvPr/>
        </p:nvSpPr>
        <p:spPr>
          <a:xfrm>
            <a:off x="2787091" y="1913839"/>
            <a:ext cx="2762402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787091" y="1352398"/>
            <a:ext cx="2839212" cy="3904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典型案例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544007" y="1352398"/>
            <a:ext cx="6067044" cy="580644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8" name="Shape 15"/>
          <p:cNvSpPr/>
          <p:nvPr/>
        </p:nvSpPr>
        <p:spPr>
          <a:xfrm>
            <a:off x="5544007" y="1913839"/>
            <a:ext cx="6067044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544007" y="1352398"/>
            <a:ext cx="6143854" cy="3904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核心失效原因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80644" y="2724912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9244" y="2214677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171346" y="2241194"/>
            <a:ext cx="94366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当期大幅亏损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87091" y="2724912"/>
            <a:ext cx="27624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015691" y="2115007"/>
            <a:ext cx="24899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寒武纪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544007" y="2724912"/>
            <a:ext cx="606704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772607" y="2226564"/>
            <a:ext cx="58009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分母为负数，PE无法计算，显示为</a:t>
            </a:r>
            <a:r>
              <a:rPr lang="en-US" sz="11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「不适用」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。负PE无法反映亏损缩窄的边际改善。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80644" y="3510382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09244" y="2991002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5995" y="3057754"/>
            <a:ext cx="133502" cy="133502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171346" y="3016606"/>
            <a:ext cx="94366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利润极度微薄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2787091" y="3510382"/>
            <a:ext cx="27624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3015691" y="2905049"/>
            <a:ext cx="24899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成长期科技公司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544007" y="3510382"/>
            <a:ext cx="606704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772607" y="3016606"/>
            <a:ext cx="58009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分母趋近于0，导致PE高达</a:t>
            </a:r>
            <a:r>
              <a:rPr lang="en-US" sz="11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千倍以上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（如PE 4000倍），失去与其他公司的比较意义。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80644" y="4301338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09244" y="3781044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 r:embed="rId3"/>
          <a:srcRect l="-2512" r="-2512"/>
          <a:stretch>
            <a:fillRect/>
          </a:stretch>
        </p:blipFill>
        <p:spPr>
          <a:xfrm>
            <a:off x="890626" y="3847795"/>
            <a:ext cx="105156" cy="133502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1171346" y="3807562"/>
            <a:ext cx="1090879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利润一次性扭曲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2787091" y="4301338"/>
            <a:ext cx="27624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3015691" y="3696005"/>
            <a:ext cx="24899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政府补贴/资产出售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5544007" y="4301338"/>
            <a:ext cx="606704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5772607" y="3807562"/>
            <a:ext cx="580095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当期利润</a:t>
            </a:r>
            <a:r>
              <a:rPr lang="en-US" sz="11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不反映真实经营能力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。剔除一次性项目后可能由盈转亏，PE信号失真。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580644" y="5092294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809244" y="4572000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4"/>
          <a:srcRect t="-1100" b="-1100"/>
          <a:stretch>
            <a:fillRect/>
          </a:stretch>
        </p:blipFill>
        <p:spPr>
          <a:xfrm>
            <a:off x="886054" y="4638751"/>
            <a:ext cx="114300" cy="133502"/>
          </a:xfrm>
          <a:prstGeom prst="rect">
            <a:avLst/>
          </a:prstGeom>
        </p:spPr>
      </p:pic>
      <p:sp>
        <p:nvSpPr>
          <p:cNvPr id="46" name="Text 40"/>
          <p:cNvSpPr txBox="1"/>
          <p:nvPr/>
        </p:nvSpPr>
        <p:spPr>
          <a:xfrm>
            <a:off x="1171346" y="4598518"/>
            <a:ext cx="8001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研发密集型</a:t>
            </a:r>
            <a:endParaRPr lang="en-US" sz="1100" dirty="0"/>
          </a:p>
        </p:txBody>
      </p:sp>
      <p:sp>
        <p:nvSpPr>
          <p:cNvPr id="47" name="Shape 41"/>
          <p:cNvSpPr/>
          <p:nvPr/>
        </p:nvSpPr>
        <p:spPr>
          <a:xfrm>
            <a:off x="2787091" y="5092294"/>
            <a:ext cx="27624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3015691" y="4486046"/>
            <a:ext cx="24899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早期AI、生物医药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544007" y="5092294"/>
            <a:ext cx="606704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4"/>
          <p:cNvSpPr txBox="1"/>
          <p:nvPr/>
        </p:nvSpPr>
        <p:spPr>
          <a:xfrm>
            <a:off x="5772607" y="4490618"/>
            <a:ext cx="5686654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大量战略性研发投入</a:t>
            </a:r>
            <a:r>
              <a:rPr lang="en-US" sz="11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压低当期利润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，导致亏损。这种亏损是「投资未来」，而非经营不善。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809244" y="5362956"/>
            <a:ext cx="267005" cy="267005"/>
          </a:xfrm>
          <a:prstGeom prst="roundRect">
            <a:avLst>
              <a:gd name="adj" fmla="val 146771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5"/>
          <a:srcRect l="-1507" r="-1507"/>
          <a:stretch>
            <a:fillRect/>
          </a:stretch>
        </p:blipFill>
        <p:spPr>
          <a:xfrm>
            <a:off x="857707" y="5429707"/>
            <a:ext cx="171907" cy="133502"/>
          </a:xfrm>
          <a:prstGeom prst="rect">
            <a:avLst/>
          </a:prstGeom>
        </p:spPr>
      </p:pic>
      <p:sp>
        <p:nvSpPr>
          <p:cNvPr id="53" name="Text 46"/>
          <p:cNvSpPr txBox="1"/>
          <p:nvPr/>
        </p:nvSpPr>
        <p:spPr>
          <a:xfrm>
            <a:off x="1171346" y="5388559"/>
            <a:ext cx="94366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商业模式重构</a:t>
            </a:r>
            <a:endParaRPr lang="en-US" sz="1100" dirty="0"/>
          </a:p>
        </p:txBody>
      </p:sp>
      <p:sp>
        <p:nvSpPr>
          <p:cNvPr id="54" name="Text 47"/>
          <p:cNvSpPr txBox="1"/>
          <p:nvPr/>
        </p:nvSpPr>
        <p:spPr>
          <a:xfrm>
            <a:off x="3015691" y="5277002"/>
            <a:ext cx="2489911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互联网平台初期</a:t>
            </a:r>
            <a:endParaRPr lang="en-US" sz="1100" dirty="0"/>
          </a:p>
        </p:txBody>
      </p:sp>
      <p:sp>
        <p:nvSpPr>
          <p:cNvPr id="55" name="Text 48"/>
          <p:cNvSpPr txBox="1"/>
          <p:nvPr/>
        </p:nvSpPr>
        <p:spPr>
          <a:xfrm>
            <a:off x="5772607" y="5281574"/>
            <a:ext cx="5686654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亏损是</a:t>
            </a:r>
            <a:r>
              <a:rPr lang="en-US" sz="11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主动选择</a:t>
            </a: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以换取用户规模和市场份额。此时关注营收规模（市场地位）比关注利润更重要。</a:t>
            </a:r>
            <a:endParaRPr lang="en-US" sz="1100" dirty="0"/>
          </a:p>
        </p:txBody>
      </p:sp>
      <p:pic>
        <p:nvPicPr>
          <p:cNvPr id="56" name="Image 5" descr="preencoded.png"/>
          <p:cNvPicPr>
            <a:picLocks noChangeAspect="1"/>
          </p:cNvPicPr>
          <p:nvPr/>
        </p:nvPicPr>
        <p:blipFill>
          <a:blip r:embed="rId6"/>
          <a:srcRect t="-1" b="-1"/>
          <a:stretch>
            <a:fillRect/>
          </a:stretch>
        </p:blipFill>
        <p:spPr>
          <a:xfrm>
            <a:off x="580390" y="5658815"/>
            <a:ext cx="11048695" cy="914400"/>
          </a:xfrm>
          <a:prstGeom prst="rect">
            <a:avLst/>
          </a:prstGeom>
        </p:spPr>
      </p:pic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7"/>
          <a:srcRect l="-50" r="-50"/>
          <a:stretch>
            <a:fillRect/>
          </a:stretch>
        </p:blipFill>
        <p:spPr>
          <a:xfrm>
            <a:off x="809244" y="5867705"/>
            <a:ext cx="228600" cy="304495"/>
          </a:xfrm>
          <a:prstGeom prst="rect">
            <a:avLst/>
          </a:prstGeom>
        </p:spPr>
      </p:pic>
      <p:sp>
        <p:nvSpPr>
          <p:cNvPr id="58" name="Text 49"/>
          <p:cNvSpPr txBox="1"/>
          <p:nvPr/>
        </p:nvSpPr>
        <p:spPr>
          <a:xfrm>
            <a:off x="1228954" y="5753405"/>
            <a:ext cx="868680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估值逻辑转换</a:t>
            </a:r>
            <a:endParaRPr lang="en-US" sz="1300" dirty="0"/>
          </a:p>
        </p:txBody>
      </p:sp>
      <p:sp>
        <p:nvSpPr>
          <p:cNvPr id="59" name="Text 50"/>
          <p:cNvSpPr txBox="1"/>
          <p:nvPr/>
        </p:nvSpPr>
        <p:spPr>
          <a:xfrm>
            <a:off x="1228954" y="6057900"/>
            <a:ext cx="8686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当利润不可信、不稳定或为负时，必须切换分母 —— 从“净利润”换成“营业收入”，</a:t>
            </a:r>
            <a:r>
              <a:rPr lang="en-US" sz="12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PS（市销率）</a:t>
            </a:r>
            <a:r>
              <a:rPr lang="en-US" sz="12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正式登场作为定价基准。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557930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PS定义与工具定位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599078" y="590702"/>
            <a:ext cx="293431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市销率估值法的核心逻辑与适用场景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597542" y="619049"/>
            <a:ext cx="2029054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97542" y="619049"/>
            <a:ext cx="2105863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DEFINITION &amp; POSITIONING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343254"/>
            <a:ext cx="5867705" cy="3638398"/>
          </a:xfrm>
          <a:prstGeom prst="roundRect">
            <a:avLst>
              <a:gd name="adj" fmla="val 157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7105" y="1638605"/>
            <a:ext cx="52678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75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核心公式 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l="-3892" r="-3892"/>
          <a:stretch>
            <a:fillRect/>
          </a:stretch>
        </p:blipFill>
        <p:spPr>
          <a:xfrm>
            <a:off x="866851" y="1676095"/>
            <a:ext cx="123444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34847" y="2581351"/>
            <a:ext cx="1674266" cy="1028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(市销率)</a:t>
            </a:r>
            <a:endParaRPr lang="en-US" sz="2700" dirty="0"/>
          </a:p>
        </p:txBody>
      </p:sp>
      <p:sp>
        <p:nvSpPr>
          <p:cNvPr id="13" name="Text 10"/>
          <p:cNvSpPr txBox="1"/>
          <p:nvPr/>
        </p:nvSpPr>
        <p:spPr>
          <a:xfrm>
            <a:off x="2613355" y="2866644"/>
            <a:ext cx="257861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=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31236" y="3086100"/>
            <a:ext cx="3019349" cy="1920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70886" y="2009851"/>
            <a:ext cx="3140964" cy="10287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总市值 (Market Cap)</a:t>
            </a:r>
            <a:endParaRPr lang="en-US" sz="2700" dirty="0"/>
          </a:p>
        </p:txBody>
      </p:sp>
      <p:sp>
        <p:nvSpPr>
          <p:cNvPr id="16" name="Text 13"/>
          <p:cNvSpPr txBox="1"/>
          <p:nvPr/>
        </p:nvSpPr>
        <p:spPr>
          <a:xfrm>
            <a:off x="2970886" y="3105302"/>
            <a:ext cx="3140964" cy="1077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年度营业收入 (Revenue)</a:t>
            </a:r>
            <a:endParaRPr lang="en-US" sz="2700" dirty="0"/>
          </a:p>
        </p:txBody>
      </p:sp>
      <p:sp>
        <p:nvSpPr>
          <p:cNvPr id="17" name="Shape 14"/>
          <p:cNvSpPr/>
          <p:nvPr/>
        </p:nvSpPr>
        <p:spPr>
          <a:xfrm>
            <a:off x="866851" y="4324198"/>
            <a:ext cx="5277002" cy="9144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9244" y="4429354"/>
            <a:ext cx="53913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也等于：每股股价 (Price) ÷ 每股营收 (Sales per Share)</a:t>
            </a:r>
            <a:endParaRPr lang="en-US" sz="130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rcRect t="-1" b="-1"/>
          <a:stretch>
            <a:fillRect/>
          </a:stretch>
        </p:blipFill>
        <p:spPr>
          <a:xfrm>
            <a:off x="571500" y="5171846"/>
            <a:ext cx="5867705" cy="146486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47902" y="5362956"/>
            <a:ext cx="53913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直觉理解 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00100" y="5405018"/>
            <a:ext cx="171907" cy="17190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00100" y="5715000"/>
            <a:ext cx="5524805" cy="7342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PS告诉你，市场愿意为这家公司</a:t>
            </a:r>
            <a:r>
              <a:rPr lang="en-US" sz="12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每产生1块钱的收入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，支付多少钱。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 = 5，意味着你花5元买走它1元营收；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 = 100，意味着你花100元买走它1元营收。 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71500" y="6826910"/>
            <a:ext cx="2838298" cy="1495044"/>
          </a:xfrm>
          <a:prstGeom prst="roundRect">
            <a:avLst>
              <a:gd name="adj" fmla="val 623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990295" y="7018020"/>
            <a:ext cx="24195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核心优势</a:t>
            </a:r>
            <a:endParaRPr lang="en-US" sz="12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61695" y="7055510"/>
            <a:ext cx="152705" cy="15270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61695" y="7341718"/>
            <a:ext cx="26481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营收永远为正，无亏损困扰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761695" y="7604150"/>
            <a:ext cx="26481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营收比利润更难被会计操纵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761695" y="7867498"/>
            <a:ext cx="26481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波动性小，反映公司规模扩张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00907" y="6826910"/>
            <a:ext cx="2838298" cy="1495044"/>
          </a:xfrm>
          <a:prstGeom prst="roundRect">
            <a:avLst>
              <a:gd name="adj" fmla="val 6233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4019702" y="7018020"/>
            <a:ext cx="24195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核心弱点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791102" y="7055510"/>
            <a:ext cx="152705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3791102" y="7341718"/>
            <a:ext cx="26481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营收不等于价值创造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3791102" y="7604150"/>
            <a:ext cx="26481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无法反映成本结构差异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3791102" y="7867498"/>
            <a:ext cx="2648102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必须配合毛利率使用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7082942" y="1343254"/>
            <a:ext cx="472836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估值工具选择地图 </a:t>
            </a:r>
            <a:endParaRPr lang="en-US" sz="12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819595" y="1390802"/>
            <a:ext cx="152705" cy="152705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6819595" y="1809598"/>
            <a:ext cx="4800600" cy="6010351"/>
          </a:xfrm>
          <a:prstGeom prst="roundRect">
            <a:avLst>
              <a:gd name="adj" fmla="val 90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6829654" y="1819656"/>
            <a:ext cx="6199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th&gt;工具</a:t>
            </a:r>
            <a:endParaRPr lang="en-US" sz="12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/>
        </p:nvGraphicFramePr>
        <p:xfrm>
          <a:off x="6829654" y="2048256"/>
          <a:ext cx="4782312" cy="2229307"/>
        </p:xfrm>
        <a:graphic>
          <a:graphicData uri="http://schemas.openxmlformats.org/drawingml/2006/table">
            <a:tbl>
              <a:tblPr/>
              <a:tblGrid>
                <a:gridCol w="1244498"/>
                <a:gridCol w="1245413"/>
                <a:gridCol w="2292401"/>
              </a:tblGrid>
              <a:tr h="44586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核心分母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适用前提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/>
                    </a:p>
                  </a:txBody>
                  <a:tcPr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45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3B82F6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PE 市盈率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净利润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利润稳定且为正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PEG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利润+增速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有利润且高增长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A855F7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DCF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自由现金流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现金流可预测（如水电）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86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PS 市销率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营业收入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59E0B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亏损/早期/高成长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1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0" name="Shape 31"/>
          <p:cNvSpPr/>
          <p:nvPr/>
        </p:nvSpPr>
        <p:spPr>
          <a:xfrm>
            <a:off x="6829654" y="4276649"/>
            <a:ext cx="4781398" cy="857707"/>
          </a:xfrm>
          <a:prstGeom prst="rect">
            <a:avLst/>
          </a:prstGeom>
          <a:solidFill>
            <a:srgbClr val="F59E0B">
              <a:alpha val="5000"/>
            </a:srgbClr>
          </a:solidFill>
        </p:spPr>
      </p:sp>
      <p:sp>
        <p:nvSpPr>
          <p:cNvPr id="41" name="Shape 32"/>
          <p:cNvSpPr/>
          <p:nvPr/>
        </p:nvSpPr>
        <p:spPr>
          <a:xfrm>
            <a:off x="6829654" y="4276649"/>
            <a:ext cx="4781398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6829654" y="4428439"/>
            <a:ext cx="4858207" cy="70591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定位法则：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能用PE就用PE；PE失效用PEG；现金流稳定用DCF。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PS是</a:t>
            </a:r>
            <a:r>
              <a:rPr lang="en-US" sz="9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最后一道防线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——当前面三个都失效时才登场。 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6819595" y="8006486"/>
            <a:ext cx="4800600" cy="504749"/>
          </a:xfrm>
          <a:prstGeom prst="roundRect">
            <a:avLst>
              <a:gd name="adj" fmla="val 5469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5" name="Text 36"/>
          <p:cNvSpPr txBox="1"/>
          <p:nvPr/>
        </p:nvSpPr>
        <p:spPr>
          <a:xfrm>
            <a:off x="6924751" y="8159191"/>
            <a:ext cx="4591202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PS不是更好的工具，而是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PE失效后的替代工具</a:t>
            </a: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5619902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PS的两大驱动：毛利率 × 增速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469026" y="590702"/>
            <a:ext cx="226314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决定PS估值倍数的核心变量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323576" y="619049"/>
            <a:ext cx="1304849" cy="276149"/>
          </a:xfrm>
          <a:prstGeom prst="roundRect">
            <a:avLst>
              <a:gd name="adj" fmla="val 91345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619049"/>
            <a:ext cx="136245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DRIVERS MATRIX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95198" y="1343254"/>
            <a:ext cx="626821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PS驱动因素矩阵 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1356970"/>
            <a:ext cx="228600" cy="2286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" y="1742846"/>
            <a:ext cx="6400800" cy="4743907"/>
          </a:xfrm>
          <a:prstGeom prst="roundRect">
            <a:avLst>
              <a:gd name="adj" fmla="val 929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2836469"/>
            <a:ext cx="267005" cy="20866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毛利率 (Profitability Potential) 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16667" r="-16667"/>
          <a:stretch>
            <a:fillRect/>
          </a:stretch>
        </p:blipFill>
        <p:spPr>
          <a:xfrm>
            <a:off x="872338" y="2836469"/>
            <a:ext cx="133502" cy="13350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238098" y="1933956"/>
            <a:ext cx="2704795" cy="1876349"/>
          </a:xfrm>
          <a:prstGeom prst="roundRect">
            <a:avLst>
              <a:gd name="adj" fmla="val 3958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1390802" y="2358238"/>
            <a:ext cx="127741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高毛利 + 低增速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rcRect t="-24850" b="-24850"/>
          <a:stretch>
            <a:fillRect/>
          </a:stretch>
        </p:blipFill>
        <p:spPr>
          <a:xfrm>
            <a:off x="3633826" y="2358238"/>
            <a:ext cx="152705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90802" y="2662733"/>
            <a:ext cx="24771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盈利能力强但成长放缓，通常是成熟软件或医药企业。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1390802" y="3104388"/>
            <a:ext cx="895198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1390802" y="3104388"/>
            <a:ext cx="952805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6 ~ 12 倍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081882" y="1933956"/>
            <a:ext cx="2704795" cy="1876349"/>
          </a:xfrm>
          <a:prstGeom prst="roundRect">
            <a:avLst>
              <a:gd name="adj" fmla="val 3958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233672" y="2358238"/>
            <a:ext cx="127741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高毛利 + 高增速</a:t>
            </a:r>
            <a:endParaRPr lang="en-US" sz="12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 t="-24850" b="-24850"/>
          <a:stretch>
            <a:fillRect/>
          </a:stretch>
        </p:blipFill>
        <p:spPr>
          <a:xfrm>
            <a:off x="6476695" y="2358238"/>
            <a:ext cx="152705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33672" y="2662733"/>
            <a:ext cx="24771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最完美的PS标的，利润转化潜力大且扩张快。AI软件、SaaS龙头。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233672" y="3104388"/>
            <a:ext cx="1057046" cy="276149"/>
          </a:xfrm>
          <a:prstGeom prst="roundRect">
            <a:avLst>
              <a:gd name="adj" fmla="val 91345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233672" y="3104388"/>
            <a:ext cx="11146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20 ~ 100 倍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1238098" y="3948379"/>
            <a:ext cx="2704795" cy="1876349"/>
          </a:xfrm>
          <a:prstGeom prst="roundRect">
            <a:avLst>
              <a:gd name="adj" fmla="val 3958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1390802" y="4372661"/>
            <a:ext cx="127741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低毛利 + 低增速</a:t>
            </a:r>
            <a:endParaRPr lang="en-US" sz="12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24850" b="-24850"/>
          <a:stretch>
            <a:fillRect/>
          </a:stretch>
        </p:blipFill>
        <p:spPr>
          <a:xfrm>
            <a:off x="3633826" y="4372661"/>
            <a:ext cx="152705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90802" y="4677156"/>
            <a:ext cx="24771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价值陷阱区域，利润微薄且无增长。传统制造、低端零售。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1390802" y="5118811"/>
            <a:ext cx="705002" cy="276149"/>
          </a:xfrm>
          <a:prstGeom prst="roundRect">
            <a:avLst>
              <a:gd name="adj" fmla="val 91345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1390802" y="5118811"/>
            <a:ext cx="7626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&lt; 1 倍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081882" y="3948379"/>
            <a:ext cx="2704795" cy="1876349"/>
          </a:xfrm>
          <a:prstGeom prst="roundRect">
            <a:avLst>
              <a:gd name="adj" fmla="val 3958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233672" y="4372661"/>
            <a:ext cx="127741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低毛利 + 高增速</a:t>
            </a:r>
            <a:endParaRPr lang="en-US" sz="120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 t="-24915" b="-24915"/>
          <a:stretch>
            <a:fillRect/>
          </a:stretch>
        </p:blipFill>
        <p:spPr>
          <a:xfrm>
            <a:off x="6495898" y="4372661"/>
            <a:ext cx="133502" cy="22860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233672" y="4677156"/>
            <a:ext cx="24771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增收不增利，规模虽大但价值低。电商、硬件组装、贸易。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4233672" y="5118811"/>
            <a:ext cx="819302" cy="276149"/>
          </a:xfrm>
          <a:prstGeom prst="roundRect">
            <a:avLst>
              <a:gd name="adj" fmla="val 91345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233672" y="5118811"/>
            <a:ext cx="876910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BF2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1 ~ 3 倍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3134563" y="6005779"/>
            <a:ext cx="1752905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营收增速 (Growth Rate) 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7"/>
          <a:srcRect t="-1100" b="-1100"/>
          <a:stretch>
            <a:fillRect/>
          </a:stretch>
        </p:blipFill>
        <p:spPr>
          <a:xfrm>
            <a:off x="4722876" y="6041441"/>
            <a:ext cx="114300" cy="13350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7616952" y="1343254"/>
            <a:ext cx="419435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实战参考区间口诀 </a:t>
            </a:r>
            <a:endParaRPr lang="en-US" sz="1200" dirty="0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353605" y="1390802"/>
            <a:ext cx="152705" cy="152705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7353605" y="1809598"/>
            <a:ext cx="4267505" cy="2447849"/>
          </a:xfrm>
          <a:prstGeom prst="roundRect">
            <a:avLst>
              <a:gd name="adj" fmla="val 2326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/>
        </p:nvGraphicFramePr>
        <p:xfrm>
          <a:off x="7505395" y="1962302"/>
          <a:ext cx="3963010" cy="2143355"/>
        </p:xfrm>
        <a:graphic>
          <a:graphicData uri="http://schemas.openxmlformats.org/drawingml/2006/table">
            <a:tbl>
              <a:tblPr/>
              <a:tblGrid>
                <a:gridCol w="1387145"/>
                <a:gridCol w="1387145"/>
                <a:gridCol w="1188720"/>
              </a:tblGrid>
              <a:tr h="42867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组合特征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典型行业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PS参考</a:t>
                      </a:r>
                      <a:endParaRPr lang="en-US" sz="975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75895" marB="75895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34D399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毛利80%+ / 增速100%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AI软件/SaaS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50~100倍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0A5FA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毛利60% / 增速50%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芯片设计/医疗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20~40倍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BBF24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毛利40% / 增速20%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硬件/应用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6~12倍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86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F8717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毛利20% / 增速10%</a:t>
                      </a:r>
                      <a:endParaRPr lang="en-US" sz="1200" dirty="0"/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组装/零售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2E8F0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&lt; 2倍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75895" marR="75895" marT="95098" marB="95098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Shape 33"/>
          <p:cNvSpPr/>
          <p:nvPr/>
        </p:nvSpPr>
        <p:spPr>
          <a:xfrm>
            <a:off x="7353605" y="4443070"/>
            <a:ext cx="4267505" cy="905256"/>
          </a:xfrm>
          <a:prstGeom prst="roundRect">
            <a:avLst>
              <a:gd name="adj" fmla="val 17012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7669073" y="4595774"/>
            <a:ext cx="39895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为什么毛利率如此重要？ </a:t>
            </a:r>
            <a:endParaRPr lang="en-US" sz="1000" dirty="0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7505395" y="4631436"/>
            <a:ext cx="133502" cy="133502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7505395" y="4843577"/>
            <a:ext cx="4038905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毛利率决定了未来营收转化为净利润的“天花板”。80%毛利意味着1亿营收可能有4000万利润；10%毛利最多只有500万利润。</a:t>
            </a:r>
            <a:endParaRPr lang="en-US" sz="9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rcRect l="-8" r="-8"/>
          <a:stretch>
            <a:fillRect/>
          </a:stretch>
        </p:blipFill>
        <p:spPr>
          <a:xfrm>
            <a:off x="7353605" y="5533034"/>
            <a:ext cx="4267505" cy="1328623"/>
          </a:xfrm>
          <a:prstGeom prst="rect">
            <a:avLst/>
          </a:prstGeom>
        </p:spPr>
      </p:pic>
      <p:sp>
        <p:nvSpPr>
          <p:cNvPr id="49" name="Text 36"/>
          <p:cNvSpPr txBox="1"/>
          <p:nvPr/>
        </p:nvSpPr>
        <p:spPr>
          <a:xfrm>
            <a:off x="7810805" y="5723230"/>
            <a:ext cx="38103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估值铁律 </a:t>
            </a:r>
            <a:endParaRPr lang="en-US" sz="1200" dirty="0"/>
          </a:p>
        </p:txBody>
      </p:sp>
      <p:pic>
        <p:nvPicPr>
          <p:cNvPr id="50" name="Image 10" descr="preencoded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582205" y="5761634"/>
            <a:ext cx="152705" cy="152705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7582205" y="6027725"/>
            <a:ext cx="3924605" cy="6483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不看毛利率就谈PS高低，是无效分析。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两家公司PS都是20倍，高毛利那家可能便宜，低毛利那家可能贵出天际。 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770986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A股行业PS参考基准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818534" y="590702"/>
            <a:ext cx="305043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2025年2.5万亿量能背景下的估值中枢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94138" y="619049"/>
            <a:ext cx="1828800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94138" y="619049"/>
            <a:ext cx="190195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INDUSTRY BENCHMARKS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248156"/>
            <a:ext cx="7144207" cy="5229454"/>
          </a:xfrm>
          <a:prstGeom prst="roundRect">
            <a:avLst>
              <a:gd name="adj" fmla="val 76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8758" y="1447495"/>
            <a:ext cx="155448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各行业合理PS区间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1754" y="1497787"/>
            <a:ext cx="171907" cy="171907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106924" y="1476756"/>
            <a:ext cx="25914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数据来源：综合券商研报与市场一致预期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rcRect l="-68" r="-68"/>
          <a:stretch>
            <a:fillRect/>
          </a:stretch>
        </p:blipFill>
        <p:spPr>
          <a:xfrm>
            <a:off x="771754" y="1848002"/>
            <a:ext cx="6743700" cy="442935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993685" y="1248156"/>
            <a:ext cx="3627425" cy="17721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70087" y="1438351"/>
            <a:ext cx="31528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市场量能影响 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rcRect l="-33" r="-33"/>
          <a:stretch>
            <a:fillRect/>
          </a:stretch>
        </p:blipFill>
        <p:spPr>
          <a:xfrm>
            <a:off x="8222285" y="1476756"/>
            <a:ext cx="171907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222285" y="1762049"/>
            <a:ext cx="3286354" cy="10771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2025年日均成交额1.72万亿（基准2.5万亿），流动性充裕导致：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1. </a:t>
            </a: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情绪溢价提升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：高成长科技股PS容忍度上移。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2. </a:t>
            </a:r>
            <a:r>
              <a:rPr lang="en-US" sz="10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比较锚点重设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：AI板块整体估值中枢较2022年上移30%~50%。 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7993685" y="3210458"/>
            <a:ext cx="3629254" cy="3571646"/>
          </a:xfrm>
          <a:prstGeom prst="roundRect">
            <a:avLst>
              <a:gd name="adj" fmla="val 1639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8430768" y="3409798"/>
            <a:ext cx="3106217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关键估值锚点 (2025) 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l="-2994" r="-2994"/>
          <a:stretch>
            <a:fillRect/>
          </a:stretch>
        </p:blipFill>
        <p:spPr>
          <a:xfrm>
            <a:off x="8193024" y="3448202"/>
            <a:ext cx="161849" cy="15270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193024" y="4391863"/>
            <a:ext cx="32287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8193024" y="3819449"/>
            <a:ext cx="120426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寒武纪 </a:t>
            </a:r>
            <a:r>
              <a:rPr lang="en-US" sz="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峰值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8732520" y="3868826"/>
            <a:ext cx="304495" cy="181051"/>
          </a:xfrm>
          <a:prstGeom prst="roundRect">
            <a:avLst>
              <a:gd name="adj" fmla="val 159490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8732520" y="3868826"/>
            <a:ext cx="381305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峰值</a:t>
            </a:r>
            <a:endParaRPr lang="en-US" sz="800" dirty="0"/>
          </a:p>
        </p:txBody>
      </p:sp>
      <p:sp>
        <p:nvSpPr>
          <p:cNvPr id="25" name="Text 18"/>
          <p:cNvSpPr txBox="1"/>
          <p:nvPr/>
        </p:nvSpPr>
        <p:spPr>
          <a:xfrm>
            <a:off x="8193024" y="4086454"/>
            <a:ext cx="131033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AI算力 / 国产替代稀缺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0810951" y="3781958"/>
            <a:ext cx="609905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111x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10810951" y="4124858"/>
            <a:ext cx="609905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(TTM)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8193024" y="5153558"/>
            <a:ext cx="32287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8193024" y="4582058"/>
            <a:ext cx="141000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海光信息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8193024" y="4848149"/>
            <a:ext cx="139720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CPU+DCU / 算力第二梯队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0827410" y="4543654"/>
            <a:ext cx="47640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33x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10803636" y="4886554"/>
            <a:ext cx="62362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(25Q2)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8193024" y="5915254"/>
            <a:ext cx="32287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193024" y="5343754"/>
            <a:ext cx="1305763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英伟达 (NVDA)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193024" y="5610758"/>
            <a:ext cx="1429207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全球AI龙头 / 成熟盈利期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0781690" y="5305349"/>
            <a:ext cx="476402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29x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10748772" y="5648249"/>
            <a:ext cx="68031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(2025E)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8193024" y="6105449"/>
            <a:ext cx="108082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科大讯飞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8193024" y="6372454"/>
            <a:ext cx="1191463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AI应用 / 星火大模型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0781690" y="6067958"/>
            <a:ext cx="609905" cy="3337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4~6x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10748772" y="6410858"/>
            <a:ext cx="68031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(2025E)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7993685" y="6972300"/>
            <a:ext cx="3629254" cy="771754"/>
          </a:xfrm>
          <a:prstGeom prst="roundRect">
            <a:avLst>
              <a:gd name="adj" fmla="val 23404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117129" y="7270394"/>
            <a:ext cx="171907" cy="171907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8402422" y="6972300"/>
            <a:ext cx="3172054" cy="7717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注意：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AI算力稀缺标的的高PS包含"稀缺性+成长叙事"双重溢价。当稀缺性下降（如竞品上市），PS会快速回归行业均值。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770986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案例一：寒武纪（上）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190695" y="590702"/>
            <a:ext cx="240761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基础数据与"市概率"定价逻辑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48418" y="619049"/>
            <a:ext cx="1876349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48418" y="619049"/>
            <a:ext cx="195224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CASE STUDY: CAMBRICON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38505" y="1248156"/>
            <a:ext cx="58485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关键财务指标演变 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71500" y="1290218"/>
            <a:ext cx="171907" cy="171907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" y="1647749"/>
            <a:ext cx="5924398" cy="2838298"/>
          </a:xfrm>
          <a:prstGeom prst="roundRect">
            <a:avLst>
              <a:gd name="adj" fmla="val 2595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80644" y="1657807"/>
          <a:ext cx="5906110" cy="2820012"/>
        </p:xfrm>
        <a:graphic>
          <a:graphicData uri="http://schemas.openxmlformats.org/drawingml/2006/table">
            <a:tbl>
              <a:tblPr/>
              <a:tblGrid>
                <a:gridCol w="1180490"/>
                <a:gridCol w="1061618"/>
                <a:gridCol w="1061618"/>
                <a:gridCol w="1298448"/>
                <a:gridCol w="1298448"/>
              </a:tblGrid>
              <a:tr h="4700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指标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2022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2023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2024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2025 H1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>
                        <a:alpha val="80000"/>
                      </a:srgbClr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营业收入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7.29亿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7.09亿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11.2亿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28.81亿 </a:t>
                      </a: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(+4348%)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归母净利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-8.7亿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-8.8亿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-4.5亿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10.38亿 </a:t>
                      </a: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(扭亏)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净利率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亏损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亏损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亏损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~36%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市值(约)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200亿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600亿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2400亿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5800亿 </a:t>
                      </a:r>
                      <a:r>
                        <a:rPr lang="en-US" sz="90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(峰值)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PS(TTM)</a:t>
                      </a:r>
                      <a:endParaRPr lang="en-US" sz="1200" dirty="0"/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~14x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~43x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~107x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CBD5E1"/>
                          </a:solidFill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Noto Sans SC" panose="020B0200000000000000" pitchFamily="34" charset="-120"/>
                        </a:rPr>
                        <a:t>~111x</a:t>
                      </a:r>
                      <a:endParaRPr lang="en-US" sz="1050" dirty="0">
                        <a:latin typeface="Noto Sans SC" panose="020B0200000000000000" pitchFamily="34" charset="-122"/>
                        <a:ea typeface="Noto Sans SC" panose="020B0200000000000000" pitchFamily="34" charset="-122"/>
                        <a:cs typeface="Noto Sans SC" panose="020B0200000000000000" pitchFamily="34" charset="-122"/>
                      </a:endParaRPr>
                    </a:p>
                  </a:txBody>
                  <a:tcPr marL="142646" marR="142646" marT="114300" marB="1143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71500" y="4629607"/>
            <a:ext cx="5924398" cy="1104595"/>
          </a:xfrm>
          <a:prstGeom prst="roundRect">
            <a:avLst>
              <a:gd name="adj" fmla="val 11418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35431" y="4781398"/>
            <a:ext cx="5485486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核心洞察：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1. 连续7年亏损，2025 H1首次盈利，基本面拐点出现。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2. 市值增长主要来自</a:t>
            </a: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估值膨胀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（PS从14倍到111倍），而非单纯业绩驱动。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3. 市场在业绩兑现前已给出数千亿定价，这是典型的"对未来可能性"定价。 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4205" y="4817059"/>
            <a:ext cx="133502" cy="1335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3623" y="1248156"/>
            <a:ext cx="4772254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市场定价逻辑解构 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776618" y="1290218"/>
            <a:ext cx="171907" cy="17190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776618" y="1647749"/>
            <a:ext cx="4848149" cy="4828946"/>
          </a:xfrm>
          <a:prstGeom prst="roundRect">
            <a:avLst>
              <a:gd name="adj" fmla="val 89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976872" y="2486254"/>
            <a:ext cx="4448556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976872" y="1959559"/>
            <a:ext cx="267005" cy="2670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386523" y="1848002"/>
            <a:ext cx="1944929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"市概率"定价模型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386523" y="2152498"/>
            <a:ext cx="2142439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Probability-Weighted Valuation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6976872" y="2681021"/>
            <a:ext cx="4448556" cy="514807"/>
          </a:xfrm>
          <a:prstGeom prst="roundRect">
            <a:avLst>
              <a:gd name="adj" fmla="val 52628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7024421" y="2824582"/>
            <a:ext cx="43534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隐含市值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= </a:t>
            </a:r>
            <a:r>
              <a:rPr lang="en-US" sz="120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成熟龙头市值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× </a:t>
            </a:r>
            <a:r>
              <a:rPr lang="en-US" sz="1200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成功概率(P)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7319772" y="3386023"/>
            <a:ext cx="2029054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锚定对象：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英伟达 (NVDA)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2025年市值约合人民币 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20万亿元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319772" y="3929177"/>
            <a:ext cx="1942186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成功定义：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成为"中国版英伟达"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实现全面的国产替代和生态垄断 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7319772" y="4472330"/>
            <a:ext cx="2286000" cy="8001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概率定价推演：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P=1% → 市值 2000亿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P=3% → 市值 6000亿 </a:t>
            </a: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(对应5800亿峰值)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P=5% → 市值 10000亿 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6976872" y="5691226"/>
            <a:ext cx="1080821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当前市场隐含概率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11154766" y="5691226"/>
            <a:ext cx="3429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~3%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976872" y="5952744"/>
            <a:ext cx="4448556" cy="75895"/>
          </a:xfrm>
          <a:prstGeom prst="roundRect">
            <a:avLst>
              <a:gd name="adj" fmla="val 120482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976872" y="5952744"/>
            <a:ext cx="133502" cy="75895"/>
          </a:xfrm>
          <a:prstGeom prst="roundRect">
            <a:avLst>
              <a:gd name="adj" fmla="val 1204822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849770" y="5715000"/>
            <a:ext cx="267005" cy="181051"/>
          </a:xfrm>
          <a:prstGeom prst="roundRect">
            <a:avLst>
              <a:gd name="adj" fmla="val 15949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849770" y="5715000"/>
            <a:ext cx="342900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172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3%</a:t>
            </a:r>
            <a:endParaRPr lang="en-US" sz="800" dirty="0"/>
          </a:p>
        </p:txBody>
      </p:sp>
      <p:sp>
        <p:nvSpPr>
          <p:cNvPr id="34" name="Text 27"/>
          <p:cNvSpPr txBox="1"/>
          <p:nvPr/>
        </p:nvSpPr>
        <p:spPr>
          <a:xfrm>
            <a:off x="6881774" y="6105449"/>
            <a:ext cx="46387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注：这并非精确财务模型，而是资本市场的情绪定价公式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770986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案例一：寒武纪（下）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190695" y="590702"/>
            <a:ext cx="2628900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PS估值演变历程与风险校准框架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27387" y="619049"/>
            <a:ext cx="1895551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27387" y="619049"/>
            <a:ext cx="1971446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VALUATION TREND &amp; RISK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248156"/>
            <a:ext cx="7144207" cy="5229454"/>
          </a:xfrm>
          <a:prstGeom prst="roundRect">
            <a:avLst>
              <a:gd name="adj" fmla="val 76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38758" y="1447495"/>
            <a:ext cx="192481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PS估值演变与关键事件 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71754" y="1490472"/>
            <a:ext cx="171907" cy="17190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111850" y="1518818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73698" y="1490472"/>
            <a:ext cx="566928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(TTM)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888175" y="1518818"/>
            <a:ext cx="114300" cy="114300"/>
          </a:xfrm>
          <a:prstGeom prst="roundRect">
            <a:avLst>
              <a:gd name="adj" fmla="val 266667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50024" y="1490472"/>
            <a:ext cx="543154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股价走势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 l="-72" r="-72"/>
          <a:stretch>
            <a:fillRect/>
          </a:stretch>
        </p:blipFill>
        <p:spPr>
          <a:xfrm>
            <a:off x="771754" y="1848002"/>
            <a:ext cx="6743700" cy="416234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76656" y="6105449"/>
            <a:ext cx="693481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注：PS极速扩张期也是风险积聚期，任何叙事瑕疵都会引发剧烈波动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7993685" y="1248156"/>
            <a:ext cx="3629254" cy="3847795"/>
          </a:xfrm>
          <a:prstGeom prst="roundRect">
            <a:avLst>
              <a:gd name="adj" fmla="val 158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EF4444">
                <a:alpha val="20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430768" y="1447495"/>
            <a:ext cx="3182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风险校准框架 </a:t>
            </a:r>
            <a:endParaRPr lang="en-US" sz="12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 l="-2994" r="-2994"/>
          <a:stretch>
            <a:fillRect/>
          </a:stretch>
        </p:blipFill>
        <p:spPr>
          <a:xfrm>
            <a:off x="8193024" y="1485900"/>
            <a:ext cx="161849" cy="15270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8193024" y="1819656"/>
            <a:ext cx="3228746" cy="990295"/>
          </a:xfrm>
          <a:prstGeom prst="roundRect">
            <a:avLst>
              <a:gd name="adj" fmla="val 14206"/>
            </a:avLst>
          </a:prstGeom>
          <a:solidFill>
            <a:srgbClr val="0F172A">
              <a:alpha val="40000"/>
            </a:srgbClr>
          </a:solidFill>
        </p:spPr>
      </p:sp>
      <p:sp>
        <p:nvSpPr>
          <p:cNvPr id="22" name="Shape 17"/>
          <p:cNvSpPr/>
          <p:nvPr/>
        </p:nvSpPr>
        <p:spPr>
          <a:xfrm>
            <a:off x="8193024" y="1819656"/>
            <a:ext cx="28346" cy="990295"/>
          </a:xfrm>
          <a:prstGeom prst="roundRect">
            <a:avLst>
              <a:gd name="adj" fmla="val 496285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336585" y="1933956"/>
            <a:ext cx="308610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增速与PS双杀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8336585" y="2171700"/>
            <a:ext cx="3048610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一旦营收增速从100%+降至50%以下，PS将从100倍迅速压缩至30倍，叠加业绩不及预期，股价可能腰斩。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8193024" y="2948940"/>
            <a:ext cx="3228746" cy="990295"/>
          </a:xfrm>
          <a:prstGeom prst="roundRect">
            <a:avLst>
              <a:gd name="adj" fmla="val 14206"/>
            </a:avLst>
          </a:prstGeom>
          <a:solidFill>
            <a:srgbClr val="0F172A">
              <a:alpha val="40000"/>
            </a:srgbClr>
          </a:solidFill>
        </p:spPr>
      </p:sp>
      <p:sp>
        <p:nvSpPr>
          <p:cNvPr id="26" name="Shape 21"/>
          <p:cNvSpPr/>
          <p:nvPr/>
        </p:nvSpPr>
        <p:spPr>
          <a:xfrm>
            <a:off x="8193024" y="2948940"/>
            <a:ext cx="28346" cy="990295"/>
          </a:xfrm>
          <a:prstGeom prst="roundRect">
            <a:avLst>
              <a:gd name="adj" fmla="val 49628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336585" y="3063240"/>
            <a:ext cx="3162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"市概率"叙事破裂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8336585" y="3301898"/>
            <a:ext cx="3048610" cy="5239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若竞品（如华为昇腾、海光）份额大幅提升，或出现重大技术路线错误，成功概率(P)从3%下修至1%，市值缩水66%。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8193024" y="4079138"/>
            <a:ext cx="3228746" cy="819302"/>
          </a:xfrm>
          <a:prstGeom prst="roundRect">
            <a:avLst>
              <a:gd name="adj" fmla="val 20764"/>
            </a:avLst>
          </a:prstGeom>
          <a:solidFill>
            <a:srgbClr val="0F172A">
              <a:alpha val="40000"/>
            </a:srgbClr>
          </a:solidFill>
        </p:spPr>
      </p:sp>
      <p:sp>
        <p:nvSpPr>
          <p:cNvPr id="30" name="Shape 25"/>
          <p:cNvSpPr/>
          <p:nvPr/>
        </p:nvSpPr>
        <p:spPr>
          <a:xfrm>
            <a:off x="8193024" y="4079138"/>
            <a:ext cx="28346" cy="819302"/>
          </a:xfrm>
          <a:prstGeom prst="roundRect">
            <a:avLst>
              <a:gd name="adj" fmla="val 600159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8336585" y="4193438"/>
            <a:ext cx="316291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大客户依赖风险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336585" y="4431182"/>
            <a:ext cx="3048610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早期高增长往往依赖少数大客户（G端或大厂），订单持续性是PS定价最大的脆弱点。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7993685" y="5282489"/>
            <a:ext cx="3629254" cy="1343254"/>
          </a:xfrm>
          <a:prstGeom prst="roundRect">
            <a:avLst>
              <a:gd name="adj" fmla="val 772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8345729" y="5435194"/>
            <a:ext cx="33147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投资教训 </a:t>
            </a:r>
            <a:endParaRPr lang="en-US" sz="1100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rcRect t="-556" b="-556"/>
          <a:stretch>
            <a:fillRect/>
          </a:stretch>
        </p:blipFill>
        <p:spPr>
          <a:xfrm>
            <a:off x="8145475" y="5470855"/>
            <a:ext cx="123444" cy="142646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8145475" y="5725973"/>
            <a:ext cx="3400654" cy="7434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在"市概率"定价的公司里，买的本质是概率赌注，不是传统价值投资。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灵魂拷问：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如果国产替代叙事失败，市值底在哪里？那个价格就是你的最大风险敞口。 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345790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案例二：科大讯飞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504895" y="590702"/>
            <a:ext cx="261975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中高增速AI应用股的PS定价框架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27310" y="619049"/>
            <a:ext cx="1600200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27310" y="619049"/>
            <a:ext cx="1664208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CASE STUDY: IFLYTEK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248156"/>
            <a:ext cx="3771900" cy="2943454"/>
          </a:xfrm>
          <a:prstGeom prst="roundRect">
            <a:avLst>
              <a:gd name="adj" fmla="val 2413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7961" y="1447495"/>
            <a:ext cx="327629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基础财务画像 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rcRect t="-842" b="-842"/>
          <a:stretch>
            <a:fillRect/>
          </a:stretch>
        </p:blipFill>
        <p:spPr>
          <a:xfrm>
            <a:off x="771754" y="1490472"/>
            <a:ext cx="190195" cy="171907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1754" y="1848002"/>
            <a:ext cx="1619402" cy="875995"/>
          </a:xfrm>
          <a:prstGeom prst="roundRect">
            <a:avLst>
              <a:gd name="adj" fmla="val 18154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13" name="Shape 10"/>
          <p:cNvSpPr/>
          <p:nvPr/>
        </p:nvSpPr>
        <p:spPr>
          <a:xfrm>
            <a:off x="771754" y="1848002"/>
            <a:ext cx="28346" cy="875995"/>
          </a:xfrm>
          <a:prstGeom prst="roundRect">
            <a:avLst>
              <a:gd name="adj" fmla="val 56101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4400" y="1962302"/>
            <a:ext cx="14383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营收规模 (2025E)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2171700"/>
            <a:ext cx="143835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270~290亿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14400" y="2447849"/>
            <a:ext cx="14712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体量可观，非初创期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526487" y="1848002"/>
            <a:ext cx="1619402" cy="875995"/>
          </a:xfrm>
          <a:prstGeom prst="roundRect">
            <a:avLst>
              <a:gd name="adj" fmla="val 18154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18" name="Shape 15"/>
          <p:cNvSpPr/>
          <p:nvPr/>
        </p:nvSpPr>
        <p:spPr>
          <a:xfrm>
            <a:off x="2526487" y="1848002"/>
            <a:ext cx="28346" cy="875995"/>
          </a:xfrm>
          <a:prstGeom prst="roundRect">
            <a:avLst>
              <a:gd name="adj" fmla="val 56101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69134" y="1962302"/>
            <a:ext cx="14383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毛利率 (GPM)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2669134" y="2171700"/>
            <a:ext cx="143835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40%~45%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669134" y="2447849"/>
            <a:ext cx="14712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软件高，硬件拖累整体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771754" y="2862072"/>
            <a:ext cx="1619402" cy="875995"/>
          </a:xfrm>
          <a:prstGeom prst="roundRect">
            <a:avLst>
              <a:gd name="adj" fmla="val 18154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23" name="Shape 20"/>
          <p:cNvSpPr/>
          <p:nvPr/>
        </p:nvSpPr>
        <p:spPr>
          <a:xfrm>
            <a:off x="771754" y="2862072"/>
            <a:ext cx="28346" cy="875995"/>
          </a:xfrm>
          <a:prstGeom prst="roundRect">
            <a:avLst>
              <a:gd name="adj" fmla="val 56101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2976372"/>
            <a:ext cx="14383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营收增速 (YoY)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3185770"/>
            <a:ext cx="143835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15%~24%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3461918"/>
            <a:ext cx="14712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中速增长，非指数级爆发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526487" y="2862072"/>
            <a:ext cx="1619402" cy="875995"/>
          </a:xfrm>
          <a:prstGeom prst="roundRect">
            <a:avLst>
              <a:gd name="adj" fmla="val 18154"/>
            </a:avLst>
          </a:prstGeom>
          <a:solidFill>
            <a:srgbClr val="0F172A">
              <a:alpha val="60000"/>
            </a:srgbClr>
          </a:solidFill>
        </p:spPr>
      </p:sp>
      <p:sp>
        <p:nvSpPr>
          <p:cNvPr id="28" name="Shape 25"/>
          <p:cNvSpPr/>
          <p:nvPr/>
        </p:nvSpPr>
        <p:spPr>
          <a:xfrm>
            <a:off x="2526487" y="2862072"/>
            <a:ext cx="28346" cy="875995"/>
          </a:xfrm>
          <a:prstGeom prst="roundRect">
            <a:avLst>
              <a:gd name="adj" fmla="val 56101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669134" y="2976372"/>
            <a:ext cx="1438351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净利率 (NPM)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2669134" y="3185770"/>
            <a:ext cx="1438351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2%~4%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2669134" y="3461918"/>
            <a:ext cx="1471270" cy="1627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研发投入压低当期利润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571500" y="4381805"/>
            <a:ext cx="3771900" cy="2095805"/>
          </a:xfrm>
          <a:prstGeom prst="roundRect">
            <a:avLst>
              <a:gd name="adj" fmla="val 476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00354" y="4669841"/>
            <a:ext cx="333390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估值结论 </a:t>
            </a:r>
            <a:endParaRPr lang="en-US" sz="120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71754" y="4707331"/>
            <a:ext cx="152705" cy="152705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771754" y="4993538"/>
            <a:ext cx="3372307" cy="590702"/>
          </a:xfrm>
          <a:prstGeom prst="roundRect">
            <a:avLst>
              <a:gd name="adj" fmla="val 39948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721462" y="4993538"/>
            <a:ext cx="3471977" cy="5907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 4 ~ 6 倍</a:t>
            </a:r>
            <a:endParaRPr lang="en-US" sz="2100" dirty="0"/>
          </a:p>
        </p:txBody>
      </p:sp>
      <p:sp>
        <p:nvSpPr>
          <p:cNvPr id="37" name="Text 33"/>
          <p:cNvSpPr txBox="1"/>
          <p:nvPr/>
        </p:nvSpPr>
        <p:spPr>
          <a:xfrm>
            <a:off x="733349" y="5631790"/>
            <a:ext cx="3448202" cy="5623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处于理性偏低区间。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核心逻辑：市场等待</a:t>
            </a:r>
            <a:r>
              <a:rPr lang="en-US" sz="9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"盈利路径兑现"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，即从PS定价切换回PE定价的时刻。 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624121" y="1248156"/>
            <a:ext cx="7000646" cy="5229454"/>
          </a:xfrm>
          <a:prstGeom prst="roundRect">
            <a:avLst>
              <a:gd name="adj" fmla="val 764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110582" y="1447495"/>
            <a:ext cx="6505956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PS合理性四步判断法 </a:t>
            </a:r>
            <a:endParaRPr lang="en-US" sz="1300" dirty="0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3"/>
          <a:srcRect t="-842" b="-842"/>
          <a:stretch>
            <a:fillRect/>
          </a:stretch>
        </p:blipFill>
        <p:spPr>
          <a:xfrm>
            <a:off x="4824374" y="1490472"/>
            <a:ext cx="190195" cy="171907"/>
          </a:xfrm>
          <a:prstGeom prst="rect">
            <a:avLst/>
          </a:prstGeom>
        </p:spPr>
      </p:pic>
      <p:sp>
        <p:nvSpPr>
          <p:cNvPr id="41" name="Shape 36"/>
          <p:cNvSpPr/>
          <p:nvPr/>
        </p:nvSpPr>
        <p:spPr>
          <a:xfrm>
            <a:off x="4824374" y="1848002"/>
            <a:ext cx="6601054" cy="1057046"/>
          </a:xfrm>
          <a:prstGeom prst="roundRect">
            <a:avLst>
              <a:gd name="adj" fmla="val 12469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4824374" y="3047695"/>
            <a:ext cx="6601054" cy="1057046"/>
          </a:xfrm>
          <a:prstGeom prst="roundRect">
            <a:avLst>
              <a:gd name="adj" fmla="val 12469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4824374" y="4248302"/>
            <a:ext cx="6601054" cy="1057046"/>
          </a:xfrm>
          <a:prstGeom prst="roundRect">
            <a:avLst>
              <a:gd name="adj" fmla="val 12469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4824374" y="5447995"/>
            <a:ext cx="6601054" cy="1057046"/>
          </a:xfrm>
          <a:prstGeom prst="roundRect">
            <a:avLst>
              <a:gd name="adj" fmla="val 12469"/>
            </a:avLst>
          </a:prstGeom>
          <a:solidFill>
            <a:srgbClr val="0F172A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4"/>
          <a:srcRect l="-396" r="-396"/>
          <a:stretch>
            <a:fillRect/>
          </a:stretch>
        </p:blipFill>
        <p:spPr>
          <a:xfrm>
            <a:off x="5167274" y="2229307"/>
            <a:ext cx="19202" cy="866851"/>
          </a:xfrm>
          <a:prstGeom prst="rect">
            <a:avLst/>
          </a:prstGeom>
        </p:spPr>
      </p:pic>
      <p:pic>
        <p:nvPicPr>
          <p:cNvPr id="46" name="Image 4" descr="preencoded.png"/>
          <p:cNvPicPr>
            <a:picLocks noChangeAspect="1"/>
          </p:cNvPicPr>
          <p:nvPr/>
        </p:nvPicPr>
        <p:blipFill>
          <a:blip r:embed="rId4"/>
          <a:srcRect l="-396" r="-396"/>
          <a:stretch>
            <a:fillRect/>
          </a:stretch>
        </p:blipFill>
        <p:spPr>
          <a:xfrm>
            <a:off x="5167274" y="3429000"/>
            <a:ext cx="19202" cy="866851"/>
          </a:xfrm>
          <a:prstGeom prst="rect">
            <a:avLst/>
          </a:prstGeom>
        </p:spPr>
      </p:pic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4"/>
          <a:srcRect l="-396" r="-396"/>
          <a:stretch>
            <a:fillRect/>
          </a:stretch>
        </p:blipFill>
        <p:spPr>
          <a:xfrm>
            <a:off x="5167274" y="4629607"/>
            <a:ext cx="19202" cy="866851"/>
          </a:xfrm>
          <a:prstGeom prst="rect">
            <a:avLst/>
          </a:prstGeom>
        </p:spPr>
      </p:pic>
      <p:sp>
        <p:nvSpPr>
          <p:cNvPr id="48" name="Shape 40"/>
          <p:cNvSpPr/>
          <p:nvPr/>
        </p:nvSpPr>
        <p:spPr>
          <a:xfrm>
            <a:off x="4967021" y="1990649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4929530" y="199064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2"/>
          <p:cNvSpPr txBox="1"/>
          <p:nvPr/>
        </p:nvSpPr>
        <p:spPr>
          <a:xfrm>
            <a:off x="5548579" y="1990649"/>
            <a:ext cx="592439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毛利率结构分析 </a:t>
            </a:r>
            <a:endParaRPr lang="en-US" sz="1100" dirty="0"/>
          </a:p>
        </p:txBody>
      </p:sp>
      <p:sp>
        <p:nvSpPr>
          <p:cNvPr id="51" name="Shape 43"/>
          <p:cNvSpPr/>
          <p:nvPr/>
        </p:nvSpPr>
        <p:spPr>
          <a:xfrm>
            <a:off x="5415077" y="2060143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5"/>
          <a:srcRect t="-1861" b="-1861"/>
          <a:stretch>
            <a:fillRect/>
          </a:stretch>
        </p:blipFill>
        <p:spPr>
          <a:xfrm>
            <a:off x="11191342" y="2026310"/>
            <a:ext cx="85954" cy="142646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5415077" y="2253082"/>
            <a:ext cx="60579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纯软件业务毛利60%+，但教育硬件、智慧城市项目拉低整体至40%左右。</a:t>
            </a:r>
            <a:endParaRPr lang="en-US" sz="900" dirty="0"/>
          </a:p>
        </p:txBody>
      </p:sp>
      <p:sp>
        <p:nvSpPr>
          <p:cNvPr id="54" name="Shape 45"/>
          <p:cNvSpPr/>
          <p:nvPr/>
        </p:nvSpPr>
        <p:spPr>
          <a:xfrm>
            <a:off x="5415077" y="2514600"/>
            <a:ext cx="2229307" cy="247802"/>
          </a:xfrm>
          <a:prstGeom prst="roundRect">
            <a:avLst>
              <a:gd name="adj" fmla="val 11354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6"/>
          <p:cNvSpPr txBox="1"/>
          <p:nvPr/>
        </p:nvSpPr>
        <p:spPr>
          <a:xfrm>
            <a:off x="5415077" y="2514600"/>
            <a:ext cx="2305202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判断：混合型业务，PS上限受限 (8-15倍)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4967021" y="3191256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4929530" y="3191256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200" dirty="0"/>
          </a:p>
        </p:txBody>
      </p:sp>
      <p:sp>
        <p:nvSpPr>
          <p:cNvPr id="58" name="Text 49"/>
          <p:cNvSpPr txBox="1"/>
          <p:nvPr/>
        </p:nvSpPr>
        <p:spPr>
          <a:xfrm>
            <a:off x="5548579" y="3191256"/>
            <a:ext cx="592439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增速可持续性验证 </a:t>
            </a:r>
            <a:endParaRPr lang="en-US" sz="1100" dirty="0"/>
          </a:p>
        </p:txBody>
      </p:sp>
      <p:sp>
        <p:nvSpPr>
          <p:cNvPr id="59" name="Shape 50"/>
          <p:cNvSpPr/>
          <p:nvPr/>
        </p:nvSpPr>
        <p:spPr>
          <a:xfrm>
            <a:off x="5415077" y="3259836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5"/>
          <a:srcRect t="-1861" b="-1861"/>
          <a:stretch>
            <a:fillRect/>
          </a:stretch>
        </p:blipFill>
        <p:spPr>
          <a:xfrm>
            <a:off x="11191342" y="3226918"/>
            <a:ext cx="85954" cy="142646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5415077" y="3452774"/>
            <a:ext cx="60579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教育业务有C端复购属性（高质量），政务业务属项目制（低质量）。星火大模型带来新增长点。</a:t>
            </a:r>
            <a:endParaRPr lang="en-US" sz="900" dirty="0"/>
          </a:p>
        </p:txBody>
      </p:sp>
      <p:sp>
        <p:nvSpPr>
          <p:cNvPr id="62" name="Shape 52"/>
          <p:cNvSpPr/>
          <p:nvPr/>
        </p:nvSpPr>
        <p:spPr>
          <a:xfrm>
            <a:off x="5415077" y="3715207"/>
            <a:ext cx="2333549" cy="247802"/>
          </a:xfrm>
          <a:prstGeom prst="roundRect">
            <a:avLst>
              <a:gd name="adj" fmla="val 11354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5415077" y="3715207"/>
            <a:ext cx="2410358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判断：增长稳健，但缺乏爆发力，溢价有限</a:t>
            </a:r>
            <a:endParaRPr lang="en-US" sz="900" dirty="0"/>
          </a:p>
        </p:txBody>
      </p:sp>
      <p:sp>
        <p:nvSpPr>
          <p:cNvPr id="64" name="Shape 54"/>
          <p:cNvSpPr/>
          <p:nvPr/>
        </p:nvSpPr>
        <p:spPr>
          <a:xfrm>
            <a:off x="4967021" y="4390949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5"/>
          <p:cNvSpPr/>
          <p:nvPr/>
        </p:nvSpPr>
        <p:spPr>
          <a:xfrm>
            <a:off x="4929530" y="4390949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200" dirty="0"/>
          </a:p>
        </p:txBody>
      </p:sp>
      <p:sp>
        <p:nvSpPr>
          <p:cNvPr id="66" name="Text 56"/>
          <p:cNvSpPr txBox="1"/>
          <p:nvPr/>
        </p:nvSpPr>
        <p:spPr>
          <a:xfrm>
            <a:off x="5548579" y="4390949"/>
            <a:ext cx="592439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净利率提升路径 </a:t>
            </a:r>
            <a:endParaRPr lang="en-US" sz="1100" dirty="0"/>
          </a:p>
        </p:txBody>
      </p:sp>
      <p:sp>
        <p:nvSpPr>
          <p:cNvPr id="67" name="Shape 57"/>
          <p:cNvSpPr/>
          <p:nvPr/>
        </p:nvSpPr>
        <p:spPr>
          <a:xfrm>
            <a:off x="5415077" y="4460443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8" name="Image 8" descr="preencoded.png"/>
          <p:cNvPicPr>
            <a:picLocks noChangeAspect="1"/>
          </p:cNvPicPr>
          <p:nvPr/>
        </p:nvPicPr>
        <p:blipFill>
          <a:blip r:embed="rId5"/>
          <a:srcRect t="-1861" b="-1861"/>
          <a:stretch>
            <a:fillRect/>
          </a:stretch>
        </p:blipFill>
        <p:spPr>
          <a:xfrm>
            <a:off x="11191342" y="4426610"/>
            <a:ext cx="85954" cy="142646"/>
          </a:xfrm>
          <a:prstGeom prst="rect">
            <a:avLst/>
          </a:prstGeom>
        </p:spPr>
      </p:pic>
      <p:sp>
        <p:nvSpPr>
          <p:cNvPr id="69" name="Text 58"/>
          <p:cNvSpPr txBox="1"/>
          <p:nvPr/>
        </p:nvSpPr>
        <p:spPr>
          <a:xfrm>
            <a:off x="5415077" y="4653382"/>
            <a:ext cx="6057900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研发费用率高达20%，压制了净利润。关键看研发投入何时转化为规模效应。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5415077" y="4914900"/>
            <a:ext cx="2857500" cy="247802"/>
          </a:xfrm>
          <a:prstGeom prst="roundRect">
            <a:avLst>
              <a:gd name="adj" fmla="val 11354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60"/>
          <p:cNvSpPr txBox="1"/>
          <p:nvPr/>
        </p:nvSpPr>
        <p:spPr>
          <a:xfrm>
            <a:off x="5415077" y="4914900"/>
            <a:ext cx="2934310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判断：潜在净利率可达10%-15%，当前PS具安全边际</a:t>
            </a:r>
            <a:endParaRPr lang="en-US" sz="900" dirty="0"/>
          </a:p>
        </p:txBody>
      </p:sp>
      <p:sp>
        <p:nvSpPr>
          <p:cNvPr id="72" name="Shape 61"/>
          <p:cNvSpPr/>
          <p:nvPr/>
        </p:nvSpPr>
        <p:spPr>
          <a:xfrm>
            <a:off x="4967021" y="5591556"/>
            <a:ext cx="304495" cy="304495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2"/>
          <p:cNvSpPr/>
          <p:nvPr/>
        </p:nvSpPr>
        <p:spPr>
          <a:xfrm>
            <a:off x="4929530" y="5591556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200" dirty="0"/>
          </a:p>
        </p:txBody>
      </p:sp>
      <p:sp>
        <p:nvSpPr>
          <p:cNvPr id="74" name="Text 63"/>
          <p:cNvSpPr txBox="1"/>
          <p:nvPr/>
        </p:nvSpPr>
        <p:spPr>
          <a:xfrm>
            <a:off x="5548579" y="5591556"/>
            <a:ext cx="592439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同类横向对比 </a:t>
            </a:r>
            <a:endParaRPr lang="en-US" sz="1100" dirty="0"/>
          </a:p>
        </p:txBody>
      </p:sp>
      <p:sp>
        <p:nvSpPr>
          <p:cNvPr id="75" name="Shape 64"/>
          <p:cNvSpPr/>
          <p:nvPr/>
        </p:nvSpPr>
        <p:spPr>
          <a:xfrm>
            <a:off x="5415077" y="5660136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6" name="Image 9" descr="preencoded.png"/>
          <p:cNvPicPr>
            <a:picLocks noChangeAspect="1"/>
          </p:cNvPicPr>
          <p:nvPr/>
        </p:nvPicPr>
        <p:blipFill>
          <a:blip r:embed="rId5"/>
          <a:srcRect t="-1861" b="-1861"/>
          <a:stretch>
            <a:fillRect/>
          </a:stretch>
        </p:blipFill>
        <p:spPr>
          <a:xfrm>
            <a:off x="11191342" y="5627218"/>
            <a:ext cx="85954" cy="142646"/>
          </a:xfrm>
          <a:prstGeom prst="rect">
            <a:avLst/>
          </a:prstGeom>
        </p:spPr>
      </p:pic>
      <p:sp>
        <p:nvSpPr>
          <p:cNvPr id="77" name="Text 65"/>
          <p:cNvSpPr txBox="1"/>
          <p:nvPr/>
        </p:nvSpPr>
        <p:spPr>
          <a:xfrm>
            <a:off x="5415077" y="5853074"/>
            <a:ext cx="5982005" cy="1911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对比金山办公(PS 20x+, 纯软高毛利)、海康威视(PS 3-4x, 硬件为主)。</a:t>
            </a:r>
            <a:endParaRPr lang="en-US" sz="900" dirty="0"/>
          </a:p>
        </p:txBody>
      </p:sp>
      <p:sp>
        <p:nvSpPr>
          <p:cNvPr id="78" name="Shape 66"/>
          <p:cNvSpPr/>
          <p:nvPr/>
        </p:nvSpPr>
        <p:spPr>
          <a:xfrm>
            <a:off x="5415077" y="6115507"/>
            <a:ext cx="3209544" cy="247802"/>
          </a:xfrm>
          <a:prstGeom prst="roundRect">
            <a:avLst>
              <a:gd name="adj" fmla="val 11354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7"/>
          <p:cNvSpPr txBox="1"/>
          <p:nvPr/>
        </p:nvSpPr>
        <p:spPr>
          <a:xfrm>
            <a:off x="5415077" y="6115507"/>
            <a:ext cx="3286354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判断：讯飞介于软硬之间，4-6倍PS反映了真实商业模式折价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6194146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PS的适用边界：用与不用的分界线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99378" y="590702"/>
            <a:ext cx="3829507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哪些场景PS是核心工具，哪些场景绝对不能用？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64801" y="619049"/>
            <a:ext cx="1561795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64801" y="619049"/>
            <a:ext cx="1624889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USAGE BOUNDARIES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343254"/>
            <a:ext cx="5333695" cy="4990795"/>
          </a:xfrm>
          <a:prstGeom prst="roundRect">
            <a:avLst>
              <a:gd name="adj" fmla="val 1119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9302" y="2325319"/>
            <a:ext cx="48390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9302" y="1647749"/>
            <a:ext cx="476402" cy="476402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rcRect l="-881" r="-881"/>
          <a:stretch>
            <a:fillRect/>
          </a:stretch>
        </p:blipFill>
        <p:spPr>
          <a:xfrm>
            <a:off x="938174" y="1752905"/>
            <a:ext cx="237744" cy="26700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438351" y="1591056"/>
            <a:ext cx="230428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适合使用 PS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438351" y="1981505"/>
            <a:ext cx="2304288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7F3D0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高成长、利润暂时失效、轻资产模式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9302" y="2572207"/>
            <a:ext cx="4839005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61949" y="2734056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276502" y="2714854"/>
            <a:ext cx="4429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尚未盈利但高增长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1276502" y="2980944"/>
            <a:ext cx="442935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FD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营收快速爆发（如50%+），但因规模效应未达拐点而亏损的科技公司。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19302" y="3440887"/>
            <a:ext cx="4839005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61949" y="3602736"/>
            <a:ext cx="171907" cy="17190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276502" y="3583534"/>
            <a:ext cx="4429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研发投入压薄利润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276502" y="3849624"/>
            <a:ext cx="442935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FD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当期巨额研发费用导致净利率极低（如&lt;3%），PE失效，但商业模式清晰。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819302" y="4309567"/>
            <a:ext cx="4839005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61949" y="4471416"/>
            <a:ext cx="171907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76502" y="4452214"/>
            <a:ext cx="4429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跨市场横向比较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1276502" y="4718304"/>
            <a:ext cx="442935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FD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对比中美同赛道公司（如寒武纪vs英伟达），消除会计准则对利润的影响。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819302" y="5178247"/>
            <a:ext cx="4839005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1949" y="5340096"/>
            <a:ext cx="171907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276502" y="5320894"/>
            <a:ext cx="4429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1FAE5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周期性底部亏损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1276502" y="5587898"/>
            <a:ext cx="442935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CFDF5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半导体等周期行业底部，用历史PS低位判断买点，规避PE为负的尴尬。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286500" y="1343254"/>
            <a:ext cx="5333695" cy="4990795"/>
          </a:xfrm>
          <a:prstGeom prst="roundRect">
            <a:avLst>
              <a:gd name="adj" fmla="val 1119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>
                <a:alpha val="30000"/>
              </a:srgbClr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534302" y="2325319"/>
            <a:ext cx="483900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534302" y="1647749"/>
            <a:ext cx="476402" cy="476402"/>
          </a:xfrm>
          <a:prstGeom prst="ellipse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72377" y="1752905"/>
            <a:ext cx="200254" cy="26700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7153351" y="1591056"/>
            <a:ext cx="2160727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8717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不适合使用 PS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7153351" y="1981505"/>
            <a:ext cx="2160727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ECACA">
                    <a:alpha val="8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稳定盈利、资产驱动、低毛利模式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534302" y="2572207"/>
            <a:ext cx="4839005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76949" y="2734056"/>
            <a:ext cx="171907" cy="17190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991502" y="2714854"/>
            <a:ext cx="4429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E2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稳定盈利的成熟企业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6991502" y="2980944"/>
            <a:ext cx="4429354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EF2F2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如食品饮料、家电龙头。利润稳定，PE是更准确、更主流的定价工具。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6534302" y="3440887"/>
            <a:ext cx="4839005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8"/>
          <a:srcRect l="-1773" r="-1773"/>
          <a:stretch>
            <a:fillRect/>
          </a:stretch>
        </p:blipFill>
        <p:spPr>
          <a:xfrm>
            <a:off x="6676949" y="3602736"/>
            <a:ext cx="133502" cy="171907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6953098" y="3583534"/>
            <a:ext cx="4467758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E2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资产驱动型行业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6953098" y="3849624"/>
            <a:ext cx="4467758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EF2F2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银行、地产、钢铁。价值取决于净资产规模，PB（市净率）才是核心。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6534302" y="4309567"/>
            <a:ext cx="4839005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9"/>
          <a:srcRect t="-842" b="-842"/>
          <a:stretch>
            <a:fillRect/>
          </a:stretch>
        </p:blipFill>
        <p:spPr>
          <a:xfrm>
            <a:off x="6676949" y="4471416"/>
            <a:ext cx="190195" cy="171907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7010705" y="4452214"/>
            <a:ext cx="4410151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E2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极低毛利率行业</a:t>
            </a:r>
            <a:endParaRPr lang="en-US" sz="1200" dirty="0"/>
          </a:p>
        </p:txBody>
      </p:sp>
      <p:sp>
        <p:nvSpPr>
          <p:cNvPr id="48" name="Text 37"/>
          <p:cNvSpPr txBox="1"/>
          <p:nvPr/>
        </p:nvSpPr>
        <p:spPr>
          <a:xfrm>
            <a:off x="7010705" y="4718304"/>
            <a:ext cx="4410151" cy="1810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EF2F2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批发零售、低端制造。毛利微薄，PS 0.5倍可能都贵，必须看利润率。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534302" y="5178247"/>
            <a:ext cx="4839005" cy="905256"/>
          </a:xfrm>
          <a:prstGeom prst="roundRect">
            <a:avLst>
              <a:gd name="adj" fmla="val 17012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6676949" y="5340096"/>
            <a:ext cx="171907" cy="171907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6991502" y="5320894"/>
            <a:ext cx="4429354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E2E2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早期概念型公司</a:t>
            </a:r>
            <a:endParaRPr lang="en-US" sz="1200" dirty="0"/>
          </a:p>
        </p:txBody>
      </p:sp>
      <p:sp>
        <p:nvSpPr>
          <p:cNvPr id="52" name="Text 40"/>
          <p:cNvSpPr txBox="1"/>
          <p:nvPr/>
        </p:nvSpPr>
        <p:spPr>
          <a:xfrm>
            <a:off x="6991502" y="5587898"/>
            <a:ext cx="4315054" cy="3529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EF2F2">
                    <a:alpha val="7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连营收都不稳定（如&lt;1亿），PS会是一个天文数字，此时应关注一级市场估值。</a:t>
            </a:r>
            <a:endParaRPr lang="en-US" sz="900" dirty="0"/>
          </a:p>
        </p:txBody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11"/>
          <a:srcRect t="-1" b="-1"/>
          <a:stretch>
            <a:fillRect/>
          </a:stretch>
        </p:blipFill>
        <p:spPr>
          <a:xfrm>
            <a:off x="571500" y="6365875"/>
            <a:ext cx="11049000" cy="510540"/>
          </a:xfrm>
          <a:prstGeom prst="rect">
            <a:avLst/>
          </a:prstGeom>
        </p:spPr>
      </p:pic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887730" y="6572402"/>
            <a:ext cx="142646" cy="190195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86307" y="6365875"/>
            <a:ext cx="59253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核心原则：</a:t>
            </a: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工具选择不是"越高级越好"，而是"越匹配越好"。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能用PE就用PE（盈利稳定）；PE失效用PEG（有增速）；前两者都失效时，PS才是最后一道防线。 </a:t>
            </a:r>
            <a:endParaRPr lang="en-US" sz="1000" dirty="0"/>
          </a:p>
        </p:txBody>
      </p:sp>
      <p:sp>
        <p:nvSpPr>
          <p:cNvPr id="56" name="Shape 42"/>
          <p:cNvSpPr/>
          <p:nvPr/>
        </p:nvSpPr>
        <p:spPr>
          <a:xfrm>
            <a:off x="5905195" y="3238805"/>
            <a:ext cx="381305" cy="381305"/>
          </a:xfrm>
          <a:prstGeom prst="ellipse">
            <a:avLst/>
          </a:prstGeom>
          <a:solidFill>
            <a:srgbClr val="1E293B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57" name="Text 43"/>
          <p:cNvSpPr/>
          <p:nvPr/>
        </p:nvSpPr>
        <p:spPr>
          <a:xfrm>
            <a:off x="5876849" y="3238805"/>
            <a:ext cx="438912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962095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PS的四大误区与纠偏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3941978" y="590702"/>
            <a:ext cx="301020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警惕：错误的PS分析比不用PS更危险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04527" y="619049"/>
            <a:ext cx="1923898" cy="276149"/>
          </a:xfrm>
          <a:prstGeom prst="roundRect">
            <a:avLst>
              <a:gd name="adj" fmla="val 91345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04527" y="619049"/>
            <a:ext cx="2000707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PITFALLS &amp; CORRECTIONS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295705"/>
            <a:ext cx="5429707" cy="2495398"/>
          </a:xfrm>
          <a:prstGeom prst="roundRect">
            <a:avLst>
              <a:gd name="adj" fmla="val 335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1754" y="14950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3349" y="149504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90549" y="1505102"/>
            <a:ext cx="1708099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误区：PS越低越好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1754" y="1943100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EF4444">
              <a:alpha val="5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771754" y="1943100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86307" y="2057400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典型表现 </a:t>
            </a:r>
            <a:endParaRPr lang="en-US" sz="9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4400" y="2085746"/>
            <a:ext cx="114300" cy="1143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14400" y="2286000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只看绝对数值，认为PS 0.3倍的公司比PS 10倍的公司便宜，无视行业属性。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914400" y="3047695"/>
            <a:ext cx="21909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54303" y="3132734"/>
            <a:ext cx="2127809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例：拿低毛利超市(0.3x)去比高毛利软件(10x)。 </a:t>
            </a:r>
            <a:endParaRPr lang="en-US" sz="9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3167482"/>
            <a:ext cx="114300" cy="1143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357677" y="1943100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10B981">
              <a:alpha val="5000"/>
            </a:srgbClr>
          </a:solidFill>
        </p:spPr>
      </p:sp>
      <p:sp>
        <p:nvSpPr>
          <p:cNvPr id="22" name="Shape 18"/>
          <p:cNvSpPr/>
          <p:nvPr/>
        </p:nvSpPr>
        <p:spPr>
          <a:xfrm>
            <a:off x="3357677" y="1943100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3672230" y="2057400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正确做法 </a:t>
            </a:r>
            <a:endParaRPr lang="en-US" sz="9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00323" y="2085746"/>
            <a:ext cx="114300" cy="11430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500323" y="2286000"/>
            <a:ext cx="2267712" cy="1191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先看毛利率和增速。相同毛利率、相同增速前提下，PS才是越低越好。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191402" y="1295705"/>
            <a:ext cx="5429707" cy="2495398"/>
          </a:xfrm>
          <a:prstGeom prst="roundRect">
            <a:avLst>
              <a:gd name="adj" fmla="val 335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391656" y="149504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353251" y="1495044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810451" y="1505102"/>
            <a:ext cx="2119579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误区：低毛利行业用PS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6391656" y="1943100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EF4444">
              <a:alpha val="5000"/>
            </a:srgbClr>
          </a:solidFill>
        </p:spPr>
      </p:sp>
      <p:sp>
        <p:nvSpPr>
          <p:cNvPr id="31" name="Shape 26"/>
          <p:cNvSpPr/>
          <p:nvPr/>
        </p:nvSpPr>
        <p:spPr>
          <a:xfrm>
            <a:off x="6391656" y="1943100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706210" y="2057400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典型表现 </a:t>
            </a:r>
            <a:endParaRPr lang="en-US" sz="90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34302" y="2085746"/>
            <a:ext cx="114300" cy="1143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6534302" y="2286000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用PS去给制造、零售等低毛利行业估值，得出"严重低估"的假象。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534302" y="3047695"/>
            <a:ext cx="21909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6674206" y="3132734"/>
            <a:ext cx="2127809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例：毛利5%的公司，PS 0.5倍可能已是天价。 </a:t>
            </a:r>
            <a:endParaRPr lang="en-US" sz="9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34302" y="3167482"/>
            <a:ext cx="114300" cy="11430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977579" y="1943100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10B981">
              <a:alpha val="5000"/>
            </a:srgbClr>
          </a:solidFill>
        </p:spPr>
      </p:sp>
      <p:sp>
        <p:nvSpPr>
          <p:cNvPr id="39" name="Shape 32"/>
          <p:cNvSpPr/>
          <p:nvPr/>
        </p:nvSpPr>
        <p:spPr>
          <a:xfrm>
            <a:off x="8977579" y="1943100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9292133" y="2057400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正确做法 </a:t>
            </a:r>
            <a:endParaRPr lang="en-US" sz="900" dirty="0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20226" y="2085746"/>
            <a:ext cx="114300" cy="1143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120226" y="2286000"/>
            <a:ext cx="2267712" cy="1191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低毛利行业直接改用PE（看利润）或PB（看净资产），PS在此类行业完全无效。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571500" y="3981298"/>
            <a:ext cx="5429707" cy="2495398"/>
          </a:xfrm>
          <a:prstGeom prst="roundRect">
            <a:avLst>
              <a:gd name="adj" fmla="val 335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4" name="Shape 36"/>
          <p:cNvSpPr/>
          <p:nvPr/>
        </p:nvSpPr>
        <p:spPr>
          <a:xfrm>
            <a:off x="771754" y="41815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733349" y="4181551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38"/>
          <p:cNvSpPr txBox="1"/>
          <p:nvPr/>
        </p:nvSpPr>
        <p:spPr>
          <a:xfrm>
            <a:off x="1190549" y="4190695"/>
            <a:ext cx="2263140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误区：忽视增速可持续性</a:t>
            </a:r>
            <a:endParaRPr lang="en-US" sz="1500" dirty="0"/>
          </a:p>
        </p:txBody>
      </p:sp>
      <p:sp>
        <p:nvSpPr>
          <p:cNvPr id="47" name="Shape 39"/>
          <p:cNvSpPr/>
          <p:nvPr/>
        </p:nvSpPr>
        <p:spPr>
          <a:xfrm>
            <a:off x="771754" y="4629607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EF4444">
              <a:alpha val="5000"/>
            </a:srgbClr>
          </a:solidFill>
        </p:spPr>
      </p:sp>
      <p:sp>
        <p:nvSpPr>
          <p:cNvPr id="48" name="Shape 40"/>
          <p:cNvSpPr/>
          <p:nvPr/>
        </p:nvSpPr>
        <p:spPr>
          <a:xfrm>
            <a:off x="771754" y="4629607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1086307" y="4743907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典型表现 </a:t>
            </a:r>
            <a:endParaRPr lang="en-US" sz="9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14400" y="4772254"/>
            <a:ext cx="114300" cy="114300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914400" y="4972507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看到营收翻倍就给高PS，不区分是一次性大单还是可持续的业务增长。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914400" y="5734202"/>
            <a:ext cx="21909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1054303" y="5819242"/>
            <a:ext cx="2127809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例：寒武纪若依赖单一G端大单，次年高PS将崩塌。 </a:t>
            </a:r>
            <a:endParaRPr lang="en-US" sz="900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5853074"/>
            <a:ext cx="114300" cy="114300"/>
          </a:xfrm>
          <a:prstGeom prst="rect">
            <a:avLst/>
          </a:prstGeom>
        </p:spPr>
      </p:pic>
      <p:sp>
        <p:nvSpPr>
          <p:cNvPr id="55" name="Shape 45"/>
          <p:cNvSpPr/>
          <p:nvPr/>
        </p:nvSpPr>
        <p:spPr>
          <a:xfrm>
            <a:off x="3357677" y="4629607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10B981">
              <a:alpha val="5000"/>
            </a:srgbClr>
          </a:solidFill>
        </p:spPr>
      </p:sp>
      <p:sp>
        <p:nvSpPr>
          <p:cNvPr id="56" name="Shape 46"/>
          <p:cNvSpPr/>
          <p:nvPr/>
        </p:nvSpPr>
        <p:spPr>
          <a:xfrm>
            <a:off x="3357677" y="4629607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3672230" y="4743907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正确做法 </a:t>
            </a:r>
            <a:endParaRPr lang="en-US" sz="900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500323" y="4772254"/>
            <a:ext cx="114300" cy="114300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3500323" y="4972507"/>
            <a:ext cx="2267712" cy="1191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拆解营收结构，区分订阅型（高质量）与项目型（低质量）收入，给予不同溢价。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6191402" y="3981298"/>
            <a:ext cx="5429707" cy="2495398"/>
          </a:xfrm>
          <a:prstGeom prst="roundRect">
            <a:avLst>
              <a:gd name="adj" fmla="val 3357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6391656" y="4181551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1"/>
          <p:cNvSpPr txBox="1"/>
          <p:nvPr/>
        </p:nvSpPr>
        <p:spPr>
          <a:xfrm>
            <a:off x="6353251" y="4181551"/>
            <a:ext cx="381305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</a:t>
            </a:r>
            <a:endParaRPr lang="en-US" sz="1300" dirty="0"/>
          </a:p>
        </p:txBody>
      </p:sp>
      <p:sp>
        <p:nvSpPr>
          <p:cNvPr id="63" name="Text 52"/>
          <p:cNvSpPr txBox="1"/>
          <p:nvPr/>
        </p:nvSpPr>
        <p:spPr>
          <a:xfrm>
            <a:off x="6810451" y="4190695"/>
            <a:ext cx="2366467" cy="2862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误区：低增速+低PS=机会</a:t>
            </a:r>
            <a:endParaRPr lang="en-US" sz="1500" dirty="0"/>
          </a:p>
        </p:txBody>
      </p:sp>
      <p:sp>
        <p:nvSpPr>
          <p:cNvPr id="64" name="Shape 53"/>
          <p:cNvSpPr/>
          <p:nvPr/>
        </p:nvSpPr>
        <p:spPr>
          <a:xfrm>
            <a:off x="6391656" y="4629607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EF4444">
              <a:alpha val="5000"/>
            </a:srgbClr>
          </a:solidFill>
        </p:spPr>
      </p:sp>
      <p:sp>
        <p:nvSpPr>
          <p:cNvPr id="65" name="Shape 54"/>
          <p:cNvSpPr/>
          <p:nvPr/>
        </p:nvSpPr>
        <p:spPr>
          <a:xfrm>
            <a:off x="6391656" y="4629607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66" name="Text 55"/>
          <p:cNvSpPr txBox="1"/>
          <p:nvPr/>
        </p:nvSpPr>
        <p:spPr>
          <a:xfrm>
            <a:off x="6706210" y="4743907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典型表现 </a:t>
            </a:r>
            <a:endParaRPr lang="en-US" sz="900" dirty="0"/>
          </a:p>
        </p:txBody>
      </p:sp>
      <p:pic>
        <p:nvPicPr>
          <p:cNvPr id="67" name="Image 9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34302" y="4772254"/>
            <a:ext cx="114300" cy="114300"/>
          </a:xfrm>
          <a:prstGeom prst="rect">
            <a:avLst/>
          </a:prstGeom>
        </p:spPr>
      </p:pic>
      <p:sp>
        <p:nvSpPr>
          <p:cNvPr id="68" name="Text 56"/>
          <p:cNvSpPr txBox="1"/>
          <p:nvPr/>
        </p:nvSpPr>
        <p:spPr>
          <a:xfrm>
            <a:off x="6534302" y="4972507"/>
            <a:ext cx="2267712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买入增速仅3%、PS仅1倍的公司，认为是"双低"机会，实则是价值陷阱。</a:t>
            </a:r>
            <a:endParaRPr lang="en-US" sz="1000" dirty="0"/>
          </a:p>
        </p:txBody>
      </p:sp>
      <p:sp>
        <p:nvSpPr>
          <p:cNvPr id="69" name="Shape 57"/>
          <p:cNvSpPr/>
          <p:nvPr/>
        </p:nvSpPr>
        <p:spPr>
          <a:xfrm>
            <a:off x="6534302" y="5734202"/>
            <a:ext cx="21909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0" name="Text 58"/>
          <p:cNvSpPr txBox="1"/>
          <p:nvPr/>
        </p:nvSpPr>
        <p:spPr>
          <a:xfrm>
            <a:off x="6674206" y="5819242"/>
            <a:ext cx="2127809" cy="3438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例：夕阳行业低PS反映的是市场对未来的极度悲观。 </a:t>
            </a:r>
            <a:endParaRPr lang="en-US" sz="900" dirty="0"/>
          </a:p>
        </p:txBody>
      </p:sp>
      <p:pic>
        <p:nvPicPr>
          <p:cNvPr id="71" name="Image 10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534302" y="5853074"/>
            <a:ext cx="114300" cy="114300"/>
          </a:xfrm>
          <a:prstGeom prst="rect">
            <a:avLst/>
          </a:prstGeom>
        </p:spPr>
      </p:pic>
      <p:sp>
        <p:nvSpPr>
          <p:cNvPr id="72" name="Shape 59"/>
          <p:cNvSpPr/>
          <p:nvPr/>
        </p:nvSpPr>
        <p:spPr>
          <a:xfrm>
            <a:off x="8977579" y="4629607"/>
            <a:ext cx="2447849" cy="1647749"/>
          </a:xfrm>
          <a:prstGeom prst="roundRect">
            <a:avLst>
              <a:gd name="adj" fmla="val 5132"/>
            </a:avLst>
          </a:prstGeom>
          <a:solidFill>
            <a:srgbClr val="10B981">
              <a:alpha val="5000"/>
            </a:srgbClr>
          </a:solidFill>
        </p:spPr>
      </p:sp>
      <p:sp>
        <p:nvSpPr>
          <p:cNvPr id="73" name="Shape 60"/>
          <p:cNvSpPr/>
          <p:nvPr/>
        </p:nvSpPr>
        <p:spPr>
          <a:xfrm>
            <a:off x="8977579" y="4629607"/>
            <a:ext cx="28346" cy="1647749"/>
          </a:xfrm>
          <a:prstGeom prst="roundRect">
            <a:avLst>
              <a:gd name="adj" fmla="val 29834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4" name="Text 61"/>
          <p:cNvSpPr txBox="1"/>
          <p:nvPr/>
        </p:nvSpPr>
        <p:spPr>
          <a:xfrm>
            <a:off x="9292133" y="4743907"/>
            <a:ext cx="2194560" cy="1719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正确做法 </a:t>
            </a:r>
            <a:endParaRPr lang="en-US" sz="900" dirty="0"/>
          </a:p>
        </p:txBody>
      </p:sp>
      <p:pic>
        <p:nvPicPr>
          <p:cNvPr id="75" name="Image 1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120226" y="4772254"/>
            <a:ext cx="114300" cy="114300"/>
          </a:xfrm>
          <a:prstGeom prst="rect">
            <a:avLst/>
          </a:prstGeom>
        </p:spPr>
      </p:pic>
      <p:sp>
        <p:nvSpPr>
          <p:cNvPr id="76" name="Text 62"/>
          <p:cNvSpPr txBox="1"/>
          <p:nvPr/>
        </p:nvSpPr>
        <p:spPr>
          <a:xfrm>
            <a:off x="9120226" y="4972507"/>
            <a:ext cx="2267712" cy="11914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PS是成长股工具。无成长、低PS的公司，应改用股息率或PB进行防御性定价。</a:t>
            </a:r>
            <a:endParaRPr lang="en-US" sz="1000" dirty="0"/>
          </a:p>
        </p:txBody>
      </p:sp>
      <p:pic>
        <p:nvPicPr>
          <p:cNvPr id="77" name="Image 12" descr="preencoded.png"/>
          <p:cNvPicPr>
            <a:picLocks noChangeAspect="1"/>
          </p:cNvPicPr>
          <p:nvPr/>
        </p:nvPicPr>
        <p:blipFill>
          <a:blip r:embed="rId4"/>
          <a:srcRect t="-401" b="-401"/>
          <a:stretch>
            <a:fillRect/>
          </a:stretch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78" name="Image 13" descr="preencoded.png"/>
          <p:cNvPicPr>
            <a:picLocks noChangeAspect="1"/>
          </p:cNvPicPr>
          <p:nvPr/>
        </p:nvPicPr>
        <p:blipFill>
          <a:blip r:embed="rId5"/>
          <a:srcRect t="-401" b="-401"/>
          <a:stretch>
            <a:fillRect/>
          </a:stretch>
        </p:blipFill>
        <p:spPr>
          <a:xfrm>
            <a:off x="0" y="6801307"/>
            <a:ext cx="10362895" cy="576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6173114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五讲体系总览：估值工具选择地图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905195" y="590702"/>
            <a:ext cx="2407615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一张图搞定所有估值场景匹配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47504" y="619049"/>
            <a:ext cx="1876349" cy="276149"/>
          </a:xfrm>
          <a:prstGeom prst="roundRect">
            <a:avLst>
              <a:gd name="adj" fmla="val 9134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47504" y="619049"/>
            <a:ext cx="195224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0B98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VALUATION TOOLKIT MAP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295705"/>
            <a:ext cx="11048695" cy="4038905"/>
          </a:xfrm>
          <a:prstGeom prst="roundRect">
            <a:avLst>
              <a:gd name="adj" fmla="val 128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" y="1304849"/>
            <a:ext cx="1990649" cy="495605"/>
          </a:xfrm>
          <a:prstGeom prst="rect">
            <a:avLst/>
          </a:prstGeom>
          <a:solidFill>
            <a:srgbClr val="0F172A">
              <a:alpha val="80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580644" y="1781251"/>
            <a:ext cx="1990649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0644" y="1304849"/>
            <a:ext cx="2067458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工具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6721" y="1304849"/>
            <a:ext cx="2428646" cy="495605"/>
          </a:xfrm>
          <a:prstGeom prst="rect">
            <a:avLst/>
          </a:prstGeom>
          <a:solidFill>
            <a:srgbClr val="0F172A">
              <a:alpha val="80000"/>
            </a:srgbClr>
          </a:solidFill>
        </p:spPr>
      </p:sp>
      <p:sp>
        <p:nvSpPr>
          <p:cNvPr id="14" name="Shape 12"/>
          <p:cNvSpPr/>
          <p:nvPr/>
        </p:nvSpPr>
        <p:spPr>
          <a:xfrm>
            <a:off x="2566721" y="1781251"/>
            <a:ext cx="2428646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6721" y="1304849"/>
            <a:ext cx="2505456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核心适用场景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92624" y="1304849"/>
            <a:ext cx="2210105" cy="495605"/>
          </a:xfrm>
          <a:prstGeom prst="rect">
            <a:avLst/>
          </a:prstGeom>
          <a:solidFill>
            <a:srgbClr val="0F172A">
              <a:alpha val="8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4992624" y="1781251"/>
            <a:ext cx="221010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92624" y="1304849"/>
            <a:ext cx="228600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关键前提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99071" y="1304849"/>
            <a:ext cx="2210105" cy="495605"/>
          </a:xfrm>
          <a:prstGeom prst="rect">
            <a:avLst/>
          </a:prstGeom>
          <a:solidFill>
            <a:srgbClr val="0F172A">
              <a:alpha val="80000"/>
            </a:srgbClr>
          </a:solidFill>
        </p:spPr>
      </p:sp>
      <p:sp>
        <p:nvSpPr>
          <p:cNvPr id="20" name="Shape 18"/>
          <p:cNvSpPr/>
          <p:nvPr/>
        </p:nvSpPr>
        <p:spPr>
          <a:xfrm>
            <a:off x="7199071" y="1781251"/>
            <a:ext cx="221010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99071" y="1304849"/>
            <a:ext cx="228600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2025年关键参数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404604" y="1304849"/>
            <a:ext cx="2210105" cy="495605"/>
          </a:xfrm>
          <a:prstGeom prst="rect">
            <a:avLst/>
          </a:prstGeom>
          <a:solidFill>
            <a:srgbClr val="0F172A">
              <a:alpha val="80000"/>
            </a:srgbClr>
          </a:solidFill>
        </p:spPr>
      </p:sp>
      <p:sp>
        <p:nvSpPr>
          <p:cNvPr id="23" name="Shape 21"/>
          <p:cNvSpPr/>
          <p:nvPr/>
        </p:nvSpPr>
        <p:spPr>
          <a:xfrm>
            <a:off x="9404604" y="1781251"/>
            <a:ext cx="221010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04604" y="1304849"/>
            <a:ext cx="2286000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失效条件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80644" y="2420417"/>
            <a:ext cx="19906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1754" y="1943100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rcRect l="-33" r="-33"/>
          <a:stretch>
            <a:fillRect/>
          </a:stretch>
        </p:blipFill>
        <p:spPr>
          <a:xfrm>
            <a:off x="857707" y="2038198"/>
            <a:ext cx="171907" cy="152705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2566721" y="2420417"/>
            <a:ext cx="24286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566721" y="1800454"/>
            <a:ext cx="2505456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稳定盈利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消费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公用事业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992624" y="2420417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992624" y="1800454"/>
            <a:ext cx="22860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利润稳定且为正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199071" y="2420417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99071" y="1800454"/>
            <a:ext cx="22860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参考行业历史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PE分位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404604" y="2420417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404604" y="1800454"/>
            <a:ext cx="22860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亏损 / 利润大幅波动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0644" y="3225089"/>
            <a:ext cx="19906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71754" y="2654503"/>
            <a:ext cx="200254" cy="342900"/>
          </a:xfrm>
          <a:prstGeom prst="roundRect">
            <a:avLst>
              <a:gd name="adj" fmla="val 260926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92785" y="2749601"/>
            <a:ext cx="152705" cy="152705"/>
          </a:xfrm>
          <a:prstGeom prst="rect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2566721" y="3225089"/>
            <a:ext cx="24286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2566721" y="2424989"/>
            <a:ext cx="2505456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高成长科技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创新药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AI应用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4992624" y="3225089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4992624" y="2424989"/>
            <a:ext cx="2286000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有增速 + 有盈利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7199071" y="3225089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7199071" y="2424989"/>
            <a:ext cx="2286000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2.5万亿基准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PEG &lt; 1.2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9404604" y="3225089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9404604" y="2424989"/>
            <a:ext cx="2286000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零增速 / 亏损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580644" y="3846881"/>
            <a:ext cx="19906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71754" y="3364992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66851" y="3461004"/>
            <a:ext cx="152705" cy="152705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2566721" y="3846881"/>
            <a:ext cx="24286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2566721" y="3226918"/>
            <a:ext cx="2505456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银行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地产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钢铁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保险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4992624" y="3846881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992624" y="3226918"/>
            <a:ext cx="22860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资产驱动型行业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7199071" y="3846881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50"/>
          <p:cNvSpPr txBox="1"/>
          <p:nvPr/>
        </p:nvSpPr>
        <p:spPr>
          <a:xfrm>
            <a:off x="7199071" y="3226918"/>
            <a:ext cx="22860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低利率推升合理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PB中枢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9404604" y="3846881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9404604" y="3226918"/>
            <a:ext cx="2286000" cy="5056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轻资产 / 纯科技</a:t>
            </a:r>
            <a:endParaRPr lang="en-US" sz="1000" dirty="0"/>
          </a:p>
        </p:txBody>
      </p:sp>
      <p:sp>
        <p:nvSpPr>
          <p:cNvPr id="58" name="Shape 53"/>
          <p:cNvSpPr/>
          <p:nvPr/>
        </p:nvSpPr>
        <p:spPr>
          <a:xfrm>
            <a:off x="580644" y="4646981"/>
            <a:ext cx="1990649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771754" y="4076395"/>
            <a:ext cx="333756" cy="342900"/>
          </a:xfrm>
          <a:prstGeom prst="roundRect">
            <a:avLst>
              <a:gd name="adj" fmla="val 93933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57707" y="4171493"/>
            <a:ext cx="152705" cy="152705"/>
          </a:xfrm>
          <a:prstGeom prst="rect">
            <a:avLst/>
          </a:prstGeom>
        </p:spPr>
      </p:pic>
      <p:sp>
        <p:nvSpPr>
          <p:cNvPr id="61" name="Shape 55"/>
          <p:cNvSpPr/>
          <p:nvPr/>
        </p:nvSpPr>
        <p:spPr>
          <a:xfrm>
            <a:off x="2566721" y="4646981"/>
            <a:ext cx="2428646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2566721" y="3846881"/>
            <a:ext cx="2505456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水电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高速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优质消费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4992624" y="4646981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4992624" y="3846881"/>
            <a:ext cx="2286000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现金流可预测</a:t>
            </a:r>
            <a:endParaRPr lang="en-US" sz="1000" dirty="0"/>
          </a:p>
        </p:txBody>
      </p:sp>
      <p:sp>
        <p:nvSpPr>
          <p:cNvPr id="65" name="Shape 59"/>
          <p:cNvSpPr/>
          <p:nvPr/>
        </p:nvSpPr>
        <p:spPr>
          <a:xfrm>
            <a:off x="7199071" y="4646981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7199071" y="3846881"/>
            <a:ext cx="2286000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WACC降至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7%~9%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9404604" y="4646981"/>
            <a:ext cx="2210105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9404604" y="3846881"/>
            <a:ext cx="2286000" cy="68671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高成长期假设误差过大</a:t>
            </a:r>
            <a:endParaRPr lang="en-US" sz="1000" dirty="0"/>
          </a:p>
        </p:txBody>
      </p:sp>
      <p:sp>
        <p:nvSpPr>
          <p:cNvPr id="69" name="Shape 63"/>
          <p:cNvSpPr/>
          <p:nvPr/>
        </p:nvSpPr>
        <p:spPr>
          <a:xfrm>
            <a:off x="771754" y="4817974"/>
            <a:ext cx="342900" cy="342900"/>
          </a:xfrm>
          <a:prstGeom prst="roundRect">
            <a:avLst>
              <a:gd name="adj" fmla="val 88889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0" name="Image 4" descr="preencoded.png"/>
          <p:cNvPicPr>
            <a:picLocks noChangeAspect="1"/>
          </p:cNvPicPr>
          <p:nvPr/>
        </p:nvPicPr>
        <p:blipFill>
          <a:blip r:embed="rId5"/>
          <a:srcRect t="-100" b="-100"/>
          <a:stretch>
            <a:fillRect/>
          </a:stretch>
        </p:blipFill>
        <p:spPr>
          <a:xfrm>
            <a:off x="886054" y="4913071"/>
            <a:ext cx="114300" cy="152705"/>
          </a:xfrm>
          <a:prstGeom prst="rect">
            <a:avLst/>
          </a:prstGeom>
        </p:spPr>
      </p:pic>
      <p:sp>
        <p:nvSpPr>
          <p:cNvPr id="71" name="Text 64"/>
          <p:cNvSpPr txBox="1"/>
          <p:nvPr/>
        </p:nvSpPr>
        <p:spPr>
          <a:xfrm>
            <a:off x="2566721" y="4648810"/>
            <a:ext cx="2505456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亏损科技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高成长</a:t>
            </a:r>
            <a:r>
              <a:rPr lang="en-US" sz="9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国产替代</a:t>
            </a:r>
            <a:endParaRPr lang="en-US" sz="1000" dirty="0"/>
          </a:p>
        </p:txBody>
      </p:sp>
      <p:sp>
        <p:nvSpPr>
          <p:cNvPr id="72" name="Text 65"/>
          <p:cNvSpPr txBox="1"/>
          <p:nvPr/>
        </p:nvSpPr>
        <p:spPr>
          <a:xfrm>
            <a:off x="4992624" y="4648810"/>
            <a:ext cx="2286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营收真实可信</a:t>
            </a:r>
            <a:endParaRPr lang="en-US" sz="1000" dirty="0"/>
          </a:p>
        </p:txBody>
      </p:sp>
      <p:sp>
        <p:nvSpPr>
          <p:cNvPr id="73" name="Text 66"/>
          <p:cNvSpPr txBox="1"/>
          <p:nvPr/>
        </p:nvSpPr>
        <p:spPr>
          <a:xfrm>
            <a:off x="7199071" y="4648810"/>
            <a:ext cx="2286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AI算力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30~120倍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AI应用</a:t>
            </a:r>
            <a:r>
              <a:rPr lang="en-US" sz="1000" b="1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4~15倍</a:t>
            </a:r>
            <a:endParaRPr lang="en-US" sz="1000" dirty="0"/>
          </a:p>
        </p:txBody>
      </p:sp>
      <p:sp>
        <p:nvSpPr>
          <p:cNvPr id="74" name="Text 67"/>
          <p:cNvSpPr txBox="1"/>
          <p:nvPr/>
        </p:nvSpPr>
        <p:spPr>
          <a:xfrm>
            <a:off x="9404604" y="4648810"/>
            <a:ext cx="22860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零增速 / 低毛利</a:t>
            </a:r>
            <a:endParaRPr lang="en-US" sz="1000" dirty="0"/>
          </a:p>
        </p:txBody>
      </p:sp>
      <p:sp>
        <p:nvSpPr>
          <p:cNvPr id="75" name="Shape 68"/>
          <p:cNvSpPr/>
          <p:nvPr/>
        </p:nvSpPr>
        <p:spPr>
          <a:xfrm>
            <a:off x="571500" y="5524805"/>
            <a:ext cx="11048695" cy="952805"/>
          </a:xfrm>
          <a:prstGeom prst="roundRect">
            <a:avLst>
              <a:gd name="adj" fmla="val 23033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</p:sp>
      <p:pic>
        <p:nvPicPr>
          <p:cNvPr id="76" name="Image 5" descr="preencoded.png"/>
          <p:cNvPicPr>
            <a:picLocks noChangeAspect="1"/>
          </p:cNvPicPr>
          <p:nvPr/>
        </p:nvPicPr>
        <p:blipFill>
          <a:blip r:embed="rId6"/>
          <a:srcRect l="-90" r="-90"/>
          <a:stretch>
            <a:fillRect/>
          </a:stretch>
        </p:blipFill>
        <p:spPr>
          <a:xfrm>
            <a:off x="771754" y="5848502"/>
            <a:ext cx="381305" cy="304495"/>
          </a:xfrm>
          <a:prstGeom prst="rect">
            <a:avLst/>
          </a:prstGeom>
        </p:spPr>
      </p:pic>
      <p:sp>
        <p:nvSpPr>
          <p:cNvPr id="77" name="Text 69"/>
          <p:cNvSpPr txBox="1"/>
          <p:nvPr/>
        </p:nvSpPr>
        <p:spPr>
          <a:xfrm>
            <a:off x="1390802" y="5634533"/>
            <a:ext cx="10221163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75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黄金法则</a:t>
            </a:r>
            <a:endParaRPr lang="en-US" sz="1300" dirty="0"/>
          </a:p>
        </p:txBody>
      </p:sp>
      <p:sp>
        <p:nvSpPr>
          <p:cNvPr id="78" name="Text 70"/>
          <p:cNvSpPr txBox="1"/>
          <p:nvPr/>
        </p:nvSpPr>
        <p:spPr>
          <a:xfrm>
            <a:off x="1390802" y="5939942"/>
            <a:ext cx="10106863" cy="4288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工具不是越高级越好，而是</a:t>
            </a:r>
            <a:r>
              <a:rPr lang="en-US" sz="12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越匹配越好</a:t>
            </a: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。选对工具，是估值分析的第一步，也是最重要的一步。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所有的估值工具，本质上都是在回答同一个问题：价格与价值是否匹配？ 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038758"/>
            <a:ext cx="11048695" cy="1920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6194146" cy="5148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本讲回顾 · 关键要点与风险声明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5718658" y="590702"/>
            <a:ext cx="1603858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MODULE 05 RECAP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792310" y="619049"/>
            <a:ext cx="1828800" cy="276149"/>
          </a:xfrm>
          <a:prstGeom prst="roundRect">
            <a:avLst>
              <a:gd name="adj" fmla="val 91345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792310" y="619049"/>
            <a:ext cx="1901952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B82F6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SUMMARY &amp; DISCLAIMER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724558"/>
            <a:ext cx="5648249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rcRect t="-45" b="-45"/>
          <a:stretch>
            <a:fillRect/>
          </a:stretch>
        </p:blipFill>
        <p:spPr>
          <a:xfrm>
            <a:off x="571500" y="1371600"/>
            <a:ext cx="256946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942746" y="1343254"/>
            <a:ext cx="1200607" cy="3913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8FAFC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本讲核心回顾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71500" y="2066544"/>
            <a:ext cx="5648249" cy="1037844"/>
          </a:xfrm>
          <a:prstGeom prst="roundRect">
            <a:avLst>
              <a:gd name="adj" fmla="val 1939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2551" y="2247595"/>
            <a:ext cx="5431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1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01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359713" y="2247595"/>
            <a:ext cx="4877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PS与毛利率增速联动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359713" y="2523744"/>
            <a:ext cx="476311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PS不是绝对值越低越好。毛利率决定PS的上限，增速决定PS的溢价。必须在同类毛利率水平下比较PS。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1500" y="3247949"/>
            <a:ext cx="5648249" cy="1037844"/>
          </a:xfrm>
          <a:prstGeom prst="roundRect">
            <a:avLst>
              <a:gd name="adj" fmla="val 1939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2551" y="3429000"/>
            <a:ext cx="5431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1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1359713" y="3429000"/>
            <a:ext cx="4877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行业中枢因流动性抬升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59713" y="3705149"/>
            <a:ext cx="476311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2025年2.5万亿量能背景下，AI算力与应用等高成长板块估值容忍度系统性上移，需动态调整参考锚点。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71500" y="4429354"/>
            <a:ext cx="5648249" cy="1037844"/>
          </a:xfrm>
          <a:prstGeom prst="roundRect">
            <a:avLst>
              <a:gd name="adj" fmla="val 1939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2551" y="4610405"/>
            <a:ext cx="543154" cy="3813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>
                    <a:alpha val="10000"/>
                  </a:srgbClr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1359713" y="4610405"/>
            <a:ext cx="487741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0A5FA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两大案例启示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359713" y="4886554"/>
            <a:ext cx="4763110" cy="40050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寒武纪代表"市概率"定价，赌的是成功可能性；科大讯飞代表"PE接力"路径，赌的是盈利兑现。两者逻辑完全不同。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505042" y="1343254"/>
            <a:ext cx="5124298" cy="4352544"/>
          </a:xfrm>
          <a:prstGeom prst="roundRect">
            <a:avLst>
              <a:gd name="adj" fmla="val 1471"/>
            </a:avLst>
          </a:prstGeom>
          <a:solidFill>
            <a:srgbClr val="10B981">
              <a:alpha val="5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980530" y="1591056"/>
            <a:ext cx="4591202" cy="25786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4D399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PS 实操清单 </a:t>
            </a:r>
            <a:endParaRPr lang="en-US" sz="13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2"/>
          <a:srcRect l="-1773" r="-1773"/>
          <a:stretch>
            <a:fillRect/>
          </a:stretch>
        </p:blipFill>
        <p:spPr>
          <a:xfrm>
            <a:off x="6751930" y="1633118"/>
            <a:ext cx="133502" cy="17190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751930" y="2038198"/>
            <a:ext cx="4629607" cy="448056"/>
          </a:xfrm>
          <a:prstGeom prst="roundRect">
            <a:avLst>
              <a:gd name="adj" fmla="val 6947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895490" y="2164385"/>
            <a:ext cx="190195" cy="190195"/>
          </a:xfrm>
          <a:prstGeom prst="roundRect">
            <a:avLst>
              <a:gd name="adj" fmla="val 192308"/>
            </a:avLst>
          </a:prstGeom>
          <a:noFill/>
          <a:ln w="25400">
            <a:solidFill>
              <a:srgbClr val="34D399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6938467" y="2202790"/>
            <a:ext cx="105156" cy="114300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7199986" y="2152498"/>
            <a:ext cx="2355494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1. 明确毛利率量级 (软件vs硬件)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751930" y="2624328"/>
            <a:ext cx="4629607" cy="448056"/>
          </a:xfrm>
          <a:prstGeom prst="roundRect">
            <a:avLst>
              <a:gd name="adj" fmla="val 6947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895490" y="2750515"/>
            <a:ext cx="190195" cy="190195"/>
          </a:xfrm>
          <a:prstGeom prst="roundRect">
            <a:avLst>
              <a:gd name="adj" fmla="val 192308"/>
            </a:avLst>
          </a:prstGeom>
          <a:noFill/>
          <a:ln w="25400">
            <a:solidFill>
              <a:srgbClr val="34D399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6938467" y="2788006"/>
            <a:ext cx="105156" cy="114300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199986" y="2738628"/>
            <a:ext cx="232166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2. 验证增速可持续性 (订单拆解)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6751930" y="3209544"/>
            <a:ext cx="4629607" cy="448056"/>
          </a:xfrm>
          <a:prstGeom prst="roundRect">
            <a:avLst>
              <a:gd name="adj" fmla="val 6947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6895490" y="3335731"/>
            <a:ext cx="190195" cy="190195"/>
          </a:xfrm>
          <a:prstGeom prst="roundRect">
            <a:avLst>
              <a:gd name="adj" fmla="val 192308"/>
            </a:avLst>
          </a:prstGeom>
          <a:noFill/>
          <a:ln w="25400">
            <a:solidFill>
              <a:srgbClr val="34D399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6938467" y="3374136"/>
            <a:ext cx="105156" cy="11430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7199986" y="3323844"/>
            <a:ext cx="2507285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3. 设定盈利接力时间表 (何时看PE)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751930" y="3795674"/>
            <a:ext cx="4629607" cy="448056"/>
          </a:xfrm>
          <a:prstGeom prst="roundRect">
            <a:avLst>
              <a:gd name="adj" fmla="val 69475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895490" y="3921862"/>
            <a:ext cx="190195" cy="190195"/>
          </a:xfrm>
          <a:prstGeom prst="roundRect">
            <a:avLst>
              <a:gd name="adj" fmla="val 192308"/>
            </a:avLst>
          </a:prstGeom>
          <a:noFill/>
          <a:ln w="25400">
            <a:solidFill>
              <a:srgbClr val="34D399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3"/>
          <a:srcRect l="-2571" r="-2571"/>
          <a:stretch>
            <a:fillRect/>
          </a:stretch>
        </p:blipFill>
        <p:spPr>
          <a:xfrm>
            <a:off x="6938467" y="3960266"/>
            <a:ext cx="105156" cy="1143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199986" y="3909974"/>
            <a:ext cx="232166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4. 设止损与悲观情景 (底线思维)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571500" y="5695798"/>
            <a:ext cx="11048695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1500" y="5915254"/>
            <a:ext cx="228600" cy="2286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942746" y="5896051"/>
            <a:ext cx="10792663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8" dirty="0">
                <a:solidFill>
                  <a:srgbClr val="F59E0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特别声明 / DISCLAIMER</a:t>
            </a:r>
            <a:endParaRPr lang="en-US" sz="1000" dirty="0"/>
          </a:p>
        </p:txBody>
      </p:sp>
      <p:sp>
        <p:nvSpPr>
          <p:cNvPr id="46" name="Text 37"/>
          <p:cNvSpPr txBox="1"/>
          <p:nvPr/>
        </p:nvSpPr>
        <p:spPr>
          <a:xfrm>
            <a:off x="942746" y="6133795"/>
            <a:ext cx="10754258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本课程所涉及个股（如寒武纪、科大讯飞、英伟达等）、行业数据及估值模型仅用于教学方法演示，不构成任何投资建议。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 投资有风险，股市波动剧烈，入市需谨慎。请根据个人风险承受能力独立做出投资决策。 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9693554" y="6277356"/>
            <a:ext cx="2088490" cy="20025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Noto Sans SC" panose="020B0200000000000000" pitchFamily="34" charset="-120"/>
              </a:rPr>
              <a:t>感谢观看 · 估值课程第五讲完结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5631</Words>
  <Application>WPS 演示</Application>
  <PresentationFormat>On-screen Show (16:9)</PresentationFormat>
  <Paragraphs>748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宋体</vt:lpstr>
      <vt:lpstr>Wingdings</vt:lpstr>
      <vt:lpstr>Noto Sans SC</vt:lpstr>
      <vt:lpstr>Noto Sans SC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Generated by Gen-Spark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creator>Visual Extract to PPTX Converter</dc:creator>
  <dc:subject>PptxGenJS Presentation</dc:subject>
  <cp:lastModifiedBy>Han</cp:lastModifiedBy>
  <cp:revision>3</cp:revision>
  <dcterms:created xsi:type="dcterms:W3CDTF">2026-03-07T11:30:00Z</dcterms:created>
  <dcterms:modified xsi:type="dcterms:W3CDTF">2026-03-07T14:34:31Z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F9D723FE57654232B6116B5D1E129833_12</vt:lpwstr>
  </property>
</Properties>
</file>