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3.png"/><Relationship Id="rId1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0.png"/><Relationship Id="rId1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94.png"/><Relationship Id="rId10" Type="http://schemas.openxmlformats.org/officeDocument/2006/relationships/image" Target="../media/image93.png"/><Relationship Id="rId1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105.png"/><Relationship Id="rId7" Type="http://schemas.openxmlformats.org/officeDocument/2006/relationships/image" Target="../media/image104.png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image" Target="../media/image11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6.png"/><Relationship Id="rId7" Type="http://schemas.openxmlformats.org/officeDocument/2006/relationships/image" Target="../media/image125.png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38BDF8">
              <a:alpha val="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952805" y="3524098"/>
            <a:ext cx="3810305" cy="3810305"/>
          </a:xfrm>
          <a:prstGeom prst="ellipse">
            <a:avLst/>
          </a:prstGeom>
          <a:solidFill>
            <a:srgbClr val="FBBF24">
              <a:alpha val="3000"/>
            </a:srgbClr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-2082" r="-2082"/>
          <a:stretch>
            <a:fillRect/>
          </a:stretch>
        </p:blipFill>
        <p:spPr>
          <a:xfrm>
            <a:off x="0" y="4114800"/>
            <a:ext cx="12191695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611612" y="6439205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2025.12.12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14400" y="1757477"/>
            <a:ext cx="761695" cy="57607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9" name="Shape 6"/>
          <p:cNvSpPr/>
          <p:nvPr/>
        </p:nvSpPr>
        <p:spPr>
          <a:xfrm>
            <a:off x="914400" y="4462272"/>
            <a:ext cx="3114446" cy="1200607"/>
          </a:xfrm>
          <a:prstGeom prst="roundRect">
            <a:avLst>
              <a:gd name="adj" fmla="val 9671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2144" y="4738421"/>
            <a:ext cx="190195" cy="19019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54703" y="4462272"/>
            <a:ext cx="3114446" cy="1200607"/>
          </a:xfrm>
          <a:prstGeom prst="roundRect">
            <a:avLst>
              <a:gd name="adj" fmla="val 9671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92447" y="4738421"/>
            <a:ext cx="190195" cy="190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4400" y="1195121"/>
            <a:ext cx="1171346" cy="333756"/>
          </a:xfrm>
          <a:prstGeom prst="roundRect">
            <a:avLst>
              <a:gd name="adj" fmla="val 273973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076249" y="1261872"/>
            <a:ext cx="9482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DD3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深度交易课程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1986077"/>
            <a:ext cx="6677863" cy="1543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交易的道与术： 从波动到趋势的跃迁</a:t>
            </a:r>
            <a:endParaRPr lang="en-US" sz="45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3681374"/>
            <a:ext cx="533461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用纪律与复利打败赌徒心态，建立系统化交易思维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57554" y="4710074"/>
            <a:ext cx="107167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波动 ≠ 趋势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52144" y="5043830"/>
            <a:ext cx="2634386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账户净值曲线才是胜负的关键，而非单次涨跌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797857" y="4710074"/>
            <a:ext cx="15005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从“术”到“道”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492447" y="5043830"/>
            <a:ext cx="23673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摆脱追涨杀跌，构建可持续的盈利系统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861097" y="2667305"/>
            <a:ext cx="418795" cy="761695"/>
          </a:xfrm>
          <a:prstGeom prst="roundRect">
            <a:avLst>
              <a:gd name="adj" fmla="val 19849"/>
            </a:avLst>
          </a:prstGeom>
          <a:solidFill>
            <a:srgbClr val="374151">
              <a:alpha val="50000"/>
            </a:srgbClr>
          </a:solidFill>
        </p:spPr>
      </p:sp>
      <p:sp>
        <p:nvSpPr>
          <p:cNvPr id="22" name="Shape 17"/>
          <p:cNvSpPr/>
          <p:nvPr/>
        </p:nvSpPr>
        <p:spPr>
          <a:xfrm>
            <a:off x="8354873" y="2210105"/>
            <a:ext cx="418795" cy="1218895"/>
          </a:xfrm>
          <a:prstGeom prst="roundRect">
            <a:avLst>
              <a:gd name="adj" fmla="val 19849"/>
            </a:avLst>
          </a:prstGeom>
          <a:solidFill>
            <a:srgbClr val="4B5563">
              <a:alpha val="60000"/>
            </a:srgbClr>
          </a:solidFill>
        </p:spPr>
      </p:sp>
      <p:sp>
        <p:nvSpPr>
          <p:cNvPr id="23" name="Shape 18"/>
          <p:cNvSpPr/>
          <p:nvPr/>
        </p:nvSpPr>
        <p:spPr>
          <a:xfrm>
            <a:off x="8847734" y="2514600"/>
            <a:ext cx="418795" cy="914400"/>
          </a:xfrm>
          <a:prstGeom prst="roundRect">
            <a:avLst>
              <a:gd name="adj" fmla="val 19849"/>
            </a:avLst>
          </a:prstGeom>
          <a:solidFill>
            <a:srgbClr val="7F1D1D">
              <a:alpha val="70000"/>
            </a:srgbClr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rcRect l="-133" r="-133"/>
          <a:stretch>
            <a:fillRect/>
          </a:stretch>
        </p:blipFill>
        <p:spPr>
          <a:xfrm>
            <a:off x="9014155" y="2576779"/>
            <a:ext cx="85954" cy="1143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341510" y="1904695"/>
            <a:ext cx="418795" cy="1524305"/>
          </a:xfrm>
          <a:prstGeom prst="roundRect">
            <a:avLst>
              <a:gd name="adj" fmla="val 19849"/>
            </a:avLst>
          </a:prstGeom>
          <a:solidFill>
            <a:srgbClr val="6B7280">
              <a:alpha val="80000"/>
            </a:srgbClr>
          </a:solidFill>
        </p:spPr>
      </p:sp>
      <p:sp>
        <p:nvSpPr>
          <p:cNvPr id="26" name="Shape 20"/>
          <p:cNvSpPr/>
          <p:nvPr/>
        </p:nvSpPr>
        <p:spPr>
          <a:xfrm>
            <a:off x="9835286" y="1447495"/>
            <a:ext cx="418795" cy="1981505"/>
          </a:xfrm>
          <a:prstGeom prst="roundRect">
            <a:avLst>
              <a:gd name="adj" fmla="val 19849"/>
            </a:avLst>
          </a:prstGeom>
          <a:solidFill>
            <a:srgbClr val="2563EB"/>
          </a:solidFill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329062" y="990295"/>
            <a:ext cx="418795" cy="2438705"/>
          </a:xfrm>
          <a:prstGeom prst="roundRect">
            <a:avLst>
              <a:gd name="adj" fmla="val 19849"/>
            </a:avLst>
          </a:prstGeom>
          <a:solidFill>
            <a:srgbClr val="3B82F6"/>
          </a:solidFill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821924" y="381305"/>
            <a:ext cx="418795" cy="3047695"/>
          </a:xfrm>
          <a:prstGeom prst="roundRect">
            <a:avLst>
              <a:gd name="adj" fmla="val 19849"/>
            </a:avLst>
          </a:prstGeom>
          <a:solidFill>
            <a:srgbClr val="60A5FA"/>
          </a:solidFill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33" r="-33"/>
          <a:stretch>
            <a:fillRect/>
          </a:stretch>
        </p:blipFill>
        <p:spPr>
          <a:xfrm>
            <a:off x="10945368" y="-4572"/>
            <a:ext cx="171907" cy="15270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026603" y="1904695"/>
            <a:ext cx="3047695" cy="3047695"/>
          </a:xfrm>
          <a:prstGeom prst="roundRect">
            <a:avLst>
              <a:gd name="adj" fmla="val 30003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06994" y="2286000"/>
            <a:ext cx="2286000" cy="2286000"/>
          </a:xfrm>
          <a:prstGeom prst="roundRect">
            <a:avLst>
              <a:gd name="adj" fmla="val 40000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0" y="942746"/>
            <a:ext cx="6096305" cy="5915254"/>
          </a:xfrm>
          <a:prstGeom prst="rect">
            <a:avLst/>
          </a:prstGeom>
          <a:solidFill>
            <a:srgbClr val="EF4444">
              <a:alpha val="3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71500" y="13240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444">
              <a:alpha val="10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5800" y="1438351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1405" y="1333195"/>
            <a:ext cx="2496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波动 (Volatility)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71500" y="2162556"/>
            <a:ext cx="49533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 t="-100" b="-100"/>
          <a:stretch>
            <a:fillRect/>
          </a:stretch>
        </p:blipFill>
        <p:spPr>
          <a:xfrm>
            <a:off x="685800" y="2361895"/>
            <a:ext cx="114300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14400" y="2276856"/>
            <a:ext cx="45436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大起大落，回撤失控单次可能翻倍，但很快又跌回原点，甚至倒亏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1500" y="2809951"/>
            <a:ext cx="49533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rcRect t="-100" b="-100"/>
          <a:stretch>
            <a:fillRect/>
          </a:stretch>
        </p:blipFill>
        <p:spPr>
          <a:xfrm>
            <a:off x="685800" y="3010205"/>
            <a:ext cx="114300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4400" y="2924251"/>
            <a:ext cx="43918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情绪主导，追涨杀跌迷恋涨停板战法，只看短期爆发，忽视风控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71500" y="3457346"/>
            <a:ext cx="49533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2"/>
          <a:srcRect t="-100" b="-100"/>
          <a:stretch>
            <a:fillRect/>
          </a:stretch>
        </p:blipFill>
        <p:spPr>
          <a:xfrm>
            <a:off x="685800" y="3657600"/>
            <a:ext cx="114300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14400" y="3571646"/>
            <a:ext cx="36292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年底归零反复震荡一年，净值原地踏步，只赚了热闹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71500" y="4105656"/>
            <a:ext cx="4953305" cy="2095805"/>
          </a:xfrm>
          <a:prstGeom prst="roundRect">
            <a:avLst>
              <a:gd name="adj" fmla="val 238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rcRect t="-7" b="-7"/>
          <a:stretch>
            <a:fillRect/>
          </a:stretch>
        </p:blipFill>
        <p:spPr>
          <a:xfrm>
            <a:off x="676656" y="4209898"/>
            <a:ext cx="4743907" cy="18864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180844" y="6277356"/>
            <a:ext cx="18342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典型的“过山车”式账户曲线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096305" y="942746"/>
            <a:ext cx="6096305" cy="5915254"/>
          </a:xfrm>
          <a:prstGeom prst="rect">
            <a:avLst/>
          </a:prstGeom>
          <a:solidFill>
            <a:srgbClr val="10B981">
              <a:alpha val="3000"/>
            </a:srgbClr>
          </a:solidFill>
        </p:spPr>
      </p:sp>
      <p:sp>
        <p:nvSpPr>
          <p:cNvPr id="21" name="Shape 14"/>
          <p:cNvSpPr/>
          <p:nvPr/>
        </p:nvSpPr>
        <p:spPr>
          <a:xfrm>
            <a:off x="6667805" y="13240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D399">
              <a:alpha val="10000"/>
            </a:srgbClr>
          </a:solidFill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rcRect t="-45" b="-45"/>
          <a:stretch>
            <a:fillRect/>
          </a:stretch>
        </p:blipFill>
        <p:spPr>
          <a:xfrm>
            <a:off x="6767474" y="1438351"/>
            <a:ext cx="256946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276795" y="1333195"/>
            <a:ext cx="2009851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趋势 (Trend)</a:t>
            </a:r>
            <a:endParaRPr lang="en-US" sz="2400" dirty="0"/>
          </a:p>
        </p:txBody>
      </p:sp>
      <p:sp>
        <p:nvSpPr>
          <p:cNvPr id="24" name="Shape 16"/>
          <p:cNvSpPr/>
          <p:nvPr/>
        </p:nvSpPr>
        <p:spPr>
          <a:xfrm>
            <a:off x="6667805" y="2162556"/>
            <a:ext cx="49533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43" b="-43"/>
          <a:stretch>
            <a:fillRect/>
          </a:stretch>
        </p:blipFill>
        <p:spPr>
          <a:xfrm>
            <a:off x="6782105" y="2361895"/>
            <a:ext cx="133502" cy="15270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029907" y="2276856"/>
            <a:ext cx="40864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净值稳步抬升允许小回撤，但底部不断抬高，重心持续向上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667805" y="2809951"/>
            <a:ext cx="49533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rcRect t="-43" b="-43"/>
          <a:stretch>
            <a:fillRect/>
          </a:stretch>
        </p:blipFill>
        <p:spPr>
          <a:xfrm>
            <a:off x="6782105" y="3010205"/>
            <a:ext cx="133502" cy="152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029907" y="2924251"/>
            <a:ext cx="3781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纪律与边界清晰有明确的止损止盈标准，不被情绪左右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6667805" y="3457346"/>
            <a:ext cx="49533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rcRect t="-43" b="-43"/>
          <a:stretch>
            <a:fillRect/>
          </a:stretch>
        </p:blipFill>
        <p:spPr>
          <a:xfrm>
            <a:off x="6782105" y="3657600"/>
            <a:ext cx="133502" cy="15270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029907" y="3571646"/>
            <a:ext cx="3324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可持续、可复制靠系统赚钱，而非靠运气博一把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6667805" y="4105656"/>
            <a:ext cx="4953305" cy="2095805"/>
          </a:xfrm>
          <a:prstGeom prst="roundRect">
            <a:avLst>
              <a:gd name="adj" fmla="val 238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6"/>
          <a:srcRect t="-7" b="-7"/>
          <a:stretch>
            <a:fillRect/>
          </a:stretch>
        </p:blipFill>
        <p:spPr>
          <a:xfrm>
            <a:off x="6772046" y="4209898"/>
            <a:ext cx="4743907" cy="1886407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544154" y="6277356"/>
            <a:ext cx="13002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健康的复利增长曲线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6096305" y="1324051"/>
            <a:ext cx="9144" cy="51526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37" name="Shape 25"/>
          <p:cNvSpPr/>
          <p:nvPr/>
        </p:nvSpPr>
        <p:spPr>
          <a:xfrm>
            <a:off x="0" y="0"/>
            <a:ext cx="12191695" cy="942746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8" name="Shape 26"/>
          <p:cNvSpPr/>
          <p:nvPr/>
        </p:nvSpPr>
        <p:spPr>
          <a:xfrm>
            <a:off x="0" y="9336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</p:spPr>
      </p:sp>
      <p:sp>
        <p:nvSpPr>
          <p:cNvPr id="39" name="Shape 27"/>
          <p:cNvSpPr/>
          <p:nvPr/>
        </p:nvSpPr>
        <p:spPr>
          <a:xfrm>
            <a:off x="571500" y="418795"/>
            <a:ext cx="57607" cy="381305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0" name="Text 28"/>
          <p:cNvSpPr txBox="1"/>
          <p:nvPr/>
        </p:nvSpPr>
        <p:spPr>
          <a:xfrm>
            <a:off x="819302" y="362102"/>
            <a:ext cx="4896612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核心概念：波动 vs 趋势的区别</a:t>
            </a:r>
            <a:endParaRPr lang="en-US" sz="2700" dirty="0"/>
          </a:p>
        </p:txBody>
      </p:sp>
      <p:sp>
        <p:nvSpPr>
          <p:cNvPr id="41" name="Shape 29"/>
          <p:cNvSpPr/>
          <p:nvPr/>
        </p:nvSpPr>
        <p:spPr>
          <a:xfrm>
            <a:off x="5810098" y="3614623"/>
            <a:ext cx="571500" cy="5715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  <a:effectLst>
            <a:outerShdw blurRad="190500" dist="12700" dir="16200000" algn="bl" rotWithShape="0">
              <a:srgbClr val="38BDF8">
                <a:alpha val="20000"/>
              </a:srgbClr>
            </a:outerShdw>
          </a:effectLst>
        </p:spPr>
      </p:sp>
      <p:sp>
        <p:nvSpPr>
          <p:cNvPr id="42" name="Text 30"/>
          <p:cNvSpPr txBox="1"/>
          <p:nvPr/>
        </p:nvSpPr>
        <p:spPr>
          <a:xfrm>
            <a:off x="5975604" y="3757270"/>
            <a:ext cx="391363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8382305" y="476402"/>
            <a:ext cx="5715000" cy="5715000"/>
          </a:xfrm>
          <a:prstGeom prst="ellipse">
            <a:avLst/>
          </a:prstGeom>
          <a:solidFill>
            <a:srgbClr val="38BDF8">
              <a:alpha val="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1695" y="571500"/>
            <a:ext cx="886054" cy="333756"/>
          </a:xfrm>
          <a:prstGeom prst="roundRect">
            <a:avLst>
              <a:gd name="adj" fmla="val 273973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3544" y="638251"/>
            <a:ext cx="66202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灵魂拷问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990295"/>
            <a:ext cx="7868412" cy="7717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到今年年底，你赚多少会满意？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849831"/>
            <a:ext cx="50959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特别是当家人朋友问起时，你愿意分享的那个数字是多少？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3991" y="3106217"/>
            <a:ext cx="66751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&gt; 20%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24305" y="3220517"/>
            <a:ext cx="5333695" cy="457200"/>
          </a:xfrm>
          <a:prstGeom prst="roundRect">
            <a:avLst>
              <a:gd name="adj" fmla="val 3333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3449" y="3229661"/>
            <a:ext cx="2133295" cy="437998"/>
          </a:xfrm>
          <a:prstGeom prst="roundRect">
            <a:avLst>
              <a:gd name="adj" fmla="val 36307"/>
            </a:avLst>
          </a:prstGeom>
          <a:solidFill>
            <a:srgbClr val="0EA5E9"/>
          </a:solidFill>
        </p:spPr>
      </p:sp>
      <p:sp>
        <p:nvSpPr>
          <p:cNvPr id="12" name="Text 10"/>
          <p:cNvSpPr txBox="1"/>
          <p:nvPr/>
        </p:nvSpPr>
        <p:spPr>
          <a:xfrm>
            <a:off x="843991" y="4058107"/>
            <a:ext cx="66751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&gt; 30%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24305" y="4172407"/>
            <a:ext cx="5333695" cy="457200"/>
          </a:xfrm>
          <a:prstGeom prst="roundRect">
            <a:avLst>
              <a:gd name="adj" fmla="val 3333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3449" y="4182466"/>
            <a:ext cx="3191256" cy="437998"/>
          </a:xfrm>
          <a:prstGeom prst="roundRect">
            <a:avLst>
              <a:gd name="adj" fmla="val 36307"/>
            </a:avLst>
          </a:prstGeom>
          <a:solidFill>
            <a:srgbClr val="8B5CF6"/>
          </a:solidFill>
        </p:spPr>
      </p:sp>
      <p:sp>
        <p:nvSpPr>
          <p:cNvPr id="15" name="Text 13"/>
          <p:cNvSpPr txBox="1"/>
          <p:nvPr/>
        </p:nvSpPr>
        <p:spPr>
          <a:xfrm>
            <a:off x="843991" y="5010912"/>
            <a:ext cx="66751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&gt; 50%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24305" y="5125212"/>
            <a:ext cx="5333695" cy="457200"/>
          </a:xfrm>
          <a:prstGeom prst="roundRect">
            <a:avLst>
              <a:gd name="adj" fmla="val 3333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33449" y="5135270"/>
            <a:ext cx="4791456" cy="437998"/>
          </a:xfrm>
          <a:prstGeom prst="roundRect">
            <a:avLst>
              <a:gd name="adj" fmla="val 36307"/>
            </a:avLst>
          </a:prstGeom>
          <a:solidFill>
            <a:srgbClr val="EC4899"/>
          </a:solidFill>
        </p:spPr>
      </p:sp>
      <p:sp>
        <p:nvSpPr>
          <p:cNvPr id="18" name="Shape 16"/>
          <p:cNvSpPr/>
          <p:nvPr/>
        </p:nvSpPr>
        <p:spPr>
          <a:xfrm>
            <a:off x="7619695" y="2925166"/>
            <a:ext cx="3810305" cy="2952598"/>
          </a:xfrm>
          <a:prstGeom prst="roundRect">
            <a:avLst>
              <a:gd name="adj" fmla="val 159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830068"/>
            <a:ext cx="3029407" cy="95098"/>
          </a:xfrm>
          <a:prstGeom prst="roundRect">
            <a:avLst>
              <a:gd name="adj" fmla="val 961534"/>
            </a:avLst>
          </a:prstGeom>
          <a:solidFill>
            <a:srgbClr val="38BDF8">
              <a:alpha val="10000"/>
            </a:srgbClr>
          </a:solidFill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rcRect l="-107" r="-107"/>
          <a:stretch>
            <a:fillRect/>
          </a:stretch>
        </p:blipFill>
        <p:spPr>
          <a:xfrm>
            <a:off x="8010144" y="3410712"/>
            <a:ext cx="267005" cy="30449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010144" y="3973068"/>
            <a:ext cx="3105302" cy="1495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不管你原本预期是不是“翻倍”， 只要超过 20%， 你的潜意识里就已经觉得自己是个赢家了。 既然如此，为什么要用不切实际的“10倍预期”来让自己的动作变形呢？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607308" y="3153766"/>
            <a:ext cx="2771546" cy="590702"/>
          </a:xfrm>
          <a:prstGeom prst="roundRect">
            <a:avLst>
              <a:gd name="adj" fmla="val 29961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3807562" y="3277210"/>
            <a:ext cx="45720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😏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207154" y="3334817"/>
            <a:ext cx="20866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傲娇：“哎呀今年没做好...”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933749" y="4106570"/>
            <a:ext cx="2628900" cy="590702"/>
          </a:xfrm>
          <a:prstGeom prst="roundRect">
            <a:avLst>
              <a:gd name="adj" fmla="val 29961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134002" y="4230014"/>
            <a:ext cx="45720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😃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533595" y="4286707"/>
            <a:ext cx="19531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特别愿意说，开始分享经验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972154" y="5058461"/>
            <a:ext cx="2781605" cy="590702"/>
          </a:xfrm>
          <a:prstGeom prst="roundRect">
            <a:avLst>
              <a:gd name="adj" fmla="val 29961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172407" y="5182819"/>
            <a:ext cx="45720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😎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0" y="5239512"/>
            <a:ext cx="21058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哪怕没人问，也会主动引话题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2"/>
          <p:cNvSpPr txBox="1"/>
          <p:nvPr/>
        </p:nvSpPr>
        <p:spPr>
          <a:xfrm>
            <a:off x="4497934" y="390449"/>
            <a:ext cx="3486607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 / B 两种人生状态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330598" y="1047902"/>
            <a:ext cx="366034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同样的“10倍预期”开局，为何结局天差地别？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1680667"/>
            <a:ext cx="4762195" cy="4800600"/>
          </a:xfrm>
          <a:prstGeom prst="roundRect">
            <a:avLst>
              <a:gd name="adj" fmla="val 768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  <a:effectLst>
            <a:outerShdw blurRad="190500" dist="38100" dir="5400000" algn="bl" rotWithShape="0">
              <a:srgbClr val="10B981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38351" y="2737714"/>
            <a:ext cx="4172407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438351" y="1975104"/>
            <a:ext cx="571500" cy="571500"/>
          </a:xfrm>
          <a:prstGeom prst="ellipse">
            <a:avLst/>
          </a:prstGeom>
          <a:solidFill>
            <a:srgbClr val="10B981">
              <a:alpha val="20000"/>
            </a:srgbClr>
          </a:solidFill>
        </p:spPr>
      </p:sp>
      <p:sp>
        <p:nvSpPr>
          <p:cNvPr id="9" name="Text 7"/>
          <p:cNvSpPr txBox="1"/>
          <p:nvPr/>
        </p:nvSpPr>
        <p:spPr>
          <a:xfrm>
            <a:off x="1648663" y="2089404"/>
            <a:ext cx="32461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200046" y="2004365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正向循环者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00046" y="2318004"/>
            <a:ext cx="14246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Acceptance &amp; Growth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82312" y="2101291"/>
            <a:ext cx="828446" cy="323698"/>
          </a:xfrm>
          <a:prstGeom prst="roundRect">
            <a:avLst>
              <a:gd name="adj" fmla="val 66467"/>
            </a:avLst>
          </a:prstGeom>
          <a:solidFill>
            <a:srgbClr val="10B981">
              <a:alpha val="20000"/>
            </a:srgbClr>
          </a:solidFill>
        </p:spPr>
      </p:sp>
      <p:sp>
        <p:nvSpPr>
          <p:cNvPr id="13" name="Text 11"/>
          <p:cNvSpPr txBox="1"/>
          <p:nvPr/>
        </p:nvSpPr>
        <p:spPr>
          <a:xfrm>
            <a:off x="4896612" y="2157984"/>
            <a:ext cx="70317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实赚 30%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38351" y="293796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0B981">
              <a:alpha val="10000"/>
            </a:srgbClr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4305" y="3023006"/>
            <a:ext cx="133502" cy="13350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886407" y="2937967"/>
            <a:ext cx="259506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初衷：设定10倍目标，但只完成了30%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438351" y="338510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0B981">
              <a:alpha val="10000"/>
            </a:srgbClr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rcRect l="-837" r="-837"/>
          <a:stretch>
            <a:fillRect/>
          </a:stretch>
        </p:blipFill>
        <p:spPr>
          <a:xfrm>
            <a:off x="1514246" y="3471062"/>
            <a:ext cx="152705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886407" y="3385109"/>
            <a:ext cx="3728923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心态：虽然不满意但接受现实，承认赚钱是对的，只是预期太高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438351" y="396209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0B981">
              <a:alpha val="10000"/>
            </a:srgbClr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24305" y="4048049"/>
            <a:ext cx="133502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886407" y="3962095"/>
            <a:ext cx="3747211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调整：下调明年预期，不再执着“一年10倍”，转而相信长期复利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50" r="-50"/>
          <a:stretch>
            <a:fillRect/>
          </a:stretch>
        </p:blipFill>
        <p:spPr>
          <a:xfrm>
            <a:off x="3409798" y="5472684"/>
            <a:ext cx="228600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20647" y="5929884"/>
            <a:ext cx="4135831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进入健康正循环：心态从容 → 动作变形少 → 持续盈利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286500" y="1680667"/>
            <a:ext cx="4762195" cy="4800600"/>
          </a:xfrm>
          <a:prstGeom prst="roundRect">
            <a:avLst>
              <a:gd name="adj" fmla="val 768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  <a:effectLst>
            <a:outerShdw blurRad="190500" dist="38100" dir="5400000" algn="bl" rotWithShape="0">
              <a:srgbClr val="EF4444">
                <a:alpha val="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81851" y="2737714"/>
            <a:ext cx="4172407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7" name="Shape 21"/>
          <p:cNvSpPr/>
          <p:nvPr/>
        </p:nvSpPr>
        <p:spPr>
          <a:xfrm>
            <a:off x="6581851" y="1975104"/>
            <a:ext cx="571500" cy="571500"/>
          </a:xfrm>
          <a:prstGeom prst="ellipse">
            <a:avLst/>
          </a:prstGeom>
          <a:solidFill>
            <a:srgbClr val="EF4444">
              <a:alpha val="20000"/>
            </a:srgbClr>
          </a:solidFill>
        </p:spPr>
      </p:sp>
      <p:sp>
        <p:nvSpPr>
          <p:cNvPr id="28" name="Text 22"/>
          <p:cNvSpPr txBox="1"/>
          <p:nvPr/>
        </p:nvSpPr>
        <p:spPr>
          <a:xfrm>
            <a:off x="6788506" y="2089404"/>
            <a:ext cx="333756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343546" y="2004365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赌徒陷阱者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343546" y="2318004"/>
            <a:ext cx="12051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Gambler's Fallacy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9925812" y="2101291"/>
            <a:ext cx="828446" cy="323698"/>
          </a:xfrm>
          <a:prstGeom prst="roundRect">
            <a:avLst>
              <a:gd name="adj" fmla="val 66467"/>
            </a:avLst>
          </a:prstGeom>
          <a:solidFill>
            <a:srgbClr val="EF4444">
              <a:alpha val="20000"/>
            </a:srgbClr>
          </a:solidFill>
        </p:spPr>
      </p:sp>
      <p:sp>
        <p:nvSpPr>
          <p:cNvPr id="32" name="Text 26"/>
          <p:cNvSpPr txBox="1"/>
          <p:nvPr/>
        </p:nvSpPr>
        <p:spPr>
          <a:xfrm>
            <a:off x="10040112" y="2157984"/>
            <a:ext cx="70317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实亏 30%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581851" y="293796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F4444">
              <a:alpha val="10000"/>
            </a:srgbClr>
          </a:solidFill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7805" y="3023006"/>
            <a:ext cx="133502" cy="13350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029907" y="2937967"/>
            <a:ext cx="27377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初衷：设定10倍目标，追涨杀跌亏损30%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581851" y="338510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F4444">
              <a:alpha val="10000"/>
            </a:srgbClr>
          </a:solidFill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67805" y="3471062"/>
            <a:ext cx="133502" cy="13350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029907" y="3385109"/>
            <a:ext cx="3728923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心态：痛苦、不甘心，觉得是运气差，暗暗发誓“一定要翻本”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581851" y="396209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F4444">
              <a:alpha val="10000"/>
            </a:srgbClr>
          </a:solidFill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rcRect l="-2512" r="-2512"/>
          <a:stretch>
            <a:fillRect/>
          </a:stretch>
        </p:blipFill>
        <p:spPr>
          <a:xfrm>
            <a:off x="6681521" y="4048049"/>
            <a:ext cx="105156" cy="1335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029907" y="3962095"/>
            <a:ext cx="3747211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调整：不仅不降预期，反而把“10倍”钉得更死，要在明年连本带利赚回来</a:t>
            </a:r>
            <a:endParaRPr lang="en-US" sz="11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rcRect l="-50" r="-50"/>
          <a:stretch>
            <a:fillRect/>
          </a:stretch>
        </p:blipFill>
        <p:spPr>
          <a:xfrm>
            <a:off x="8553298" y="5472684"/>
            <a:ext cx="228600" cy="3044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664147" y="5929884"/>
            <a:ext cx="4135831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进入杀红眼负循环：压力巨大 → 动作变形 → 亏损加剧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5857646" y="3191256"/>
            <a:ext cx="476402" cy="476402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  <a:effectLst>
            <a:outerShdw blurRad="12700" dist="12700" dir="16200000" algn="bl" rotWithShape="0">
              <a:srgbClr val="0F172A">
                <a:alpha val="100000"/>
              </a:srgbClr>
            </a:outerShdw>
          </a:effectLst>
        </p:spPr>
      </p:sp>
      <p:sp>
        <p:nvSpPr>
          <p:cNvPr id="45" name="Text 35"/>
          <p:cNvSpPr txBox="1"/>
          <p:nvPr/>
        </p:nvSpPr>
        <p:spPr>
          <a:xfrm>
            <a:off x="5999378" y="3314700"/>
            <a:ext cx="3145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0" y="809244"/>
            <a:ext cx="6096305" cy="7524598"/>
          </a:xfrm>
          <a:prstGeom prst="rect">
            <a:avLst/>
          </a:prstGeom>
          <a:solidFill>
            <a:srgbClr val="10B981">
              <a:alpha val="3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71500" y="11905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D399">
              <a:alpha val="10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5800" y="1304849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1405" y="1200607"/>
            <a:ext cx="305775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有概念 (Awareness)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71500" y="2029054"/>
            <a:ext cx="4953305" cy="1181405"/>
          </a:xfrm>
          <a:prstGeom prst="roundRect">
            <a:avLst>
              <a:gd name="adj" fmla="val 4994"/>
            </a:avLst>
          </a:prstGeom>
          <a:solidFill>
            <a:srgbClr val="FFFFFF">
              <a:alpha val="3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571500" y="2029054"/>
            <a:ext cx="28346" cy="1181405"/>
          </a:xfrm>
          <a:prstGeom prst="rect">
            <a:avLst/>
          </a:prstGeom>
          <a:solidFill>
            <a:srgbClr val="34D399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2551" y="2270455"/>
            <a:ext cx="181051" cy="1810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86307" y="2180844"/>
            <a:ext cx="142372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EE7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敬畏难度与成本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86307" y="2521915"/>
            <a:ext cx="4316882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深知赚钱不易，不妄想一夜暴富，尊重市场规律，明白高收益必伴随高风险。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71500" y="3429914"/>
            <a:ext cx="4953305" cy="1181405"/>
          </a:xfrm>
          <a:prstGeom prst="roundRect">
            <a:avLst>
              <a:gd name="adj" fmla="val 4994"/>
            </a:avLst>
          </a:prstGeom>
          <a:solidFill>
            <a:srgbClr val="FFFFFF">
              <a:alpha val="3000"/>
            </a:srgbClr>
          </a:solidFill>
        </p:spPr>
      </p:sp>
      <p:sp>
        <p:nvSpPr>
          <p:cNvPr id="14" name="Shape 10"/>
          <p:cNvSpPr/>
          <p:nvPr/>
        </p:nvSpPr>
        <p:spPr>
          <a:xfrm>
            <a:off x="571500" y="3429914"/>
            <a:ext cx="28346" cy="1181405"/>
          </a:xfrm>
          <a:prstGeom prst="rect">
            <a:avLst/>
          </a:prstGeom>
          <a:solidFill>
            <a:srgbClr val="34D399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2551" y="3672230"/>
            <a:ext cx="181051" cy="1810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86307" y="3582619"/>
            <a:ext cx="142372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EE7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设定可执行目标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086307" y="3923690"/>
            <a:ext cx="4316882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不执着于翻倍，而是关注每一步的确定性，将大目标拆解为每月的稳健收益。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71500" y="4831690"/>
            <a:ext cx="4953305" cy="1181405"/>
          </a:xfrm>
          <a:prstGeom prst="roundRect">
            <a:avLst>
              <a:gd name="adj" fmla="val 4994"/>
            </a:avLst>
          </a:prstGeom>
          <a:solidFill>
            <a:srgbClr val="FFFFFF">
              <a:alpha val="3000"/>
            </a:srgbClr>
          </a:solidFill>
        </p:spPr>
      </p:sp>
      <p:sp>
        <p:nvSpPr>
          <p:cNvPr id="19" name="Shape 14"/>
          <p:cNvSpPr/>
          <p:nvPr/>
        </p:nvSpPr>
        <p:spPr>
          <a:xfrm>
            <a:off x="571500" y="4831690"/>
            <a:ext cx="28346" cy="1181405"/>
          </a:xfrm>
          <a:prstGeom prst="rect">
            <a:avLst/>
          </a:prstGeom>
          <a:solidFill>
            <a:srgbClr val="34D399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t="-856" b="-856"/>
          <a:stretch>
            <a:fillRect/>
          </a:stretch>
        </p:blipFill>
        <p:spPr>
          <a:xfrm>
            <a:off x="752551" y="5073091"/>
            <a:ext cx="133502" cy="1810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37844" y="4983480"/>
            <a:ext cx="124267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EE7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接受时间维度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037844" y="5324551"/>
            <a:ext cx="4393692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相信复利的力量，愿意花3-5年慢慢变富，耐心等待体系成熟。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71500" y="6232550"/>
            <a:ext cx="4953305" cy="1714500"/>
          </a:xfrm>
          <a:prstGeom prst="roundRect">
            <a:avLst>
              <a:gd name="adj" fmla="val 355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2636215" y="6281014"/>
            <a:ext cx="93177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思维模式特征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724205" y="6629400"/>
            <a:ext cx="4882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现实感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113325" y="6629400"/>
            <a:ext cx="3639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极强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24205" y="6862572"/>
            <a:ext cx="4647895" cy="75895"/>
          </a:xfrm>
          <a:prstGeom prst="roundRect">
            <a:avLst>
              <a:gd name="adj" fmla="val 602411"/>
            </a:avLst>
          </a:prstGeom>
          <a:solidFill>
            <a:srgbClr val="FFFFFF">
              <a:alpha val="10000"/>
            </a:srgbClr>
          </a:solidFill>
        </p:spPr>
      </p:sp>
      <p:sp>
        <p:nvSpPr>
          <p:cNvPr id="28" name="Shape 22"/>
          <p:cNvSpPr/>
          <p:nvPr/>
        </p:nvSpPr>
        <p:spPr>
          <a:xfrm>
            <a:off x="724205" y="6862572"/>
            <a:ext cx="4190695" cy="75895"/>
          </a:xfrm>
          <a:prstGeom prst="roundRect">
            <a:avLst>
              <a:gd name="adj" fmla="val 602411"/>
            </a:avLst>
          </a:prstGeom>
          <a:solidFill>
            <a:srgbClr val="34D399"/>
          </a:solidFill>
        </p:spPr>
      </p:sp>
      <p:sp>
        <p:nvSpPr>
          <p:cNvPr id="29" name="Text 23"/>
          <p:cNvSpPr txBox="1"/>
          <p:nvPr/>
        </p:nvSpPr>
        <p:spPr>
          <a:xfrm>
            <a:off x="724205" y="7052767"/>
            <a:ext cx="4882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耐心值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113325" y="7052767"/>
            <a:ext cx="3639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极高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24205" y="7285025"/>
            <a:ext cx="4647895" cy="75895"/>
          </a:xfrm>
          <a:prstGeom prst="roundRect">
            <a:avLst>
              <a:gd name="adj" fmla="val 602411"/>
            </a:avLst>
          </a:prstGeom>
          <a:solidFill>
            <a:srgbClr val="FFFFFF">
              <a:alpha val="10000"/>
            </a:srgbClr>
          </a:solidFill>
        </p:spPr>
      </p:sp>
      <p:sp>
        <p:nvSpPr>
          <p:cNvPr id="32" name="Shape 26"/>
          <p:cNvSpPr/>
          <p:nvPr/>
        </p:nvSpPr>
        <p:spPr>
          <a:xfrm>
            <a:off x="724205" y="7285025"/>
            <a:ext cx="3952951" cy="75895"/>
          </a:xfrm>
          <a:prstGeom prst="roundRect">
            <a:avLst>
              <a:gd name="adj" fmla="val 602411"/>
            </a:avLst>
          </a:prstGeom>
          <a:solidFill>
            <a:srgbClr val="34D399"/>
          </a:solidFill>
        </p:spPr>
      </p:sp>
      <p:sp>
        <p:nvSpPr>
          <p:cNvPr id="33" name="Text 27"/>
          <p:cNvSpPr txBox="1"/>
          <p:nvPr/>
        </p:nvSpPr>
        <p:spPr>
          <a:xfrm>
            <a:off x="724205" y="7475220"/>
            <a:ext cx="4882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执行力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5113325" y="7475220"/>
            <a:ext cx="3639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稳健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24205" y="7708392"/>
            <a:ext cx="4647895" cy="75895"/>
          </a:xfrm>
          <a:prstGeom prst="roundRect">
            <a:avLst>
              <a:gd name="adj" fmla="val 602411"/>
            </a:avLst>
          </a:prstGeom>
          <a:solidFill>
            <a:srgbClr val="FFFFFF">
              <a:alpha val="10000"/>
            </a:srgbClr>
          </a:solidFill>
        </p:spPr>
      </p:sp>
      <p:sp>
        <p:nvSpPr>
          <p:cNvPr id="36" name="Shape 30"/>
          <p:cNvSpPr/>
          <p:nvPr/>
        </p:nvSpPr>
        <p:spPr>
          <a:xfrm>
            <a:off x="724205" y="7708392"/>
            <a:ext cx="3724351" cy="75895"/>
          </a:xfrm>
          <a:prstGeom prst="roundRect">
            <a:avLst>
              <a:gd name="adj" fmla="val 602411"/>
            </a:avLst>
          </a:prstGeom>
          <a:solidFill>
            <a:srgbClr val="34D399"/>
          </a:solidFill>
        </p:spPr>
      </p:sp>
      <p:sp>
        <p:nvSpPr>
          <p:cNvPr id="37" name="Shape 31"/>
          <p:cNvSpPr/>
          <p:nvPr/>
        </p:nvSpPr>
        <p:spPr>
          <a:xfrm>
            <a:off x="6096305" y="809244"/>
            <a:ext cx="6096305" cy="7524598"/>
          </a:xfrm>
          <a:prstGeom prst="rect">
            <a:avLst/>
          </a:prstGeom>
          <a:solidFill>
            <a:srgbClr val="EF4444">
              <a:alpha val="3000"/>
            </a:srgbClr>
          </a:solidFill>
        </p:spPr>
      </p:sp>
      <p:sp>
        <p:nvSpPr>
          <p:cNvPr id="38" name="Shape 32"/>
          <p:cNvSpPr/>
          <p:nvPr/>
        </p:nvSpPr>
        <p:spPr>
          <a:xfrm>
            <a:off x="6667805" y="11905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444">
              <a:alpha val="10000"/>
            </a:srgbClr>
          </a:solidFill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rcRect l="-80" r="-80"/>
          <a:stretch>
            <a:fillRect/>
          </a:stretch>
        </p:blipFill>
        <p:spPr>
          <a:xfrm>
            <a:off x="6752844" y="1304849"/>
            <a:ext cx="286207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276795" y="1200607"/>
            <a:ext cx="276240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没概念 (Delusion)</a:t>
            </a:r>
            <a:endParaRPr lang="en-US" sz="2400" dirty="0"/>
          </a:p>
        </p:txBody>
      </p:sp>
      <p:sp>
        <p:nvSpPr>
          <p:cNvPr id="41" name="Shape 34"/>
          <p:cNvSpPr/>
          <p:nvPr/>
        </p:nvSpPr>
        <p:spPr>
          <a:xfrm>
            <a:off x="6667805" y="2029054"/>
            <a:ext cx="4953305" cy="1181405"/>
          </a:xfrm>
          <a:prstGeom prst="roundRect">
            <a:avLst>
              <a:gd name="adj" fmla="val 4994"/>
            </a:avLst>
          </a:prstGeom>
          <a:solidFill>
            <a:srgbClr val="FFFFFF">
              <a:alpha val="3000"/>
            </a:srgbClr>
          </a:solidFill>
        </p:spPr>
      </p:sp>
      <p:sp>
        <p:nvSpPr>
          <p:cNvPr id="42" name="Shape 35"/>
          <p:cNvSpPr/>
          <p:nvPr/>
        </p:nvSpPr>
        <p:spPr>
          <a:xfrm>
            <a:off x="6667805" y="2029054"/>
            <a:ext cx="28346" cy="1181405"/>
          </a:xfrm>
          <a:prstGeom prst="rect">
            <a:avLst/>
          </a:prstGeom>
          <a:solidFill>
            <a:srgbClr val="F87171"/>
          </a:solidFill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848856" y="2270455"/>
            <a:ext cx="181051" cy="181051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181698" y="2180844"/>
            <a:ext cx="1661465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"一年10倍"口头禅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7181698" y="2521915"/>
            <a:ext cx="4336085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像月薪3千妄想年入2千万一样，对数字完全脱离现实，不知道10倍意味着什么。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6667805" y="3429914"/>
            <a:ext cx="4953305" cy="1181405"/>
          </a:xfrm>
          <a:prstGeom prst="roundRect">
            <a:avLst>
              <a:gd name="adj" fmla="val 4994"/>
            </a:avLst>
          </a:prstGeom>
          <a:solidFill>
            <a:srgbClr val="FFFFFF">
              <a:alpha val="3000"/>
            </a:srgbClr>
          </a:solidFill>
        </p:spPr>
      </p:sp>
      <p:sp>
        <p:nvSpPr>
          <p:cNvPr id="47" name="Shape 39"/>
          <p:cNvSpPr/>
          <p:nvPr/>
        </p:nvSpPr>
        <p:spPr>
          <a:xfrm>
            <a:off x="6667805" y="3429914"/>
            <a:ext cx="28346" cy="1181405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48" name="Text 40"/>
          <p:cNvSpPr txBox="1"/>
          <p:nvPr/>
        </p:nvSpPr>
        <p:spPr>
          <a:xfrm>
            <a:off x="7000646" y="3582619"/>
            <a:ext cx="142372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对概率严重失真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7000646" y="3923690"/>
            <a:ext cx="447873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把小概率的"幸存者偏差"当常态，认为只要敢拼就能赢，忽视幸存者背后的分母。</a:t>
            </a:r>
            <a:endParaRPr lang="en-US" sz="1300" dirty="0"/>
          </a:p>
        </p:txBody>
      </p:sp>
      <p:sp>
        <p:nvSpPr>
          <p:cNvPr id="50" name="Shape 42"/>
          <p:cNvSpPr/>
          <p:nvPr/>
        </p:nvSpPr>
        <p:spPr>
          <a:xfrm>
            <a:off x="6667805" y="4831690"/>
            <a:ext cx="4953305" cy="1181405"/>
          </a:xfrm>
          <a:prstGeom prst="roundRect">
            <a:avLst>
              <a:gd name="adj" fmla="val 4994"/>
            </a:avLst>
          </a:prstGeom>
          <a:solidFill>
            <a:srgbClr val="FFFFFF">
              <a:alpha val="3000"/>
            </a:srgbClr>
          </a:solidFill>
        </p:spPr>
      </p:sp>
      <p:sp>
        <p:nvSpPr>
          <p:cNvPr id="51" name="Shape 43"/>
          <p:cNvSpPr/>
          <p:nvPr/>
        </p:nvSpPr>
        <p:spPr>
          <a:xfrm>
            <a:off x="6667805" y="4831690"/>
            <a:ext cx="28346" cy="1181405"/>
          </a:xfrm>
          <a:prstGeom prst="rect">
            <a:avLst/>
          </a:prstGeom>
          <a:solidFill>
            <a:srgbClr val="F87171"/>
          </a:solidFill>
        </p:spPr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1082" r="-1082"/>
          <a:stretch>
            <a:fillRect/>
          </a:stretch>
        </p:blipFill>
        <p:spPr>
          <a:xfrm>
            <a:off x="6848856" y="5073091"/>
            <a:ext cx="161849" cy="181051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7162495" y="4983480"/>
            <a:ext cx="871423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急于求成</a:t>
            </a:r>
            <a:endParaRPr lang="en-US" sz="1400" dirty="0"/>
          </a:p>
        </p:txBody>
      </p:sp>
      <p:sp>
        <p:nvSpPr>
          <p:cNvPr id="54" name="Text 45"/>
          <p:cNvSpPr txBox="1"/>
          <p:nvPr/>
        </p:nvSpPr>
        <p:spPr>
          <a:xfrm>
            <a:off x="7162495" y="5324551"/>
            <a:ext cx="4307738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无法忍受"慢慢变富"，总想毕其功于一役，把交易当成改命的唯一稻草。</a:t>
            </a:r>
            <a:endParaRPr lang="en-US" sz="1300" dirty="0"/>
          </a:p>
        </p:txBody>
      </p:sp>
      <p:sp>
        <p:nvSpPr>
          <p:cNvPr id="55" name="Shape 46"/>
          <p:cNvSpPr/>
          <p:nvPr/>
        </p:nvSpPr>
        <p:spPr>
          <a:xfrm>
            <a:off x="6667805" y="6232550"/>
            <a:ext cx="4953305" cy="1714500"/>
          </a:xfrm>
          <a:prstGeom prst="roundRect">
            <a:avLst>
              <a:gd name="adj" fmla="val 355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8732520" y="6281014"/>
            <a:ext cx="93177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思维模式特征</a:t>
            </a:r>
            <a:endParaRPr lang="en-US" sz="1000" dirty="0"/>
          </a:p>
        </p:txBody>
      </p:sp>
      <p:sp>
        <p:nvSpPr>
          <p:cNvPr id="57" name="Text 48"/>
          <p:cNvSpPr txBox="1"/>
          <p:nvPr/>
        </p:nvSpPr>
        <p:spPr>
          <a:xfrm>
            <a:off x="6819595" y="6629400"/>
            <a:ext cx="4882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幻想度</a:t>
            </a:r>
            <a:endParaRPr lang="en-US" sz="1000" dirty="0"/>
          </a:p>
        </p:txBody>
      </p:sp>
      <p:sp>
        <p:nvSpPr>
          <p:cNvPr id="58" name="Text 49"/>
          <p:cNvSpPr txBox="1"/>
          <p:nvPr/>
        </p:nvSpPr>
        <p:spPr>
          <a:xfrm>
            <a:off x="11208715" y="6629400"/>
            <a:ext cx="3639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极高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6819595" y="6862572"/>
            <a:ext cx="4647895" cy="75895"/>
          </a:xfrm>
          <a:prstGeom prst="roundRect">
            <a:avLst>
              <a:gd name="adj" fmla="val 602411"/>
            </a:avLst>
          </a:prstGeom>
          <a:solidFill>
            <a:srgbClr val="FFFFFF">
              <a:alpha val="10000"/>
            </a:srgbClr>
          </a:solidFill>
        </p:spPr>
      </p:sp>
      <p:sp>
        <p:nvSpPr>
          <p:cNvPr id="60" name="Shape 51"/>
          <p:cNvSpPr/>
          <p:nvPr/>
        </p:nvSpPr>
        <p:spPr>
          <a:xfrm>
            <a:off x="6819595" y="6862572"/>
            <a:ext cx="4419295" cy="75895"/>
          </a:xfrm>
          <a:prstGeom prst="roundRect">
            <a:avLst>
              <a:gd name="adj" fmla="val 602411"/>
            </a:avLst>
          </a:prstGeom>
          <a:solidFill>
            <a:srgbClr val="F87171"/>
          </a:solidFill>
        </p:spPr>
      </p:sp>
      <p:sp>
        <p:nvSpPr>
          <p:cNvPr id="61" name="Text 52"/>
          <p:cNvSpPr txBox="1"/>
          <p:nvPr/>
        </p:nvSpPr>
        <p:spPr>
          <a:xfrm>
            <a:off x="6819595" y="7052767"/>
            <a:ext cx="48829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耐心值</a:t>
            </a:r>
            <a:endParaRPr lang="en-US" sz="1000" dirty="0"/>
          </a:p>
        </p:txBody>
      </p:sp>
      <p:sp>
        <p:nvSpPr>
          <p:cNvPr id="62" name="Text 53"/>
          <p:cNvSpPr txBox="1"/>
          <p:nvPr/>
        </p:nvSpPr>
        <p:spPr>
          <a:xfrm>
            <a:off x="11208715" y="7052767"/>
            <a:ext cx="3639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极低</a:t>
            </a:r>
            <a:endParaRPr lang="en-US" sz="1000" dirty="0"/>
          </a:p>
        </p:txBody>
      </p:sp>
      <p:sp>
        <p:nvSpPr>
          <p:cNvPr id="63" name="Shape 54"/>
          <p:cNvSpPr/>
          <p:nvPr/>
        </p:nvSpPr>
        <p:spPr>
          <a:xfrm>
            <a:off x="6819595" y="7285025"/>
            <a:ext cx="4647895" cy="75895"/>
          </a:xfrm>
          <a:prstGeom prst="roundRect">
            <a:avLst>
              <a:gd name="adj" fmla="val 602411"/>
            </a:avLst>
          </a:prstGeom>
          <a:solidFill>
            <a:srgbClr val="FFFFFF">
              <a:alpha val="10000"/>
            </a:srgbClr>
          </a:solidFill>
        </p:spPr>
      </p:sp>
      <p:sp>
        <p:nvSpPr>
          <p:cNvPr id="64" name="Shape 55"/>
          <p:cNvSpPr/>
          <p:nvPr/>
        </p:nvSpPr>
        <p:spPr>
          <a:xfrm>
            <a:off x="6819595" y="7285025"/>
            <a:ext cx="466344" cy="75895"/>
          </a:xfrm>
          <a:prstGeom prst="roundRect">
            <a:avLst>
              <a:gd name="adj" fmla="val 602411"/>
            </a:avLst>
          </a:prstGeom>
          <a:solidFill>
            <a:srgbClr val="F87171"/>
          </a:solidFill>
        </p:spPr>
      </p:sp>
      <p:sp>
        <p:nvSpPr>
          <p:cNvPr id="65" name="Text 56"/>
          <p:cNvSpPr txBox="1"/>
          <p:nvPr/>
        </p:nvSpPr>
        <p:spPr>
          <a:xfrm>
            <a:off x="6819595" y="7475220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赌徒心理</a:t>
            </a:r>
            <a:endParaRPr lang="en-US" sz="1000" dirty="0"/>
          </a:p>
        </p:txBody>
      </p:sp>
      <p:sp>
        <p:nvSpPr>
          <p:cNvPr id="66" name="Text 57"/>
          <p:cNvSpPr txBox="1"/>
          <p:nvPr/>
        </p:nvSpPr>
        <p:spPr>
          <a:xfrm>
            <a:off x="11208715" y="7475220"/>
            <a:ext cx="3639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严重</a:t>
            </a:r>
            <a:endParaRPr lang="en-US" sz="1000" dirty="0"/>
          </a:p>
        </p:txBody>
      </p:sp>
      <p:sp>
        <p:nvSpPr>
          <p:cNvPr id="67" name="Shape 58"/>
          <p:cNvSpPr/>
          <p:nvPr/>
        </p:nvSpPr>
        <p:spPr>
          <a:xfrm>
            <a:off x="6819595" y="7708392"/>
            <a:ext cx="4647895" cy="75895"/>
          </a:xfrm>
          <a:prstGeom prst="roundRect">
            <a:avLst>
              <a:gd name="adj" fmla="val 602411"/>
            </a:avLst>
          </a:prstGeom>
          <a:solidFill>
            <a:srgbClr val="FFFFFF">
              <a:alpha val="10000"/>
            </a:srgbClr>
          </a:solidFill>
        </p:spPr>
      </p:sp>
      <p:sp>
        <p:nvSpPr>
          <p:cNvPr id="68" name="Shape 59"/>
          <p:cNvSpPr/>
          <p:nvPr/>
        </p:nvSpPr>
        <p:spPr>
          <a:xfrm>
            <a:off x="6819595" y="7708392"/>
            <a:ext cx="4190695" cy="75895"/>
          </a:xfrm>
          <a:prstGeom prst="roundRect">
            <a:avLst>
              <a:gd name="adj" fmla="val 602411"/>
            </a:avLst>
          </a:prstGeom>
          <a:solidFill>
            <a:srgbClr val="F87171"/>
          </a:solidFill>
        </p:spPr>
      </p:sp>
      <p:sp>
        <p:nvSpPr>
          <p:cNvPr id="69" name="Shape 60"/>
          <p:cNvSpPr/>
          <p:nvPr/>
        </p:nvSpPr>
        <p:spPr>
          <a:xfrm>
            <a:off x="6096305" y="1190549"/>
            <a:ext cx="9144" cy="6762902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70" name="Shape 61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1" name="Shape 62"/>
          <p:cNvSpPr/>
          <p:nvPr/>
        </p:nvSpPr>
        <p:spPr>
          <a:xfrm>
            <a:off x="0" y="800100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</p:spPr>
      </p:sp>
      <p:sp>
        <p:nvSpPr>
          <p:cNvPr id="72" name="Shape 63"/>
          <p:cNvSpPr/>
          <p:nvPr/>
        </p:nvSpPr>
        <p:spPr>
          <a:xfrm>
            <a:off x="571500" y="352044"/>
            <a:ext cx="57607" cy="381305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73" name="Text 64"/>
          <p:cNvSpPr txBox="1"/>
          <p:nvPr/>
        </p:nvSpPr>
        <p:spPr>
          <a:xfrm>
            <a:off x="819302" y="295351"/>
            <a:ext cx="3952951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对赚钱 有概念 vs 没概念</a:t>
            </a:r>
            <a:endParaRPr lang="en-US" sz="2700" dirty="0"/>
          </a:p>
        </p:txBody>
      </p:sp>
      <p:sp>
        <p:nvSpPr>
          <p:cNvPr id="74" name="Shape 65"/>
          <p:cNvSpPr/>
          <p:nvPr/>
        </p:nvSpPr>
        <p:spPr>
          <a:xfrm>
            <a:off x="5810098" y="4283050"/>
            <a:ext cx="571500" cy="5715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  <a:effectLst>
            <a:outerShdw blurRad="190500" dist="12700" dir="16200000" algn="bl" rotWithShape="0">
              <a:srgbClr val="38BDF8">
                <a:alpha val="20000"/>
              </a:srgbClr>
            </a:outerShdw>
          </a:effectLst>
        </p:spPr>
      </p:sp>
      <p:sp>
        <p:nvSpPr>
          <p:cNvPr id="75" name="Text 66"/>
          <p:cNvSpPr txBox="1"/>
          <p:nvPr/>
        </p:nvSpPr>
        <p:spPr>
          <a:xfrm>
            <a:off x="5975604" y="4425696"/>
            <a:ext cx="391363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8858707" y="3524098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362456"/>
            <a:ext cx="1104869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6" name="Text 3"/>
          <p:cNvSpPr txBox="1"/>
          <p:nvPr/>
        </p:nvSpPr>
        <p:spPr>
          <a:xfrm>
            <a:off x="571500" y="381305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心理陷阱剖析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666598"/>
            <a:ext cx="47247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范进中举型交易者：心理画像</a:t>
            </a:r>
            <a:endParaRPr lang="en-US" sz="2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 l="-837" r="-837"/>
          <a:stretch>
            <a:fillRect/>
          </a:stretch>
        </p:blipFill>
        <p:spPr>
          <a:xfrm>
            <a:off x="9813341" y="1016813"/>
            <a:ext cx="152705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41941" y="981151"/>
            <a:ext cx="16815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Case Study: Fan Jin Effect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381805" y="4977994"/>
            <a:ext cx="7239305" cy="1352398"/>
          </a:xfrm>
          <a:prstGeom prst="roundRect">
            <a:avLst>
              <a:gd name="adj" fmla="val 571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67351" y="5225796"/>
            <a:ext cx="379476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因为慢，就意味着承认此刻的自己是普通的；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629607" y="5500116"/>
            <a:ext cx="379476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而对他们来说，这比失败本身还要难以忍受。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29607" y="5869534"/>
            <a:ext cx="27322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— 为什么范进型交易者最难接受"慢慢变富"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71500" y="1657807"/>
            <a:ext cx="3333902" cy="4819802"/>
          </a:xfrm>
          <a:prstGeom prst="roundRect">
            <a:avLst>
              <a:gd name="adj" fmla="val 125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666951" y="1952244"/>
            <a:ext cx="1143000" cy="1143000"/>
          </a:xfrm>
          <a:prstGeom prst="ellipse">
            <a:avLst/>
          </a:prstGeom>
          <a:solidFill>
            <a:srgbClr val="1E293B"/>
          </a:solidFill>
          <a:ln w="50800">
            <a:solidFill>
              <a:srgbClr val="33415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 t="-12" b="-12"/>
          <a:stretch>
            <a:fillRect/>
          </a:stretch>
        </p:blipFill>
        <p:spPr>
          <a:xfrm>
            <a:off x="2005279" y="2257654"/>
            <a:ext cx="466344" cy="53309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80006" y="2798064"/>
            <a:ext cx="724205" cy="267005"/>
          </a:xfrm>
          <a:prstGeom prst="roundRect">
            <a:avLst>
              <a:gd name="adj" fmla="val 146771"/>
            </a:avLst>
          </a:prstGeom>
          <a:solidFill>
            <a:srgbClr val="F59E0B"/>
          </a:solidFill>
        </p:spPr>
      </p:sp>
      <p:sp>
        <p:nvSpPr>
          <p:cNvPr id="18" name="Text 13"/>
          <p:cNvSpPr txBox="1"/>
          <p:nvPr/>
        </p:nvSpPr>
        <p:spPr>
          <a:xfrm>
            <a:off x="1994306" y="2836469"/>
            <a:ext cx="5870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典型画像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878178" y="3286354"/>
            <a:ext cx="896112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"范进"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210666" y="3676802"/>
            <a:ext cx="21607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极度自卑，却又极度渴望被证明。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936346" y="3882542"/>
            <a:ext cx="27130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现实平庸，却试图通过一次豪赌逆天改命。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66851" y="4291279"/>
            <a:ext cx="2743200" cy="362102"/>
          </a:xfrm>
          <a:prstGeom prst="roundRect">
            <a:avLst>
              <a:gd name="adj" fmla="val 53163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21233" r="-21233"/>
          <a:stretch>
            <a:fillRect/>
          </a:stretch>
        </p:blipFill>
        <p:spPr>
          <a:xfrm>
            <a:off x="981151" y="4403750"/>
            <a:ext cx="190195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66444" y="4368089"/>
            <a:ext cx="12079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现实无任何安全垫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66851" y="4764024"/>
            <a:ext cx="2743200" cy="362102"/>
          </a:xfrm>
          <a:prstGeom prst="roundRect">
            <a:avLst>
              <a:gd name="adj" fmla="val 53163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l="-31409" r="-31409"/>
          <a:stretch>
            <a:fillRect/>
          </a:stretch>
        </p:blipFill>
        <p:spPr>
          <a:xfrm>
            <a:off x="981151" y="4876495"/>
            <a:ext cx="190195" cy="1335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66444" y="4839919"/>
            <a:ext cx="17510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选择最高风险、最刺激路径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66851" y="5236769"/>
            <a:ext cx="2743200" cy="362102"/>
          </a:xfrm>
          <a:prstGeom prst="roundRect">
            <a:avLst>
              <a:gd name="adj" fmla="val 53163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 l="-21233" r="-21233"/>
          <a:stretch>
            <a:fillRect/>
          </a:stretch>
        </p:blipFill>
        <p:spPr>
          <a:xfrm>
            <a:off x="981151" y="5349240"/>
            <a:ext cx="190195" cy="1335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266444" y="5312664"/>
            <a:ext cx="1065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拒绝"慢慢变好"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866851" y="5709514"/>
            <a:ext cx="2743200" cy="362102"/>
          </a:xfrm>
          <a:prstGeom prst="roundRect">
            <a:avLst>
              <a:gd name="adj" fmla="val 53163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rcRect l="-13318" r="-13318"/>
          <a:stretch>
            <a:fillRect/>
          </a:stretch>
        </p:blipFill>
        <p:spPr>
          <a:xfrm>
            <a:off x="981151" y="5821985"/>
            <a:ext cx="190195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266444" y="5785409"/>
            <a:ext cx="133228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用"敢做"来掩饰无能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4667098" y="1810512"/>
            <a:ext cx="6693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核心动机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4667098" y="2061972"/>
            <a:ext cx="5426050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目标是用来区隔身份的，而不是用来执行的</a:t>
            </a:r>
            <a:endParaRPr lang="en-US" sz="2100" dirty="0"/>
          </a:p>
        </p:txBody>
      </p:sp>
      <p:sp>
        <p:nvSpPr>
          <p:cNvPr id="36" name="Text 27"/>
          <p:cNvSpPr txBox="1"/>
          <p:nvPr/>
        </p:nvSpPr>
        <p:spPr>
          <a:xfrm>
            <a:off x="4667098" y="2582266"/>
            <a:ext cx="698418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"我敢考清华"、"我做龙头战法"——这句话本质上不是计划，而是宣言：我跟你们不一样，我不是普通人。用宏大的目标，来对冲现实的卑微。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667098" y="3490265"/>
            <a:ext cx="6693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致命后果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4667098" y="3741725"/>
            <a:ext cx="3226003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目标越宏大，执行越崩塌</a:t>
            </a:r>
            <a:endParaRPr lang="en-US" sz="2100" dirty="0"/>
          </a:p>
        </p:txBody>
      </p:sp>
      <p:sp>
        <p:nvSpPr>
          <p:cNvPr id="39" name="Text 30"/>
          <p:cNvSpPr txBox="1"/>
          <p:nvPr/>
        </p:nvSpPr>
        <p:spPr>
          <a:xfrm>
            <a:off x="4667098" y="4261104"/>
            <a:ext cx="6936638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当目标遥不可及（如一年10倍），你连第一步怎么走都不知道。这反而摧毁了行动力，让你长期在原地打转，只剩下口号。</a:t>
            </a:r>
            <a:endParaRPr lang="en-US" sz="13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l="-1082" r="-1082"/>
          <a:stretch>
            <a:fillRect/>
          </a:stretch>
        </p:blipFill>
        <p:spPr>
          <a:xfrm>
            <a:off x="4629607" y="5277002"/>
            <a:ext cx="161849" cy="1810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5000"/>
          </a:blip>
          <a:srcRect t="-3" b="-3"/>
          <a:stretch>
            <a:fillRect/>
          </a:stretch>
        </p:blipFill>
        <p:spPr>
          <a:xfrm>
            <a:off x="8501177" y="3524098"/>
            <a:ext cx="3571646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362456"/>
            <a:ext cx="1104869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6" name="Text 3"/>
          <p:cNvSpPr txBox="1"/>
          <p:nvPr/>
        </p:nvSpPr>
        <p:spPr>
          <a:xfrm>
            <a:off x="571500" y="381305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心理陷阱剖析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666598"/>
            <a:ext cx="47247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新手迷恋龙头战法：骄傲错位</a:t>
            </a:r>
            <a:endParaRPr lang="en-US" sz="2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 t="-1100" b="-1100"/>
          <a:stretch>
            <a:fillRect/>
          </a:stretch>
        </p:blipFill>
        <p:spPr>
          <a:xfrm>
            <a:off x="9864547" y="1016813"/>
            <a:ext cx="114300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5657" y="981151"/>
            <a:ext cx="16724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 Dragon Strategy Trap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381805" y="4917643"/>
            <a:ext cx="7239305" cy="1466698"/>
          </a:xfrm>
          <a:prstGeom prst="roundRect">
            <a:avLst>
              <a:gd name="adj" fmla="val 4858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>
                <a:alpha val="30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09744" y="5117897"/>
            <a:ext cx="4703674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B71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你几乎不会去问一句："这个路径，真的适合现在的我吗？"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81144" y="5381244"/>
            <a:ext cx="697047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B71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你不是在为高收益付出代价，你是在用永远无法兑现的目标，为当下的失败寻找心理合法性。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81144" y="5982919"/>
            <a:ext cx="20692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— 为什么把骄傲放错地方是致命的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71500" y="1657807"/>
            <a:ext cx="3333902" cy="4819802"/>
          </a:xfrm>
          <a:prstGeom prst="roundRect">
            <a:avLst>
              <a:gd name="adj" fmla="val 125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666951" y="1952244"/>
            <a:ext cx="1143000" cy="1143000"/>
          </a:xfrm>
          <a:prstGeom prst="ellipse">
            <a:avLst/>
          </a:prstGeom>
          <a:solidFill>
            <a:srgbClr val="1E293B"/>
          </a:solidFill>
          <a:ln w="50800">
            <a:solidFill>
              <a:srgbClr val="33415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 l="-86" r="-86"/>
          <a:stretch>
            <a:fillRect/>
          </a:stretch>
        </p:blipFill>
        <p:spPr>
          <a:xfrm>
            <a:off x="2038198" y="2257654"/>
            <a:ext cx="400507" cy="53309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80006" y="2798064"/>
            <a:ext cx="724205" cy="267005"/>
          </a:xfrm>
          <a:prstGeom prst="roundRect">
            <a:avLst>
              <a:gd name="adj" fmla="val 146771"/>
            </a:avLst>
          </a:prstGeom>
          <a:solidFill>
            <a:srgbClr val="F43F5E"/>
          </a:solidFill>
        </p:spPr>
      </p:sp>
      <p:sp>
        <p:nvSpPr>
          <p:cNvPr id="18" name="Text 13"/>
          <p:cNvSpPr txBox="1"/>
          <p:nvPr/>
        </p:nvSpPr>
        <p:spPr>
          <a:xfrm>
            <a:off x="1994306" y="2836469"/>
            <a:ext cx="5870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高危策略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649578" y="3286354"/>
            <a:ext cx="1353312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"龙头战法"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007669" y="3676802"/>
            <a:ext cx="257037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把骄傲放在"我敢做你们不敢做的事"上。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209751" y="3882542"/>
            <a:ext cx="21607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追求最快、最强、最刺激的路径。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66851" y="4291279"/>
            <a:ext cx="2743200" cy="362102"/>
          </a:xfrm>
          <a:prstGeom prst="roundRect">
            <a:avLst>
              <a:gd name="adj" fmla="val 53163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21233" r="-21233"/>
          <a:stretch>
            <a:fillRect/>
          </a:stretch>
        </p:blipFill>
        <p:spPr>
          <a:xfrm>
            <a:off x="981151" y="4403750"/>
            <a:ext cx="190195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66444" y="4368089"/>
            <a:ext cx="20272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看似上限极高，实则幸存者偏差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66851" y="4764024"/>
            <a:ext cx="2743200" cy="362102"/>
          </a:xfrm>
          <a:prstGeom prst="roundRect">
            <a:avLst>
              <a:gd name="adj" fmla="val 53163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l="-31409" r="-31409"/>
          <a:stretch>
            <a:fillRect/>
          </a:stretch>
        </p:blipFill>
        <p:spPr>
          <a:xfrm>
            <a:off x="981151" y="4876495"/>
            <a:ext cx="190195" cy="1335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66444" y="4839919"/>
            <a:ext cx="14749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高波动 = 极高的淘汰率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66851" y="5236769"/>
            <a:ext cx="2743200" cy="362102"/>
          </a:xfrm>
          <a:prstGeom prst="roundRect">
            <a:avLst>
              <a:gd name="adj" fmla="val 53163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 l="-31409" r="-31409"/>
          <a:stretch>
            <a:fillRect/>
          </a:stretch>
        </p:blipFill>
        <p:spPr>
          <a:xfrm>
            <a:off x="981151" y="5349240"/>
            <a:ext cx="190195" cy="1335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266444" y="5312664"/>
            <a:ext cx="17419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不稳定的"快" = 实际的"慢"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866851" y="5709514"/>
            <a:ext cx="2743200" cy="362102"/>
          </a:xfrm>
          <a:prstGeom prst="roundRect">
            <a:avLst>
              <a:gd name="adj" fmla="val 53163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rcRect l="-6986" r="-6986"/>
          <a:stretch>
            <a:fillRect/>
          </a:stretch>
        </p:blipFill>
        <p:spPr>
          <a:xfrm>
            <a:off x="981151" y="5821985"/>
            <a:ext cx="190195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266444" y="5785409"/>
            <a:ext cx="146578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把"赌性"包装成"悟道"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4667098" y="1756562"/>
            <a:ext cx="6693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叙事陷阱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4667098" y="2008022"/>
            <a:ext cx="305226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最难、最刺激、上限最高</a:t>
            </a:r>
            <a:endParaRPr lang="en-US" sz="2000" dirty="0"/>
          </a:p>
        </p:txBody>
      </p:sp>
      <p:sp>
        <p:nvSpPr>
          <p:cNvPr id="36" name="Text 27"/>
          <p:cNvSpPr txBox="1"/>
          <p:nvPr/>
        </p:nvSpPr>
        <p:spPr>
          <a:xfrm>
            <a:off x="4667098" y="2452421"/>
            <a:ext cx="7026250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这类战法不只是一个策略，而是一套心理叙事。它暗示你："既然你们不敢想，那我敢想。" 这种自我暗示让新手理所当然地选择了地狱难度。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4667098" y="3266237"/>
            <a:ext cx="66934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残酷现实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4667098" y="3517697"/>
            <a:ext cx="537667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灵活性如果没有持续性，只会放大噪音与亏损</a:t>
            </a:r>
            <a:endParaRPr lang="en-US" sz="2000" dirty="0"/>
          </a:p>
        </p:txBody>
      </p:sp>
      <p:sp>
        <p:nvSpPr>
          <p:cNvPr id="39" name="Text 30"/>
          <p:cNvSpPr txBox="1"/>
          <p:nvPr/>
        </p:nvSpPr>
        <p:spPr>
          <a:xfrm>
            <a:off x="4667098" y="3962095"/>
            <a:ext cx="6987845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你以为你在利用小资金的灵活性"以快打慢"，实际上你是在用频繁的试错和高额的摩擦成本，一点点磨损掉本金。</a:t>
            </a:r>
            <a:endParaRPr lang="en-US" sz="12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l="-760" r="-760"/>
          <a:stretch>
            <a:fillRect/>
          </a:stretch>
        </p:blipFill>
        <p:spPr>
          <a:xfrm>
            <a:off x="4581144" y="5168189"/>
            <a:ext cx="152705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错误路径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66598"/>
            <a:ext cx="30102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亏损的自洽死循环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t="-7" b="-7"/>
          <a:stretch>
            <a:fillRect/>
          </a:stretch>
        </p:blipFill>
        <p:spPr>
          <a:xfrm>
            <a:off x="2286000" y="1776679"/>
            <a:ext cx="7619695" cy="42867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48402" y="1966874"/>
            <a:ext cx="2095805" cy="1438351"/>
          </a:xfrm>
          <a:prstGeom prst="roundRect">
            <a:avLst>
              <a:gd name="adj" fmla="val 5052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  <a:effectLst>
            <a:outerShdw blurRad="1397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58230" y="2214677"/>
            <a:ext cx="276149" cy="2761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1965" y="2585923"/>
            <a:ext cx="100218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设10倍预期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257800" y="2875788"/>
            <a:ext cx="1783080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把不切实际的"翻倍"作为前提条件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52744" y="1833372"/>
            <a:ext cx="286207" cy="286207"/>
          </a:xfrm>
          <a:prstGeom prst="ellipse">
            <a:avLst/>
          </a:prstGeom>
          <a:solidFill>
            <a:srgbClr val="38BDF8"/>
          </a:solidFill>
          <a:ln w="50800">
            <a:solidFill>
              <a:srgbClr val="0F172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054242" y="1873606"/>
            <a:ext cx="18928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429500" y="2919679"/>
            <a:ext cx="2095805" cy="1438351"/>
          </a:xfrm>
          <a:prstGeom prst="roundRect">
            <a:avLst>
              <a:gd name="adj" fmla="val 5052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1397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39328" y="3167482"/>
            <a:ext cx="276149" cy="2761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058607" y="3538728"/>
            <a:ext cx="96469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合理化亏损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605065" y="3828593"/>
            <a:ext cx="1849831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"高收益必有高风险，先亏点很正常"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334756" y="2786177"/>
            <a:ext cx="286207" cy="286207"/>
          </a:xfrm>
          <a:prstGeom prst="ellipse">
            <a:avLst/>
          </a:prstGeom>
          <a:solidFill>
            <a:srgbClr val="38BDF8"/>
          </a:solidFill>
          <a:ln w="50800">
            <a:solidFill>
              <a:srgbClr val="0F172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435340" y="2826410"/>
            <a:ext cx="18928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0" y="4429354"/>
            <a:ext cx="2095805" cy="1257300"/>
          </a:xfrm>
          <a:prstGeom prst="roundRect">
            <a:avLst>
              <a:gd name="adj" fmla="val 6612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40000"/>
              </a:srgbClr>
            </a:solidFill>
            <a:prstDash val="solid"/>
          </a:ln>
          <a:effectLst>
            <a:outerShdw blurRad="1397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767828" y="4677156"/>
            <a:ext cx="276149" cy="27614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70318" y="5048402"/>
            <a:ext cx="80284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频繁试错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063740" y="5338267"/>
            <a:ext cx="17830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用灵活当借口，疯狂追涨杀跌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763256" y="4295851"/>
            <a:ext cx="286207" cy="286207"/>
          </a:xfrm>
          <a:prstGeom prst="ellipse">
            <a:avLst/>
          </a:prstGeom>
          <a:solidFill>
            <a:srgbClr val="F43F5E"/>
          </a:solidFill>
          <a:ln w="50800">
            <a:solidFill>
              <a:srgbClr val="0F172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863840" y="4336085"/>
            <a:ext cx="18928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38805" y="4429354"/>
            <a:ext cx="2095805" cy="1257300"/>
          </a:xfrm>
          <a:prstGeom prst="roundRect">
            <a:avLst>
              <a:gd name="adj" fmla="val 6612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1397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t="-333" b="-333"/>
          <a:stretch>
            <a:fillRect/>
          </a:stretch>
        </p:blipFill>
        <p:spPr>
          <a:xfrm>
            <a:off x="4114800" y="4677156"/>
            <a:ext cx="342900" cy="2761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51122" y="5048402"/>
            <a:ext cx="80284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归因运气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448202" y="5338267"/>
            <a:ext cx="17830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"只是运气不好，方向没问题"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143146" y="4295851"/>
            <a:ext cx="286207" cy="286207"/>
          </a:xfrm>
          <a:prstGeom prst="ellipse">
            <a:avLst/>
          </a:prstGeom>
          <a:solidFill>
            <a:srgbClr val="38BDF8"/>
          </a:solidFill>
          <a:ln w="50800">
            <a:solidFill>
              <a:srgbClr val="0F172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244645" y="4336085"/>
            <a:ext cx="18928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2667305" y="2919679"/>
            <a:ext cx="2095805" cy="1438351"/>
          </a:xfrm>
          <a:prstGeom prst="roundRect">
            <a:avLst>
              <a:gd name="adj" fmla="val 5052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1397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rcRect l="-552" r="-552"/>
          <a:stretch>
            <a:fillRect/>
          </a:stretch>
        </p:blipFill>
        <p:spPr>
          <a:xfrm>
            <a:off x="3610051" y="3167482"/>
            <a:ext cx="209398" cy="276149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366821" y="3538728"/>
            <a:ext cx="831190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继续"熬"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2873045" y="3828593"/>
            <a:ext cx="1783080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相信时间会解决一切，不做改变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3571646" y="2786177"/>
            <a:ext cx="286207" cy="286207"/>
          </a:xfrm>
          <a:prstGeom prst="ellipse">
            <a:avLst/>
          </a:prstGeom>
          <a:solidFill>
            <a:srgbClr val="38BDF8"/>
          </a:solidFill>
          <a:ln w="50800">
            <a:solidFill>
              <a:srgbClr val="0F172A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673145" y="2826410"/>
            <a:ext cx="18928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667098" y="3079699"/>
            <a:ext cx="2857500" cy="1686154"/>
          </a:xfrm>
          <a:prstGeom prst="roundRect">
            <a:avLst>
              <a:gd name="adj" fmla="val 4902"/>
            </a:avLst>
          </a:prstGeom>
          <a:solidFill>
            <a:srgbClr val="0F172A">
              <a:alpha val="95000"/>
            </a:srgbClr>
          </a:solidFill>
          <a:ln w="25400">
            <a:solidFill>
              <a:srgbClr val="F43F5E"/>
            </a:solidFill>
            <a:prstDash val="solid"/>
          </a:ln>
          <a:effectLst>
            <a:outerShdw blurRad="381000" dist="12700" dir="16200000" algn="bl" rotWithShape="0">
              <a:srgbClr val="F43F5E">
                <a:alpha val="20000"/>
              </a:srgbClr>
            </a:outerShdw>
          </a:effectLst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391302" y="3336646"/>
            <a:ext cx="190195" cy="190195"/>
          </a:xfrm>
          <a:prstGeom prst="rect">
            <a:avLst/>
          </a:prstGeom>
        </p:spPr>
      </p:pic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972507" y="3707892"/>
            <a:ext cx="142646" cy="142646"/>
          </a:xfrm>
          <a:prstGeom prst="rect">
            <a:avLst/>
          </a:prstGeom>
        </p:spPr>
      </p:pic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972507" y="4001414"/>
            <a:ext cx="142646" cy="142646"/>
          </a:xfrm>
          <a:prstGeom prst="rect">
            <a:avLst/>
          </a:prstGeom>
        </p:spPr>
      </p:pic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972507" y="4294937"/>
            <a:ext cx="142646" cy="142646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658307" y="3289097"/>
            <a:ext cx="12865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必须打破循环</a:t>
            </a:r>
            <a:endParaRPr lang="en-US" sz="1500" dirty="0"/>
          </a:p>
        </p:txBody>
      </p:sp>
      <p:sp>
        <p:nvSpPr>
          <p:cNvPr id="43" name="Text 31"/>
          <p:cNvSpPr txBox="1"/>
          <p:nvPr/>
        </p:nvSpPr>
        <p:spPr>
          <a:xfrm>
            <a:off x="5210251" y="3670402"/>
            <a:ext cx="17090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这个路径真的可持续吗？</a:t>
            </a:r>
            <a:endParaRPr lang="en-US" sz="1100" dirty="0"/>
          </a:p>
        </p:txBody>
      </p:sp>
      <p:sp>
        <p:nvSpPr>
          <p:cNvPr id="44" name="Text 32"/>
          <p:cNvSpPr txBox="1"/>
          <p:nvPr/>
        </p:nvSpPr>
        <p:spPr>
          <a:xfrm>
            <a:off x="5210251" y="3963010"/>
            <a:ext cx="199522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我是在进步还是在原地打转？</a:t>
            </a:r>
            <a:endParaRPr lang="en-US" sz="1100" dirty="0"/>
          </a:p>
        </p:txBody>
      </p:sp>
      <p:sp>
        <p:nvSpPr>
          <p:cNvPr id="45" name="Text 33"/>
          <p:cNvSpPr txBox="1"/>
          <p:nvPr/>
        </p:nvSpPr>
        <p:spPr>
          <a:xfrm>
            <a:off x="5210251" y="4256532"/>
            <a:ext cx="141366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风险是否早已超标？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2"/>
          <p:cNvSpPr txBox="1"/>
          <p:nvPr/>
        </p:nvSpPr>
        <p:spPr>
          <a:xfrm>
            <a:off x="8999525" y="1218895"/>
            <a:ext cx="5582412" cy="421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0" dirty="0">
                <a:solidFill>
                  <a:srgbClr val="FFFFFF">
                    <a:alpha val="2000"/>
                  </a:srgbClr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∑</a:t>
            </a:r>
            <a:endParaRPr lang="en-US" sz="30000" dirty="0"/>
          </a:p>
        </p:txBody>
      </p:sp>
      <p:sp>
        <p:nvSpPr>
          <p:cNvPr id="5" name="Shape 3"/>
          <p:cNvSpPr/>
          <p:nvPr/>
        </p:nvSpPr>
        <p:spPr>
          <a:xfrm>
            <a:off x="571500" y="1657807"/>
            <a:ext cx="4419295" cy="1067105"/>
          </a:xfrm>
          <a:prstGeom prst="roundRect">
            <a:avLst>
              <a:gd name="adj" fmla="val 12241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754" y="1951330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0F172A">
              <a:alpha val="60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57" r="-57"/>
          <a:stretch>
            <a:fillRect/>
          </a:stretch>
        </p:blipFill>
        <p:spPr>
          <a:xfrm>
            <a:off x="909828" y="2075688"/>
            <a:ext cx="200254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38351" y="1857146"/>
            <a:ext cx="97017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你的宏大目标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438351" y="2120494"/>
            <a:ext cx="2225650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一年 10 倍 (10x)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 t="-856" b="-856"/>
          <a:stretch>
            <a:fillRect/>
          </a:stretch>
        </p:blipFill>
        <p:spPr>
          <a:xfrm>
            <a:off x="2714854" y="2870302"/>
            <a:ext cx="133502" cy="18105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3198571"/>
            <a:ext cx="4419295" cy="1067105"/>
          </a:xfrm>
          <a:prstGeom prst="roundRect">
            <a:avLst>
              <a:gd name="adj" fmla="val 12241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1754" y="3493008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0F172A">
              <a:alpha val="60000"/>
            </a:srgbClr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95198" y="361645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38351" y="3398825"/>
            <a:ext cx="11128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所需年度收益率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438351" y="3661258"/>
            <a:ext cx="1186891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+ 900%</a:t>
            </a:r>
            <a:endParaRPr lang="en-US" sz="2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/>
          <a:srcRect t="-856" b="-856"/>
          <a:stretch>
            <a:fillRect/>
          </a:stretch>
        </p:blipFill>
        <p:spPr>
          <a:xfrm>
            <a:off x="2714854" y="4411066"/>
            <a:ext cx="133502" cy="181051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71500" y="4740250"/>
            <a:ext cx="4419295" cy="1067105"/>
          </a:xfrm>
          <a:prstGeom prst="roundRect">
            <a:avLst>
              <a:gd name="adj" fmla="val 12241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71754" y="503468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0F172A">
              <a:alpha val="60000"/>
            </a:srgbClr>
          </a:solidFill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 l="-57" r="-57"/>
          <a:stretch>
            <a:fillRect/>
          </a:stretch>
        </p:blipFill>
        <p:spPr>
          <a:xfrm>
            <a:off x="909828" y="5158130"/>
            <a:ext cx="200254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38351" y="4939589"/>
            <a:ext cx="13990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必须达成的月均复利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438351" y="5202936"/>
            <a:ext cx="1863547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≈ + 22% / 月</a:t>
            </a:r>
            <a:endParaRPr lang="en-US" sz="2100" dirty="0"/>
          </a:p>
        </p:txBody>
      </p:sp>
      <p:sp>
        <p:nvSpPr>
          <p:cNvPr id="22" name="Shape 15"/>
          <p:cNvSpPr/>
          <p:nvPr/>
        </p:nvSpPr>
        <p:spPr>
          <a:xfrm>
            <a:off x="571500" y="6090818"/>
            <a:ext cx="4419295" cy="724205"/>
          </a:xfrm>
          <a:prstGeom prst="rect">
            <a:avLst/>
          </a:prstGeom>
          <a:solidFill>
            <a:srgbClr val="F43F5E">
              <a:alpha val="5000"/>
            </a:srgbClr>
          </a:solidFill>
        </p:spPr>
      </p:sp>
      <p:sp>
        <p:nvSpPr>
          <p:cNvPr id="23" name="Shape 16"/>
          <p:cNvSpPr/>
          <p:nvPr/>
        </p:nvSpPr>
        <p:spPr>
          <a:xfrm>
            <a:off x="571500" y="6090818"/>
            <a:ext cx="38405" cy="724205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4" name="Text 17"/>
          <p:cNvSpPr txBox="1"/>
          <p:nvPr/>
        </p:nvSpPr>
        <p:spPr>
          <a:xfrm>
            <a:off x="752551" y="6233465"/>
            <a:ext cx="4071823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注意： 不是某一个月抓到龙头，而是连续12个月，每个月都稳定盈利22%，中间不能有任何大回撤。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562295" y="1657807"/>
            <a:ext cx="6057900" cy="5162702"/>
          </a:xfrm>
          <a:prstGeom prst="roundRect">
            <a:avLst>
              <a:gd name="adj" fmla="val 654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857646" y="2000707"/>
            <a:ext cx="237744" cy="1901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210605" y="1952244"/>
            <a:ext cx="32388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这是什么概念？—— 年化收益率对比</a:t>
            </a:r>
            <a:endParaRPr lang="en-US" sz="15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rcRect l="-1" r="-1"/>
          <a:stretch>
            <a:fillRect/>
          </a:stretch>
        </p:blipFill>
        <p:spPr>
          <a:xfrm>
            <a:off x="5857646" y="2428646"/>
            <a:ext cx="5467198" cy="295259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5857646" y="5628132"/>
            <a:ext cx="5467198" cy="895198"/>
          </a:xfrm>
          <a:prstGeom prst="roundRect">
            <a:avLst>
              <a:gd name="adj" fmla="val 13040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 l="-133" r="-133"/>
          <a:stretch>
            <a:fillRect/>
          </a:stretch>
        </p:blipFill>
        <p:spPr>
          <a:xfrm>
            <a:off x="6057900" y="5846674"/>
            <a:ext cx="171907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372454" y="5827471"/>
            <a:ext cx="4239158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残酷的真相：顶级基金经理用一整年的努力做到的业绩（约20%-30%），你试图在一个月内完成，并且还要连续做12次。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571500" y="1362456"/>
            <a:ext cx="1104869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33" name="Text 23"/>
          <p:cNvSpPr txBox="1"/>
          <p:nvPr/>
        </p:nvSpPr>
        <p:spPr>
          <a:xfrm>
            <a:off x="571500" y="381305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数学真相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571500" y="666598"/>
            <a:ext cx="3620110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 "一年10倍" 拆开看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0" y="809244"/>
            <a:ext cx="6096305" cy="6486754"/>
          </a:xfrm>
          <a:prstGeom prst="rect">
            <a:avLst/>
          </a:prstGeom>
          <a:solidFill>
            <a:srgbClr val="3B82F6">
              <a:alpha val="3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71500" y="11905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t="-45" b="-45"/>
          <a:stretch>
            <a:fillRect/>
          </a:stretch>
        </p:blipFill>
        <p:spPr>
          <a:xfrm>
            <a:off x="671170" y="1304849"/>
            <a:ext cx="256946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1405" y="1200607"/>
            <a:ext cx="30678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大资金 (Big Capital)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71500" y="2029054"/>
            <a:ext cx="4953305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 l="-33" r="-33"/>
          <a:stretch>
            <a:fillRect/>
          </a:stretch>
        </p:blipFill>
        <p:spPr>
          <a:xfrm>
            <a:off x="685800" y="2229307"/>
            <a:ext cx="171907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2007" y="2143354"/>
            <a:ext cx="453451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灵活性低，但持续性强船大难掉头，被迫"死拿"，反而吃到了完整的趋势主升浪。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1500" y="2866644"/>
            <a:ext cx="49533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 l="-33" r="-33"/>
          <a:stretch>
            <a:fillRect/>
          </a:stretch>
        </p:blipFill>
        <p:spPr>
          <a:xfrm>
            <a:off x="685800" y="3066898"/>
            <a:ext cx="171907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2007" y="2980944"/>
            <a:ext cx="45436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被动长期持有进出成本高，减少了频繁操作，享受复利滚动效应。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71500" y="3514954"/>
            <a:ext cx="49533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5800" y="3715207"/>
            <a:ext cx="152705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52805" y="3629254"/>
            <a:ext cx="40864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容错率高不追求短期爆发，注重资产配置和长期回撤控制。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71500" y="4352544"/>
            <a:ext cx="4953305" cy="2286000"/>
          </a:xfrm>
          <a:prstGeom prst="roundRect">
            <a:avLst>
              <a:gd name="adj" fmla="val 200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 t="-11" b="-11"/>
          <a:stretch>
            <a:fillRect/>
          </a:stretch>
        </p:blipFill>
        <p:spPr>
          <a:xfrm>
            <a:off x="724205" y="4505249"/>
            <a:ext cx="4647895" cy="19815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115007" y="6715354"/>
            <a:ext cx="19677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大资金：笨拙但稳健的趋势增长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096305" y="809244"/>
            <a:ext cx="6096305" cy="6486754"/>
          </a:xfrm>
          <a:prstGeom prst="rect">
            <a:avLst/>
          </a:prstGeom>
          <a:solidFill>
            <a:srgbClr val="F97316">
              <a:alpha val="3000"/>
            </a:srgbClr>
          </a:solidFill>
        </p:spPr>
      </p:sp>
      <p:sp>
        <p:nvSpPr>
          <p:cNvPr id="21" name="Shape 14"/>
          <p:cNvSpPr/>
          <p:nvPr/>
        </p:nvSpPr>
        <p:spPr>
          <a:xfrm>
            <a:off x="6667805" y="11905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>
            <a:fillRect/>
          </a:stretch>
        </p:blipFill>
        <p:spPr>
          <a:xfrm>
            <a:off x="6795821" y="1304849"/>
            <a:ext cx="200254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276795" y="1200607"/>
            <a:ext cx="343905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B923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小资金 (Small Capital)</a:t>
            </a:r>
            <a:endParaRPr lang="en-US" sz="2400" dirty="0"/>
          </a:p>
        </p:txBody>
      </p:sp>
      <p:sp>
        <p:nvSpPr>
          <p:cNvPr id="24" name="Shape 16"/>
          <p:cNvSpPr/>
          <p:nvPr/>
        </p:nvSpPr>
        <p:spPr>
          <a:xfrm>
            <a:off x="6667805" y="2029054"/>
            <a:ext cx="4953305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rcRect t="-43" b="-43"/>
          <a:stretch>
            <a:fillRect/>
          </a:stretch>
        </p:blipFill>
        <p:spPr>
          <a:xfrm>
            <a:off x="6782105" y="2229307"/>
            <a:ext cx="133502" cy="15270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029907" y="2143354"/>
            <a:ext cx="453451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灵活性高，反而死得快"船小好调头"变成了频繁进出、频繁止损、频繁情绪化。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667805" y="2866644"/>
            <a:ext cx="49533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 t="-100" b="-100"/>
          <a:stretch>
            <a:fillRect/>
          </a:stretch>
        </p:blipFill>
        <p:spPr>
          <a:xfrm>
            <a:off x="6782105" y="3066898"/>
            <a:ext cx="114300" cy="152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010705" y="2980944"/>
            <a:ext cx="43918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摩擦成本是隐形杀手滑点、手续费、追高踏空，不断侵蚀本金。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6667805" y="3514954"/>
            <a:ext cx="4953305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782105" y="3715207"/>
            <a:ext cx="152705" cy="15270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048195" y="3629254"/>
            <a:ext cx="4391863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复利断裂为了躲避小调整，往往错过了大反弹，不断抬高持仓成本。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6667805" y="4352544"/>
            <a:ext cx="4953305" cy="2286000"/>
          </a:xfrm>
          <a:prstGeom prst="roundRect">
            <a:avLst>
              <a:gd name="adj" fmla="val 200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0"/>
          <a:srcRect t="-11" b="-11"/>
          <a:stretch>
            <a:fillRect/>
          </a:stretch>
        </p:blipFill>
        <p:spPr>
          <a:xfrm>
            <a:off x="6819595" y="4505249"/>
            <a:ext cx="4647895" cy="198150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140903" y="6715354"/>
            <a:ext cx="21104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小资金：灵活性带来的"摩擦损耗"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6096305" y="1190549"/>
            <a:ext cx="9144" cy="5724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37" name="Shape 25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8" name="Shape 26"/>
          <p:cNvSpPr/>
          <p:nvPr/>
        </p:nvSpPr>
        <p:spPr>
          <a:xfrm>
            <a:off x="0" y="800100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</p:spPr>
      </p:sp>
      <p:sp>
        <p:nvSpPr>
          <p:cNvPr id="39" name="Shape 27"/>
          <p:cNvSpPr/>
          <p:nvPr/>
        </p:nvSpPr>
        <p:spPr>
          <a:xfrm>
            <a:off x="571500" y="352044"/>
            <a:ext cx="57607" cy="381305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40" name="Text 28"/>
          <p:cNvSpPr txBox="1"/>
          <p:nvPr/>
        </p:nvSpPr>
        <p:spPr>
          <a:xfrm>
            <a:off x="819302" y="295351"/>
            <a:ext cx="5563210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数学真相：小资金灵活性 ≠ 持续性</a:t>
            </a:r>
            <a:endParaRPr lang="en-US" sz="2700" dirty="0"/>
          </a:p>
        </p:txBody>
      </p:sp>
      <p:sp>
        <p:nvSpPr>
          <p:cNvPr id="41" name="Shape 29"/>
          <p:cNvSpPr/>
          <p:nvPr/>
        </p:nvSpPr>
        <p:spPr>
          <a:xfrm>
            <a:off x="5810098" y="3767328"/>
            <a:ext cx="571500" cy="5715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CBD5E1"/>
            </a:solidFill>
            <a:prstDash val="solid"/>
          </a:ln>
          <a:effectLst>
            <a:outerShdw blurRad="190500" dist="12700" dir="162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2" name="Text 30"/>
          <p:cNvSpPr txBox="1"/>
          <p:nvPr/>
        </p:nvSpPr>
        <p:spPr>
          <a:xfrm>
            <a:off x="5982005" y="3881628"/>
            <a:ext cx="400507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≠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实战困境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66598"/>
            <a:ext cx="36960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牛市中的高买低卖循环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0" y="1873606"/>
            <a:ext cx="381305" cy="4095598"/>
          </a:xfrm>
          <a:prstGeom prst="rect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86300" y="5405018"/>
            <a:ext cx="6933895" cy="1076249"/>
          </a:xfrm>
          <a:prstGeom prst="roundRect">
            <a:avLst>
              <a:gd name="adj" fmla="val 902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86554" y="5586070"/>
            <a:ext cx="152705" cy="15270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 t="-43" b="-43"/>
          <a:stretch>
            <a:fillRect/>
          </a:stretch>
        </p:blipFill>
        <p:spPr>
          <a:xfrm>
            <a:off x="7112203" y="5586070"/>
            <a:ext cx="133502" cy="15270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37853" y="5586070"/>
            <a:ext cx="152705" cy="152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34356" y="5556809"/>
            <a:ext cx="98572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持仓成本抬升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5134356" y="5802782"/>
            <a:ext cx="1805940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为了躲避10%的下跌，付出了30%的追高溢价，成本从底部的40元变成了高位的80元。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7340803" y="5556809"/>
            <a:ext cx="98572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踏空最肥一段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7340803" y="5802782"/>
            <a:ext cx="192024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错过了反转初期利润最丰厚的主升浪，只吃到了风险最高的鱼尾。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9585655" y="5556809"/>
            <a:ext cx="98572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复利彻底断裂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9585655" y="5802782"/>
            <a:ext cx="1920240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频繁的摩擦成本侵蚀了本金，牛市指数翻倍，你的账户却在原地踏步甚至亏损。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71500" y="1687982"/>
            <a:ext cx="3733495" cy="942746"/>
          </a:xfrm>
          <a:prstGeom prst="roundRect">
            <a:avLst>
              <a:gd name="adj" fmla="val 11757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0100" y="196596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43F5E">
              <a:alpha val="10000"/>
            </a:srgbClr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 l="-1403" r="-1403"/>
          <a:stretch>
            <a:fillRect/>
          </a:stretch>
        </p:blipFill>
        <p:spPr>
          <a:xfrm>
            <a:off x="886054" y="2065630"/>
            <a:ext cx="209398" cy="18105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4051" y="1839773"/>
            <a:ext cx="9052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急跌止损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324051" y="2106778"/>
            <a:ext cx="1682496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股价回调10%，恐慌卖出避险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324051" y="2289658"/>
            <a:ext cx="1063447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"看起来要暴跌了"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71500" y="2862986"/>
            <a:ext cx="3733495" cy="942746"/>
          </a:xfrm>
          <a:prstGeom prst="roundRect">
            <a:avLst>
              <a:gd name="adj" fmla="val 11757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0100" y="314096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BBF24">
              <a:alpha val="10000"/>
            </a:srgbClr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l="-1403" r="-1403"/>
          <a:stretch>
            <a:fillRect/>
          </a:stretch>
        </p:blipFill>
        <p:spPr>
          <a:xfrm>
            <a:off x="886054" y="3241548"/>
            <a:ext cx="209398" cy="18105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4051" y="3015691"/>
            <a:ext cx="8485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V反踏空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324051" y="3282696"/>
            <a:ext cx="1511503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V型反转拉升，怀疑是诱多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324051" y="3465576"/>
            <a:ext cx="143469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"再观察一下，别被骗了"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71500" y="4038905"/>
            <a:ext cx="3733495" cy="942746"/>
          </a:xfrm>
          <a:prstGeom prst="roundRect">
            <a:avLst>
              <a:gd name="adj" fmla="val 11757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0100" y="431688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BBF24">
              <a:alpha val="10000"/>
            </a:srgbClr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rcRect l="-1082" r="-1082"/>
          <a:stretch>
            <a:fillRect/>
          </a:stretch>
        </p:blipFill>
        <p:spPr>
          <a:xfrm>
            <a:off x="909828" y="4416552"/>
            <a:ext cx="161849" cy="18105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324051" y="4190695"/>
            <a:ext cx="9052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新高追入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1324051" y="4457700"/>
            <a:ext cx="180594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确认牛市还在，怕踏空高位接回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324051" y="4640580"/>
            <a:ext cx="118689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"真的强，赶紧上车"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571500" y="5213909"/>
            <a:ext cx="3733495" cy="942746"/>
          </a:xfrm>
          <a:prstGeom prst="roundRect">
            <a:avLst>
              <a:gd name="adj" fmla="val 11757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00100" y="549188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43F5E">
              <a:alpha val="10000"/>
            </a:srgbClr>
          </a:solidFill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9770" y="5592470"/>
            <a:ext cx="181051" cy="181051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324051" y="5366614"/>
            <a:ext cx="9052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再洗再割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1324051" y="5632704"/>
            <a:ext cx="180594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再次遇洗盘，心态崩坏再次割肉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324051" y="5816498"/>
            <a:ext cx="118689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"怎么我一买就跌？"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4686300" y="1362456"/>
            <a:ext cx="6933895" cy="3857854"/>
          </a:xfrm>
          <a:prstGeom prst="roundRect">
            <a:avLst>
              <a:gd name="adj" fmla="val 936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839005" y="1514246"/>
            <a:ext cx="66294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-6287" r="-6287"/>
          <a:stretch>
            <a:fillRect/>
          </a:stretch>
        </p:blipFill>
        <p:spPr>
          <a:xfrm>
            <a:off x="5469026" y="333756"/>
            <a:ext cx="171907" cy="1527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6829" y="286207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纪律体系核心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995928" y="504749"/>
            <a:ext cx="4520794" cy="6199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回撤纪律：黄灯 / 红灯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1285646" y="1573682"/>
            <a:ext cx="4572000" cy="4000500"/>
          </a:xfrm>
          <a:prstGeom prst="roundRect">
            <a:avLst>
              <a:gd name="adj" fmla="val 1088"/>
            </a:avLst>
          </a:prstGeom>
          <a:solidFill>
            <a:srgbClr val="EAB308">
              <a:alpha val="5000"/>
            </a:srgbClr>
          </a:solidFill>
          <a:ln w="12700">
            <a:solidFill>
              <a:srgbClr val="EAB308">
                <a:alpha val="50000"/>
              </a:srgbClr>
            </a:solidFill>
            <a:prstDash val="solid"/>
          </a:ln>
          <a:effectLst>
            <a:outerShdw blurRad="381000" dist="1905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85646" y="1573682"/>
            <a:ext cx="4552798" cy="57607"/>
          </a:xfrm>
          <a:prstGeom prst="rect">
            <a:avLst/>
          </a:prstGeom>
          <a:solidFill>
            <a:srgbClr val="EAB308"/>
          </a:solidFill>
        </p:spPr>
      </p:sp>
      <p:sp>
        <p:nvSpPr>
          <p:cNvPr id="9" name="Shape 6"/>
          <p:cNvSpPr/>
          <p:nvPr/>
        </p:nvSpPr>
        <p:spPr>
          <a:xfrm>
            <a:off x="3191256" y="1944929"/>
            <a:ext cx="761695" cy="761695"/>
          </a:xfrm>
          <a:prstGeom prst="ellipse">
            <a:avLst/>
          </a:prstGeom>
          <a:solidFill>
            <a:srgbClr val="EAB308">
              <a:alpha val="20000"/>
            </a:srgbClr>
          </a:solidFill>
          <a:ln w="38100">
            <a:solidFill>
              <a:srgbClr val="EAB308">
                <a:alpha val="3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57677" y="2112264"/>
            <a:ext cx="428854" cy="4288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4271" y="2850185"/>
            <a:ext cx="1164031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黄灯警报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021178" y="3263494"/>
            <a:ext cx="12079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Yellow Light Alert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533449" y="3659429"/>
            <a:ext cx="4076395" cy="886054"/>
          </a:xfrm>
          <a:prstGeom prst="roundRect">
            <a:avLst>
              <a:gd name="adj" fmla="val 133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43123" y="3812134"/>
            <a:ext cx="11548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触发条件 (Trigger)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684678" y="3996842"/>
            <a:ext cx="2009851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利润回撤 5%</a:t>
            </a:r>
            <a:endParaRPr lang="en-US" sz="2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 l="-202054" r="-202054"/>
          <a:stretch>
            <a:fillRect/>
          </a:stretch>
        </p:blipFill>
        <p:spPr>
          <a:xfrm>
            <a:off x="2563978" y="4733849"/>
            <a:ext cx="1009498" cy="20025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573475" y="4722876"/>
            <a:ext cx="1135685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立刻提高警惕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068726" y="4957877"/>
            <a:ext cx="1135685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操作转为保守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34049" y="1573682"/>
            <a:ext cx="4572000" cy="4000500"/>
          </a:xfrm>
          <a:prstGeom prst="roundRect">
            <a:avLst>
              <a:gd name="adj" fmla="val 1088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381000" dist="1905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4049" y="1573682"/>
            <a:ext cx="4552798" cy="57607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1" name="Shape 16"/>
          <p:cNvSpPr/>
          <p:nvPr/>
        </p:nvSpPr>
        <p:spPr>
          <a:xfrm>
            <a:off x="8238744" y="1944929"/>
            <a:ext cx="761695" cy="761695"/>
          </a:xfrm>
          <a:prstGeom prst="ellipse">
            <a:avLst/>
          </a:prstGeom>
          <a:solidFill>
            <a:srgbClr val="EF4444">
              <a:alpha val="20000"/>
            </a:srgbClr>
          </a:solidFill>
          <a:ln w="38100">
            <a:solidFill>
              <a:srgbClr val="EF4444">
                <a:alpha val="3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06079" y="2112264"/>
            <a:ext cx="428854" cy="4288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132674" y="2850185"/>
            <a:ext cx="1164031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红灯熔断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8156448" y="3263494"/>
            <a:ext cx="103693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Red Light Stop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581851" y="3659429"/>
            <a:ext cx="4076395" cy="886054"/>
          </a:xfrm>
          <a:prstGeom prst="roundRect">
            <a:avLst>
              <a:gd name="adj" fmla="val 133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091526" y="3812134"/>
            <a:ext cx="11548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触发条件 (Trigger)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639812" y="3996842"/>
            <a:ext cx="219090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利润回撤 10%</a:t>
            </a:r>
            <a:endParaRPr lang="en-US" sz="2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l="-285388" r="-285388"/>
          <a:stretch>
            <a:fillRect/>
          </a:stretch>
        </p:blipFill>
        <p:spPr>
          <a:xfrm>
            <a:off x="7445959" y="4733849"/>
            <a:ext cx="1343254" cy="20025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88298" y="4722876"/>
            <a:ext cx="1135685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彻底停止交易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949794" y="4957877"/>
            <a:ext cx="1469441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强制保住胜利果实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571500" y="6025896"/>
            <a:ext cx="11048695" cy="552298"/>
          </a:xfrm>
          <a:prstGeom prst="roundRect">
            <a:avLst>
              <a:gd name="adj" fmla="val 34254"/>
            </a:avLst>
          </a:prstGeom>
          <a:solidFill>
            <a:srgbClr val="1E293B">
              <a:alpha val="50000"/>
            </a:srgbClr>
          </a:solidFill>
        </p:spPr>
      </p:sp>
      <p:sp>
        <p:nvSpPr>
          <p:cNvPr id="32" name="Shape 25"/>
          <p:cNvSpPr/>
          <p:nvPr/>
        </p:nvSpPr>
        <p:spPr>
          <a:xfrm>
            <a:off x="571500" y="6025896"/>
            <a:ext cx="1104869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33" name="Text 26"/>
          <p:cNvSpPr txBox="1"/>
          <p:nvPr/>
        </p:nvSpPr>
        <p:spPr>
          <a:xfrm>
            <a:off x="3631997" y="6177686"/>
            <a:ext cx="5060290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铁律：数字到了，立刻执行。不要解释原因，不要复盘基本面。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571500" y="5939942"/>
            <a:ext cx="11048695" cy="543154"/>
          </a:xfrm>
          <a:prstGeom prst="rect">
            <a:avLst/>
          </a:prstGeom>
          <a:solidFill>
            <a:srgbClr val="1E293B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71500" y="5939942"/>
            <a:ext cx="38405" cy="543154"/>
          </a:xfrm>
          <a:prstGeom prst="rect">
            <a:avLst/>
          </a:prstGeom>
          <a:solidFill>
            <a:srgbClr val="38BDF8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t="-1310" b="-1310"/>
          <a:stretch>
            <a:fillRect/>
          </a:stretch>
        </p:blipFill>
        <p:spPr>
          <a:xfrm>
            <a:off x="847649" y="6122822"/>
            <a:ext cx="209398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1346" y="6082589"/>
            <a:ext cx="180228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执行原则：纪律必须是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847442" y="6082589"/>
            <a:ext cx="630936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机械的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350362" y="6082589"/>
            <a:ext cx="297180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517697" y="6082589"/>
            <a:ext cx="80284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无条件的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188866" y="6082589"/>
            <a:ext cx="630936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、甚至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691786" y="6082589"/>
            <a:ext cx="96469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不讲情绪的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81744" y="6112764"/>
            <a:ext cx="21003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数字到了，立刻执行，不解释原因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" y="381305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纪律体系核心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" y="666598"/>
            <a:ext cx="40389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本金亏损底线与停手机制</a:t>
            </a:r>
            <a:endParaRPr lang="en-US" sz="27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t="-80" b="-80"/>
          <a:stretch>
            <a:fillRect/>
          </a:stretch>
        </p:blipFill>
        <p:spPr>
          <a:xfrm>
            <a:off x="4214470" y="3489350"/>
            <a:ext cx="142646" cy="228600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2"/>
          <a:srcRect t="-80" b="-80"/>
          <a:stretch>
            <a:fillRect/>
          </a:stretch>
        </p:blipFill>
        <p:spPr>
          <a:xfrm>
            <a:off x="7834579" y="3489350"/>
            <a:ext cx="142646" cy="228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47902" y="2147011"/>
            <a:ext cx="2857500" cy="2915107"/>
          </a:xfrm>
          <a:prstGeom prst="roundRect">
            <a:avLst>
              <a:gd name="adj" fmla="val 1707"/>
            </a:avLst>
          </a:prstGeom>
          <a:solidFill>
            <a:srgbClr val="1E293B">
              <a:alpha val="60000"/>
            </a:srgbClr>
          </a:solidFill>
          <a:ln w="50800">
            <a:solidFill>
              <a:srgbClr val="F59E0B"/>
            </a:solidFill>
            <a:prstDash val="solid"/>
          </a:ln>
          <a:effectLst>
            <a:outerShdw blurRad="190500" dist="38100" dir="5400000" algn="bl" rotWithShape="0">
              <a:srgbClr val="F59E0B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295705" y="3442716"/>
            <a:ext cx="236189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20" name="Text 15"/>
          <p:cNvSpPr txBox="1"/>
          <p:nvPr/>
        </p:nvSpPr>
        <p:spPr>
          <a:xfrm>
            <a:off x="2099462" y="2432304"/>
            <a:ext cx="1047902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-5%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1721815" y="3042209"/>
            <a:ext cx="164043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本金受损·防御模式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1295705" y="3684118"/>
            <a:ext cx="2361895" cy="1133856"/>
          </a:xfrm>
          <a:prstGeom prst="roundRect">
            <a:avLst>
              <a:gd name="adj" fmla="val 5422"/>
            </a:avLst>
          </a:prstGeom>
          <a:solidFill>
            <a:srgbClr val="0F172A">
              <a:alpha val="60000"/>
            </a:srgbClr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38351" y="3865169"/>
            <a:ext cx="142646" cy="14264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76095" y="3826764"/>
            <a:ext cx="155722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彻底放弃所有进攻想法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38351" y="4177894"/>
            <a:ext cx="142646" cy="14264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76095" y="4139489"/>
            <a:ext cx="112837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禁止开新仓博弈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38351" y="4489704"/>
            <a:ext cx="142646" cy="14264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676095" y="4452214"/>
            <a:ext cx="170901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只允许做防守型减仓操作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667098" y="2147011"/>
            <a:ext cx="2857500" cy="2915107"/>
          </a:xfrm>
          <a:prstGeom prst="roundRect">
            <a:avLst>
              <a:gd name="adj" fmla="val 1707"/>
            </a:avLst>
          </a:prstGeom>
          <a:solidFill>
            <a:srgbClr val="1E293B">
              <a:alpha val="60000"/>
            </a:srgbClr>
          </a:solidFill>
          <a:ln w="50800">
            <a:solidFill>
              <a:srgbClr val="F43F5E"/>
            </a:solidFill>
            <a:prstDash val="solid"/>
          </a:ln>
          <a:effectLst>
            <a:outerShdw blurRad="190500" dist="38100" dir="5400000" algn="bl" rotWithShape="0">
              <a:srgbClr val="F43F5E">
                <a:alpha val="1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914900" y="3442716"/>
            <a:ext cx="236189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31" name="Text 23"/>
          <p:cNvSpPr txBox="1"/>
          <p:nvPr/>
        </p:nvSpPr>
        <p:spPr>
          <a:xfrm>
            <a:off x="5603443" y="2432304"/>
            <a:ext cx="1276502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-10%</a:t>
            </a:r>
            <a:endParaRPr lang="en-US" sz="3000" dirty="0"/>
          </a:p>
        </p:txBody>
      </p:sp>
      <p:sp>
        <p:nvSpPr>
          <p:cNvPr id="32" name="Text 24"/>
          <p:cNvSpPr txBox="1"/>
          <p:nvPr/>
        </p:nvSpPr>
        <p:spPr>
          <a:xfrm>
            <a:off x="5341925" y="3042209"/>
            <a:ext cx="164043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生死边缘·最后机会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914900" y="3684118"/>
            <a:ext cx="2361895" cy="1133856"/>
          </a:xfrm>
          <a:prstGeom prst="roundRect">
            <a:avLst>
              <a:gd name="adj" fmla="val 5422"/>
            </a:avLst>
          </a:prstGeom>
          <a:solidFill>
            <a:srgbClr val="0F172A">
              <a:alpha val="60000"/>
            </a:srgbClr>
          </a:solidFill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057546" y="3865169"/>
            <a:ext cx="142646" cy="14264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296205" y="3826764"/>
            <a:ext cx="141366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仅允许最后一笔交易</a:t>
            </a:r>
            <a:endParaRPr lang="en-US" sz="11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rcRect t="-556" b="-556"/>
          <a:stretch>
            <a:fillRect/>
          </a:stretch>
        </p:blipFill>
        <p:spPr>
          <a:xfrm>
            <a:off x="5057546" y="4177894"/>
            <a:ext cx="123444" cy="14264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277002" y="4139489"/>
            <a:ext cx="169987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必须是"极度确定性"机会</a:t>
            </a:r>
            <a:endParaRPr lang="en-US" sz="11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rcRect t="-870" b="-870"/>
          <a:stretch>
            <a:fillRect/>
          </a:stretch>
        </p:blipFill>
        <p:spPr>
          <a:xfrm>
            <a:off x="5057546" y="4489704"/>
            <a:ext cx="105156" cy="14264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257800" y="4452214"/>
            <a:ext cx="18516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若此笔仍不盈利，直接熔断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8257946" y="2122322"/>
            <a:ext cx="2915107" cy="2962656"/>
          </a:xfrm>
          <a:prstGeom prst="roundRect">
            <a:avLst>
              <a:gd name="adj" fmla="val 1640"/>
            </a:avLst>
          </a:prstGeom>
          <a:solidFill>
            <a:srgbClr val="EF4444">
              <a:alpha val="10000"/>
            </a:srgbClr>
          </a:solidFill>
          <a:ln w="25400">
            <a:solidFill>
              <a:srgbClr val="EF4444"/>
            </a:solidFill>
            <a:prstDash val="solid"/>
          </a:ln>
          <a:effectLst>
            <a:outerShdw blurRad="241300" dist="38100" dir="5400000" algn="bl" rotWithShape="0">
              <a:srgbClr val="EF4444">
                <a:alpha val="25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8520379" y="3423514"/>
            <a:ext cx="2391156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42" name="Shape 31"/>
          <p:cNvSpPr/>
          <p:nvPr/>
        </p:nvSpPr>
        <p:spPr>
          <a:xfrm>
            <a:off x="8520379" y="3671316"/>
            <a:ext cx="2391156" cy="1152144"/>
          </a:xfrm>
          <a:prstGeom prst="roundRect">
            <a:avLst>
              <a:gd name="adj" fmla="val 5247"/>
            </a:avLst>
          </a:prstGeom>
          <a:solidFill>
            <a:srgbClr val="EF4444">
              <a:alpha val="10000"/>
            </a:srgbClr>
          </a:solidFill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9"/>
          <a:srcRect t="-2994" b="-2994"/>
          <a:stretch>
            <a:fillRect/>
          </a:stretch>
        </p:blipFill>
        <p:spPr>
          <a:xfrm>
            <a:off x="8666683" y="3856025"/>
            <a:ext cx="152705" cy="161849"/>
          </a:xfrm>
          <a:prstGeom prst="rect">
            <a:avLst/>
          </a:prstGeom>
        </p:spPr>
      </p:pic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0"/>
          <a:srcRect l="-3914" r="-3914"/>
          <a:stretch>
            <a:fillRect/>
          </a:stretch>
        </p:blipFill>
        <p:spPr>
          <a:xfrm>
            <a:off x="8666683" y="4174236"/>
            <a:ext cx="152705" cy="161849"/>
          </a:xfrm>
          <a:prstGeom prst="rect">
            <a:avLst/>
          </a:prstGeom>
        </p:spPr>
      </p:pic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1"/>
          <a:srcRect t="-2994" b="-2994"/>
          <a:stretch>
            <a:fillRect/>
          </a:stretch>
        </p:blipFill>
        <p:spPr>
          <a:xfrm>
            <a:off x="8666683" y="4493362"/>
            <a:ext cx="152705" cy="161849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9194292" y="2394814"/>
            <a:ext cx="133411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STOP</a:t>
            </a:r>
            <a:endParaRPr lang="en-US" sz="3000" dirty="0"/>
          </a:p>
        </p:txBody>
      </p:sp>
      <p:sp>
        <p:nvSpPr>
          <p:cNvPr id="47" name="Text 33"/>
          <p:cNvSpPr txBox="1"/>
          <p:nvPr/>
        </p:nvSpPr>
        <p:spPr>
          <a:xfrm>
            <a:off x="8946490" y="3016606"/>
            <a:ext cx="166878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强制熔断·离场冷静</a:t>
            </a:r>
            <a:endParaRPr lang="en-US" sz="1300" dirty="0"/>
          </a:p>
        </p:txBody>
      </p:sp>
      <p:sp>
        <p:nvSpPr>
          <p:cNvPr id="48" name="Text 34"/>
          <p:cNvSpPr txBox="1"/>
          <p:nvPr/>
        </p:nvSpPr>
        <p:spPr>
          <a:xfrm>
            <a:off x="8908999" y="3816706"/>
            <a:ext cx="994867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彻底关掉电脑</a:t>
            </a:r>
            <a:endParaRPr lang="en-US" sz="1100" dirty="0"/>
          </a:p>
        </p:txBody>
      </p:sp>
      <p:sp>
        <p:nvSpPr>
          <p:cNvPr id="49" name="Text 35"/>
          <p:cNvSpPr txBox="1"/>
          <p:nvPr/>
        </p:nvSpPr>
        <p:spPr>
          <a:xfrm>
            <a:off x="8908999" y="4135831"/>
            <a:ext cx="129021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本月停止所有交易</a:t>
            </a:r>
            <a:endParaRPr lang="en-US" sz="1100" dirty="0"/>
          </a:p>
        </p:txBody>
      </p:sp>
      <p:sp>
        <p:nvSpPr>
          <p:cNvPr id="50" name="Text 36"/>
          <p:cNvSpPr txBox="1"/>
          <p:nvPr/>
        </p:nvSpPr>
        <p:spPr>
          <a:xfrm>
            <a:off x="8908999" y="4454042"/>
            <a:ext cx="173827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不再复盘个股，只修心态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571500" y="1489558"/>
            <a:ext cx="7248449" cy="5105095"/>
          </a:xfrm>
          <a:prstGeom prst="roundRect">
            <a:avLst>
              <a:gd name="adj" fmla="val 535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t="-2" b="-2"/>
          <a:stretch>
            <a:fillRect/>
          </a:stretch>
        </p:blipFill>
        <p:spPr>
          <a:xfrm>
            <a:off x="771754" y="1689811"/>
            <a:ext cx="6848856" cy="44010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68296" y="6185916"/>
            <a:ext cx="37609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注：为保证图表可读性，仅展示前36个月（3年）的增长曲线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201254" y="1489558"/>
            <a:ext cx="3419856" cy="1580998"/>
          </a:xfrm>
          <a:prstGeom prst="roundRect">
            <a:avLst>
              <a:gd name="adj" fmla="val 4181"/>
            </a:avLst>
          </a:prstGeom>
          <a:solidFill>
            <a:srgbClr val="1E293B">
              <a:alpha val="6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8201254" y="1489558"/>
            <a:ext cx="38405" cy="1580998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9" name="Text 6"/>
          <p:cNvSpPr txBox="1"/>
          <p:nvPr/>
        </p:nvSpPr>
        <p:spPr>
          <a:xfrm>
            <a:off x="8429854" y="1684325"/>
            <a:ext cx="80284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稳健模式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820095" y="1680667"/>
            <a:ext cx="619049" cy="267005"/>
          </a:xfrm>
          <a:prstGeom prst="roundRect">
            <a:avLst>
              <a:gd name="adj" fmla="val 48924"/>
            </a:avLst>
          </a:prstGeom>
          <a:solidFill>
            <a:srgbClr val="34D399">
              <a:alpha val="20000"/>
            </a:srgbClr>
          </a:solidFill>
        </p:spPr>
      </p:sp>
      <p:sp>
        <p:nvSpPr>
          <p:cNvPr id="11" name="Text 8"/>
          <p:cNvSpPr txBox="1"/>
          <p:nvPr/>
        </p:nvSpPr>
        <p:spPr>
          <a:xfrm>
            <a:off x="10895990" y="1718158"/>
            <a:ext cx="55869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月利 5%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429854" y="2168042"/>
            <a:ext cx="87508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3年后 (36月)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832897" y="2082089"/>
            <a:ext cx="76078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5.8 倍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429854" y="2563978"/>
            <a:ext cx="87508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5年后 (60月)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703052" y="2478938"/>
            <a:ext cx="89428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18.6 倍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01254" y="3256178"/>
            <a:ext cx="3419856" cy="1580998"/>
          </a:xfrm>
          <a:prstGeom prst="roundRect">
            <a:avLst>
              <a:gd name="adj" fmla="val 4181"/>
            </a:avLst>
          </a:prstGeom>
          <a:solidFill>
            <a:srgbClr val="F43F5E">
              <a:alpha val="500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8201254" y="3256178"/>
            <a:ext cx="38405" cy="1580998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8" name="Text 15"/>
          <p:cNvSpPr txBox="1"/>
          <p:nvPr/>
        </p:nvSpPr>
        <p:spPr>
          <a:xfrm>
            <a:off x="8429854" y="3450031"/>
            <a:ext cx="80284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进阶模式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748772" y="3446374"/>
            <a:ext cx="685800" cy="267005"/>
          </a:xfrm>
          <a:prstGeom prst="roundRect">
            <a:avLst>
              <a:gd name="adj" fmla="val 48924"/>
            </a:avLst>
          </a:prstGeom>
          <a:solidFill>
            <a:srgbClr val="F43F5E">
              <a:alpha val="20000"/>
            </a:srgbClr>
          </a:solidFill>
        </p:spPr>
      </p:sp>
      <p:sp>
        <p:nvSpPr>
          <p:cNvPr id="20" name="Text 17"/>
          <p:cNvSpPr txBox="1"/>
          <p:nvPr/>
        </p:nvSpPr>
        <p:spPr>
          <a:xfrm>
            <a:off x="10824667" y="3484778"/>
            <a:ext cx="62545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月利 10%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429854" y="3933749"/>
            <a:ext cx="87508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3年后 (36月)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703052" y="3848710"/>
            <a:ext cx="89428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30.9 倍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429854" y="4330598"/>
            <a:ext cx="87508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5年后 (60月)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573207" y="4244645"/>
            <a:ext cx="1017727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304.5 倍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01254" y="5234940"/>
            <a:ext cx="3419856" cy="1362456"/>
          </a:xfrm>
          <a:prstGeom prst="roundRect">
            <a:avLst>
              <a:gd name="adj" fmla="val 5632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01507" y="5473598"/>
            <a:ext cx="152705" cy="15270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630107" y="5435194"/>
            <a:ext cx="22576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最重要的不是数字，是心智同步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401507" y="5739689"/>
            <a:ext cx="3119018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复利不只是资金的增长，更是心智的打磨。 1万时驾驭1万的波动，100万时驾驭100万的波动。 这就是为什么"慢"才是真正的"快"。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71500" y="1295705"/>
            <a:ext cx="1104869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30" name="Shape 26"/>
          <p:cNvSpPr/>
          <p:nvPr/>
        </p:nvSpPr>
        <p:spPr>
          <a:xfrm>
            <a:off x="9128455" y="699516"/>
            <a:ext cx="2495398" cy="400507"/>
          </a:xfrm>
          <a:prstGeom prst="roundRect">
            <a:avLst>
              <a:gd name="adj" fmla="val 4348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rcRect l="-33" r="-33"/>
          <a:stretch>
            <a:fillRect/>
          </a:stretch>
        </p:blipFill>
        <p:spPr>
          <a:xfrm>
            <a:off x="9290304" y="822960"/>
            <a:ext cx="171907" cy="15270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538106" y="784555"/>
            <a:ext cx="20391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Compound Interest Magic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571500" y="428854"/>
            <a:ext cx="1135685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纪律体系核心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571500" y="613562"/>
            <a:ext cx="2953512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复利的恐怖威力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2"/>
          <p:cNvSpPr txBox="1"/>
          <p:nvPr/>
        </p:nvSpPr>
        <p:spPr>
          <a:xfrm>
            <a:off x="5765292" y="286207"/>
            <a:ext cx="86959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心理博弈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555955"/>
            <a:ext cx="5016398" cy="6199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“上头”触发的心理熔断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71500" y="1410919"/>
            <a:ext cx="5286146" cy="4515307"/>
          </a:xfrm>
          <a:prstGeom prst="roundRect">
            <a:avLst>
              <a:gd name="adj" fmla="val 854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blurRad="381000" dist="1905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410919"/>
            <a:ext cx="5266944" cy="57607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8" name="Shape 6"/>
          <p:cNvSpPr/>
          <p:nvPr/>
        </p:nvSpPr>
        <p:spPr>
          <a:xfrm>
            <a:off x="580644" y="2278685"/>
            <a:ext cx="526694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819302" y="1611173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F4444">
              <a:alpha val="20000"/>
            </a:srgbClr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l="-552" r="-552"/>
          <a:stretch>
            <a:fillRect/>
          </a:stretch>
        </p:blipFill>
        <p:spPr>
          <a:xfrm>
            <a:off x="952805" y="1711757"/>
            <a:ext cx="209398" cy="2761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38351" y="1688897"/>
            <a:ext cx="1227125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危险的滑坡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9302" y="2525573"/>
            <a:ext cx="17483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典型场景 (THE SCENARIO)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19302" y="2792578"/>
            <a:ext cx="4791456" cy="914400"/>
          </a:xfrm>
          <a:prstGeom prst="roundRect">
            <a:avLst>
              <a:gd name="adj" fmla="val 1041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2007" y="2991002"/>
            <a:ext cx="76078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+25%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1082" r="-1082"/>
          <a:stretch>
            <a:fillRect/>
          </a:stretch>
        </p:blipFill>
        <p:spPr>
          <a:xfrm>
            <a:off x="3047695" y="3060497"/>
            <a:ext cx="161849" cy="1810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86300" y="2954426"/>
            <a:ext cx="987552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+20%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2446020" y="3385109"/>
            <a:ext cx="16294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仅回撤 5% (Profit Drawdown)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819302" y="3842309"/>
            <a:ext cx="16532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心理异变 (PSYCHOLOGY)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9302" y="4185209"/>
            <a:ext cx="4791456" cy="418795"/>
          </a:xfrm>
          <a:prstGeom prst="roundRect">
            <a:avLst>
              <a:gd name="adj" fmla="val 39698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l="-26104" r="-26104"/>
          <a:stretch>
            <a:fillRect/>
          </a:stretch>
        </p:blipFill>
        <p:spPr>
          <a:xfrm>
            <a:off x="961949" y="4327855"/>
            <a:ext cx="228600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04849" y="4280306"/>
            <a:ext cx="886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CAC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锚定效应：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2067458" y="4327855"/>
            <a:ext cx="20958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眼睛只盯着失去的5%，而非剩下的20%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819302" y="4718304"/>
            <a:ext cx="4791456" cy="418795"/>
          </a:xfrm>
          <a:prstGeom prst="roundRect">
            <a:avLst>
              <a:gd name="adj" fmla="val 39698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l="-35617" r="-35617"/>
          <a:stretch>
            <a:fillRect/>
          </a:stretch>
        </p:blipFill>
        <p:spPr>
          <a:xfrm>
            <a:off x="961949" y="4860950"/>
            <a:ext cx="2286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04849" y="4813402"/>
            <a:ext cx="886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CAC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被剥夺感：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2067458" y="4860950"/>
            <a:ext cx="18004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"凭什么？不服气！我要赢回来！"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19302" y="5251399"/>
            <a:ext cx="4791456" cy="418795"/>
          </a:xfrm>
          <a:prstGeom prst="roundRect">
            <a:avLst>
              <a:gd name="adj" fmla="val 39698"/>
            </a:avLst>
          </a:prstGeom>
          <a:solidFill>
            <a:srgbClr val="FFFFFF">
              <a:alpha val="3000"/>
            </a:srgbClr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l="-47848" r="-47848"/>
          <a:stretch>
            <a:fillRect/>
          </a:stretch>
        </p:blipFill>
        <p:spPr>
          <a:xfrm>
            <a:off x="961949" y="5394960"/>
            <a:ext cx="228600" cy="1335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04849" y="5347411"/>
            <a:ext cx="886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CAC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动作变形：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2067458" y="5394960"/>
            <a:ext cx="21342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拒绝减仓 $\rightarrow$ 报复性频繁博弈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334049" y="1410919"/>
            <a:ext cx="5286146" cy="4515307"/>
          </a:xfrm>
          <a:prstGeom prst="roundRect">
            <a:avLst>
              <a:gd name="adj" fmla="val 854"/>
            </a:avLst>
          </a:prstGeom>
          <a:solidFill>
            <a:srgbClr val="06B6D4">
              <a:alpha val="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381000" dist="1905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34049" y="1410919"/>
            <a:ext cx="5266944" cy="57607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3" name="Shape 26"/>
          <p:cNvSpPr/>
          <p:nvPr/>
        </p:nvSpPr>
        <p:spPr>
          <a:xfrm>
            <a:off x="6344107" y="2278685"/>
            <a:ext cx="526694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4" name="Shape 27"/>
          <p:cNvSpPr/>
          <p:nvPr/>
        </p:nvSpPr>
        <p:spPr>
          <a:xfrm>
            <a:off x="6581851" y="1611173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06B6D4">
              <a:alpha val="20000"/>
            </a:srgbClr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81521" y="1711757"/>
            <a:ext cx="276149" cy="276149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200900" y="1688897"/>
            <a:ext cx="1227125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物理熔断器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6581851" y="2525573"/>
            <a:ext cx="17675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强制对策 (THE SOLUTION)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581851" y="2868473"/>
            <a:ext cx="4791456" cy="771754"/>
          </a:xfrm>
          <a:prstGeom prst="roundRect">
            <a:avLst>
              <a:gd name="adj" fmla="val 14628"/>
            </a:avLst>
          </a:prstGeom>
          <a:solidFill>
            <a:srgbClr val="06B6D4">
              <a:alpha val="5000"/>
            </a:srgbClr>
          </a:solidFill>
        </p:spPr>
      </p:sp>
      <p:sp>
        <p:nvSpPr>
          <p:cNvPr id="39" name="Shape 31"/>
          <p:cNvSpPr/>
          <p:nvPr/>
        </p:nvSpPr>
        <p:spPr>
          <a:xfrm>
            <a:off x="6581851" y="2868473"/>
            <a:ext cx="38405" cy="771754"/>
          </a:xfrm>
          <a:prstGeom prst="rect">
            <a:avLst/>
          </a:prstGeom>
          <a:solidFill>
            <a:srgbClr val="06B6D4"/>
          </a:solidFill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762902" y="3030322"/>
            <a:ext cx="181051" cy="181051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086600" y="3011119"/>
            <a:ext cx="2574036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7E8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回撤 5% $\rightarrow$ 强制降速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7086600" y="3291840"/>
            <a:ext cx="31135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承认"风向变了"，立刻停止进攻，转为防守姿态。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6581851" y="3779215"/>
            <a:ext cx="4791456" cy="961949"/>
          </a:xfrm>
          <a:prstGeom prst="roundRect">
            <a:avLst>
              <a:gd name="adj" fmla="val 9412"/>
            </a:avLst>
          </a:prstGeom>
          <a:solidFill>
            <a:srgbClr val="EF4444">
              <a:alpha val="5000"/>
            </a:srgbClr>
          </a:solidFill>
        </p:spPr>
      </p:sp>
      <p:sp>
        <p:nvSpPr>
          <p:cNvPr id="44" name="Shape 35"/>
          <p:cNvSpPr/>
          <p:nvPr/>
        </p:nvSpPr>
        <p:spPr>
          <a:xfrm>
            <a:off x="6581851" y="3779215"/>
            <a:ext cx="38405" cy="961949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762902" y="3941064"/>
            <a:ext cx="181051" cy="181051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7086600" y="3921862"/>
            <a:ext cx="2659990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回撤 10% $\rightarrow$ 强制关机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7086600" y="4201668"/>
            <a:ext cx="4208983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这不是"看错"，这是"失控"。物理切断操作，防止你亲手毁掉之前的努力。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6581851" y="5318150"/>
            <a:ext cx="4791456" cy="9144"/>
          </a:xfrm>
          <a:prstGeom prst="rect">
            <a:avLst/>
          </a:prstGeom>
          <a:solidFill>
            <a:srgbClr val="374151"/>
          </a:solidFill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rcRect l="-1507" r="-1507"/>
          <a:stretch>
            <a:fillRect/>
          </a:stretch>
        </p:blipFill>
        <p:spPr>
          <a:xfrm>
            <a:off x="7805318" y="5516575"/>
            <a:ext cx="171907" cy="133502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8015630" y="5479999"/>
            <a:ext cx="22338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必须像机器一样执行，不带任何情绪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571500" y="6109106"/>
            <a:ext cx="11048695" cy="552298"/>
          </a:xfrm>
          <a:prstGeom prst="roundRect">
            <a:avLst>
              <a:gd name="adj" fmla="val 34254"/>
            </a:avLst>
          </a:prstGeom>
          <a:solidFill>
            <a:srgbClr val="1E293B">
              <a:alpha val="80000"/>
            </a:srgbClr>
          </a:solidFill>
        </p:spPr>
      </p:sp>
      <p:sp>
        <p:nvSpPr>
          <p:cNvPr id="52" name="Shape 41"/>
          <p:cNvSpPr/>
          <p:nvPr/>
        </p:nvSpPr>
        <p:spPr>
          <a:xfrm>
            <a:off x="571500" y="6109106"/>
            <a:ext cx="1104869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53" name="Text 42"/>
          <p:cNvSpPr txBox="1"/>
          <p:nvPr/>
        </p:nvSpPr>
        <p:spPr>
          <a:xfrm>
            <a:off x="3247034" y="6261811"/>
            <a:ext cx="583204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警示：当你脑子里开始找理由说“马上就要反弹了”时，你已经深陷其中了。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5952744" y="1506931"/>
            <a:ext cx="5667451" cy="4324198"/>
          </a:xfrm>
          <a:prstGeom prst="rect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24244" y="2526487"/>
            <a:ext cx="4800600" cy="19202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524244" y="185897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9E0B">
              <a:alpha val="20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57" r="-57"/>
          <a:stretch>
            <a:fillRect/>
          </a:stretch>
        </p:blipFill>
        <p:spPr>
          <a:xfrm>
            <a:off x="6653174" y="1973275"/>
            <a:ext cx="200254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25005" y="1802282"/>
            <a:ext cx="2040941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狂态 (The Edge)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125005" y="2168042"/>
            <a:ext cx="205557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碰巧行一次大运 | 占比 10% 时间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24244" y="2850185"/>
            <a:ext cx="75895" cy="75895"/>
          </a:xfrm>
          <a:prstGeom prst="ellipse">
            <a:avLst/>
          </a:prstGeom>
          <a:solidFill>
            <a:srgbClr val="FBBF24"/>
          </a:solidFill>
          <a:effectLst>
            <a:outerShdw blurRad="101600" dist="12700" dir="16200000" algn="bl" rotWithShape="0">
              <a:srgbClr val="FBBF24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43700" y="2773375"/>
            <a:ext cx="2136038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触发条件：当月已赚 &gt;10%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743700" y="3054096"/>
            <a:ext cx="4427525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只有超额完成了KPI，你才获得了"狂"的资格。此时你是在用市场的钱博弈。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24244" y="3714293"/>
            <a:ext cx="75895" cy="75895"/>
          </a:xfrm>
          <a:prstGeom prst="ellipse">
            <a:avLst/>
          </a:prstGeom>
          <a:solidFill>
            <a:srgbClr val="FBBF24"/>
          </a:solidFill>
          <a:effectLst>
            <a:outerShdw blurRad="101600" dist="12700" dir="16200000" algn="bl" rotWithShape="0">
              <a:srgbClr val="FBBF24">
                <a:alpha val="5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743700" y="3637483"/>
            <a:ext cx="2774290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用利润博高赔率 (Asymmetric Bet)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743700" y="3918204"/>
            <a:ext cx="4627778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利用利润垫去攻击高风险、高回报的妖股/龙头。输了回撤KPI，赢了资产跃迁。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24244" y="4578401"/>
            <a:ext cx="75895" cy="75895"/>
          </a:xfrm>
          <a:prstGeom prst="ellipse">
            <a:avLst/>
          </a:prstGeom>
          <a:solidFill>
            <a:srgbClr val="FBBF24"/>
          </a:solidFill>
          <a:effectLst>
            <a:outerShdw blurRad="101600" dist="12700" dir="16200000" algn="bl" rotWithShape="0">
              <a:srgbClr val="FBBF24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743700" y="4501591"/>
            <a:ext cx="164043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赌是体系的一个部件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743700" y="4781398"/>
            <a:ext cx="461772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职业选手的"赌"，是严密风控体系里的一枚攻击弹头；而韭菜的"赌"，是他们体系的全部。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24244" y="5270602"/>
            <a:ext cx="1209751" cy="267005"/>
          </a:xfrm>
          <a:prstGeom prst="roundRect">
            <a:avLst>
              <a:gd name="adj" fmla="val 244618"/>
            </a:avLst>
          </a:prstGeom>
          <a:solidFill>
            <a:srgbClr val="F59E0B"/>
          </a:solidFill>
        </p:spPr>
      </p:sp>
      <p:sp>
        <p:nvSpPr>
          <p:cNvPr id="20" name="Text 17"/>
          <p:cNvSpPr txBox="1"/>
          <p:nvPr/>
        </p:nvSpPr>
        <p:spPr>
          <a:xfrm>
            <a:off x="6638544" y="5309006"/>
            <a:ext cx="107259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进阶状态：需解锁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1500" y="6015838"/>
            <a:ext cx="11048695" cy="638251"/>
          </a:xfrm>
          <a:prstGeom prst="rect">
            <a:avLst/>
          </a:prstGeom>
          <a:solidFill>
            <a:srgbClr val="1E293B">
              <a:alpha val="5000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571500" y="6015838"/>
            <a:ext cx="38405" cy="638251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3" name="Text 20"/>
          <p:cNvSpPr txBox="1"/>
          <p:nvPr/>
        </p:nvSpPr>
        <p:spPr>
          <a:xfrm>
            <a:off x="800100" y="6206033"/>
            <a:ext cx="784189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FA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真正赚快钱的奥义，绝不是像赌徒一样去赌大小，而是在一条正确且枯燥的道路上，碰巧行了一次大运。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71500" y="1506931"/>
            <a:ext cx="5381244" cy="4324198"/>
          </a:xfrm>
          <a:prstGeom prst="roundRect">
            <a:avLst>
              <a:gd name="adj" fmla="val 932"/>
            </a:avLst>
          </a:prstGeom>
          <a:solidFill>
            <a:srgbClr val="1E293B"/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6851" y="2526487"/>
            <a:ext cx="4800600" cy="19202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6" name="Shape 23"/>
          <p:cNvSpPr/>
          <p:nvPr/>
        </p:nvSpPr>
        <p:spPr>
          <a:xfrm>
            <a:off x="866851" y="185897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3B82F6">
              <a:alpha val="20000"/>
            </a:srgbClr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1151" y="1973275"/>
            <a:ext cx="228600" cy="2286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866851" y="2850185"/>
            <a:ext cx="75895" cy="75895"/>
          </a:xfrm>
          <a:prstGeom prst="ellipse">
            <a:avLst/>
          </a:prstGeom>
          <a:solidFill>
            <a:srgbClr val="60A5FA"/>
          </a:solidFill>
          <a:effectLst>
            <a:outerShdw blurRad="101600" dist="12700" dir="16200000" algn="bl" rotWithShape="0">
              <a:srgbClr val="60A5FA">
                <a:alpha val="5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66851" y="3714293"/>
            <a:ext cx="75895" cy="75895"/>
          </a:xfrm>
          <a:prstGeom prst="ellipse">
            <a:avLst/>
          </a:prstGeom>
          <a:solidFill>
            <a:srgbClr val="60A5FA"/>
          </a:solidFill>
          <a:effectLst>
            <a:outerShdw blurRad="101600" dist="12700" dir="16200000" algn="bl" rotWithShape="0">
              <a:srgbClr val="60A5FA">
                <a:alpha val="5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66851" y="4578401"/>
            <a:ext cx="75895" cy="75895"/>
          </a:xfrm>
          <a:prstGeom prst="ellipse">
            <a:avLst/>
          </a:prstGeom>
          <a:solidFill>
            <a:srgbClr val="60A5FA"/>
          </a:solidFill>
          <a:effectLst>
            <a:outerShdw blurRad="101600" dist="12700" dir="16200000" algn="bl" rotWithShape="0">
              <a:srgbClr val="60A5FA">
                <a:alpha val="50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1466698" y="1802282"/>
            <a:ext cx="2136038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常态 (The Norm)</a:t>
            </a:r>
            <a:endParaRPr lang="en-US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1086307" y="2773375"/>
            <a:ext cx="164043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不亏为底 (Survival)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1086307" y="3054096"/>
            <a:ext cx="4494276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首要任务是保护本金，活下来比什么都重要。任何操作的第一反应都是风控。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086307" y="3637483"/>
            <a:ext cx="186903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小赚为常 (Small Wins)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1086307" y="3918204"/>
            <a:ext cx="4418381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接受枯燥的、缓慢的增长。不追求单笔暴利，只求大概率的"积小胜为大胜"。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086307" y="4501591"/>
            <a:ext cx="1773936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纪律为核 (Discipline)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1086307" y="4781398"/>
            <a:ext cx="3808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像机器一样执行回撤规则。没有机会时，能忍受空仓的无聊。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866851" y="5270602"/>
            <a:ext cx="1333195" cy="267005"/>
          </a:xfrm>
          <a:prstGeom prst="roundRect">
            <a:avLst>
              <a:gd name="adj" fmla="val 244618"/>
            </a:avLst>
          </a:prstGeom>
          <a:solidFill>
            <a:srgbClr val="334155"/>
          </a:solidFill>
        </p:spPr>
      </p:sp>
      <p:sp>
        <p:nvSpPr>
          <p:cNvPr id="39" name="Text 35"/>
          <p:cNvSpPr txBox="1"/>
          <p:nvPr/>
        </p:nvSpPr>
        <p:spPr>
          <a:xfrm>
            <a:off x="981151" y="5309006"/>
            <a:ext cx="119695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基础状态：默认开启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466698" y="2168042"/>
            <a:ext cx="205557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日常交易的底色 | 占比 90% 时间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571500" y="381305"/>
            <a:ext cx="86959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实战心法</a:t>
            </a:r>
            <a:endParaRPr lang="en-US" sz="1300" dirty="0"/>
          </a:p>
        </p:txBody>
      </p:sp>
      <p:sp>
        <p:nvSpPr>
          <p:cNvPr id="42" name="Text 38"/>
          <p:cNvSpPr txBox="1"/>
          <p:nvPr/>
        </p:nvSpPr>
        <p:spPr>
          <a:xfrm>
            <a:off x="571500" y="651967"/>
            <a:ext cx="5969203" cy="6199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赚快钱的正确方式：先稳 后狂</a:t>
            </a:r>
            <a:endParaRPr lang="en-US" sz="3300" dirty="0"/>
          </a:p>
        </p:txBody>
      </p:sp>
      <p:sp>
        <p:nvSpPr>
          <p:cNvPr id="43" name="Shape 39"/>
          <p:cNvSpPr/>
          <p:nvPr/>
        </p:nvSpPr>
        <p:spPr>
          <a:xfrm>
            <a:off x="5715000" y="3284525"/>
            <a:ext cx="761695" cy="761695"/>
          </a:xfrm>
          <a:prstGeom prst="ellipse">
            <a:avLst/>
          </a:prstGeom>
          <a:solidFill>
            <a:srgbClr val="0F172A"/>
          </a:solidFill>
          <a:ln w="50800">
            <a:solidFill>
              <a:srgbClr val="3B82F6"/>
            </a:solidFill>
            <a:prstDash val="solid"/>
          </a:ln>
          <a:effectLst>
            <a:outerShdw blurRad="190500" dist="12700" dir="16200000" algn="bl" rotWithShape="0">
              <a:srgbClr val="3B82F6">
                <a:alpha val="50000"/>
              </a:srgbClr>
            </a:outerShdw>
          </a:effectLst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3"/>
          <a:srcRect t="-1013" b="-1013"/>
          <a:stretch>
            <a:fillRect/>
          </a:stretch>
        </p:blipFill>
        <p:spPr>
          <a:xfrm>
            <a:off x="5943600" y="3527755"/>
            <a:ext cx="304495" cy="276149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5579669" y="3036722"/>
            <a:ext cx="1037844" cy="267005"/>
          </a:xfrm>
          <a:prstGeom prst="roundRect">
            <a:avLst>
              <a:gd name="adj" fmla="val 1467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5684825" y="3065983"/>
            <a:ext cx="93177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资格解锁条件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实战心法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66598"/>
            <a:ext cx="4724705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资格制度：你何时有权上牌桌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587398" y="6029554"/>
            <a:ext cx="266730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4762195" y="5266944"/>
            <a:ext cx="2667305" cy="1047902"/>
          </a:xfrm>
          <a:prstGeom prst="rect">
            <a:avLst/>
          </a:prstGeom>
          <a:solidFill>
            <a:srgbClr val="38BDF8">
              <a:alpha val="1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762195" y="5266944"/>
            <a:ext cx="2667305" cy="9144"/>
          </a:xfrm>
          <a:prstGeom prst="rect">
            <a:avLst/>
          </a:prstGeom>
          <a:solidFill>
            <a:srgbClr val="38BDF8">
              <a:alpha val="3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936992" y="4123944"/>
            <a:ext cx="2667305" cy="2190902"/>
          </a:xfrm>
          <a:prstGeom prst="rect">
            <a:avLst/>
          </a:prstGeom>
          <a:solidFill>
            <a:srgbClr val="FBBF24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7936992" y="4123944"/>
            <a:ext cx="2667305" cy="9144"/>
          </a:xfrm>
          <a:prstGeom prst="rect">
            <a:avLst/>
          </a:prstGeom>
          <a:solidFill>
            <a:srgbClr val="FBBF24">
              <a:alpha val="30000"/>
            </a:srgbClr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t="-30" b="-30"/>
          <a:stretch>
            <a:fillRect/>
          </a:stretch>
        </p:blipFill>
        <p:spPr>
          <a:xfrm>
            <a:off x="3810305" y="4524451"/>
            <a:ext cx="190195" cy="304495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t="-30" b="-30"/>
          <a:stretch>
            <a:fillRect/>
          </a:stretch>
        </p:blipFill>
        <p:spPr>
          <a:xfrm>
            <a:off x="7334402" y="3952951"/>
            <a:ext cx="190195" cy="3044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333195" y="5134356"/>
            <a:ext cx="9525305" cy="19202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4" name="Shape 10"/>
          <p:cNvSpPr/>
          <p:nvPr/>
        </p:nvSpPr>
        <p:spPr>
          <a:xfrm>
            <a:off x="3578047" y="5343754"/>
            <a:ext cx="5038344" cy="400507"/>
          </a:xfrm>
          <a:prstGeom prst="roundRect">
            <a:avLst>
              <a:gd name="adj" fmla="val 43488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F43F5E">
                <a:alpha val="30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78301" y="5467198"/>
            <a:ext cx="152705" cy="152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06901" y="5429707"/>
            <a:ext cx="45244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43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一旦触发回撤红线 (5%/10%)，立即剥夺所有资格，退回初始状态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79338" y="5020056"/>
            <a:ext cx="838505" cy="304495"/>
          </a:xfrm>
          <a:prstGeom prst="roundRect">
            <a:avLst>
              <a:gd name="adj" fmla="val 37538"/>
            </a:avLst>
          </a:prstGeom>
          <a:solidFill>
            <a:srgbClr val="F43F5E"/>
          </a:solidFill>
        </p:spPr>
      </p:sp>
      <p:sp>
        <p:nvSpPr>
          <p:cNvPr id="18" name="Text 13"/>
          <p:cNvSpPr txBox="1"/>
          <p:nvPr/>
        </p:nvSpPr>
        <p:spPr>
          <a:xfrm>
            <a:off x="5821985" y="5067605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熔断机制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587398" y="3726180"/>
            <a:ext cx="2667305" cy="2162556"/>
          </a:xfrm>
          <a:prstGeom prst="roundRect">
            <a:avLst>
              <a:gd name="adj" fmla="val 2235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1397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503627" y="3925519"/>
            <a:ext cx="838505" cy="304495"/>
          </a:xfrm>
          <a:prstGeom prst="roundRect">
            <a:avLst>
              <a:gd name="adj" fmla="val 187688"/>
            </a:avLst>
          </a:prstGeom>
          <a:solidFill>
            <a:srgbClr val="475569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l="-17" r="-17"/>
          <a:stretch>
            <a:fillRect/>
          </a:stretch>
        </p:blipFill>
        <p:spPr>
          <a:xfrm>
            <a:off x="2754173" y="4369918"/>
            <a:ext cx="333756" cy="3813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646274" y="3973982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初始状态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2635301" y="4893869"/>
            <a:ext cx="7150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无资格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2441448" y="5275174"/>
            <a:ext cx="1065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未盈利或刚回本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2304288" y="5480914"/>
            <a:ext cx="13414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禁止任何高风险操作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762195" y="2963570"/>
            <a:ext cx="2667305" cy="2162556"/>
          </a:xfrm>
          <a:prstGeom prst="roundRect">
            <a:avLst>
              <a:gd name="adj" fmla="val 2235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  <a:effectLst>
            <a:outerShdw blurRad="1397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516575" y="3163824"/>
            <a:ext cx="1162202" cy="304495"/>
          </a:xfrm>
          <a:prstGeom prst="roundRect">
            <a:avLst>
              <a:gd name="adj" fmla="val 187688"/>
            </a:avLst>
          </a:prstGeom>
          <a:solidFill>
            <a:srgbClr val="38BDF8"/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t="-13" b="-13"/>
          <a:stretch>
            <a:fillRect/>
          </a:stretch>
        </p:blipFill>
        <p:spPr>
          <a:xfrm>
            <a:off x="5881421" y="3608222"/>
            <a:ext cx="428854" cy="3813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659222" y="3211373"/>
            <a:ext cx="9793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+2% 盈利达成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5810098" y="4132174"/>
            <a:ext cx="7150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体验券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5616245" y="4512564"/>
            <a:ext cx="1065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解锁小仓位试错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5204765" y="4718304"/>
            <a:ext cx="18937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输了无伤大雅，赢了增厚利润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936992" y="1820570"/>
            <a:ext cx="2667305" cy="2162556"/>
          </a:xfrm>
          <a:prstGeom prst="roundRect">
            <a:avLst>
              <a:gd name="adj" fmla="val 2235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  <a:effectLst>
            <a:outerShdw blurRad="1397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651138" y="2020824"/>
            <a:ext cx="1248156" cy="304495"/>
          </a:xfrm>
          <a:prstGeom prst="roundRect">
            <a:avLst>
              <a:gd name="adj" fmla="val 187688"/>
            </a:avLst>
          </a:prstGeom>
          <a:solidFill>
            <a:srgbClr val="FBBF24"/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rcRect t="-13" b="-13"/>
          <a:stretch>
            <a:fillRect/>
          </a:stretch>
        </p:blipFill>
        <p:spPr>
          <a:xfrm>
            <a:off x="9056218" y="2465222"/>
            <a:ext cx="428854" cy="3813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793785" y="2068373"/>
            <a:ext cx="1065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350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+20% 盈利达成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8809330" y="2989174"/>
            <a:ext cx="1067105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VIP 入场券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585302" y="3369564"/>
            <a:ext cx="14749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动用部分利润博高赔率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8516722" y="3575304"/>
            <a:ext cx="161757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只有此刻，你才配博妖股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5952744" y="1506931"/>
            <a:ext cx="5667451" cy="4324198"/>
          </a:xfrm>
          <a:prstGeom prst="rect">
            <a:avLst/>
          </a:prstGeom>
          <a:solidFill>
            <a:srgbClr val="14B8A6">
              <a:alpha val="5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24244" y="2526487"/>
            <a:ext cx="4800600" cy="19202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524244" y="185897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4B8A6">
              <a:alpha val="20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38544" y="1973275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25005" y="1802282"/>
            <a:ext cx="220279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DD4B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执行标准 (Action)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125005" y="2168042"/>
            <a:ext cx="17510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狙击手模式：只打必中之靶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24244" y="2850185"/>
            <a:ext cx="75895" cy="75895"/>
          </a:xfrm>
          <a:prstGeom prst="ellipse">
            <a:avLst/>
          </a:prstGeom>
          <a:solidFill>
            <a:srgbClr val="2DD4BF"/>
          </a:solidFill>
          <a:effectLst>
            <a:outerShdw blurRad="101600" dist="12700" dir="16200000" algn="bl" rotWithShape="0">
              <a:srgbClr val="2DD4BF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43700" y="2773375"/>
            <a:ext cx="130759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月度限定 3-5 笔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743700" y="3054096"/>
            <a:ext cx="44851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给自己设限，强迫过滤掉那些模棱两可、胜率五五开的"垃圾时间"机会。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24244" y="3522269"/>
            <a:ext cx="75895" cy="75895"/>
          </a:xfrm>
          <a:prstGeom prst="ellipse">
            <a:avLst/>
          </a:prstGeom>
          <a:solidFill>
            <a:srgbClr val="2DD4BF"/>
          </a:solidFill>
          <a:effectLst>
            <a:outerShdw blurRad="101600" dist="12700" dir="16200000" algn="bl" rotWithShape="0">
              <a:srgbClr val="2DD4BF">
                <a:alpha val="5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743700" y="3445459"/>
            <a:ext cx="1164031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只做"送分题"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743700" y="3726180"/>
            <a:ext cx="4494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只在逻辑极硬、板块共振、确定性极高时出手。没有这种机会，就等待。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24244" y="4194353"/>
            <a:ext cx="75895" cy="75895"/>
          </a:xfrm>
          <a:prstGeom prst="ellipse">
            <a:avLst/>
          </a:prstGeom>
          <a:solidFill>
            <a:srgbClr val="2DD4BF"/>
          </a:solidFill>
          <a:effectLst>
            <a:outerShdw blurRad="101600" dist="12700" dir="16200000" algn="bl" rotWithShape="0">
              <a:srgbClr val="2DD4BF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743700" y="4117543"/>
            <a:ext cx="1135685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最高级的能力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743700" y="4398264"/>
            <a:ext cx="4561027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是你极其认真地复盘、分析了一整天，最后能冷静地对自己说一句："今天没有机会，我不做。"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24244" y="5270602"/>
            <a:ext cx="724205" cy="267005"/>
          </a:xfrm>
          <a:prstGeom prst="roundRect">
            <a:avLst>
              <a:gd name="adj" fmla="val 244618"/>
            </a:avLst>
          </a:prstGeom>
          <a:solidFill>
            <a:srgbClr val="0D9488"/>
          </a:solidFill>
        </p:spPr>
      </p:sp>
      <p:sp>
        <p:nvSpPr>
          <p:cNvPr id="20" name="Text 17"/>
          <p:cNvSpPr txBox="1"/>
          <p:nvPr/>
        </p:nvSpPr>
        <p:spPr>
          <a:xfrm>
            <a:off x="6638544" y="5309006"/>
            <a:ext cx="5870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铁律执行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1500" y="6015838"/>
            <a:ext cx="11048695" cy="638251"/>
          </a:xfrm>
          <a:prstGeom prst="rect">
            <a:avLst/>
          </a:prstGeom>
          <a:solidFill>
            <a:srgbClr val="1E293B">
              <a:alpha val="5000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571500" y="6015838"/>
            <a:ext cx="38405" cy="638251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3" name="Text 20"/>
          <p:cNvSpPr txBox="1"/>
          <p:nvPr/>
        </p:nvSpPr>
        <p:spPr>
          <a:xfrm>
            <a:off x="800100" y="6206033"/>
            <a:ext cx="9841687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FBF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新手追求多巴胺（很爽地输），高手追求净值增长（很无聊地赢）。在交易中，对"无聊"的耐受力，才是吞噬你利润黑洞的唯一解药。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71500" y="1506931"/>
            <a:ext cx="5381244" cy="4324198"/>
          </a:xfrm>
          <a:prstGeom prst="roundRect">
            <a:avLst>
              <a:gd name="adj" fmla="val 932"/>
            </a:avLst>
          </a:prstGeom>
          <a:solidFill>
            <a:srgbClr val="1E293B"/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6851" y="2526487"/>
            <a:ext cx="4800600" cy="19202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6" name="Shape 23"/>
          <p:cNvSpPr/>
          <p:nvPr/>
        </p:nvSpPr>
        <p:spPr>
          <a:xfrm>
            <a:off x="866851" y="185897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94A3B8">
              <a:alpha val="20000"/>
            </a:srgbClr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rcRect l="-80" r="-80"/>
          <a:stretch>
            <a:fillRect/>
          </a:stretch>
        </p:blipFill>
        <p:spPr>
          <a:xfrm>
            <a:off x="952805" y="1973275"/>
            <a:ext cx="286207" cy="2286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866851" y="2850185"/>
            <a:ext cx="75895" cy="75895"/>
          </a:xfrm>
          <a:prstGeom prst="ellipse">
            <a:avLst/>
          </a:prstGeom>
          <a:solidFill>
            <a:srgbClr val="CBD5E1"/>
          </a:solidFill>
          <a:effectLst>
            <a:outerShdw blurRad="101600" dist="12700" dir="16200000" algn="bl" rotWithShape="0">
              <a:srgbClr val="CBD5E1">
                <a:alpha val="3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66851" y="3714293"/>
            <a:ext cx="75895" cy="75895"/>
          </a:xfrm>
          <a:prstGeom prst="ellipse">
            <a:avLst/>
          </a:prstGeom>
          <a:solidFill>
            <a:srgbClr val="CBD5E1"/>
          </a:solidFill>
          <a:effectLst>
            <a:outerShdw blurRad="101600" dist="12700" dir="16200000" algn="bl" rotWithShape="0">
              <a:srgbClr val="CBD5E1">
                <a:alpha val="3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66851" y="4578401"/>
            <a:ext cx="75895" cy="75895"/>
          </a:xfrm>
          <a:prstGeom prst="ellipse">
            <a:avLst/>
          </a:prstGeom>
          <a:solidFill>
            <a:srgbClr val="CBD5E1"/>
          </a:solidFill>
          <a:effectLst>
            <a:outerShdw blurRad="101600" dist="12700" dir="16200000" algn="bl" rotWithShape="0">
              <a:srgbClr val="CBD5E1">
                <a:alpha val="30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1466698" y="1802282"/>
            <a:ext cx="2403043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核心认知 (Mindset)</a:t>
            </a:r>
            <a:endParaRPr lang="en-US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1086307" y="2773375"/>
            <a:ext cx="96469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不亏即合格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1086307" y="3054096"/>
            <a:ext cx="4494276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市场里70%的人在亏钱。只要管住手，守住本金，你就已经站在了及格线上，俯视大多数人。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086307" y="3637483"/>
            <a:ext cx="180228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空仓是成绩，不是浪费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1086307" y="3918204"/>
            <a:ext cx="4646981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资金在账户里躺着不是浪费时间，而是一种防御姿态。不买票，是60分，而不是0分。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086307" y="4501591"/>
            <a:ext cx="1135685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克制是生产力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1086307" y="4781398"/>
            <a:ext cx="4494276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交易中，忍住不乱做，就是一种最高级的生产力。减少无效交易 = 减少回撤。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866851" y="5270602"/>
            <a:ext cx="724205" cy="267005"/>
          </a:xfrm>
          <a:prstGeom prst="roundRect">
            <a:avLst>
              <a:gd name="adj" fmla="val 244618"/>
            </a:avLst>
          </a:prstGeom>
          <a:solidFill>
            <a:srgbClr val="334155"/>
          </a:solidFill>
        </p:spPr>
      </p:sp>
      <p:sp>
        <p:nvSpPr>
          <p:cNvPr id="39" name="Text 35"/>
          <p:cNvSpPr txBox="1"/>
          <p:nvPr/>
        </p:nvSpPr>
        <p:spPr>
          <a:xfrm>
            <a:off x="981151" y="5309006"/>
            <a:ext cx="587045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思维重塑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466698" y="2168042"/>
            <a:ext cx="14749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打破"必须操作"的执念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571500" y="381305"/>
            <a:ext cx="869594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实战心法</a:t>
            </a:r>
            <a:endParaRPr lang="en-US" sz="1300" dirty="0"/>
          </a:p>
        </p:txBody>
      </p:sp>
      <p:sp>
        <p:nvSpPr>
          <p:cNvPr id="42" name="Text 38"/>
          <p:cNvSpPr txBox="1"/>
          <p:nvPr/>
        </p:nvSpPr>
        <p:spPr>
          <a:xfrm>
            <a:off x="571500" y="651967"/>
            <a:ext cx="5139842" cy="6199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少即是多：不买票 = 60分</a:t>
            </a:r>
            <a:endParaRPr lang="en-US" sz="3300" dirty="0"/>
          </a:p>
        </p:txBody>
      </p:sp>
      <p:sp>
        <p:nvSpPr>
          <p:cNvPr id="43" name="Shape 39"/>
          <p:cNvSpPr/>
          <p:nvPr/>
        </p:nvSpPr>
        <p:spPr>
          <a:xfrm>
            <a:off x="5715000" y="3284525"/>
            <a:ext cx="761695" cy="761695"/>
          </a:xfrm>
          <a:prstGeom prst="ellipse">
            <a:avLst/>
          </a:prstGeom>
          <a:solidFill>
            <a:srgbClr val="0F172A"/>
          </a:solidFill>
          <a:ln w="50800">
            <a:solidFill>
              <a:srgbClr val="14B8A6"/>
            </a:solidFill>
            <a:prstDash val="solid"/>
          </a:ln>
          <a:effectLst>
            <a:outerShdw blurRad="190500" dist="12700" dir="16200000" algn="bl" rotWithShape="0">
              <a:srgbClr val="14B8A6">
                <a:alpha val="50000"/>
              </a:srgbClr>
            </a:outerShdw>
          </a:effectLst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58230" y="3527755"/>
            <a:ext cx="276149" cy="276149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5716829" y="3036722"/>
            <a:ext cx="761695" cy="267005"/>
          </a:xfrm>
          <a:prstGeom prst="roundRect">
            <a:avLst>
              <a:gd name="adj" fmla="val 1467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5821985" y="3065983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关键能力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9272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571500" y="1584655"/>
            <a:ext cx="5333695" cy="6096305"/>
          </a:xfrm>
          <a:prstGeom prst="roundRect">
            <a:avLst>
              <a:gd name="adj" fmla="val 61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6851" y="188000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B82F6">
              <a:alpha val="20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66521" y="1980590"/>
            <a:ext cx="181051" cy="1810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90802" y="1899209"/>
            <a:ext cx="3010205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核心回顾 (Key Takeaways)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6851" y="2499055"/>
            <a:ext cx="4743907" cy="780898"/>
          </a:xfrm>
          <a:prstGeom prst="roundRect">
            <a:avLst>
              <a:gd name="adj" fmla="val 17136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866851" y="2499055"/>
            <a:ext cx="38405" cy="780898"/>
          </a:xfrm>
          <a:prstGeom prst="rect">
            <a:avLst/>
          </a:prstGeom>
          <a:solidFill>
            <a:srgbClr val="3B82F6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7902" y="2681935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95705" y="2642616"/>
            <a:ext cx="1040587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波动 ≠ 趋势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47902" y="2931566"/>
            <a:ext cx="42181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不要沉迷于短期的高波动刺激，账户净值的稳步抬升才是唯一真相。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66851" y="3466490"/>
            <a:ext cx="4743907" cy="780898"/>
          </a:xfrm>
          <a:prstGeom prst="roundRect">
            <a:avLst>
              <a:gd name="adj" fmla="val 17136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14" name="Shape 10"/>
          <p:cNvSpPr/>
          <p:nvPr/>
        </p:nvSpPr>
        <p:spPr>
          <a:xfrm>
            <a:off x="866851" y="3466490"/>
            <a:ext cx="38405" cy="780898"/>
          </a:xfrm>
          <a:prstGeom prst="rect">
            <a:avLst/>
          </a:prstGeom>
          <a:solidFill>
            <a:srgbClr val="F43F5E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7902" y="3649370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95705" y="3610051"/>
            <a:ext cx="1497787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拒绝一年10倍幻觉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047902" y="3899002"/>
            <a:ext cx="407548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放弃不切实际的暴富妄想，它只会让你陷入"高买低卖"的死循环。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66851" y="4433926"/>
            <a:ext cx="4743907" cy="780898"/>
          </a:xfrm>
          <a:prstGeom prst="roundRect">
            <a:avLst>
              <a:gd name="adj" fmla="val 17136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19" name="Shape 14"/>
          <p:cNvSpPr/>
          <p:nvPr/>
        </p:nvSpPr>
        <p:spPr>
          <a:xfrm>
            <a:off x="866851" y="4433926"/>
            <a:ext cx="38405" cy="780898"/>
          </a:xfrm>
          <a:prstGeom prst="rect">
            <a:avLst/>
          </a:prstGeom>
          <a:solidFill>
            <a:srgbClr val="F43F5E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t="-1087" b="-1087"/>
          <a:stretch>
            <a:fillRect/>
          </a:stretch>
        </p:blipFill>
        <p:spPr>
          <a:xfrm>
            <a:off x="1047902" y="4616806"/>
            <a:ext cx="105156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28954" y="4577486"/>
            <a:ext cx="1469441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纪律红线是生死线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047902" y="4866437"/>
            <a:ext cx="36082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5%黄灯减速，10%红灯熔断。这是保护本金的物理屏障。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66851" y="5401361"/>
            <a:ext cx="4743907" cy="780898"/>
          </a:xfrm>
          <a:prstGeom prst="roundRect">
            <a:avLst>
              <a:gd name="adj" fmla="val 17136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24" name="Shape 18"/>
          <p:cNvSpPr/>
          <p:nvPr/>
        </p:nvSpPr>
        <p:spPr>
          <a:xfrm>
            <a:off x="866851" y="5401361"/>
            <a:ext cx="38405" cy="780898"/>
          </a:xfrm>
          <a:prstGeom prst="rect">
            <a:avLst/>
          </a:prstGeom>
          <a:solidFill>
            <a:srgbClr val="FBBF24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47902" y="5584241"/>
            <a:ext cx="171907" cy="1719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95705" y="5544007"/>
            <a:ext cx="96469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复利的威力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47902" y="5833872"/>
            <a:ext cx="354147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月赚5%稳健前行，三年可达5倍。慢即是快，稳即是多。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286500" y="1584655"/>
            <a:ext cx="5333695" cy="6096305"/>
          </a:xfrm>
          <a:prstGeom prst="roundRect">
            <a:avLst>
              <a:gd name="adj" fmla="val 612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581851" y="188000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10B981">
              <a:alpha val="20000"/>
            </a:srgbClr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81521" y="1980590"/>
            <a:ext cx="181051" cy="18105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05802" y="1899209"/>
            <a:ext cx="259141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行动清单 (Action Plan)</a:t>
            </a:r>
            <a:endParaRPr lang="en-US" sz="1800" dirty="0"/>
          </a:p>
        </p:txBody>
      </p:sp>
      <p:sp>
        <p:nvSpPr>
          <p:cNvPr id="32" name="Shape 24"/>
          <p:cNvSpPr/>
          <p:nvPr/>
        </p:nvSpPr>
        <p:spPr>
          <a:xfrm>
            <a:off x="6581851" y="2499055"/>
            <a:ext cx="4743907" cy="761695"/>
          </a:xfrm>
          <a:prstGeom prst="roundRect">
            <a:avLst>
              <a:gd name="adj" fmla="val 180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782105" y="2764231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34D399">
              <a:alpha val="10000"/>
            </a:srgbClr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 t="-1100" b="-1100"/>
          <a:stretch>
            <a:fillRect/>
          </a:stretch>
        </p:blipFill>
        <p:spPr>
          <a:xfrm>
            <a:off x="6838798" y="2811780"/>
            <a:ext cx="114300" cy="1335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153351" y="2651760"/>
            <a:ext cx="1539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设定合理的月度 KPI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7153351" y="2910535"/>
            <a:ext cx="30595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目标：不亏为底，争取5%-10%盈利，不追求翻倍。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581851" y="3429000"/>
            <a:ext cx="4743907" cy="761695"/>
          </a:xfrm>
          <a:prstGeom prst="roundRect">
            <a:avLst>
              <a:gd name="adj" fmla="val 180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782105" y="369417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34D399">
              <a:alpha val="10000"/>
            </a:srgbClr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 t="-1100" b="-1100"/>
          <a:stretch>
            <a:fillRect/>
          </a:stretch>
        </p:blipFill>
        <p:spPr>
          <a:xfrm>
            <a:off x="6838798" y="3741725"/>
            <a:ext cx="114300" cy="13350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153351" y="3581705"/>
            <a:ext cx="140634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建立物理熔断机制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7153351" y="3840480"/>
            <a:ext cx="30888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写下停手红线贴在电脑前，触发回撤10%立即关机。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6581851" y="4358945"/>
            <a:ext cx="4743907" cy="761695"/>
          </a:xfrm>
          <a:prstGeom prst="roundRect">
            <a:avLst>
              <a:gd name="adj" fmla="val 180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6782105" y="462320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34D399">
              <a:alpha val="10000"/>
            </a:srgbClr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7"/>
          <a:srcRect t="-1100" b="-1100"/>
          <a:stretch>
            <a:fillRect/>
          </a:stretch>
        </p:blipFill>
        <p:spPr>
          <a:xfrm>
            <a:off x="6838798" y="4671670"/>
            <a:ext cx="114300" cy="133502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153351" y="4511650"/>
            <a:ext cx="140634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执行“资格制度”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7153351" y="4770425"/>
            <a:ext cx="25648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只用利润博弈风险，本金永远处于安全区。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6581851" y="5288890"/>
            <a:ext cx="4743907" cy="761695"/>
          </a:xfrm>
          <a:prstGeom prst="roundRect">
            <a:avLst>
              <a:gd name="adj" fmla="val 180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782105" y="5553151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34D399">
              <a:alpha val="10000"/>
            </a:srgbClr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7"/>
          <a:srcRect t="-1100" b="-1100"/>
          <a:stretch>
            <a:fillRect/>
          </a:stretch>
        </p:blipFill>
        <p:spPr>
          <a:xfrm>
            <a:off x="6838798" y="5600700"/>
            <a:ext cx="114300" cy="133502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153351" y="5440680"/>
            <a:ext cx="108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控制交易频率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153351" y="5700370"/>
            <a:ext cx="26215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月限3-5笔，只做送分题，学会空仓的艺术。</a:t>
            </a:r>
            <a:endParaRPr lang="en-US" sz="1000" dirty="0"/>
          </a:p>
        </p:txBody>
      </p:sp>
      <p:sp>
        <p:nvSpPr>
          <p:cNvPr id="52" name="Shape 40"/>
          <p:cNvSpPr/>
          <p:nvPr/>
        </p:nvSpPr>
        <p:spPr>
          <a:xfrm>
            <a:off x="6581851" y="6217920"/>
            <a:ext cx="4743907" cy="761695"/>
          </a:xfrm>
          <a:prstGeom prst="roundRect">
            <a:avLst>
              <a:gd name="adj" fmla="val 180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3" name="Shape 41"/>
          <p:cNvSpPr/>
          <p:nvPr/>
        </p:nvSpPr>
        <p:spPr>
          <a:xfrm>
            <a:off x="6782105" y="648309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34D399">
              <a:alpha val="10000"/>
            </a:srgbClr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7"/>
          <a:srcRect t="-1100" b="-1100"/>
          <a:stretch>
            <a:fillRect/>
          </a:stretch>
        </p:blipFill>
        <p:spPr>
          <a:xfrm>
            <a:off x="6838798" y="6530645"/>
            <a:ext cx="114300" cy="133502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7153351" y="6370625"/>
            <a:ext cx="15681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复盘关注“执行力”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7153351" y="6629400"/>
            <a:ext cx="30787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每天问自己：今天有没有管住手？有没有遵守纪律？</a:t>
            </a:r>
            <a:endParaRPr lang="en-US" sz="1000" dirty="0"/>
          </a:p>
        </p:txBody>
      </p:sp>
      <p:sp>
        <p:nvSpPr>
          <p:cNvPr id="57" name="Shape 44"/>
          <p:cNvSpPr/>
          <p:nvPr/>
        </p:nvSpPr>
        <p:spPr>
          <a:xfrm>
            <a:off x="6581851" y="6976872"/>
            <a:ext cx="4743907" cy="761695"/>
          </a:xfrm>
          <a:prstGeom prst="roundRect">
            <a:avLst>
              <a:gd name="adj" fmla="val 15006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8" name="Text 45"/>
          <p:cNvSpPr txBox="1"/>
          <p:nvPr/>
        </p:nvSpPr>
        <p:spPr>
          <a:xfrm>
            <a:off x="6743700" y="7128662"/>
            <a:ext cx="454365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知道与做到之间，隔着一个“执行”的距离。从今天开始，做一个无情的执行机器。</a:t>
            </a:r>
            <a:endParaRPr lang="en-US" sz="1200" dirty="0"/>
          </a:p>
        </p:txBody>
      </p:sp>
      <p:sp>
        <p:nvSpPr>
          <p:cNvPr id="59" name="Shape 46"/>
          <p:cNvSpPr/>
          <p:nvPr/>
        </p:nvSpPr>
        <p:spPr>
          <a:xfrm>
            <a:off x="571500" y="1295705"/>
            <a:ext cx="11048695" cy="9144"/>
          </a:xfrm>
          <a:prstGeom prst="rect">
            <a:avLst/>
          </a:prstGeom>
          <a:solidFill>
            <a:srgbClr val="94A3B8">
              <a:alpha val="20000"/>
            </a:srgbClr>
          </a:solidFill>
        </p:spPr>
      </p:sp>
      <p:sp>
        <p:nvSpPr>
          <p:cNvPr id="60" name="Text 47"/>
          <p:cNvSpPr txBox="1"/>
          <p:nvPr/>
        </p:nvSpPr>
        <p:spPr>
          <a:xfrm>
            <a:off x="571500" y="428854"/>
            <a:ext cx="831190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课程结语</a:t>
            </a:r>
            <a:endParaRPr lang="en-US" sz="1300" dirty="0"/>
          </a:p>
        </p:txBody>
      </p:sp>
      <p:sp>
        <p:nvSpPr>
          <p:cNvPr id="61" name="Text 48"/>
          <p:cNvSpPr txBox="1"/>
          <p:nvPr/>
        </p:nvSpPr>
        <p:spPr>
          <a:xfrm>
            <a:off x="571500" y="613562"/>
            <a:ext cx="2953512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总结与执行清单</a:t>
            </a:r>
            <a:endParaRPr lang="en-US" sz="3000" dirty="0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40" r="-40"/>
          <a:stretch>
            <a:fillRect/>
          </a:stretch>
        </p:blipFill>
        <p:spPr>
          <a:xfrm>
            <a:off x="11334902" y="641909"/>
            <a:ext cx="286207" cy="381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5046</Words>
  <Application>WPS 演示</Application>
  <PresentationFormat>On-screen Show (16:9)</PresentationFormat>
  <Paragraphs>698</Paragraphs>
  <Slides>19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Noto Sans SC</vt:lpstr>
      <vt:lpstr>Noto Sans SC</vt:lpstr>
      <vt:lpstr>ui-monospace</vt:lpstr>
      <vt:lpstr>Segoe Print</vt:lpstr>
      <vt:lpstr>ui-monospace</vt:lpstr>
      <vt:lpstr>ui-monospace</vt:lpstr>
      <vt:lpstr>Times New Roman</vt:lpstr>
      <vt:lpstr>Times New Roman</vt:lpstr>
      <vt:lpstr>Times New Roman</vt:lpstr>
      <vt:lpstr>Calibri</vt:lpstr>
      <vt:lpstr>微软雅黑</vt:lpstr>
      <vt:lpstr>Arial Unicode MS</vt:lpstr>
      <vt:lpstr>等线</vt:lpstr>
      <vt:lpstr>MingLiU-ExtB</vt:lpstr>
      <vt:lpstr>Impact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Han</cp:lastModifiedBy>
  <cp:revision>2</cp:revision>
  <dcterms:created xsi:type="dcterms:W3CDTF">2025-12-12T11:15:00Z</dcterms:created>
  <dcterms:modified xsi:type="dcterms:W3CDTF">2025-12-12T13:35:35Z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9EBB45D7D15B419F80ED71D0D7FC7042_12</vt:lpwstr>
  </property>
</Properties>
</file>