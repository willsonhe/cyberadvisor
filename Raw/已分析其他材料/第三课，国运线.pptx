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2.svg"/><Relationship Id="rId1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72.png"/><Relationship Id="rId13" Type="http://schemas.openxmlformats.org/officeDocument/2006/relationships/image" Target="../media/image71.png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40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png"/><Relationship Id="rId8" Type="http://schemas.openxmlformats.org/officeDocument/2006/relationships/image" Target="../media/image93.png"/><Relationship Id="rId7" Type="http://schemas.openxmlformats.org/officeDocument/2006/relationships/image" Target="../media/image92.png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96.png"/><Relationship Id="rId10" Type="http://schemas.openxmlformats.org/officeDocument/2006/relationships/image" Target="../media/image95.png"/><Relationship Id="rId1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png"/><Relationship Id="rId7" Type="http://schemas.openxmlformats.org/officeDocument/2006/relationships/image" Target="../media/image103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9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1E293B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1E293B">
              <a:alpha val="30000"/>
            </a:srgbClr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alphaModFix amt="20000"/>
          </a:blip>
          <a:srcRect t="-1" b="-1"/>
          <a:stretch>
            <a:fillRect/>
          </a:stretch>
        </p:blipFill>
        <p:spPr>
          <a:xfrm>
            <a:off x="0" y="3429000"/>
            <a:ext cx="12191695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4535424"/>
            <a:ext cx="523951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06931" y="4535424"/>
            <a:ext cx="705002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8743" y="4535424"/>
            <a:ext cx="657454" cy="286207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24905" y="3723437"/>
            <a:ext cx="4953305" cy="1733702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l="-2512" r="-2512"/>
          <a:stretch>
            <a:fillRect/>
          </a:stretch>
        </p:blipFill>
        <p:spPr>
          <a:xfrm>
            <a:off x="6590995" y="3989527"/>
            <a:ext cx="105156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72046" y="3961181"/>
            <a:ext cx="17574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核心观点 (CORE THESIS)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914400" y="1715414"/>
            <a:ext cx="1285646" cy="247802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37844" y="1753819"/>
            <a:ext cx="1124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SPECIAL REPORT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2058314"/>
            <a:ext cx="4914900" cy="1534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中国货币政策创新 与资本市场展望</a:t>
            </a:r>
            <a:endParaRPr lang="en-US" sz="45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3687775"/>
            <a:ext cx="4743907" cy="5431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深度解析互换便利(SFISF)、回购增持再贷款与“适度宽松”下的资产重估逻辑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00354" y="4582973"/>
            <a:ext cx="4526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SFISF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592885" y="4582973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适度宽松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2373782" y="4582973"/>
            <a:ext cx="5861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A股展望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590995" y="4237330"/>
            <a:ext cx="4562856" cy="9720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以“互换便利 + 回购增持再贷款”为抓手，在“适度宽松”框架下实现类QE效果。在“不可能三角”硬约束中，通过构建“在岸/离岸双轨制”与中美政策共振，打破流动性僵局，夯实人民币汇率与A股市场的长期上行逻辑。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4400" y="400507"/>
            <a:ext cx="152705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81405" y="381305"/>
            <a:ext cx="31391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MACROECONOMIC ANALYSIS &amp; STRATEGY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902098" y="381305"/>
            <a:ext cx="10908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December 2025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324905" y="1858975"/>
            <a:ext cx="4953305" cy="1638605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25" name="Shape 20"/>
          <p:cNvSpPr/>
          <p:nvPr/>
        </p:nvSpPr>
        <p:spPr>
          <a:xfrm>
            <a:off x="6324905" y="1858975"/>
            <a:ext cx="38405" cy="1638605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rcRect l="-57023" r="-57023"/>
          <a:stretch>
            <a:fillRect/>
          </a:stretch>
        </p:blipFill>
        <p:spPr>
          <a:xfrm>
            <a:off x="6553505" y="1667866"/>
            <a:ext cx="714146" cy="3813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90995" y="2172614"/>
            <a:ext cx="4529938" cy="8101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“近年来，‘赌国运’这三个字频繁出现在A股中，但我们是否真正深思过：这个词究竟指代什么？为什么要用‘赌’这个充满博弈色彩的字眼？”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284818" y="3075127"/>
            <a:ext cx="187177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—— 引言：何为“赌国运”？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14400" y="5820156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32" name="Text 25"/>
          <p:cNvSpPr txBox="1"/>
          <p:nvPr/>
        </p:nvSpPr>
        <p:spPr>
          <a:xfrm>
            <a:off x="914400" y="6286500"/>
            <a:ext cx="28913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Confidential - For Professional Investors Only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8844991" y="6124651"/>
            <a:ext cx="8668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POLICY TOOLS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8488375" y="6286500"/>
            <a:ext cx="12335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SFISF / RRR / OMO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0441534" y="6124651"/>
            <a:ext cx="9244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MARKET FOCUS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9923069" y="6286500"/>
            <a:ext cx="14621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A-Share / CNY / Bonds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0" y="1105510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" name="Text 3"/>
          <p:cNvSpPr txBox="1"/>
          <p:nvPr/>
        </p:nvSpPr>
        <p:spPr>
          <a:xfrm>
            <a:off x="571500" y="228600"/>
            <a:ext cx="2915107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互换便利 (SFISF)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733349"/>
            <a:ext cx="4334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央行给机构开设的“超级当铺”：流动性置换机制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023653" y="705002"/>
            <a:ext cx="1600200" cy="256946"/>
          </a:xfrm>
          <a:prstGeom prst="roundRect">
            <a:avLst>
              <a:gd name="adj" fmla="val 52722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47097" y="752551"/>
            <a:ext cx="14383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POLICY TOOL ANALYSIS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372600" y="1524305"/>
            <a:ext cx="2438705" cy="2438705"/>
          </a:xfrm>
          <a:prstGeom prst="roundRect">
            <a:avLst>
              <a:gd name="adj" fmla="val 37495"/>
            </a:avLst>
          </a:prstGeom>
          <a:solidFill>
            <a:srgbClr val="3B82F6">
              <a:alpha val="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09905" y="1419149"/>
            <a:ext cx="5333695" cy="1123798"/>
          </a:xfrm>
          <a:prstGeom prst="rect">
            <a:avLst/>
          </a:prstGeom>
          <a:solidFill>
            <a:srgbClr val="EF4444">
              <a:alpha val="1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09905" y="1419149"/>
            <a:ext cx="38405" cy="1123798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2" name="Shape 10"/>
          <p:cNvSpPr/>
          <p:nvPr/>
        </p:nvSpPr>
        <p:spPr>
          <a:xfrm>
            <a:off x="838505" y="1647749"/>
            <a:ext cx="304495" cy="381305"/>
          </a:xfrm>
          <a:prstGeom prst="roundRect">
            <a:avLst>
              <a:gd name="adj" fmla="val 37538"/>
            </a:avLst>
          </a:prstGeom>
          <a:solidFill>
            <a:srgbClr val="7F1D1D"/>
          </a:solidFill>
        </p:spPr>
      </p:sp>
      <p:sp>
        <p:nvSpPr>
          <p:cNvPr id="13" name="Shape 11"/>
          <p:cNvSpPr/>
          <p:nvPr/>
        </p:nvSpPr>
        <p:spPr>
          <a:xfrm>
            <a:off x="6248095" y="1419149"/>
            <a:ext cx="5333695" cy="1123798"/>
          </a:xfrm>
          <a:prstGeom prst="rect">
            <a:avLst/>
          </a:prstGeom>
          <a:solidFill>
            <a:srgbClr val="10B981">
              <a:alpha val="1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248095" y="1419149"/>
            <a:ext cx="38405" cy="112379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Shape 13"/>
          <p:cNvSpPr/>
          <p:nvPr/>
        </p:nvSpPr>
        <p:spPr>
          <a:xfrm>
            <a:off x="609905" y="5772607"/>
            <a:ext cx="10972800" cy="780898"/>
          </a:xfrm>
          <a:prstGeom prst="roundRect">
            <a:avLst>
              <a:gd name="adj" fmla="val 1142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1754" y="597194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/>
          </a:solidFill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86054" y="6086246"/>
            <a:ext cx="152705" cy="15270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503359" y="5934456"/>
            <a:ext cx="9144" cy="457200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772107"/>
            <a:ext cx="152705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95705" y="1619402"/>
            <a:ext cx="20153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背景痛点：流动性死循环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95705" y="1923898"/>
            <a:ext cx="4500677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三年熊市导致主力机构“有股无钱”。若为筹集护盘资金而被迫卖出手中股票（如沪深300ETF），反而加剧抛压，形成“多杀多”的恶性循环。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553505" y="1772107"/>
            <a:ext cx="152705" cy="1527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33895" y="1619402"/>
            <a:ext cx="16724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核心逻辑：以券换券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6933895" y="1923898"/>
            <a:ext cx="4500677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央行不直接印钱，而是通过资产置换，将机构手中卖不掉的“死股票”变成全市场受欢迎的“活国债”，赋予机构近乎无限的流动性子弹。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304849" y="5962802"/>
            <a:ext cx="12573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POLICY IMPLICATION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304849" y="6124651"/>
            <a:ext cx="4849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封杀流动性风险，只要手里有筹码，就能源源不断换出现金进行抄底。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9742018" y="5915254"/>
            <a:ext cx="1858061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5000亿元 (首期)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10276942" y="6229807"/>
            <a:ext cx="12390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互换便利首期操作规模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09905" y="2974543"/>
            <a:ext cx="2590495" cy="2438705"/>
          </a:xfrm>
          <a:prstGeom prst="roundRect">
            <a:avLst>
              <a:gd name="adj" fmla="val 1172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2449678" y="2907792"/>
            <a:ext cx="1105510" cy="87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01</a:t>
            </a:r>
            <a:endParaRPr lang="en-US" sz="4800" dirty="0"/>
          </a:p>
        </p:txBody>
      </p:sp>
      <p:sp>
        <p:nvSpPr>
          <p:cNvPr id="31" name="Shape 26"/>
          <p:cNvSpPr/>
          <p:nvPr/>
        </p:nvSpPr>
        <p:spPr>
          <a:xfrm>
            <a:off x="3429000" y="2974543"/>
            <a:ext cx="2590495" cy="2438705"/>
          </a:xfrm>
          <a:prstGeom prst="roundRect">
            <a:avLst>
              <a:gd name="adj" fmla="val 1172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5191049" y="2907792"/>
            <a:ext cx="1181405" cy="87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02</a:t>
            </a:r>
            <a:endParaRPr lang="en-US" sz="4800" dirty="0"/>
          </a:p>
        </p:txBody>
      </p:sp>
      <p:sp>
        <p:nvSpPr>
          <p:cNvPr id="33" name="Shape 28"/>
          <p:cNvSpPr/>
          <p:nvPr/>
        </p:nvSpPr>
        <p:spPr>
          <a:xfrm>
            <a:off x="6172200" y="2974543"/>
            <a:ext cx="2590495" cy="2438705"/>
          </a:xfrm>
          <a:prstGeom prst="roundRect">
            <a:avLst>
              <a:gd name="adj" fmla="val 1172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7935163" y="2907792"/>
            <a:ext cx="1181405" cy="87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03</a:t>
            </a:r>
            <a:endParaRPr lang="en-US" sz="4800" dirty="0"/>
          </a:p>
        </p:txBody>
      </p:sp>
      <p:sp>
        <p:nvSpPr>
          <p:cNvPr id="35" name="Shape 30"/>
          <p:cNvSpPr/>
          <p:nvPr/>
        </p:nvSpPr>
        <p:spPr>
          <a:xfrm>
            <a:off x="8991295" y="2974543"/>
            <a:ext cx="2590495" cy="2438705"/>
          </a:xfrm>
          <a:prstGeom prst="roundRect">
            <a:avLst>
              <a:gd name="adj" fmla="val 1172"/>
            </a:avLst>
          </a:prstGeom>
          <a:noFill/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10754258" y="2907792"/>
            <a:ext cx="1181405" cy="87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04</a:t>
            </a:r>
            <a:endParaRPr lang="en-US" sz="48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rcRect l="-1118" r="-1118"/>
          <a:stretch>
            <a:fillRect/>
          </a:stretch>
        </p:blipFill>
        <p:spPr>
          <a:xfrm>
            <a:off x="847649" y="3258007"/>
            <a:ext cx="219456" cy="286207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47649" y="3697834"/>
            <a:ext cx="523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抵押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847649" y="4040734"/>
            <a:ext cx="10954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PLEDGE ASSETS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847649" y="4316882"/>
            <a:ext cx="2157984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机构将手中流动性较差、卖不出的资产（股票ETF、沪深300成分股）抵押给央行。</a:t>
            </a:r>
            <a:endParaRPr lang="en-US" sz="10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rcRect t="-80" b="-80"/>
          <a:stretch>
            <a:fillRect/>
          </a:stretch>
        </p:blipFill>
        <p:spPr>
          <a:xfrm>
            <a:off x="3448202" y="4088282"/>
            <a:ext cx="142646" cy="228600"/>
          </a:xfrm>
          <a:prstGeom prst="rect">
            <a:avLst/>
          </a:prstGeom>
        </p:spPr>
      </p:pic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66744" y="3258007"/>
            <a:ext cx="286207" cy="286207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3666744" y="3697834"/>
            <a:ext cx="523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置换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3666744" y="4040734"/>
            <a:ext cx="8769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ASSET SWAP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3666744" y="4316882"/>
            <a:ext cx="2100377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央行不直接给钱，而是出借手中高流动性的高等级资产（国债、央行票据）。</a:t>
            </a:r>
            <a:endParaRPr lang="en-US" sz="10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5"/>
          <a:srcRect t="-80" b="-80"/>
          <a:stretch>
            <a:fillRect/>
          </a:stretch>
        </p:blipFill>
        <p:spPr>
          <a:xfrm>
            <a:off x="6191402" y="4088282"/>
            <a:ext cx="142646" cy="228600"/>
          </a:xfrm>
          <a:prstGeom prst="rect">
            <a:avLst/>
          </a:prstGeom>
        </p:spPr>
      </p:pic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09944" y="3258007"/>
            <a:ext cx="286207" cy="286207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409944" y="3697834"/>
            <a:ext cx="523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变现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6409944" y="4040734"/>
            <a:ext cx="10579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MONETIZATION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6409944" y="4316882"/>
            <a:ext cx="2100377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机构拿着换来的国债在银行间市场抵押融资或直接卖出，瞬间获得真金白银。</a:t>
            </a:r>
            <a:endParaRPr lang="en-US" sz="10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5"/>
          <a:srcRect t="-80" b="-80"/>
          <a:stretch>
            <a:fillRect/>
          </a:stretch>
        </p:blipFill>
        <p:spPr>
          <a:xfrm>
            <a:off x="8934602" y="4088282"/>
            <a:ext cx="142646" cy="228600"/>
          </a:xfrm>
          <a:prstGeom prst="rect">
            <a:avLst/>
          </a:prstGeom>
        </p:spPr>
      </p:pic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229954" y="3258007"/>
            <a:ext cx="286207" cy="286207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9229954" y="3697834"/>
            <a:ext cx="523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回流</a:t>
            </a:r>
            <a:endParaRPr lang="en-US" sz="1500" dirty="0"/>
          </a:p>
        </p:txBody>
      </p:sp>
      <p:sp>
        <p:nvSpPr>
          <p:cNvPr id="54" name="Text 42"/>
          <p:cNvSpPr txBox="1"/>
          <p:nvPr/>
        </p:nvSpPr>
        <p:spPr>
          <a:xfrm>
            <a:off x="9229954" y="4040734"/>
            <a:ext cx="10579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REINVESTMENT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9229954" y="4316882"/>
            <a:ext cx="2100377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关键闭环：换出的现金严禁挪用，只能回到股市买股票，形成增量资金。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8382305" y="4476902"/>
            <a:ext cx="2857500" cy="2857500"/>
          </a:xfrm>
          <a:prstGeom prst="ellipse">
            <a:avLst/>
          </a:prstGeom>
          <a:solidFill>
            <a:srgbClr val="D97706">
              <a:alpha val="8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0" y="1162202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7" name="Text 5"/>
          <p:cNvSpPr txBox="1"/>
          <p:nvPr/>
        </p:nvSpPr>
        <p:spPr>
          <a:xfrm>
            <a:off x="571500" y="247802"/>
            <a:ext cx="27861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回购增持专项再贷款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694944"/>
            <a:ext cx="4334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国家给上市公司的“套利红包”：定向低息资金池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31375" y="705002"/>
            <a:ext cx="1990649" cy="267005"/>
          </a:xfrm>
          <a:prstGeom prst="roundRect">
            <a:avLst>
              <a:gd name="adj" fmla="val 48924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17329" y="752551"/>
            <a:ext cx="19056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TOOL II: RE-LENDING FACILITY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476756"/>
            <a:ext cx="7010705" cy="3400654"/>
          </a:xfrm>
          <a:prstGeom prst="roundRect">
            <a:avLst>
              <a:gd name="adj" fmla="val 904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FBBF24">
                <a:alpha val="30000"/>
              </a:srgbClr>
            </a:solidFill>
            <a:prstDash val="solid"/>
          </a:ln>
          <a:effectLst>
            <a:outerShdw blurRad="1905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86554" y="1927555"/>
            <a:ext cx="4096512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无风险套利模型 (Risk-free Arbitrage)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77272" y="1946758"/>
            <a:ext cx="1095451" cy="267005"/>
          </a:xfrm>
          <a:prstGeom prst="roundRect">
            <a:avLst>
              <a:gd name="adj" fmla="val 4892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5103266"/>
            <a:ext cx="38405" cy="145755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5" name="Text 13"/>
          <p:cNvSpPr txBox="1"/>
          <p:nvPr/>
        </p:nvSpPr>
        <p:spPr>
          <a:xfrm>
            <a:off x="10262311" y="1994306"/>
            <a:ext cx="1010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首期额度 3000亿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304434" y="2537460"/>
            <a:ext cx="119603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优质红利股股息率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699309"/>
            <a:ext cx="1314907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5.00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6224321" y="2956255"/>
            <a:ext cx="4005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38344" y="3346704"/>
            <a:ext cx="17145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Example: Bank / Energy Stocks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rcRect l="-743" r="-743"/>
          <a:stretch>
            <a:fillRect/>
          </a:stretch>
        </p:blipFill>
        <p:spPr>
          <a:xfrm>
            <a:off x="6824167" y="2937053"/>
            <a:ext cx="304495" cy="3429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738567" y="2537460"/>
            <a:ext cx="9290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回购贷款成本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553858" y="2699309"/>
            <a:ext cx="1314907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2.25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8522208" y="2956255"/>
            <a:ext cx="4005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%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289597" y="3346704"/>
            <a:ext cx="1810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PBOC Refinancing Rate + Spread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rcRect l="-743" r="-743"/>
          <a:stretch>
            <a:fillRect/>
          </a:stretch>
        </p:blipFill>
        <p:spPr>
          <a:xfrm>
            <a:off x="9167774" y="2937053"/>
            <a:ext cx="304495" cy="342900"/>
          </a:xfrm>
          <a:prstGeom prst="rect">
            <a:avLst/>
          </a:prstGeom>
        </p:spPr>
      </p:pic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39005" y="5391302"/>
            <a:ext cx="171907" cy="17190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86807" y="5341010"/>
            <a:ext cx="25292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本质解读：国家级“看涨期权”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4839005" y="5683910"/>
            <a:ext cx="6615684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是国家给A股设定的坚硬“价格底线”。向市场传递明确信号：只要优质公司股息率高于2.25%，理论上就应无脑借钱回购。这封杀了优质资产的下跌空间，让“分红回购”成为市场新的定价锚，从根本上改变A股估值逻辑。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428646" y="1476756"/>
            <a:ext cx="19202" cy="5076749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30" name="Text 25"/>
          <p:cNvSpPr txBox="1"/>
          <p:nvPr/>
        </p:nvSpPr>
        <p:spPr>
          <a:xfrm>
            <a:off x="9813341" y="2460650"/>
            <a:ext cx="12097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Pure Profit / 躺赢利差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9895637" y="2660904"/>
            <a:ext cx="106253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无风险收益空间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9633204" y="2803550"/>
            <a:ext cx="1638605" cy="8193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2.75</a:t>
            </a:r>
            <a:endParaRPr lang="en-US" sz="4500" dirty="0"/>
          </a:p>
        </p:txBody>
      </p:sp>
      <p:sp>
        <p:nvSpPr>
          <p:cNvPr id="33" name="Text 28"/>
          <p:cNvSpPr txBox="1"/>
          <p:nvPr/>
        </p:nvSpPr>
        <p:spPr>
          <a:xfrm>
            <a:off x="10839298" y="3128162"/>
            <a:ext cx="491033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%</a:t>
            </a:r>
            <a:endParaRPr lang="en-US" sz="2200" dirty="0"/>
          </a:p>
        </p:txBody>
      </p:sp>
      <p:sp>
        <p:nvSpPr>
          <p:cNvPr id="34" name="Shape 29"/>
          <p:cNvSpPr/>
          <p:nvPr/>
        </p:nvSpPr>
        <p:spPr>
          <a:xfrm>
            <a:off x="4886554" y="3813962"/>
            <a:ext cx="6381598" cy="609905"/>
          </a:xfrm>
          <a:prstGeom prst="roundRect">
            <a:avLst>
              <a:gd name="adj" fmla="val 1874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34456" y="3823106"/>
            <a:ext cx="9144" cy="590702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36" name="Shape 31"/>
          <p:cNvSpPr/>
          <p:nvPr/>
        </p:nvSpPr>
        <p:spPr>
          <a:xfrm>
            <a:off x="609905" y="1476756"/>
            <a:ext cx="3353105" cy="1047902"/>
          </a:xfrm>
          <a:prstGeom prst="roundRect">
            <a:avLst>
              <a:gd name="adj" fmla="val 634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809244" y="177210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61949" y="1923898"/>
            <a:ext cx="152705" cy="15270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1419149" y="1666951"/>
            <a:ext cx="9436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资金源头 Source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419149" y="1867205"/>
            <a:ext cx="13057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中国央行 (PBOC)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1419149" y="2133295"/>
            <a:ext cx="9765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利率 ≈ 1.75%</a:t>
            </a:r>
            <a:endParaRPr lang="en-US" sz="10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0105" y="2921508"/>
            <a:ext cx="152705" cy="152705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609905" y="3452774"/>
            <a:ext cx="3353105" cy="1047902"/>
          </a:xfrm>
          <a:prstGeom prst="roundRect">
            <a:avLst>
              <a:gd name="adj" fmla="val 634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809244" y="3748126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rcRect l="-33" r="-33"/>
          <a:stretch>
            <a:fillRect/>
          </a:stretch>
        </p:blipFill>
        <p:spPr>
          <a:xfrm>
            <a:off x="952805" y="3900830"/>
            <a:ext cx="171907" cy="15270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1419149" y="3642970"/>
            <a:ext cx="7909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渠道 Channel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1419149" y="3843223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商业银行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1419149" y="4110228"/>
            <a:ext cx="89062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加点 ≈ 0.5%</a:t>
            </a:r>
            <a:endParaRPr lang="en-US" sz="10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10105" y="4898441"/>
            <a:ext cx="152705" cy="152705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609905" y="5429707"/>
            <a:ext cx="3353105" cy="1123798"/>
          </a:xfrm>
          <a:prstGeom prst="roundRect">
            <a:avLst>
              <a:gd name="adj" fmla="val 551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809244" y="5762549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7"/>
          <a:srcRect t="-100" b="-100"/>
          <a:stretch>
            <a:fillRect/>
          </a:stretch>
        </p:blipFill>
        <p:spPr>
          <a:xfrm>
            <a:off x="981151" y="5915254"/>
            <a:ext cx="114300" cy="152705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1419149" y="5619902"/>
            <a:ext cx="9244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执行端 Executor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1419149" y="5820156"/>
            <a:ext cx="10954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上市公司/股东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1419149" y="6096305"/>
            <a:ext cx="125272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成本 ≈ 2.25%</a:t>
            </a:r>
            <a:endParaRPr lang="en-US" sz="1300" dirty="0"/>
          </a:p>
        </p:txBody>
      </p:sp>
      <p:sp>
        <p:nvSpPr>
          <p:cNvPr id="56" name="Text 46"/>
          <p:cNvSpPr txBox="1"/>
          <p:nvPr/>
        </p:nvSpPr>
        <p:spPr>
          <a:xfrm>
            <a:off x="5048402" y="4032504"/>
            <a:ext cx="8193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资金成本 Cost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6092647" y="4042562"/>
            <a:ext cx="14575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套利空间 Arbitrage Space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Text 2"/>
          <p:cNvSpPr txBox="1"/>
          <p:nvPr/>
        </p:nvSpPr>
        <p:spPr>
          <a:xfrm>
            <a:off x="457200" y="6467551"/>
            <a:ext cx="2505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Mechanism Logic: SFISF + Re-lending Synergy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292133" y="6467551"/>
            <a:ext cx="25338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 Source: PBOC Policy Documents Analysis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7" name="Text 5"/>
          <p:cNvSpPr txBox="1"/>
          <p:nvPr/>
        </p:nvSpPr>
        <p:spPr>
          <a:xfrm>
            <a:off x="571500" y="247802"/>
            <a:ext cx="59298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两工具联动：从“以券换券”到“分母缩减”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694944"/>
            <a:ext cx="53245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政策组合拳构建的“正反馈螺旋” (Positive Feedback Spiral)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251338" y="743407"/>
            <a:ext cx="1371600" cy="256946"/>
          </a:xfrm>
          <a:prstGeom prst="roundRect">
            <a:avLst>
              <a:gd name="adj" fmla="val 527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75697" y="790956"/>
            <a:ext cx="12097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SYNERGY EFFECT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92594" y="1343254"/>
            <a:ext cx="142646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50454" y="1304849"/>
            <a:ext cx="12865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分母缩减效应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92594" y="1723644"/>
            <a:ext cx="4248302" cy="2143354"/>
          </a:xfrm>
          <a:prstGeom prst="roundRect">
            <a:avLst>
              <a:gd name="adj" fmla="val 1517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24951" y="2495398"/>
            <a:ext cx="761695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 l="-1648" r="-1648"/>
          <a:stretch>
            <a:fillRect/>
          </a:stretch>
        </p:blipFill>
        <p:spPr>
          <a:xfrm>
            <a:off x="7492594" y="4205326"/>
            <a:ext cx="171907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78801" y="4166921"/>
            <a:ext cx="12865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关键闭环约束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492594" y="4586630"/>
            <a:ext cx="4248302" cy="685800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7492594" y="4586630"/>
            <a:ext cx="28346" cy="6858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9" name="Shape 15"/>
          <p:cNvSpPr/>
          <p:nvPr/>
        </p:nvSpPr>
        <p:spPr>
          <a:xfrm>
            <a:off x="7492594" y="5424221"/>
            <a:ext cx="4248302" cy="685800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20" name="Shape 16"/>
          <p:cNvSpPr/>
          <p:nvPr/>
        </p:nvSpPr>
        <p:spPr>
          <a:xfrm>
            <a:off x="7492594" y="5424221"/>
            <a:ext cx="28346" cy="6858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1" name="Shape 17"/>
          <p:cNvSpPr/>
          <p:nvPr/>
        </p:nvSpPr>
        <p:spPr>
          <a:xfrm>
            <a:off x="11146536" y="5576926"/>
            <a:ext cx="437998" cy="219456"/>
          </a:xfrm>
          <a:prstGeom prst="roundRect">
            <a:avLst>
              <a:gd name="adj" fmla="val 7246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92594" y="6224321"/>
            <a:ext cx="4248302" cy="685800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23" name="Shape 19"/>
          <p:cNvSpPr/>
          <p:nvPr/>
        </p:nvSpPr>
        <p:spPr>
          <a:xfrm>
            <a:off x="7492594" y="6224321"/>
            <a:ext cx="28346" cy="6858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4" name="Text 20"/>
          <p:cNvSpPr txBox="1"/>
          <p:nvPr/>
        </p:nvSpPr>
        <p:spPr>
          <a:xfrm>
            <a:off x="8559698" y="1943100"/>
            <a:ext cx="89062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stral" panose="03090702030407020403" charset="0"/>
                <a:ea typeface="Mistral" panose="03090702030407020403" charset="0"/>
                <a:cs typeface="Mistral" panose="03090702030407020403" charset="0"/>
              </a:rPr>
              <a:t>净利润 (不变)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693201" y="2180844"/>
            <a:ext cx="69585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Mistral" panose="03090702030407020403" charset="0"/>
                <a:ea typeface="Mistral" panose="03090702030407020403" charset="0"/>
                <a:cs typeface="Mistral" panose="03090702030407020403" charset="0"/>
              </a:rPr>
              <a:t>Profit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524951" y="2572207"/>
            <a:ext cx="10287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Mistral" panose="03090702030407020403" charset="0"/>
                <a:ea typeface="Mistral" panose="03090702030407020403" charset="0"/>
                <a:cs typeface="Mistral" panose="03090702030407020403" charset="0"/>
              </a:rPr>
              <a:t>总股本 ↓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8775497" y="2905049"/>
            <a:ext cx="46268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stral" panose="03090702030407020403" charset="0"/>
                <a:ea typeface="Mistral" panose="03090702030407020403" charset="0"/>
                <a:cs typeface="Mistral" panose="03090702030407020403" charset="0"/>
              </a:rPr>
              <a:t>Shares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534449" y="2376526"/>
            <a:ext cx="30541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Mistral" panose="03090702030407020403" charset="0"/>
                <a:ea typeface="Mistral" panose="03090702030407020403" charset="0"/>
                <a:cs typeface="Mistral" panose="03090702030407020403" charset="0"/>
              </a:rPr>
              <a:t>=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9816084" y="2195474"/>
            <a:ext cx="115305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Mistral" panose="03090702030407020403" charset="0"/>
                <a:ea typeface="Mistral" panose="03090702030407020403" charset="0"/>
                <a:cs typeface="Mistral" panose="03090702030407020403" charset="0"/>
              </a:rPr>
              <a:t>EPS ↑</a:t>
            </a:r>
            <a:endParaRPr lang="en-US" sz="2700" dirty="0"/>
          </a:p>
        </p:txBody>
      </p:sp>
      <p:sp>
        <p:nvSpPr>
          <p:cNvPr id="30" name="Text 26"/>
          <p:cNvSpPr txBox="1"/>
          <p:nvPr/>
        </p:nvSpPr>
        <p:spPr>
          <a:xfrm>
            <a:off x="9859061" y="2633472"/>
            <a:ext cx="90068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stral" panose="03090702030407020403" charset="0"/>
                <a:ea typeface="Mistral" panose="03090702030407020403" charset="0"/>
                <a:cs typeface="Mistral" panose="03090702030407020403" charset="0"/>
              </a:rPr>
              <a:t>每股收益暴涨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7692847" y="3238805"/>
            <a:ext cx="3948379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通过持续回购注销，即便公司净利润不增长，每股收益（EPS）也会因分母变小而被动上涨，从而推动股价填权，形成长牛基础。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7673645" y="4738421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额度管理 (Quota)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7673645" y="4957877"/>
            <a:ext cx="21241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首期各3000亿/5000亿，视情况可扩容。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7673645" y="5576926"/>
            <a:ext cx="1567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用途封闭 (Closed Loop)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673645" y="5796382"/>
            <a:ext cx="2496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资金严禁用于发工资、还债或基建，仅限股市。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11232490" y="5605272"/>
            <a:ext cx="34747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Strict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7673645" y="6377026"/>
            <a:ext cx="138623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窗口指导 (Guidance)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7673645" y="6596482"/>
            <a:ext cx="2953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央行对申请机构进行资质审核，确保资金流向优质标的。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1364285" y="1725473"/>
            <a:ext cx="4772254" cy="4772254"/>
          </a:xfrm>
          <a:prstGeom prst="ellipse">
            <a:avLst/>
          </a:prstGeom>
          <a:noFill/>
          <a:ln w="254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585716" y="2590495"/>
            <a:ext cx="237744" cy="228600"/>
          </a:xfrm>
          <a:prstGeom prst="rect">
            <a:avLst/>
          </a:prstGeom>
          <a:noFill/>
          <a:ln w="190500">
            <a:solidFill>
              <a:srgbClr val="64748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69134" y="5399532"/>
            <a:ext cx="237744" cy="228600"/>
          </a:xfrm>
          <a:prstGeom prst="rect">
            <a:avLst/>
          </a:prstGeom>
          <a:noFill/>
          <a:ln w="190500">
            <a:solidFill>
              <a:srgbClr val="64748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243023" y="3050438"/>
            <a:ext cx="237744" cy="228600"/>
          </a:xfrm>
          <a:prstGeom prst="rect">
            <a:avLst/>
          </a:prstGeom>
          <a:noFill/>
          <a:ln w="190500">
            <a:solidFill>
              <a:srgbClr val="64748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012741" y="4939589"/>
            <a:ext cx="237744" cy="228600"/>
          </a:xfrm>
          <a:prstGeom prst="rect">
            <a:avLst/>
          </a:prstGeom>
          <a:noFill/>
          <a:ln w="190500">
            <a:solidFill>
              <a:srgbClr val="64748B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514186" y="1676095"/>
            <a:ext cx="6099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1 &amp; 2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6368796" y="1837944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流动性注入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457200" y="6176772"/>
            <a:ext cx="6099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3 &amp; 4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457200" y="6338621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基本面改善</a:t>
            </a:r>
            <a:endParaRPr lang="en-US" sz="1000" dirty="0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11430000" y="4738421"/>
            <a:ext cx="152705" cy="152705"/>
          </a:xfrm>
          <a:prstGeom prst="rect">
            <a:avLst/>
          </a:prstGeom>
        </p:spPr>
      </p:pic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33" r="-33"/>
          <a:stretch>
            <a:fillRect/>
          </a:stretch>
        </p:blipFill>
        <p:spPr>
          <a:xfrm>
            <a:off x="11410798" y="6377026"/>
            <a:ext cx="171907" cy="152705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2984602" y="3345790"/>
            <a:ext cx="1524305" cy="1524305"/>
          </a:xfrm>
          <a:prstGeom prst="ellipse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5"/>
          <a:srcRect l="-27" r="-27"/>
          <a:stretch>
            <a:fillRect/>
          </a:stretch>
        </p:blipFill>
        <p:spPr>
          <a:xfrm>
            <a:off x="3532327" y="3688690"/>
            <a:ext cx="428854" cy="342900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3317443" y="4117543"/>
            <a:ext cx="986638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正反馈螺旋</a:t>
            </a:r>
            <a:endParaRPr lang="en-US" sz="1300" dirty="0"/>
          </a:p>
        </p:txBody>
      </p:sp>
      <p:sp>
        <p:nvSpPr>
          <p:cNvPr id="53" name="Text 46"/>
          <p:cNvSpPr txBox="1"/>
          <p:nvPr/>
        </p:nvSpPr>
        <p:spPr>
          <a:xfrm>
            <a:off x="3268066" y="4364431"/>
            <a:ext cx="10479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Positive Feedback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3079699" y="1726387"/>
            <a:ext cx="1333195" cy="1333195"/>
          </a:xfrm>
          <a:prstGeom prst="ellipse">
            <a:avLst/>
          </a:prstGeom>
          <a:solidFill>
            <a:srgbClr val="1E293B">
              <a:alpha val="9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blurRad="241300" dist="1016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594506" y="2050085"/>
            <a:ext cx="304495" cy="304495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3230575" y="2355494"/>
            <a:ext cx="113842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互换便利 (SFISF)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3289097" y="2574036"/>
            <a:ext cx="1010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获取高流动性子弹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4794199" y="3440887"/>
            <a:ext cx="1333195" cy="1333195"/>
          </a:xfrm>
          <a:prstGeom prst="ellipse">
            <a:avLst/>
          </a:prstGeom>
          <a:solidFill>
            <a:srgbClr val="1E293B">
              <a:alpha val="90000"/>
            </a:srgbClr>
          </a:solidFill>
          <a:ln w="25400">
            <a:solidFill>
              <a:srgbClr val="D97706"/>
            </a:solidFill>
            <a:prstDash val="solid"/>
          </a:ln>
          <a:effectLst>
            <a:outerShdw blurRad="241300" dist="1016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7"/>
          <a:srcRect l="-50" r="-50"/>
          <a:stretch>
            <a:fillRect/>
          </a:stretch>
        </p:blipFill>
        <p:spPr>
          <a:xfrm>
            <a:off x="5289804" y="3764585"/>
            <a:ext cx="342900" cy="304495"/>
          </a:xfrm>
          <a:prstGeom prst="rect">
            <a:avLst/>
          </a:prstGeom>
        </p:spPr>
      </p:pic>
      <p:sp>
        <p:nvSpPr>
          <p:cNvPr id="60" name="Text 51"/>
          <p:cNvSpPr txBox="1"/>
          <p:nvPr/>
        </p:nvSpPr>
        <p:spPr>
          <a:xfrm>
            <a:off x="5127955" y="4069994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增持再贷款</a:t>
            </a:r>
            <a:endParaRPr lang="en-US" sz="1000" dirty="0"/>
          </a:p>
        </p:txBody>
      </p:sp>
      <p:sp>
        <p:nvSpPr>
          <p:cNvPr id="61" name="Text 52"/>
          <p:cNvSpPr txBox="1"/>
          <p:nvPr/>
        </p:nvSpPr>
        <p:spPr>
          <a:xfrm>
            <a:off x="5061204" y="4288536"/>
            <a:ext cx="896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低成本资金进场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3079699" y="5155387"/>
            <a:ext cx="1333195" cy="1333195"/>
          </a:xfrm>
          <a:prstGeom prst="ellipse">
            <a:avLst/>
          </a:prstGeom>
          <a:solidFill>
            <a:srgbClr val="1E293B">
              <a:alpha val="90000"/>
            </a:srgbClr>
          </a:solidFill>
          <a:ln w="25400">
            <a:solidFill>
              <a:srgbClr val="EF4444"/>
            </a:solidFill>
            <a:prstDash val="solid"/>
          </a:ln>
          <a:effectLst>
            <a:outerShdw blurRad="241300" dist="1016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 r:embed="rId8"/>
          <a:srcRect l="-50" r="-50"/>
          <a:stretch>
            <a:fillRect/>
          </a:stretch>
        </p:blipFill>
        <p:spPr>
          <a:xfrm>
            <a:off x="3575304" y="5479085"/>
            <a:ext cx="342900" cy="304495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3480206" y="5784494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回购注销</a:t>
            </a:r>
            <a:endParaRPr lang="en-US" sz="1000" dirty="0"/>
          </a:p>
        </p:txBody>
      </p:sp>
      <p:sp>
        <p:nvSpPr>
          <p:cNvPr id="65" name="Text 55"/>
          <p:cNvSpPr txBox="1"/>
          <p:nvPr/>
        </p:nvSpPr>
        <p:spPr>
          <a:xfrm>
            <a:off x="3352190" y="6003036"/>
            <a:ext cx="8769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总股本(分母) ↓</a:t>
            </a:r>
            <a:endParaRPr lang="en-US" sz="900" dirty="0"/>
          </a:p>
        </p:txBody>
      </p:sp>
      <p:sp>
        <p:nvSpPr>
          <p:cNvPr id="66" name="Shape 56"/>
          <p:cNvSpPr/>
          <p:nvPr/>
        </p:nvSpPr>
        <p:spPr>
          <a:xfrm>
            <a:off x="1365199" y="3440887"/>
            <a:ext cx="1333195" cy="1333195"/>
          </a:xfrm>
          <a:prstGeom prst="ellipse">
            <a:avLst/>
          </a:prstGeom>
          <a:solidFill>
            <a:srgbClr val="1E293B">
              <a:alpha val="90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blurRad="241300" dist="1016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880006" y="3764585"/>
            <a:ext cx="304495" cy="304495"/>
          </a:xfrm>
          <a:prstGeom prst="rect">
            <a:avLst/>
          </a:prstGeom>
        </p:spPr>
      </p:pic>
      <p:sp>
        <p:nvSpPr>
          <p:cNvPr id="68" name="Text 57"/>
          <p:cNvSpPr txBox="1"/>
          <p:nvPr/>
        </p:nvSpPr>
        <p:spPr>
          <a:xfrm>
            <a:off x="1765706" y="4069994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价值重估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1610258" y="4288536"/>
            <a:ext cx="9336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EPS ↑ &amp; 股价 ↑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0" y="1076249"/>
            <a:ext cx="6096305" cy="4867351"/>
          </a:xfrm>
          <a:prstGeom prst="rect">
            <a:avLst/>
          </a:prstGeom>
          <a:solidFill>
            <a:srgbClr val="1E293B">
              <a:alpha val="4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6087161" y="1076249"/>
            <a:ext cx="9144" cy="4867351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6" name="Text 4"/>
          <p:cNvSpPr txBox="1"/>
          <p:nvPr/>
        </p:nvSpPr>
        <p:spPr>
          <a:xfrm>
            <a:off x="4798771" y="1209751"/>
            <a:ext cx="1448410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1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2008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04495" y="2219249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CRISIS MODE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4495" y="2495398"/>
            <a:ext cx="5377586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次贷危机爆发，雷曼时刻逼近。投行手中持有大量卖不出去的垃圾债（MBS），市场信心崩塌，无人愿借钱，流动性彻底枯竭。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495" y="3376879"/>
            <a:ext cx="5477256" cy="933602"/>
          </a:xfrm>
          <a:prstGeom prst="roundRect">
            <a:avLst>
              <a:gd name="adj" fmla="val 7995"/>
            </a:avLst>
          </a:prstGeom>
          <a:solidFill>
            <a:srgbClr val="334155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43" b="-43"/>
          <a:stretch>
            <a:fillRect/>
          </a:stretch>
        </p:blipFill>
        <p:spPr>
          <a:xfrm>
            <a:off x="495605" y="3586277"/>
            <a:ext cx="133502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05002" y="3538728"/>
            <a:ext cx="10479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MBS (垃圾债)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2946197" y="3576218"/>
            <a:ext cx="133502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89120" y="3538728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国债 (Treasuries)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5605" y="3834079"/>
            <a:ext cx="5086807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允许一级交易商将手中无人问津的抵押贷款支持证券(MBS)抵押给美联储，换回流动性最好的美国国债。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04495" y="4767682"/>
            <a:ext cx="19202" cy="19019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6" name="Text 12"/>
          <p:cNvSpPr txBox="1"/>
          <p:nvPr/>
        </p:nvSpPr>
        <p:spPr>
          <a:xfrm>
            <a:off x="476402" y="4767682"/>
            <a:ext cx="49011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为了生存。切断资产抛售的恶性循环，防止债券市场螺旋式崩盘引发系统性毁灭。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079" b="10079"/>
          <a:stretch>
            <a:fillRect/>
          </a:stretch>
        </p:blipFill>
        <p:spPr>
          <a:xfrm>
            <a:off x="6096305" y="1076249"/>
            <a:ext cx="6096305" cy="48673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904220" y="1209751"/>
            <a:ext cx="1448410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10000"/>
                  </a:srgb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2024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6705295" y="2219249"/>
            <a:ext cx="12435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LIQUIDITY TRAP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705295" y="2495398"/>
            <a:ext cx="5253228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A股三年熊市，机构“有股无钱”。若被迫卖股筹资护盘，反而导致“多杀多”。市场面临流动性死循环。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705295" y="3376879"/>
            <a:ext cx="5181905" cy="780898"/>
          </a:xfrm>
          <a:prstGeom prst="roundRect">
            <a:avLst>
              <a:gd name="adj" fmla="val 11424"/>
            </a:avLst>
          </a:prstGeom>
          <a:solidFill>
            <a:srgbClr val="334155">
              <a:alpha val="5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 l="-33" r="-33"/>
          <a:stretch>
            <a:fillRect/>
          </a:stretch>
        </p:blipFill>
        <p:spPr>
          <a:xfrm>
            <a:off x="6896405" y="3586277"/>
            <a:ext cx="171907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44207" y="3538728"/>
            <a:ext cx="9052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ETF/成分股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2"/>
          <a:srcRect t="-43" b="-43"/>
          <a:stretch>
            <a:fillRect/>
          </a:stretch>
        </p:blipFill>
        <p:spPr>
          <a:xfrm>
            <a:off x="9425635" y="3576218"/>
            <a:ext cx="133502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056925" y="3538728"/>
            <a:ext cx="7909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国债/央票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896405" y="3834079"/>
            <a:ext cx="42007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机构将流动性差的股票资产抵押给央行，置换为高等级资产，"以券换券"不扩表。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705295" y="4614977"/>
            <a:ext cx="19202" cy="190195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8" name="Text 21"/>
          <p:cNvSpPr txBox="1"/>
          <p:nvPr/>
        </p:nvSpPr>
        <p:spPr>
          <a:xfrm>
            <a:off x="6877202" y="4614977"/>
            <a:ext cx="49011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为了发展。赋予机构无限子弹进行抄底，只能用于买股票，封杀市场流动性风险。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86246" y="1266444"/>
            <a:ext cx="19202" cy="4486046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30" name="Shape 23"/>
          <p:cNvSpPr/>
          <p:nvPr/>
        </p:nvSpPr>
        <p:spPr>
          <a:xfrm>
            <a:off x="304495" y="13432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>
            <a:fillRect/>
          </a:stretch>
        </p:blipFill>
        <p:spPr>
          <a:xfrm>
            <a:off x="466344" y="1495044"/>
            <a:ext cx="133502" cy="15270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" y="1285646"/>
            <a:ext cx="1495958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美联储 (Fed)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14400" y="1609344"/>
            <a:ext cx="17337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TSLF 定期证券借贷便利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705295" y="13432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F1D1D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l="-33" r="-33"/>
          <a:stretch>
            <a:fillRect/>
          </a:stretch>
        </p:blipFill>
        <p:spPr>
          <a:xfrm>
            <a:off x="6848856" y="1495044"/>
            <a:ext cx="171907" cy="152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315200" y="1285646"/>
            <a:ext cx="1953158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中国央行 (PBOC)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7315200" y="1609344"/>
            <a:ext cx="11814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SFISF 互换便利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565038" y="1837944"/>
            <a:ext cx="1067105" cy="267005"/>
          </a:xfrm>
          <a:prstGeom prst="roundRect">
            <a:avLst>
              <a:gd name="adj" fmla="val 146771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5688482" y="1886407"/>
            <a:ext cx="9052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背景 CONTEXT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5479085" y="3457346"/>
            <a:ext cx="1238098" cy="267005"/>
          </a:xfrm>
          <a:prstGeom prst="roundRect">
            <a:avLst>
              <a:gd name="adj" fmla="val 146771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5603443" y="3504895"/>
            <a:ext cx="10771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机制 MECHANISM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5514746" y="5076749"/>
            <a:ext cx="1162202" cy="267005"/>
          </a:xfrm>
          <a:prstGeom prst="roundRect">
            <a:avLst>
              <a:gd name="adj" fmla="val 146771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34"/>
          <p:cNvSpPr txBox="1"/>
          <p:nvPr/>
        </p:nvSpPr>
        <p:spPr>
          <a:xfrm>
            <a:off x="5639105" y="5124298"/>
            <a:ext cx="10003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 OBJECTIVE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5" name="Shape 36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46" name="Text 37"/>
          <p:cNvSpPr txBox="1"/>
          <p:nvPr/>
        </p:nvSpPr>
        <p:spPr>
          <a:xfrm>
            <a:off x="571500" y="247802"/>
            <a:ext cx="35295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国际对比：TSLF 与 SFISF</a:t>
            </a:r>
            <a:endParaRPr lang="en-US" sz="2200" dirty="0"/>
          </a:p>
        </p:txBody>
      </p:sp>
      <p:sp>
        <p:nvSpPr>
          <p:cNvPr id="47" name="Text 38"/>
          <p:cNvSpPr txBox="1"/>
          <p:nvPr/>
        </p:nvSpPr>
        <p:spPr>
          <a:xfrm>
            <a:off x="571500" y="694944"/>
            <a:ext cx="42291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历史的镜像：从2008年美联储到2024年中国央行</a:t>
            </a:r>
            <a:endParaRPr lang="en-US" sz="1500" dirty="0"/>
          </a:p>
        </p:txBody>
      </p:sp>
      <p:sp>
        <p:nvSpPr>
          <p:cNvPr id="48" name="Shape 39"/>
          <p:cNvSpPr/>
          <p:nvPr/>
        </p:nvSpPr>
        <p:spPr>
          <a:xfrm>
            <a:off x="10018166" y="743407"/>
            <a:ext cx="1609344" cy="256946"/>
          </a:xfrm>
          <a:prstGeom prst="roundRect">
            <a:avLst>
              <a:gd name="adj" fmla="val 527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10141610" y="790956"/>
            <a:ext cx="14484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HISTORICAL MIRROR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5619902" y="3033979"/>
            <a:ext cx="952805" cy="9528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  <a:effectLst>
            <a:outerShdw blurRad="190500" dist="12700" dir="16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51" name="Text 42"/>
          <p:cNvSpPr txBox="1"/>
          <p:nvPr/>
        </p:nvSpPr>
        <p:spPr>
          <a:xfrm>
            <a:off x="5799125" y="3252521"/>
            <a:ext cx="6858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SIMILARITY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5789981" y="3376879"/>
            <a:ext cx="833933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90%</a:t>
            </a:r>
            <a:endParaRPr lang="en-US" sz="2200" dirty="0"/>
          </a:p>
        </p:txBody>
      </p:sp>
      <p:sp>
        <p:nvSpPr>
          <p:cNvPr id="53" name="Shape 44"/>
          <p:cNvSpPr/>
          <p:nvPr/>
        </p:nvSpPr>
        <p:spPr>
          <a:xfrm>
            <a:off x="0" y="5943600"/>
            <a:ext cx="12191695" cy="9144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904695" y="6310274"/>
            <a:ext cx="142646" cy="190195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2352751" y="6081674"/>
            <a:ext cx="19339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核心启示 (Key Takeaway)</a:t>
            </a:r>
            <a:endParaRPr lang="en-US" sz="1200" dirty="0"/>
          </a:p>
        </p:txBody>
      </p:sp>
      <p:sp>
        <p:nvSpPr>
          <p:cNvPr id="56" name="Text 46"/>
          <p:cNvSpPr txBox="1"/>
          <p:nvPr/>
        </p:nvSpPr>
        <p:spPr>
          <a:xfrm>
            <a:off x="2352751" y="6348679"/>
            <a:ext cx="810158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两者的底层逻辑完全一致：央行充当“最后的做市商”。通过置换资产，将机构手中原本被锁死的“死资产”激活为“活资金”，从而在不直接增发货币的前提下，通过提升货币乘数和流通速度来拯救市场信心。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" name="Text 3"/>
          <p:cNvSpPr txBox="1"/>
          <p:nvPr/>
        </p:nvSpPr>
        <p:spPr>
          <a:xfrm>
            <a:off x="571500" y="247802"/>
            <a:ext cx="50721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国际镜鉴：美股回购潮与“分母缩减”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94944"/>
            <a:ext cx="4229100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零利率时代(ZIRP)的金融工程奇迹与对A股的启示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739274" y="743407"/>
            <a:ext cx="1886407" cy="256946"/>
          </a:xfrm>
          <a:prstGeom prst="roundRect">
            <a:avLst>
              <a:gd name="adj" fmla="val 52722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62718" y="790956"/>
            <a:ext cx="17245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CASE STUDY: US MARKET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7852" b="27852"/>
          <a:stretch>
            <a:fillRect/>
          </a:stretch>
        </p:blipFill>
        <p:spPr>
          <a:xfrm>
            <a:off x="0" y="1076249"/>
            <a:ext cx="12191695" cy="54004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4298" y="1380744"/>
            <a:ext cx="9144" cy="4791456"/>
          </a:xfrm>
          <a:prstGeom prst="rect">
            <a:avLst/>
          </a:prstGeom>
          <a:solidFill>
            <a:srgbClr val="E5E7E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4495" y="1429207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2298" y="1380744"/>
            <a:ext cx="2110435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历史演进 (2009-Present)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8251" y="1876349"/>
            <a:ext cx="19202" cy="4295851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4" name="Text 10"/>
          <p:cNvSpPr txBox="1"/>
          <p:nvPr/>
        </p:nvSpPr>
        <p:spPr>
          <a:xfrm>
            <a:off x="875995" y="1886407"/>
            <a:ext cx="8485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2009 - 2015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75995" y="2066544"/>
            <a:ext cx="15105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零利率政策 (ZIRP) 开启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75995" y="2305202"/>
            <a:ext cx="3991356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美联储实施QE，利率降至0-0.25%。企业发债成本极低(约2-3%)，而自家股票E/P收益率达5%+，套利空间打开。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75995" y="2905049"/>
            <a:ext cx="104790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KEY INFLECTION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875995" y="3086100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回购成为最大买家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75995" y="3323844"/>
            <a:ext cx="3982212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苹果、微软等巨头通过发债借钱回购自家股票。上市公司回购金额超越散户和基金，成为美股最大净买入方。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875995" y="3924605"/>
            <a:ext cx="84856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2018 - 2021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875995" y="4105656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回购规模创新高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75995" y="4343400"/>
            <a:ext cx="39630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特朗普税改叠加低息环境，标普500回购金额年均突破8000亿美元，助推美股十年长牛。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875995" y="4943246"/>
            <a:ext cx="5715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PRESENT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75995" y="5124298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常态化市值管理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75995" y="5362956"/>
            <a:ext cx="3810305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即便加息周期，回购仍是美股核心支撑。年均回购金额稳定在1万亿美元以上。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359298" y="1380744"/>
            <a:ext cx="3191256" cy="1123798"/>
          </a:xfrm>
          <a:prstGeom prst="roundRect">
            <a:avLst>
              <a:gd name="adj" fmla="val 5516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/>
          <a:stretch>
            <a:fillRect/>
          </a:stretch>
        </p:blipFill>
        <p:spPr>
          <a:xfrm>
            <a:off x="7889443" y="1466698"/>
            <a:ext cx="571500" cy="5715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559552" y="1571854"/>
            <a:ext cx="14100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ANNUAL AVG BUYBACK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5559552" y="1676095"/>
            <a:ext cx="1800454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$1,000B+</a:t>
            </a:r>
            <a:endParaRPr lang="en-US" sz="2700" dirty="0"/>
          </a:p>
        </p:txBody>
      </p:sp>
      <p:sp>
        <p:nvSpPr>
          <p:cNvPr id="30" name="Text 25"/>
          <p:cNvSpPr txBox="1"/>
          <p:nvPr/>
        </p:nvSpPr>
        <p:spPr>
          <a:xfrm>
            <a:off x="5559552" y="2143354"/>
            <a:ext cx="1362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过去10年美股年均回购额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699602" y="1380744"/>
            <a:ext cx="3191256" cy="1123798"/>
          </a:xfrm>
          <a:prstGeom prst="roundRect">
            <a:avLst>
              <a:gd name="adj" fmla="val 5516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475569">
                <a:alpha val="50000"/>
              </a:srgbClr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t="-16" b="-16"/>
          <a:stretch>
            <a:fillRect/>
          </a:stretch>
        </p:blipFill>
        <p:spPr>
          <a:xfrm>
            <a:off x="11087100" y="1466698"/>
            <a:ext cx="714146" cy="5715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898941" y="1571854"/>
            <a:ext cx="12390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ARBITRAGE SPREAD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898941" y="1676095"/>
            <a:ext cx="1534363" cy="4864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2%~3%</a:t>
            </a:r>
            <a:endParaRPr lang="en-US" sz="2700" dirty="0"/>
          </a:p>
        </p:txBody>
      </p:sp>
      <p:sp>
        <p:nvSpPr>
          <p:cNvPr id="35" name="Text 29"/>
          <p:cNvSpPr txBox="1"/>
          <p:nvPr/>
        </p:nvSpPr>
        <p:spPr>
          <a:xfrm>
            <a:off x="8898941" y="2143354"/>
            <a:ext cx="1467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发债成本 vs E/P收益率利差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359298" y="2734056"/>
            <a:ext cx="6534302" cy="2495398"/>
          </a:xfrm>
          <a:prstGeom prst="roundRect">
            <a:avLst>
              <a:gd name="adj" fmla="val 111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521147" y="2895905"/>
            <a:ext cx="20628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标普500回购规模与EPS增长示意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10489997" y="295259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</p:spPr>
      </p:sp>
      <p:sp>
        <p:nvSpPr>
          <p:cNvPr id="39" name="Text 33"/>
          <p:cNvSpPr txBox="1"/>
          <p:nvPr/>
        </p:nvSpPr>
        <p:spPr>
          <a:xfrm>
            <a:off x="10604297" y="2905049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回购金额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11290097" y="2905049"/>
            <a:ext cx="5239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EPS增速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rcRect l="-87" r="-87"/>
          <a:stretch>
            <a:fillRect/>
          </a:stretch>
        </p:blipFill>
        <p:spPr>
          <a:xfrm>
            <a:off x="5521147" y="3161995"/>
            <a:ext cx="6210605" cy="1904695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5359298" y="5458054"/>
            <a:ext cx="6534302" cy="933602"/>
          </a:xfrm>
          <a:prstGeom prst="rect">
            <a:avLst/>
          </a:prstGeom>
          <a:solidFill>
            <a:srgbClr val="0F172A">
              <a:alpha val="8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rcRect l="-607" r="-607"/>
          <a:stretch>
            <a:fillRect/>
          </a:stretch>
        </p:blipFill>
        <p:spPr>
          <a:xfrm>
            <a:off x="5626303" y="5798210"/>
            <a:ext cx="362102" cy="286207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6140196" y="5619902"/>
            <a:ext cx="24725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MIRRORING STRATEGY FOR A-SHARE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6140196" y="5848502"/>
            <a:ext cx="5596128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A股当下的逻辑如出一辙： 借款成本(2.25%) vs 股息率(5%)。 只要套利空间存在，企业就有动力借钱注销股本，实现“分母缩减”， 即便净利润不增，EPS也能推动股价上涨。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47" name="Text 39"/>
          <p:cNvSpPr txBox="1"/>
          <p:nvPr/>
        </p:nvSpPr>
        <p:spPr>
          <a:xfrm>
            <a:off x="304495" y="6586423"/>
            <a:ext cx="26481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Source: Federal Reserve, S&amp;P Dow Jones Indices</a:t>
            </a:r>
            <a:endParaRPr lang="en-US" sz="900" dirty="0"/>
          </a:p>
        </p:txBody>
      </p:sp>
      <p:sp>
        <p:nvSpPr>
          <p:cNvPr id="48" name="Text 40"/>
          <p:cNvSpPr txBox="1"/>
          <p:nvPr/>
        </p:nvSpPr>
        <p:spPr>
          <a:xfrm>
            <a:off x="8634679" y="6586423"/>
            <a:ext cx="33439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Note: Historical performance is not indicative of future results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590702" y="1923898"/>
            <a:ext cx="114300" cy="1143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71500" y="2924251"/>
            <a:ext cx="152705" cy="152705"/>
          </a:xfrm>
          <a:prstGeom prst="ellipse">
            <a:avLst/>
          </a:prstGeom>
          <a:solidFill>
            <a:srgbClr val="FBBF24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590702" y="3962095"/>
            <a:ext cx="114300" cy="1143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590702" y="4981651"/>
            <a:ext cx="114300" cy="1143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F17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457200" y="6391656"/>
            <a:ext cx="11277295" cy="705002"/>
          </a:xfrm>
          <a:prstGeom prst="roundRect">
            <a:avLst>
              <a:gd name="adj" fmla="val 1402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19049" y="660196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0354" y="6553505"/>
            <a:ext cx="27102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总量调节的基石 (Foundation of Liquidity)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00354" y="6772961"/>
            <a:ext cx="88779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这三类工具是央行资产负债表操作的基础。虽然现代货币政策更强调“精准滴灌”，但降准（RRR）作为释放长期流动性的“总闸门”，其信号意义和资金体量依然无可替代。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76756"/>
            <a:ext cx="3610051" cy="4390949"/>
          </a:xfrm>
          <a:prstGeom prst="roundRect">
            <a:avLst>
              <a:gd name="adj" fmla="val 80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 t="-4355" b="-4355"/>
          <a:stretch>
            <a:fillRect/>
          </a:stretch>
        </p:blipFill>
        <p:spPr>
          <a:xfrm>
            <a:off x="2357323" y="1155802"/>
            <a:ext cx="1981505" cy="19147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2194" y="1476756"/>
            <a:ext cx="3610051" cy="4390949"/>
          </a:xfrm>
          <a:prstGeom prst="roundRect">
            <a:avLst>
              <a:gd name="adj" fmla="val 80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3B82F6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>
            <a:fillRect/>
          </a:stretch>
        </p:blipFill>
        <p:spPr>
          <a:xfrm>
            <a:off x="6342278" y="1210666"/>
            <a:ext cx="1837944" cy="18379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128102" y="1476756"/>
            <a:ext cx="3610051" cy="4390949"/>
          </a:xfrm>
          <a:prstGeom prst="roundRect">
            <a:avLst>
              <a:gd name="adj" fmla="val 80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10B981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l="-10993" r="-10993"/>
          <a:stretch>
            <a:fillRect/>
          </a:stretch>
        </p:blipFill>
        <p:spPr>
          <a:xfrm>
            <a:off x="10490911" y="1331366"/>
            <a:ext cx="1533449" cy="167609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94944" y="1742846"/>
            <a:ext cx="609905" cy="609905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685" r="-685"/>
          <a:stretch>
            <a:fillRect/>
          </a:stretch>
        </p:blipFill>
        <p:spPr>
          <a:xfrm>
            <a:off x="847649" y="1914754"/>
            <a:ext cx="304495" cy="26700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2781605" y="1742846"/>
            <a:ext cx="1047902" cy="237744"/>
          </a:xfrm>
          <a:prstGeom prst="roundRect">
            <a:avLst>
              <a:gd name="adj" fmla="val 61538"/>
            </a:avLst>
          </a:prstGeom>
          <a:solidFill>
            <a:srgbClr val="EF4444">
              <a:alpha val="10000"/>
            </a:srgbClr>
          </a:solidFill>
        </p:spPr>
      </p:sp>
      <p:sp>
        <p:nvSpPr>
          <p:cNvPr id="17" name="Shape 10"/>
          <p:cNvSpPr/>
          <p:nvPr/>
        </p:nvSpPr>
        <p:spPr>
          <a:xfrm>
            <a:off x="847649" y="4736592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8" name="Shape 11"/>
          <p:cNvSpPr/>
          <p:nvPr/>
        </p:nvSpPr>
        <p:spPr>
          <a:xfrm>
            <a:off x="847649" y="5104181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9" name="Text 12"/>
          <p:cNvSpPr txBox="1"/>
          <p:nvPr/>
        </p:nvSpPr>
        <p:spPr>
          <a:xfrm>
            <a:off x="2857500" y="1781251"/>
            <a:ext cx="97566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HEAVY WEAPON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694944" y="2486254"/>
            <a:ext cx="15435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存款准备金率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694944" y="2866644"/>
            <a:ext cx="25868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RRR (Reserve Requirement Ratio)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94944" y="3200400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央行强制“冻结”商业银行一部分资金，不许用于放贷。降准即“解冻”，直接向银行释放长期无成本资金。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847649" y="4455871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作用机制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2660904" y="4450385"/>
            <a:ext cx="112288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冻结/解冻流动性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847649" y="482437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信号强度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 l="-1507" r="-1507"/>
          <a:stretch>
            <a:fillRect/>
          </a:stretch>
        </p:blipFill>
        <p:spPr>
          <a:xfrm>
            <a:off x="2614270" y="4863694"/>
            <a:ext cx="171907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823667" y="4817974"/>
            <a:ext cx="96012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极强 (Strong)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847649" y="5191963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2523744" y="5186477"/>
            <a:ext cx="12554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经济下行/信用收缩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530852" y="1742846"/>
            <a:ext cx="609905" cy="60990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701845" y="1914754"/>
            <a:ext cx="267005" cy="2670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65646" y="1742846"/>
            <a:ext cx="905256" cy="237744"/>
          </a:xfrm>
          <a:prstGeom prst="roundRect">
            <a:avLst>
              <a:gd name="adj" fmla="val 61538"/>
            </a:avLst>
          </a:prstGeom>
          <a:solidFill>
            <a:srgbClr val="3B82F6">
              <a:alpha val="10000"/>
            </a:srgbClr>
          </a:solidFill>
        </p:spPr>
      </p:sp>
      <p:sp>
        <p:nvSpPr>
          <p:cNvPr id="33" name="Shape 24"/>
          <p:cNvSpPr/>
          <p:nvPr/>
        </p:nvSpPr>
        <p:spPr>
          <a:xfrm>
            <a:off x="4683557" y="4736592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4" name="Shape 25"/>
          <p:cNvSpPr/>
          <p:nvPr/>
        </p:nvSpPr>
        <p:spPr>
          <a:xfrm>
            <a:off x="4683557" y="5104181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5" name="Text 26"/>
          <p:cNvSpPr txBox="1"/>
          <p:nvPr/>
        </p:nvSpPr>
        <p:spPr>
          <a:xfrm>
            <a:off x="6841541" y="1781251"/>
            <a:ext cx="83301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FINE TUNING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4530852" y="2486254"/>
            <a:ext cx="15435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公开市场操作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4530852" y="2866644"/>
            <a:ext cx="226222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A5FA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OMO (Open Market Operation)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4530852" y="3200400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央行在银行间市场买卖短期资金。最常见的是“逆回购”（放出短钱）和“正回购”（收回短钱），用于熨平波动。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4683557" y="4455871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操作频率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6767474" y="4450385"/>
            <a:ext cx="84582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每日 (Daily)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4683557" y="482437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主要手段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633058" y="4817974"/>
            <a:ext cx="9793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逆回购/正回购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4683557" y="5191963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功能定位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6548933" y="5186477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平滑短期资金面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365846" y="1742846"/>
            <a:ext cx="609905" cy="609905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 l="-685" r="-685"/>
          <a:stretch>
            <a:fillRect/>
          </a:stretch>
        </p:blipFill>
        <p:spPr>
          <a:xfrm>
            <a:off x="8518550" y="1914754"/>
            <a:ext cx="304495" cy="267005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10799978" y="1742846"/>
            <a:ext cx="705002" cy="237744"/>
          </a:xfrm>
          <a:prstGeom prst="roundRect">
            <a:avLst>
              <a:gd name="adj" fmla="val 61538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48" name="Shape 38"/>
          <p:cNvSpPr/>
          <p:nvPr/>
        </p:nvSpPr>
        <p:spPr>
          <a:xfrm>
            <a:off x="8518550" y="4736592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49" name="Shape 39"/>
          <p:cNvSpPr/>
          <p:nvPr/>
        </p:nvSpPr>
        <p:spPr>
          <a:xfrm>
            <a:off x="8518550" y="5104181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50" name="Text 40"/>
          <p:cNvSpPr txBox="1"/>
          <p:nvPr/>
        </p:nvSpPr>
        <p:spPr>
          <a:xfrm>
            <a:off x="10875874" y="1781251"/>
            <a:ext cx="63276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SUPPORT</a:t>
            </a:r>
            <a:endParaRPr lang="en-US" sz="800" dirty="0"/>
          </a:p>
        </p:txBody>
      </p:sp>
      <p:sp>
        <p:nvSpPr>
          <p:cNvPr id="51" name="Text 41"/>
          <p:cNvSpPr txBox="1"/>
          <p:nvPr/>
        </p:nvSpPr>
        <p:spPr>
          <a:xfrm>
            <a:off x="8365846" y="2486254"/>
            <a:ext cx="857707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再贴现</a:t>
            </a:r>
            <a:endParaRPr lang="en-US" sz="1800" dirty="0"/>
          </a:p>
        </p:txBody>
      </p:sp>
      <p:sp>
        <p:nvSpPr>
          <p:cNvPr id="52" name="Text 42"/>
          <p:cNvSpPr txBox="1"/>
          <p:nvPr/>
        </p:nvSpPr>
        <p:spPr>
          <a:xfrm>
            <a:off x="8365846" y="2866644"/>
            <a:ext cx="98663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Re-discount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8365846" y="3200400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银行将企业商业票据转让给央行换取现金。这是央行给银行的“变现”渠道，主要支持实体经济票据融资。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8518550" y="4455871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资金属性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10796321" y="4450385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票据变现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8518550" y="482437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政策导向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10331806" y="4817974"/>
            <a:ext cx="112288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支持实体/中小微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8518550" y="5191963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现代地位</a:t>
            </a:r>
            <a:endParaRPr lang="en-US" sz="1000" dirty="0"/>
          </a:p>
        </p:txBody>
      </p:sp>
      <p:sp>
        <p:nvSpPr>
          <p:cNvPr id="59" name="Text 49"/>
          <p:cNvSpPr txBox="1"/>
          <p:nvPr/>
        </p:nvSpPr>
        <p:spPr>
          <a:xfrm>
            <a:off x="10384841" y="5186477"/>
            <a:ext cx="10652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结构性辅助工具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0" y="0"/>
            <a:ext cx="12191695" cy="1171346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1" name="Shape 51"/>
          <p:cNvSpPr/>
          <p:nvPr/>
        </p:nvSpPr>
        <p:spPr>
          <a:xfrm>
            <a:off x="0" y="1162202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2" name="Text 52"/>
          <p:cNvSpPr txBox="1"/>
          <p:nvPr/>
        </p:nvSpPr>
        <p:spPr>
          <a:xfrm>
            <a:off x="571500" y="247802"/>
            <a:ext cx="47868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货币政策工具箱：传统“三大法宝”</a:t>
            </a:r>
            <a:endParaRPr lang="en-US" sz="2200" dirty="0"/>
          </a:p>
        </p:txBody>
      </p:sp>
      <p:sp>
        <p:nvSpPr>
          <p:cNvPr id="63" name="Text 53"/>
          <p:cNvSpPr txBox="1"/>
          <p:nvPr/>
        </p:nvSpPr>
        <p:spPr>
          <a:xfrm>
            <a:off x="571500" y="694944"/>
            <a:ext cx="4715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调节水位的宏观重武器：解决“钱够不够”的总量问题</a:t>
            </a:r>
            <a:endParaRPr lang="en-US" sz="1500" dirty="0"/>
          </a:p>
        </p:txBody>
      </p:sp>
      <p:sp>
        <p:nvSpPr>
          <p:cNvPr id="64" name="Shape 54"/>
          <p:cNvSpPr/>
          <p:nvPr/>
        </p:nvSpPr>
        <p:spPr>
          <a:xfrm>
            <a:off x="9870034" y="743407"/>
            <a:ext cx="1752905" cy="256946"/>
          </a:xfrm>
          <a:prstGeom prst="roundRect">
            <a:avLst>
              <a:gd name="adj" fmla="val 527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9994392" y="790956"/>
            <a:ext cx="1591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TRADITIONAL TOOLKIT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457200" y="6391656"/>
            <a:ext cx="11277295" cy="705002"/>
          </a:xfrm>
          <a:prstGeom prst="roundRect">
            <a:avLst>
              <a:gd name="adj" fmla="val 14022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-133" r="-133"/>
          <a:stretch>
            <a:fillRect/>
          </a:stretch>
        </p:blipFill>
        <p:spPr>
          <a:xfrm>
            <a:off x="619049" y="6601968"/>
            <a:ext cx="171907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42746" y="6553505"/>
            <a:ext cx="36822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利率调控体系的进化 (Evolution of Interest Rate Corridor)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6772961"/>
            <a:ext cx="106683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2013年以后，央行研发了这套字母缩写工具，核心目的是更精细地管理资金的“期限”和“价格”。SLF构筑利率上限，MLF引导中期利率，PSL提供长期定向支持，共同构建了中国特色的现代化货币政策框架。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476756"/>
            <a:ext cx="3610051" cy="4390949"/>
          </a:xfrm>
          <a:prstGeom prst="roundRect">
            <a:avLst>
              <a:gd name="adj" fmla="val 80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8B5CF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 t="-4355" b="-4355"/>
          <a:stretch>
            <a:fillRect/>
          </a:stretch>
        </p:blipFill>
        <p:spPr>
          <a:xfrm>
            <a:off x="2357323" y="1155802"/>
            <a:ext cx="1981505" cy="191475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92194" y="1476756"/>
            <a:ext cx="3610051" cy="4390949"/>
          </a:xfrm>
          <a:prstGeom prst="roundRect">
            <a:avLst>
              <a:gd name="adj" fmla="val 80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F97316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4355" r="-4355"/>
          <a:stretch>
            <a:fillRect/>
          </a:stretch>
        </p:blipFill>
        <p:spPr>
          <a:xfrm>
            <a:off x="6502298" y="1267358"/>
            <a:ext cx="1676095" cy="176204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128102" y="1476756"/>
            <a:ext cx="3610051" cy="4390949"/>
          </a:xfrm>
          <a:prstGeom prst="roundRect">
            <a:avLst>
              <a:gd name="adj" fmla="val 802"/>
            </a:avLst>
          </a:prstGeom>
          <a:solidFill>
            <a:srgbClr val="1E293B">
              <a:alpha val="40000"/>
            </a:srgbClr>
          </a:solidFill>
          <a:ln w="50800">
            <a:solidFill>
              <a:srgbClr val="06B6D4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t="-8047" b="-8047"/>
          <a:stretch>
            <a:fillRect/>
          </a:stretch>
        </p:blipFill>
        <p:spPr>
          <a:xfrm>
            <a:off x="9868205" y="1099109"/>
            <a:ext cx="2143354" cy="1990649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94944" y="1742846"/>
            <a:ext cx="609905" cy="609905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33018" y="1914754"/>
            <a:ext cx="333756" cy="26700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2746858" y="1742846"/>
            <a:ext cx="1086307" cy="237744"/>
          </a:xfrm>
          <a:prstGeom prst="roundRect">
            <a:avLst>
              <a:gd name="adj" fmla="val 61538"/>
            </a:avLst>
          </a:prstGeom>
          <a:solidFill>
            <a:srgbClr val="8B5CF6">
              <a:alpha val="10000"/>
            </a:srgbClr>
          </a:solidFill>
        </p:spPr>
      </p:sp>
      <p:sp>
        <p:nvSpPr>
          <p:cNvPr id="17" name="Shape 10"/>
          <p:cNvSpPr/>
          <p:nvPr/>
        </p:nvSpPr>
        <p:spPr>
          <a:xfrm>
            <a:off x="847649" y="4736592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8" name="Shape 11"/>
          <p:cNvSpPr/>
          <p:nvPr/>
        </p:nvSpPr>
        <p:spPr>
          <a:xfrm>
            <a:off x="847649" y="5104181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19" name="Text 12"/>
          <p:cNvSpPr txBox="1"/>
          <p:nvPr/>
        </p:nvSpPr>
        <p:spPr>
          <a:xfrm>
            <a:off x="2823667" y="1781251"/>
            <a:ext cx="101407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POLICY ANCHOR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694944" y="2486254"/>
            <a:ext cx="205740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MLF 中期借贷便利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694944" y="2866644"/>
            <a:ext cx="205282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俗称“麻辣粉” (Medium-term)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94944" y="3200400"/>
            <a:ext cx="3033979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核心的中期锚。央行向银行提供中期基础货币的成本，它直接决定了LPR（贷款市场报价利率）的走向。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847649" y="4455871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期限范围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2991002" y="4450385"/>
            <a:ext cx="7891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3个月 - 1年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847649" y="482437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核心功能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693822" y="4863694"/>
            <a:ext cx="133502" cy="1335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865730" y="4817974"/>
            <a:ext cx="9125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引导LPR定价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847649" y="5191963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传导效应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2653589" y="5186477"/>
            <a:ext cx="11320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MLF降 → 房贷降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530852" y="1742846"/>
            <a:ext cx="609905" cy="609905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 l="-685" r="-685"/>
          <a:stretch>
            <a:fillRect/>
          </a:stretch>
        </p:blipFill>
        <p:spPr>
          <a:xfrm>
            <a:off x="4683557" y="1914754"/>
            <a:ext cx="304495" cy="2670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18097" y="1742846"/>
            <a:ext cx="952805" cy="237744"/>
          </a:xfrm>
          <a:prstGeom prst="roundRect">
            <a:avLst>
              <a:gd name="adj" fmla="val 61538"/>
            </a:avLst>
          </a:prstGeom>
          <a:solidFill>
            <a:srgbClr val="F97316">
              <a:alpha val="10000"/>
            </a:srgbClr>
          </a:solidFill>
        </p:spPr>
      </p:sp>
      <p:sp>
        <p:nvSpPr>
          <p:cNvPr id="33" name="Shape 24"/>
          <p:cNvSpPr/>
          <p:nvPr/>
        </p:nvSpPr>
        <p:spPr>
          <a:xfrm>
            <a:off x="4683557" y="4736592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4" name="Shape 25"/>
          <p:cNvSpPr/>
          <p:nvPr/>
        </p:nvSpPr>
        <p:spPr>
          <a:xfrm>
            <a:off x="4683557" y="5104181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35" name="Text 26"/>
          <p:cNvSpPr txBox="1"/>
          <p:nvPr/>
        </p:nvSpPr>
        <p:spPr>
          <a:xfrm>
            <a:off x="6793992" y="1781251"/>
            <a:ext cx="88056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SAFETY VALVE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4530852" y="2486254"/>
            <a:ext cx="2009851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SLF 常备借贷便利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4530852" y="2866644"/>
            <a:ext cx="1976933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俗称“酸辣粉” (Short-term)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4530852" y="3200400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银行的“信用卡”。当银行短期缺钱时，可随时向央行借钱，但利率较高。防止市场利率飙升，锁定利率上限。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4683557" y="4455871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期限范围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6902806" y="4450385"/>
            <a:ext cx="7132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隔夜 / 7天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4683557" y="482437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主要手段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6823253" y="4817974"/>
            <a:ext cx="7891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一对一申请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4683557" y="5191963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构建目标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6686093" y="5186477"/>
            <a:ext cx="9317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利率走廊上限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365846" y="1742846"/>
            <a:ext cx="609905" cy="609905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537753" y="1914754"/>
            <a:ext cx="267005" cy="267005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10547604" y="1742846"/>
            <a:ext cx="952805" cy="237744"/>
          </a:xfrm>
          <a:prstGeom prst="roundRect">
            <a:avLst>
              <a:gd name="adj" fmla="val 61538"/>
            </a:avLst>
          </a:prstGeom>
          <a:solidFill>
            <a:srgbClr val="06B6D4">
              <a:alpha val="10000"/>
            </a:srgbClr>
          </a:solidFill>
        </p:spPr>
      </p:sp>
      <p:sp>
        <p:nvSpPr>
          <p:cNvPr id="48" name="Shape 38"/>
          <p:cNvSpPr/>
          <p:nvPr/>
        </p:nvSpPr>
        <p:spPr>
          <a:xfrm>
            <a:off x="8518550" y="4736592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49" name="Shape 39"/>
          <p:cNvSpPr/>
          <p:nvPr/>
        </p:nvSpPr>
        <p:spPr>
          <a:xfrm>
            <a:off x="8518550" y="5104181"/>
            <a:ext cx="2829154" cy="9144"/>
          </a:xfrm>
          <a:prstGeom prst="rect">
            <a:avLst/>
          </a:prstGeom>
          <a:solidFill>
            <a:srgbClr val="FFFFFF">
              <a:alpha val="5000"/>
            </a:srgbClr>
          </a:solidFill>
        </p:spPr>
      </p:sp>
      <p:sp>
        <p:nvSpPr>
          <p:cNvPr id="50" name="Text 40"/>
          <p:cNvSpPr txBox="1"/>
          <p:nvPr/>
        </p:nvSpPr>
        <p:spPr>
          <a:xfrm>
            <a:off x="10623499" y="1781251"/>
            <a:ext cx="88056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B6D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QUASI-FISCAL</a:t>
            </a:r>
            <a:endParaRPr lang="en-US" sz="800" dirty="0"/>
          </a:p>
        </p:txBody>
      </p:sp>
      <p:sp>
        <p:nvSpPr>
          <p:cNvPr id="51" name="Text 41"/>
          <p:cNvSpPr txBox="1"/>
          <p:nvPr/>
        </p:nvSpPr>
        <p:spPr>
          <a:xfrm>
            <a:off x="8365846" y="2486254"/>
            <a:ext cx="201991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PSL 抵押补充贷款</a:t>
            </a:r>
            <a:endParaRPr lang="en-US" sz="1800" dirty="0"/>
          </a:p>
        </p:txBody>
      </p:sp>
      <p:sp>
        <p:nvSpPr>
          <p:cNvPr id="52" name="Text 42"/>
          <p:cNvSpPr txBox="1"/>
          <p:nvPr/>
        </p:nvSpPr>
        <p:spPr>
          <a:xfrm>
            <a:off x="8365846" y="2866644"/>
            <a:ext cx="175747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俗称“披萨” (Long-term)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8365846" y="3200400"/>
            <a:ext cx="3167482" cy="6291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央行版“定向财政”。期限长、利率低，专门提供给政策性银行，支持棚改、水利或区域发展等国家战略项目。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8518550" y="4455871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期限范围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10799064" y="4450385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1年 - 5年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8518550" y="4824374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投放对象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10659161" y="4817974"/>
            <a:ext cx="7891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政策性银行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8518550" y="5191963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资金属性</a:t>
            </a:r>
            <a:endParaRPr lang="en-US" sz="1000" dirty="0"/>
          </a:p>
        </p:txBody>
      </p:sp>
      <p:sp>
        <p:nvSpPr>
          <p:cNvPr id="59" name="Text 49"/>
          <p:cNvSpPr txBox="1"/>
          <p:nvPr/>
        </p:nvSpPr>
        <p:spPr>
          <a:xfrm>
            <a:off x="10522001" y="5186477"/>
            <a:ext cx="93177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长期廉价子弹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0" y="0"/>
            <a:ext cx="12191695" cy="1171346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1" name="Shape 51"/>
          <p:cNvSpPr/>
          <p:nvPr/>
        </p:nvSpPr>
        <p:spPr>
          <a:xfrm>
            <a:off x="0" y="1162202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2" name="Text 52"/>
          <p:cNvSpPr txBox="1"/>
          <p:nvPr/>
        </p:nvSpPr>
        <p:spPr>
          <a:xfrm>
            <a:off x="571500" y="247802"/>
            <a:ext cx="39291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货币政策工具箱：创新型工具</a:t>
            </a:r>
            <a:endParaRPr lang="en-US" sz="2200" dirty="0"/>
          </a:p>
        </p:txBody>
      </p:sp>
      <p:sp>
        <p:nvSpPr>
          <p:cNvPr id="63" name="Text 53"/>
          <p:cNvSpPr txBox="1"/>
          <p:nvPr/>
        </p:nvSpPr>
        <p:spPr>
          <a:xfrm>
            <a:off x="571500" y="694944"/>
            <a:ext cx="5477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搭建中国特色的“利率走廊”：管理资金的“期限”与“价格”</a:t>
            </a:r>
            <a:endParaRPr lang="en-US" sz="1500" dirty="0"/>
          </a:p>
        </p:txBody>
      </p:sp>
      <p:sp>
        <p:nvSpPr>
          <p:cNvPr id="64" name="Shape 54"/>
          <p:cNvSpPr/>
          <p:nvPr/>
        </p:nvSpPr>
        <p:spPr>
          <a:xfrm>
            <a:off x="10110521" y="743407"/>
            <a:ext cx="1514246" cy="256946"/>
          </a:xfrm>
          <a:prstGeom prst="roundRect">
            <a:avLst>
              <a:gd name="adj" fmla="val 527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10233965" y="790956"/>
            <a:ext cx="1353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INNOVATIVE TOOLS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0" y="1171346"/>
            <a:ext cx="12191695" cy="733349"/>
          </a:xfrm>
          <a:prstGeom prst="rect">
            <a:avLst/>
          </a:prstGeom>
          <a:solidFill>
            <a:srgbClr val="1E293B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0" y="1895551"/>
            <a:ext cx="12191695" cy="9144"/>
          </a:xfrm>
          <a:prstGeom prst="rect">
            <a:avLst/>
          </a:prstGeom>
          <a:solidFill>
            <a:srgbClr val="475569">
              <a:alpha val="50000"/>
            </a:srgbClr>
          </a:solidFill>
        </p:spPr>
      </p:sp>
      <p:sp>
        <p:nvSpPr>
          <p:cNvPr id="6" name="Text 4"/>
          <p:cNvSpPr txBox="1"/>
          <p:nvPr/>
        </p:nvSpPr>
        <p:spPr>
          <a:xfrm>
            <a:off x="571500" y="1362456"/>
            <a:ext cx="715061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>
                    <a:alpha val="70000"/>
                  </a:srgbClr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2008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28954" y="1356055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四万亿刺激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228954" y="1517904"/>
            <a:ext cx="131125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总量宽松导致产能过剩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rcRect t="-1359" b="-1359"/>
          <a:stretch>
            <a:fillRect/>
          </a:stretch>
        </p:blipFill>
        <p:spPr>
          <a:xfrm>
            <a:off x="3840480" y="1471270"/>
            <a:ext cx="105156" cy="1234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38267" y="1362456"/>
            <a:ext cx="68580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>
                    <a:alpha val="70000"/>
                  </a:srgbClr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2013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965546" y="1356055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“钱荒”危机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965546" y="1517904"/>
            <a:ext cx="112014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资金空转/脱实向虚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/>
          <a:srcRect t="-1359" b="-1359"/>
          <a:stretch>
            <a:fillRect/>
          </a:stretch>
        </p:blipFill>
        <p:spPr>
          <a:xfrm>
            <a:off x="8381390" y="1471270"/>
            <a:ext cx="105156" cy="1234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879178" y="1362456"/>
            <a:ext cx="829361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BBF2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2014+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0645445" y="1356055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精准滴灌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0645445" y="1517904"/>
            <a:ext cx="107259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结构性工具箱开启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71500" y="2190902"/>
            <a:ext cx="3771900" cy="4381805"/>
          </a:xfrm>
          <a:prstGeom prst="roundRect">
            <a:avLst>
              <a:gd name="adj" fmla="val 7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8823" y="2104949"/>
            <a:ext cx="1495044" cy="14950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09244" y="2419502"/>
            <a:ext cx="12865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核心变革逻辑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09244" y="2857500"/>
            <a:ext cx="3300984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央行痛定思痛，意识到传统总量宽松失效——资金具有逐利性，若不加引导，会本能流向房地产和过剩产能。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09244" y="3433572"/>
            <a:ext cx="3295498" cy="609905"/>
          </a:xfrm>
          <a:prstGeom prst="roundRect">
            <a:avLst>
              <a:gd name="adj" fmla="val 18741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22" name="Shape 17"/>
          <p:cNvSpPr/>
          <p:nvPr/>
        </p:nvSpPr>
        <p:spPr>
          <a:xfrm>
            <a:off x="809244" y="3433572"/>
            <a:ext cx="38405" cy="609905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1949" y="358353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71346" y="3547872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大水漫灌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3170225" y="3538728"/>
            <a:ext cx="9052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Broad Stimulus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961949" y="3767328"/>
            <a:ext cx="22677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资金空转，推高资产泡沫，实体经济缺血。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09244" y="4186123"/>
            <a:ext cx="3295498" cy="609905"/>
          </a:xfrm>
          <a:prstGeom prst="roundRect">
            <a:avLst>
              <a:gd name="adj" fmla="val 18741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28" name="Shape 22"/>
          <p:cNvSpPr/>
          <p:nvPr/>
        </p:nvSpPr>
        <p:spPr>
          <a:xfrm>
            <a:off x="809244" y="4186123"/>
            <a:ext cx="38405" cy="609905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61949" y="4336085"/>
            <a:ext cx="133502" cy="13350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71346" y="4300423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精准滴灌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3243377" y="4291279"/>
            <a:ext cx="8293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Precision Drip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61949" y="4519879"/>
            <a:ext cx="2610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设立专门额度，确保金融资源直达国家战略领域。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624121" y="2190902"/>
            <a:ext cx="3409798" cy="3429000"/>
          </a:xfrm>
          <a:prstGeom prst="roundRect">
            <a:avLst>
              <a:gd name="adj" fmla="val 89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824374" y="2867558"/>
            <a:ext cx="301020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35" name="Shape 28"/>
          <p:cNvSpPr/>
          <p:nvPr/>
        </p:nvSpPr>
        <p:spPr>
          <a:xfrm>
            <a:off x="4824374" y="239115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924044" y="2490826"/>
            <a:ext cx="181051" cy="181051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319979" y="2409444"/>
            <a:ext cx="6336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定向降准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5319979" y="2590495"/>
            <a:ext cx="10579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Targeted RRR Cuts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4824374" y="3010205"/>
            <a:ext cx="2496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给特定银行“开小灶”，鼓励其服务特定群体：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824374" y="3343046"/>
            <a:ext cx="3010205" cy="362102"/>
          </a:xfrm>
          <a:prstGeom prst="roundRect">
            <a:avLst>
              <a:gd name="adj" fmla="val 39872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6"/>
          <a:srcRect t="-2012" b="-2012"/>
          <a:stretch>
            <a:fillRect/>
          </a:stretch>
        </p:blipFill>
        <p:spPr>
          <a:xfrm>
            <a:off x="4938674" y="3460090"/>
            <a:ext cx="133502" cy="12344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072177" y="3419856"/>
            <a:ext cx="12554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中小微企业 (SMEs)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824374" y="3796589"/>
            <a:ext cx="3010205" cy="362102"/>
          </a:xfrm>
          <a:prstGeom prst="roundRect">
            <a:avLst>
              <a:gd name="adj" fmla="val 39872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7"/>
          <a:srcRect t="-524" b="-524"/>
          <a:stretch>
            <a:fillRect/>
          </a:stretch>
        </p:blipFill>
        <p:spPr>
          <a:xfrm>
            <a:off x="4938674" y="3913632"/>
            <a:ext cx="152705" cy="123444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091379" y="3873398"/>
            <a:ext cx="125547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“三农”/县域经济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4824374" y="4250131"/>
            <a:ext cx="3010205" cy="362102"/>
          </a:xfrm>
          <a:prstGeom prst="roundRect">
            <a:avLst>
              <a:gd name="adj" fmla="val 39872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8"/>
          <a:srcRect t="-524" b="-524"/>
          <a:stretch>
            <a:fillRect/>
          </a:stretch>
        </p:blipFill>
        <p:spPr>
          <a:xfrm>
            <a:off x="4938674" y="4367174"/>
            <a:ext cx="152705" cy="123444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5091379" y="4326026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普惠金融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8217713" y="2190902"/>
            <a:ext cx="3409798" cy="3429000"/>
          </a:xfrm>
          <a:prstGeom prst="roundRect">
            <a:avLst>
              <a:gd name="adj" fmla="val 89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8417966" y="2867558"/>
            <a:ext cx="301020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1" name="Shape 40"/>
          <p:cNvSpPr/>
          <p:nvPr/>
        </p:nvSpPr>
        <p:spPr>
          <a:xfrm>
            <a:off x="8417966" y="239115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8B5CF6">
              <a:alpha val="20000"/>
            </a:srgbClr>
          </a:solidFill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9"/>
          <a:srcRect l="-1403" r="-1403"/>
          <a:stretch>
            <a:fillRect/>
          </a:stretch>
        </p:blipFill>
        <p:spPr>
          <a:xfrm>
            <a:off x="8503006" y="2490826"/>
            <a:ext cx="209398" cy="181051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8912657" y="2409444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结构性再贷款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8912657" y="2590495"/>
            <a:ext cx="10863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Special Re-lending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8417966" y="3010205"/>
            <a:ext cx="2496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专款专用，只有贷给特定领域才能拿低息资金：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8417966" y="3343046"/>
            <a:ext cx="3010205" cy="362102"/>
          </a:xfrm>
          <a:prstGeom prst="roundRect">
            <a:avLst>
              <a:gd name="adj" fmla="val 39872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532266" y="3460090"/>
            <a:ext cx="123444" cy="123444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8655710" y="3419856"/>
            <a:ext cx="1798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科技创新 (Tech Innovation)</a:t>
            </a:r>
            <a:endParaRPr lang="en-US" sz="1000" dirty="0"/>
          </a:p>
        </p:txBody>
      </p:sp>
      <p:sp>
        <p:nvSpPr>
          <p:cNvPr id="59" name="Shape 46"/>
          <p:cNvSpPr/>
          <p:nvPr/>
        </p:nvSpPr>
        <p:spPr>
          <a:xfrm>
            <a:off x="8417966" y="3796589"/>
            <a:ext cx="3010205" cy="362102"/>
          </a:xfrm>
          <a:prstGeom prst="roundRect">
            <a:avLst>
              <a:gd name="adj" fmla="val 39872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8532266" y="3913632"/>
            <a:ext cx="123444" cy="123444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8655710" y="3873398"/>
            <a:ext cx="15508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碳减排 (Green Finance)</a:t>
            </a:r>
            <a:endParaRPr lang="en-US" sz="1000" dirty="0"/>
          </a:p>
        </p:txBody>
      </p:sp>
      <p:sp>
        <p:nvSpPr>
          <p:cNvPr id="62" name="Shape 48"/>
          <p:cNvSpPr/>
          <p:nvPr/>
        </p:nvSpPr>
        <p:spPr>
          <a:xfrm>
            <a:off x="8417966" y="4250131"/>
            <a:ext cx="3010205" cy="362102"/>
          </a:xfrm>
          <a:prstGeom prst="roundRect">
            <a:avLst>
              <a:gd name="adj" fmla="val 39872"/>
            </a:avLst>
          </a:prstGeom>
          <a:solidFill>
            <a:srgbClr val="0F172A">
              <a:alpha val="40000"/>
            </a:srgbClr>
          </a:solidFill>
        </p:spPr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532266" y="4367174"/>
            <a:ext cx="123444" cy="123444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8655710" y="4326026"/>
            <a:ext cx="1522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养老与服务消费 (New!)</a:t>
            </a:r>
            <a:endParaRPr lang="en-US" sz="1000" dirty="0"/>
          </a:p>
        </p:txBody>
      </p:sp>
      <p:sp>
        <p:nvSpPr>
          <p:cNvPr id="65" name="Shape 50"/>
          <p:cNvSpPr/>
          <p:nvPr/>
        </p:nvSpPr>
        <p:spPr>
          <a:xfrm>
            <a:off x="4624121" y="5810098"/>
            <a:ext cx="7000646" cy="761695"/>
          </a:xfrm>
          <a:prstGeom prst="roundRect">
            <a:avLst>
              <a:gd name="adj" fmla="val 18007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 r:embed="rId13"/>
          <a:srcRect t="-43" b="-43"/>
          <a:stretch>
            <a:fillRect/>
          </a:stretch>
        </p:blipFill>
        <p:spPr>
          <a:xfrm>
            <a:off x="4996282" y="6115507"/>
            <a:ext cx="133502" cy="152705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5367528" y="6019495"/>
            <a:ext cx="10341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政策成效与展望</a:t>
            </a:r>
            <a:endParaRPr lang="en-US" sz="1000" dirty="0"/>
          </a:p>
        </p:txBody>
      </p:sp>
      <p:sp>
        <p:nvSpPr>
          <p:cNvPr id="68" name="Text 52"/>
          <p:cNvSpPr txBox="1"/>
          <p:nvPr/>
        </p:nvSpPr>
        <p:spPr>
          <a:xfrm>
            <a:off x="5367528" y="6200546"/>
            <a:ext cx="31245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2026年工具箱将更加丰富，形成“类QE”的定向注资效果。</a:t>
            </a:r>
            <a:endParaRPr lang="en-US" sz="900" dirty="0"/>
          </a:p>
        </p:txBody>
      </p:sp>
      <p:sp>
        <p:nvSpPr>
          <p:cNvPr id="69" name="Text 53"/>
          <p:cNvSpPr txBox="1"/>
          <p:nvPr/>
        </p:nvSpPr>
        <p:spPr>
          <a:xfrm>
            <a:off x="10469880" y="5943600"/>
            <a:ext cx="1077163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5000亿+</a:t>
            </a:r>
            <a:endParaRPr lang="en-US" sz="1800" dirty="0"/>
          </a:p>
        </p:txBody>
      </p:sp>
      <p:sp>
        <p:nvSpPr>
          <p:cNvPr id="70" name="Text 54"/>
          <p:cNvSpPr txBox="1"/>
          <p:nvPr/>
        </p:nvSpPr>
        <p:spPr>
          <a:xfrm>
            <a:off x="10115093" y="6258154"/>
            <a:ext cx="1353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近期消费养老再贷款额度</a:t>
            </a:r>
            <a:endParaRPr lang="en-US" sz="900" dirty="0"/>
          </a:p>
        </p:txBody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4">
            <a:alphaModFix amt="10000"/>
          </a:blip>
          <a:srcRect l="-16667" r="-16667"/>
          <a:stretch>
            <a:fillRect/>
          </a:stretch>
        </p:blipFill>
        <p:spPr>
          <a:xfrm>
            <a:off x="11048695" y="5715000"/>
            <a:ext cx="952805" cy="952805"/>
          </a:xfrm>
          <a:prstGeom prst="rect">
            <a:avLst/>
          </a:prstGeom>
        </p:spPr>
      </p:pic>
      <p:sp>
        <p:nvSpPr>
          <p:cNvPr id="72" name="Shape 55"/>
          <p:cNvSpPr/>
          <p:nvPr/>
        </p:nvSpPr>
        <p:spPr>
          <a:xfrm>
            <a:off x="0" y="0"/>
            <a:ext cx="12191695" cy="1171346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3" name="Shape 56"/>
          <p:cNvSpPr/>
          <p:nvPr/>
        </p:nvSpPr>
        <p:spPr>
          <a:xfrm>
            <a:off x="0" y="1162202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74" name="Text 57"/>
          <p:cNvSpPr txBox="1"/>
          <p:nvPr/>
        </p:nvSpPr>
        <p:spPr>
          <a:xfrm>
            <a:off x="571500" y="247802"/>
            <a:ext cx="30723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结构性工具与精准滴灌</a:t>
            </a:r>
            <a:endParaRPr lang="en-US" sz="2200" dirty="0"/>
          </a:p>
        </p:txBody>
      </p:sp>
      <p:sp>
        <p:nvSpPr>
          <p:cNvPr id="75" name="Text 58"/>
          <p:cNvSpPr txBox="1"/>
          <p:nvPr/>
        </p:nvSpPr>
        <p:spPr>
          <a:xfrm>
            <a:off x="571500" y="694944"/>
            <a:ext cx="4144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告别“大水漫灌”：解决“钱给谁”的流向问题</a:t>
            </a:r>
            <a:endParaRPr lang="en-US" sz="1500" dirty="0"/>
          </a:p>
        </p:txBody>
      </p:sp>
      <p:sp>
        <p:nvSpPr>
          <p:cNvPr id="76" name="Shape 59"/>
          <p:cNvSpPr/>
          <p:nvPr/>
        </p:nvSpPr>
        <p:spPr>
          <a:xfrm>
            <a:off x="9246413" y="743407"/>
            <a:ext cx="2381098" cy="256946"/>
          </a:xfrm>
          <a:prstGeom prst="roundRect">
            <a:avLst>
              <a:gd name="adj" fmla="val 527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60"/>
          <p:cNvSpPr txBox="1"/>
          <p:nvPr/>
        </p:nvSpPr>
        <p:spPr>
          <a:xfrm>
            <a:off x="9369857" y="790956"/>
            <a:ext cx="22201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STRUCTURAL MONETARY POLICY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1" b="-41"/>
          <a:stretch>
            <a:fillRect/>
          </a:stretch>
        </p:blipFill>
        <p:spPr>
          <a:xfrm>
            <a:off x="571500" y="2029054"/>
            <a:ext cx="11048695" cy="381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5405933"/>
            <a:ext cx="11048695" cy="1076249"/>
          </a:xfrm>
          <a:prstGeom prst="roundRect">
            <a:avLst>
              <a:gd name="adj" fmla="val 902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5625389"/>
            <a:ext cx="15270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0354" y="5606186"/>
            <a:ext cx="11484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西方传统 QE 路径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71754" y="5873191"/>
            <a:ext cx="4943246" cy="390449"/>
          </a:xfrm>
          <a:prstGeom prst="roundRect">
            <a:avLst>
              <a:gd name="adj" fmla="val 45696"/>
            </a:avLst>
          </a:prstGeom>
          <a:solidFill>
            <a:srgbClr val="1E293B"/>
          </a:solidFill>
        </p:spPr>
      </p:sp>
      <p:sp>
        <p:nvSpPr>
          <p:cNvPr id="9" name="Text 5"/>
          <p:cNvSpPr txBox="1"/>
          <p:nvPr/>
        </p:nvSpPr>
        <p:spPr>
          <a:xfrm>
            <a:off x="914400" y="5968289"/>
            <a:ext cx="8787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央行扩表购债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rcRect l="-1677" r="-1677"/>
          <a:stretch>
            <a:fillRect/>
          </a:stretch>
        </p:blipFill>
        <p:spPr>
          <a:xfrm>
            <a:off x="1786738" y="6013094"/>
            <a:ext cx="95098" cy="1051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977847" y="5968289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压低利率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rcRect l="-1677" r="-1677"/>
          <a:stretch>
            <a:fillRect/>
          </a:stretch>
        </p:blipFill>
        <p:spPr>
          <a:xfrm>
            <a:off x="2591410" y="6013094"/>
            <a:ext cx="95098" cy="1051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782519" y="5968289"/>
            <a:ext cx="15645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资产价格上涨 (股市/楼市)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rcRect l="-1677" r="-1677"/>
          <a:stretch>
            <a:fillRect/>
          </a:stretch>
        </p:blipFill>
        <p:spPr>
          <a:xfrm>
            <a:off x="4340657" y="6013094"/>
            <a:ext cx="95098" cy="1051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530852" y="5968289"/>
            <a:ext cx="113568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财富效应刺激消费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rcRect t="-43" b="-43"/>
          <a:stretch>
            <a:fillRect/>
          </a:stretch>
        </p:blipFill>
        <p:spPr>
          <a:xfrm>
            <a:off x="6482182" y="5625389"/>
            <a:ext cx="133502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691579" y="5606186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中国特色路径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6482182" y="5873191"/>
            <a:ext cx="4943246" cy="409651"/>
          </a:xfrm>
          <a:prstGeom prst="roundRect">
            <a:avLst>
              <a:gd name="adj" fmla="val 41528"/>
            </a:avLst>
          </a:prstGeom>
          <a:solidFill>
            <a:srgbClr val="FBBF24">
              <a:alpha val="5000"/>
            </a:srgbClr>
          </a:solidFill>
          <a:ln w="12700">
            <a:solidFill>
              <a:srgbClr val="FBBF24">
                <a:alpha val="3000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6633972" y="5977433"/>
            <a:ext cx="80284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降准/再贷款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l="-1677" r="-1677"/>
          <a:stretch>
            <a:fillRect/>
          </a:stretch>
        </p:blipFill>
        <p:spPr>
          <a:xfrm>
            <a:off x="7543800" y="6022238"/>
            <a:ext cx="95098" cy="105156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850124" y="5977433"/>
            <a:ext cx="87873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信贷渠道疏通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3"/>
          <a:srcRect l="-1677" r="-1677"/>
          <a:stretch>
            <a:fillRect/>
          </a:stretch>
        </p:blipFill>
        <p:spPr>
          <a:xfrm>
            <a:off x="8838590" y="6022238"/>
            <a:ext cx="95098" cy="105156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144914" y="5977433"/>
            <a:ext cx="11932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实体经济/特定产业</a:t>
            </a:r>
            <a:endParaRPr lang="en-US" sz="10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3"/>
          <a:srcRect l="-1677" r="-1677"/>
          <a:stretch>
            <a:fillRect/>
          </a:stretch>
        </p:blipFill>
        <p:spPr>
          <a:xfrm>
            <a:off x="10443362" y="6022238"/>
            <a:ext cx="95098" cy="105156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0749686" y="5977433"/>
            <a:ext cx="62179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需求复苏</a:t>
            </a:r>
            <a:endParaRPr lang="en-US" sz="10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-16" b="-16"/>
          <a:stretch>
            <a:fillRect/>
          </a:stretch>
        </p:blipFill>
        <p:spPr>
          <a:xfrm>
            <a:off x="11096244" y="6096305"/>
            <a:ext cx="714146" cy="57150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571500" y="2467051"/>
            <a:ext cx="3534156" cy="2533802"/>
          </a:xfrm>
          <a:prstGeom prst="roundRect">
            <a:avLst>
              <a:gd name="adj" fmla="val 1628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EF4444"/>
            </a:solidFill>
            <a:prstDash val="solid"/>
          </a:ln>
        </p:spPr>
      </p:sp>
      <p:sp>
        <p:nvSpPr>
          <p:cNvPr id="28" name="Shape 16"/>
          <p:cNvSpPr/>
          <p:nvPr/>
        </p:nvSpPr>
        <p:spPr>
          <a:xfrm>
            <a:off x="3064154" y="2657246"/>
            <a:ext cx="875995" cy="256946"/>
          </a:xfrm>
          <a:prstGeom prst="roundRect">
            <a:avLst>
              <a:gd name="adj" fmla="val 5272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3149194" y="2704795"/>
            <a:ext cx="78547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隐形缩表式 QE</a:t>
            </a:r>
            <a:endParaRPr lang="en-US" sz="800" dirty="0"/>
          </a:p>
        </p:txBody>
      </p:sp>
      <p:sp>
        <p:nvSpPr>
          <p:cNvPr id="30" name="Shape 18"/>
          <p:cNvSpPr/>
          <p:nvPr/>
        </p:nvSpPr>
        <p:spPr>
          <a:xfrm>
            <a:off x="771754" y="26956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444">
              <a:alpha val="10000"/>
            </a:srgbClr>
          </a:solidFill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rcRect t="-45" b="-45"/>
          <a:stretch>
            <a:fillRect/>
          </a:stretch>
        </p:blipFill>
        <p:spPr>
          <a:xfrm>
            <a:off x="871423" y="2809951"/>
            <a:ext cx="256946" cy="2286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771754" y="3314700"/>
            <a:ext cx="1405433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降准 (RRR Cuts)</a:t>
            </a:r>
            <a:endParaRPr lang="en-US" sz="1300" dirty="0"/>
          </a:p>
        </p:txBody>
      </p:sp>
      <p:sp>
        <p:nvSpPr>
          <p:cNvPr id="33" name="Text 20"/>
          <p:cNvSpPr txBox="1"/>
          <p:nvPr/>
        </p:nvSpPr>
        <p:spPr>
          <a:xfrm>
            <a:off x="771754" y="3638398"/>
            <a:ext cx="31821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不通过购买资产扩表，而是通过降低法定准备金率，直接“解锁”银行被冻结的资金。</a:t>
            </a:r>
            <a:endParaRPr lang="en-US" sz="900" dirty="0"/>
          </a:p>
        </p:txBody>
      </p:sp>
      <p:sp>
        <p:nvSpPr>
          <p:cNvPr id="34" name="Shape 21"/>
          <p:cNvSpPr/>
          <p:nvPr/>
        </p:nvSpPr>
        <p:spPr>
          <a:xfrm>
            <a:off x="771754" y="4181551"/>
            <a:ext cx="3133649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35" name="Text 22"/>
          <p:cNvSpPr txBox="1"/>
          <p:nvPr/>
        </p:nvSpPr>
        <p:spPr>
          <a:xfrm>
            <a:off x="771754" y="4295851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核心优势：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771754" y="4486046"/>
            <a:ext cx="3162910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释放长期、零成本资金。比MLF更便宜，且避免央行资产负债表被动膨胀。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4330598" y="2467051"/>
            <a:ext cx="3534156" cy="2533802"/>
          </a:xfrm>
          <a:prstGeom prst="roundRect">
            <a:avLst>
              <a:gd name="adj" fmla="val 1628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3B82F6"/>
            </a:solidFill>
            <a:prstDash val="solid"/>
          </a:ln>
        </p:spPr>
      </p:sp>
      <p:sp>
        <p:nvSpPr>
          <p:cNvPr id="38" name="Shape 25"/>
          <p:cNvSpPr/>
          <p:nvPr/>
        </p:nvSpPr>
        <p:spPr>
          <a:xfrm>
            <a:off x="7143293" y="2657246"/>
            <a:ext cx="562356" cy="256946"/>
          </a:xfrm>
          <a:prstGeom prst="roundRect">
            <a:avLst>
              <a:gd name="adj" fmla="val 5272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9" name="Text 26"/>
          <p:cNvSpPr txBox="1"/>
          <p:nvPr/>
        </p:nvSpPr>
        <p:spPr>
          <a:xfrm>
            <a:off x="7228332" y="2704795"/>
            <a:ext cx="47091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定向 QE</a:t>
            </a:r>
            <a:endParaRPr lang="en-US" sz="800" dirty="0"/>
          </a:p>
        </p:txBody>
      </p:sp>
      <p:sp>
        <p:nvSpPr>
          <p:cNvPr id="40" name="Shape 27"/>
          <p:cNvSpPr/>
          <p:nvPr/>
        </p:nvSpPr>
        <p:spPr>
          <a:xfrm>
            <a:off x="4530852" y="26956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10000"/>
            </a:srgbClr>
          </a:solidFill>
        </p:spPr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645152" y="2809951"/>
            <a:ext cx="228600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4530852" y="3314700"/>
            <a:ext cx="11576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结构性再贷款</a:t>
            </a:r>
            <a:endParaRPr lang="en-US" sz="1300" dirty="0"/>
          </a:p>
        </p:txBody>
      </p:sp>
      <p:sp>
        <p:nvSpPr>
          <p:cNvPr id="43" name="Text 29"/>
          <p:cNvSpPr txBox="1"/>
          <p:nvPr/>
        </p:nvSpPr>
        <p:spPr>
          <a:xfrm>
            <a:off x="4530852" y="3638398"/>
            <a:ext cx="31821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央行为了特定领域“印钱”。只有贷给科技、养老等领域，银行才能获得这笔基础货币。</a:t>
            </a:r>
            <a:endParaRPr lang="en-US" sz="900" dirty="0"/>
          </a:p>
        </p:txBody>
      </p:sp>
      <p:sp>
        <p:nvSpPr>
          <p:cNvPr id="44" name="Shape 30"/>
          <p:cNvSpPr/>
          <p:nvPr/>
        </p:nvSpPr>
        <p:spPr>
          <a:xfrm>
            <a:off x="4530852" y="4181551"/>
            <a:ext cx="3133649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45" name="Text 31"/>
          <p:cNvSpPr txBox="1"/>
          <p:nvPr/>
        </p:nvSpPr>
        <p:spPr>
          <a:xfrm>
            <a:off x="4530852" y="4295851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核心优势：</a:t>
            </a:r>
            <a:endParaRPr lang="en-US" sz="900" dirty="0"/>
          </a:p>
        </p:txBody>
      </p:sp>
      <p:sp>
        <p:nvSpPr>
          <p:cNvPr id="46" name="Text 32"/>
          <p:cNvSpPr txBox="1"/>
          <p:nvPr/>
        </p:nvSpPr>
        <p:spPr>
          <a:xfrm>
            <a:off x="4530852" y="4486046"/>
            <a:ext cx="31821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精准滴灌，规避“脱实向虚”。本质是基础货币投放，但用途受限。</a:t>
            </a:r>
            <a:endParaRPr lang="en-US" sz="900" dirty="0"/>
          </a:p>
        </p:txBody>
      </p:sp>
      <p:sp>
        <p:nvSpPr>
          <p:cNvPr id="47" name="Shape 33"/>
          <p:cNvSpPr/>
          <p:nvPr/>
        </p:nvSpPr>
        <p:spPr>
          <a:xfrm>
            <a:off x="8089697" y="2467051"/>
            <a:ext cx="3534156" cy="2533802"/>
          </a:xfrm>
          <a:prstGeom prst="roundRect">
            <a:avLst>
              <a:gd name="adj" fmla="val 1628"/>
            </a:avLst>
          </a:prstGeom>
          <a:solidFill>
            <a:srgbClr val="1E293B">
              <a:alpha val="50000"/>
            </a:srgbClr>
          </a:solidFill>
          <a:ln w="50800">
            <a:solidFill>
              <a:srgbClr val="10B981"/>
            </a:solidFill>
            <a:prstDash val="solid"/>
          </a:ln>
        </p:spPr>
      </p:sp>
      <p:sp>
        <p:nvSpPr>
          <p:cNvPr id="48" name="Shape 34"/>
          <p:cNvSpPr/>
          <p:nvPr/>
        </p:nvSpPr>
        <p:spPr>
          <a:xfrm>
            <a:off x="10647274" y="2657246"/>
            <a:ext cx="819302" cy="256946"/>
          </a:xfrm>
          <a:prstGeom prst="roundRect">
            <a:avLst>
              <a:gd name="adj" fmla="val 52722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9" name="Text 35"/>
          <p:cNvSpPr txBox="1"/>
          <p:nvPr/>
        </p:nvSpPr>
        <p:spPr>
          <a:xfrm>
            <a:off x="10733227" y="2704795"/>
            <a:ext cx="72786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储备/后手 QE</a:t>
            </a:r>
            <a:endParaRPr lang="en-US" sz="800" dirty="0"/>
          </a:p>
        </p:txBody>
      </p:sp>
      <p:sp>
        <p:nvSpPr>
          <p:cNvPr id="50" name="Shape 36"/>
          <p:cNvSpPr/>
          <p:nvPr/>
        </p:nvSpPr>
        <p:spPr>
          <a:xfrm>
            <a:off x="8289950" y="26956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>
              <a:alpha val="10000"/>
            </a:srgbClr>
          </a:solidFill>
        </p:spPr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8"/>
          <a:srcRect t="-45" b="-45"/>
          <a:stretch>
            <a:fillRect/>
          </a:stretch>
        </p:blipFill>
        <p:spPr>
          <a:xfrm>
            <a:off x="8389620" y="2809951"/>
            <a:ext cx="256946" cy="22860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289950" y="3314700"/>
            <a:ext cx="81473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国债买卖</a:t>
            </a:r>
            <a:endParaRPr lang="en-US" sz="1300" dirty="0"/>
          </a:p>
        </p:txBody>
      </p:sp>
      <p:sp>
        <p:nvSpPr>
          <p:cNvPr id="53" name="Text 38"/>
          <p:cNvSpPr txBox="1"/>
          <p:nvPr/>
        </p:nvSpPr>
        <p:spPr>
          <a:xfrm>
            <a:off x="8289950" y="3638398"/>
            <a:ext cx="31821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当降准空间逼近极限时，央行直接下场在二级市场买卖国债。物理属性上即为标准QE。</a:t>
            </a:r>
            <a:endParaRPr lang="en-US" sz="900" dirty="0"/>
          </a:p>
        </p:txBody>
      </p:sp>
      <p:sp>
        <p:nvSpPr>
          <p:cNvPr id="54" name="Shape 39"/>
          <p:cNvSpPr/>
          <p:nvPr/>
        </p:nvSpPr>
        <p:spPr>
          <a:xfrm>
            <a:off x="8289950" y="4181551"/>
            <a:ext cx="3133649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55" name="Text 40"/>
          <p:cNvSpPr txBox="1"/>
          <p:nvPr/>
        </p:nvSpPr>
        <p:spPr>
          <a:xfrm>
            <a:off x="8289950" y="4295851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核心优势：</a:t>
            </a:r>
            <a:endParaRPr lang="en-US" sz="900" dirty="0"/>
          </a:p>
        </p:txBody>
      </p:sp>
      <p:sp>
        <p:nvSpPr>
          <p:cNvPr id="56" name="Text 41"/>
          <p:cNvSpPr txBox="1"/>
          <p:nvPr/>
        </p:nvSpPr>
        <p:spPr>
          <a:xfrm>
            <a:off x="8289950" y="4486046"/>
            <a:ext cx="3182112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双向操作，既可作为流动性管理工具，也为极端情况下的扩表预留了接口。</a:t>
            </a:r>
            <a:endParaRPr lang="en-US" sz="900" dirty="0"/>
          </a:p>
        </p:txBody>
      </p:sp>
      <p:sp>
        <p:nvSpPr>
          <p:cNvPr id="57" name="Shape 42"/>
          <p:cNvSpPr/>
          <p:nvPr/>
        </p:nvSpPr>
        <p:spPr>
          <a:xfrm>
            <a:off x="4375404" y="1266444"/>
            <a:ext cx="3448202" cy="819302"/>
          </a:xfrm>
          <a:prstGeom prst="roundRect">
            <a:avLst>
              <a:gd name="adj" fmla="val 64888"/>
            </a:avLst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  <a:effectLst>
            <a:outerShdw blurRad="190500" dist="12700" dir="16200000" algn="bl" rotWithShape="0">
              <a:srgbClr val="FBBF24">
                <a:alpha val="20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6077102" y="2048256"/>
            <a:ext cx="19202" cy="38130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59" name="Text 44"/>
          <p:cNvSpPr txBox="1"/>
          <p:nvPr/>
        </p:nvSpPr>
        <p:spPr>
          <a:xfrm>
            <a:off x="5333695" y="1419149"/>
            <a:ext cx="16669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中国式流动性扩张</a:t>
            </a:r>
            <a:endParaRPr lang="en-US" sz="1500" dirty="0"/>
          </a:p>
        </p:txBody>
      </p:sp>
      <p:sp>
        <p:nvSpPr>
          <p:cNvPr id="60" name="Text 45"/>
          <p:cNvSpPr txBox="1"/>
          <p:nvPr/>
        </p:nvSpPr>
        <p:spPr>
          <a:xfrm>
            <a:off x="4775911" y="1752905"/>
            <a:ext cx="2748686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Chinese Style Liquidity Expansion</a:t>
            </a:r>
            <a:endParaRPr lang="en-US" sz="1000" dirty="0"/>
          </a:p>
        </p:txBody>
      </p:sp>
      <p:sp>
        <p:nvSpPr>
          <p:cNvPr id="61" name="Shape 46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2" name="Shape 47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3" name="Text 48"/>
          <p:cNvSpPr txBox="1"/>
          <p:nvPr/>
        </p:nvSpPr>
        <p:spPr>
          <a:xfrm>
            <a:off x="571500" y="247802"/>
            <a:ext cx="49011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QE的功能等效性：三条中国特色路径</a:t>
            </a:r>
            <a:endParaRPr lang="en-US" sz="2200" dirty="0"/>
          </a:p>
        </p:txBody>
      </p:sp>
      <p:sp>
        <p:nvSpPr>
          <p:cNvPr id="64" name="Text 49"/>
          <p:cNvSpPr txBox="1"/>
          <p:nvPr/>
        </p:nvSpPr>
        <p:spPr>
          <a:xfrm>
            <a:off x="571500" y="694944"/>
            <a:ext cx="5287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殊途同归：如何在不搞“大水漫灌”的前提下实现流动性扩张</a:t>
            </a:r>
            <a:endParaRPr lang="en-US" sz="1500" dirty="0"/>
          </a:p>
        </p:txBody>
      </p:sp>
      <p:sp>
        <p:nvSpPr>
          <p:cNvPr id="65" name="Shape 50"/>
          <p:cNvSpPr/>
          <p:nvPr/>
        </p:nvSpPr>
        <p:spPr>
          <a:xfrm>
            <a:off x="9572854" y="743407"/>
            <a:ext cx="2048256" cy="256946"/>
          </a:xfrm>
          <a:prstGeom prst="roundRect">
            <a:avLst>
              <a:gd name="adj" fmla="val 527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9696298" y="790956"/>
            <a:ext cx="18864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FUNCTIONAL EQUIVALENCE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952805" y="3557930"/>
            <a:ext cx="10287000" cy="38405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5" name="Shape 3"/>
          <p:cNvSpPr/>
          <p:nvPr/>
        </p:nvSpPr>
        <p:spPr>
          <a:xfrm>
            <a:off x="952805" y="3557930"/>
            <a:ext cx="8534095" cy="38405"/>
          </a:xfrm>
          <a:prstGeom prst="rect">
            <a:avLst/>
          </a:prstGeom>
          <a:solidFill>
            <a:srgbClr val="3B82F6"/>
          </a:solidFill>
          <a:effectLst>
            <a:outerShdw blurRad="101600" dist="12700" dir="16200000" algn="bl" rotWithShape="0">
              <a:srgbClr val="3B82F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766621"/>
            <a:ext cx="2476195" cy="3619195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 w="5080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" y="3090672"/>
            <a:ext cx="57607" cy="57607"/>
          </a:xfrm>
          <a:prstGeom prst="ellipse">
            <a:avLst/>
          </a:prstGeom>
          <a:solidFill>
            <a:srgbClr val="FBBF24"/>
          </a:solidFill>
        </p:spPr>
      </p:sp>
      <p:sp>
        <p:nvSpPr>
          <p:cNvPr id="8" name="Shape 6"/>
          <p:cNvSpPr/>
          <p:nvPr/>
        </p:nvSpPr>
        <p:spPr>
          <a:xfrm>
            <a:off x="809244" y="3749040"/>
            <a:ext cx="57607" cy="57607"/>
          </a:xfrm>
          <a:prstGeom prst="ellipse">
            <a:avLst/>
          </a:prstGeom>
          <a:solidFill>
            <a:srgbClr val="FBBF24"/>
          </a:solidFill>
        </p:spPr>
      </p:sp>
      <p:sp>
        <p:nvSpPr>
          <p:cNvPr id="9" name="Shape 7"/>
          <p:cNvSpPr/>
          <p:nvPr/>
        </p:nvSpPr>
        <p:spPr>
          <a:xfrm>
            <a:off x="809244" y="4226357"/>
            <a:ext cx="57607" cy="57607"/>
          </a:xfrm>
          <a:prstGeom prst="ellipse">
            <a:avLst/>
          </a:prstGeom>
          <a:solidFill>
            <a:srgbClr val="FBBF24"/>
          </a:solidFill>
        </p:spPr>
      </p:sp>
      <p:sp>
        <p:nvSpPr>
          <p:cNvPr id="10" name="Shape 8"/>
          <p:cNvSpPr/>
          <p:nvPr/>
        </p:nvSpPr>
        <p:spPr>
          <a:xfrm>
            <a:off x="809244" y="4950562"/>
            <a:ext cx="733349" cy="200254"/>
          </a:xfrm>
          <a:prstGeom prst="roundRect">
            <a:avLst>
              <a:gd name="adj" fmla="val 86975"/>
            </a:avLst>
          </a:prstGeom>
          <a:solidFill>
            <a:srgbClr val="FBBF24">
              <a:alpha val="10000"/>
            </a:srgbClr>
          </a:solidFill>
        </p:spPr>
      </p:sp>
      <p:sp>
        <p:nvSpPr>
          <p:cNvPr id="11" name="Text 9"/>
          <p:cNvSpPr txBox="1"/>
          <p:nvPr/>
        </p:nvSpPr>
        <p:spPr>
          <a:xfrm>
            <a:off x="809244" y="2414930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政策取向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" y="2738628"/>
            <a:ext cx="1257300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Orientation Shift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61949" y="3023921"/>
            <a:ext cx="1916582" cy="562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基调转变：从“稳健”明确转向“适度宽松”，确认抗通缩决心。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1949" y="3683203"/>
            <a:ext cx="1945843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调节力度：加大逆周期(Cyclical)与跨周期调节力度。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1949" y="4159606"/>
            <a:ext cx="19165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集成效应：强调存量政策与增量政策的叠加效果。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86054" y="4968850"/>
            <a:ext cx="66111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STRATEGIC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411273" y="1910182"/>
            <a:ext cx="829361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01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524305" y="1518818"/>
            <a:ext cx="571500" cy="571500"/>
          </a:xfrm>
          <a:prstGeom prst="ellipse">
            <a:avLst/>
          </a:prstGeom>
          <a:solidFill>
            <a:srgbClr val="0F172A"/>
          </a:solidFill>
          <a:ln w="50800">
            <a:solidFill>
              <a:srgbClr val="FBBF24"/>
            </a:solidFill>
            <a:prstDash val="solid"/>
          </a:ln>
          <a:effectLst>
            <a:outerShdw blurRad="139700" dist="12700" dir="16200000" algn="bl" rotWithShape="0">
              <a:srgbClr val="FBBF24">
                <a:alpha val="30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95298" y="1690726"/>
            <a:ext cx="228600" cy="228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3429000" y="1766621"/>
            <a:ext cx="2476195" cy="3619195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 w="50800">
            <a:solidFill>
              <a:srgbClr val="3B8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66744" y="3090672"/>
            <a:ext cx="57607" cy="57607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2" name="Shape 19"/>
          <p:cNvSpPr/>
          <p:nvPr/>
        </p:nvSpPr>
        <p:spPr>
          <a:xfrm>
            <a:off x="3666744" y="3749040"/>
            <a:ext cx="57607" cy="57607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3" name="Shape 20"/>
          <p:cNvSpPr/>
          <p:nvPr/>
        </p:nvSpPr>
        <p:spPr>
          <a:xfrm>
            <a:off x="3666744" y="4408322"/>
            <a:ext cx="57607" cy="57607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4" name="Shape 21"/>
          <p:cNvSpPr/>
          <p:nvPr/>
        </p:nvSpPr>
        <p:spPr>
          <a:xfrm>
            <a:off x="3666744" y="4950562"/>
            <a:ext cx="761695" cy="200254"/>
          </a:xfrm>
          <a:prstGeom prst="roundRect">
            <a:avLst>
              <a:gd name="adj" fmla="val 86975"/>
            </a:avLst>
          </a:prstGeom>
          <a:solidFill>
            <a:srgbClr val="3B82F6">
              <a:alpha val="10000"/>
            </a:srgbClr>
          </a:solidFill>
        </p:spPr>
      </p:sp>
      <p:sp>
        <p:nvSpPr>
          <p:cNvPr id="25" name="Text 22"/>
          <p:cNvSpPr txBox="1"/>
          <p:nvPr/>
        </p:nvSpPr>
        <p:spPr>
          <a:xfrm>
            <a:off x="3666744" y="2414930"/>
            <a:ext cx="109545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组合拳工具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666744" y="2738628"/>
            <a:ext cx="7818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Policy Mix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819449" y="3023921"/>
            <a:ext cx="1859890" cy="562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总量工具：降准(RRR)释放长期资金，降息(LPR)降低融资成本。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819449" y="3683203"/>
            <a:ext cx="1859890" cy="562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资本市场：SFISF互换便利 + 回购增持再贷款，定向注入流动性。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3819449" y="4341571"/>
            <a:ext cx="19165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结构工具：消费与养老再贷款精准滴灌。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743554" y="4968850"/>
            <a:ext cx="69037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EXECUTION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5210251" y="1910182"/>
            <a:ext cx="886054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02</a:t>
            </a:r>
            <a:endParaRPr lang="en-US" sz="3600" dirty="0"/>
          </a:p>
        </p:txBody>
      </p:sp>
      <p:sp>
        <p:nvSpPr>
          <p:cNvPr id="32" name="Shape 29"/>
          <p:cNvSpPr/>
          <p:nvPr/>
        </p:nvSpPr>
        <p:spPr>
          <a:xfrm>
            <a:off x="4381805" y="1518818"/>
            <a:ext cx="571500" cy="571500"/>
          </a:xfrm>
          <a:prstGeom prst="ellipse">
            <a:avLst/>
          </a:prstGeom>
          <a:solidFill>
            <a:srgbClr val="0F172A"/>
          </a:solidFill>
          <a:ln w="50800">
            <a:solidFill>
              <a:srgbClr val="3B82F6"/>
            </a:solidFill>
            <a:prstDash val="solid"/>
          </a:ln>
          <a:effectLst>
            <a:outerShdw blurRad="139700" dist="12700" dir="16200000" algn="bl" rotWithShape="0">
              <a:srgbClr val="3B82F6">
                <a:alpha val="30000"/>
              </a:srgbClr>
            </a:outerShdw>
          </a:effectLst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rcRect t="-45" b="-45"/>
          <a:stretch>
            <a:fillRect/>
          </a:stretch>
        </p:blipFill>
        <p:spPr>
          <a:xfrm>
            <a:off x="4539082" y="1690726"/>
            <a:ext cx="256946" cy="2286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286500" y="1766621"/>
            <a:ext cx="2476195" cy="3619195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 w="50800">
            <a:solidFill>
              <a:srgbClr val="8B5CF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524244" y="3090672"/>
            <a:ext cx="57607" cy="57607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6" name="Shape 32"/>
          <p:cNvSpPr/>
          <p:nvPr/>
        </p:nvSpPr>
        <p:spPr>
          <a:xfrm>
            <a:off x="6524244" y="3749040"/>
            <a:ext cx="57607" cy="57607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7" name="Shape 33"/>
          <p:cNvSpPr/>
          <p:nvPr/>
        </p:nvSpPr>
        <p:spPr>
          <a:xfrm>
            <a:off x="6524244" y="4226357"/>
            <a:ext cx="57607" cy="57607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8" name="Shape 34"/>
          <p:cNvSpPr/>
          <p:nvPr/>
        </p:nvSpPr>
        <p:spPr>
          <a:xfrm>
            <a:off x="6524244" y="4950562"/>
            <a:ext cx="752551" cy="200254"/>
          </a:xfrm>
          <a:prstGeom prst="roundRect">
            <a:avLst>
              <a:gd name="adj" fmla="val 86975"/>
            </a:avLst>
          </a:prstGeom>
          <a:solidFill>
            <a:srgbClr val="8B5CF6">
              <a:alpha val="10000"/>
            </a:srgbClr>
          </a:solidFill>
        </p:spPr>
      </p:sp>
      <p:sp>
        <p:nvSpPr>
          <p:cNvPr id="39" name="Text 35"/>
          <p:cNvSpPr txBox="1"/>
          <p:nvPr/>
        </p:nvSpPr>
        <p:spPr>
          <a:xfrm>
            <a:off x="6524244" y="2414930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后备选项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6524244" y="2738628"/>
            <a:ext cx="6382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78BFA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Reserves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6676949" y="3023921"/>
            <a:ext cx="1916582" cy="562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国债买卖：二级市场买卖国债，不仅是流动性管理，更是扩表后手。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676949" y="3683203"/>
            <a:ext cx="19165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赤字率提升：财政政策发力，中央政府加杠杆空间。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676949" y="4159606"/>
            <a:ext cx="19165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特别国债：用于补充银行资本金或重大项目。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6601054" y="4968850"/>
            <a:ext cx="68031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POTENTIAL</a:t>
            </a:r>
            <a:endParaRPr lang="en-US" sz="800" dirty="0"/>
          </a:p>
        </p:txBody>
      </p:sp>
      <p:sp>
        <p:nvSpPr>
          <p:cNvPr id="45" name="Text 41"/>
          <p:cNvSpPr txBox="1"/>
          <p:nvPr/>
        </p:nvSpPr>
        <p:spPr>
          <a:xfrm>
            <a:off x="8068666" y="1910182"/>
            <a:ext cx="886054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03</a:t>
            </a:r>
            <a:endParaRPr lang="en-US" sz="3600" dirty="0"/>
          </a:p>
        </p:txBody>
      </p:sp>
      <p:sp>
        <p:nvSpPr>
          <p:cNvPr id="46" name="Shape 42"/>
          <p:cNvSpPr/>
          <p:nvPr/>
        </p:nvSpPr>
        <p:spPr>
          <a:xfrm>
            <a:off x="7239305" y="1518818"/>
            <a:ext cx="571500" cy="571500"/>
          </a:xfrm>
          <a:prstGeom prst="ellipse">
            <a:avLst/>
          </a:prstGeom>
          <a:solidFill>
            <a:srgbClr val="0F172A"/>
          </a:solidFill>
          <a:ln w="50800">
            <a:solidFill>
              <a:srgbClr val="8B5CF6"/>
            </a:solidFill>
            <a:prstDash val="solid"/>
          </a:ln>
          <a:effectLst>
            <a:outerShdw blurRad="139700" dist="12700" dir="16200000" algn="bl" rotWithShape="0">
              <a:srgbClr val="8B5CF6">
                <a:alpha val="30000"/>
              </a:srgbClr>
            </a:outerShdw>
          </a:effectLst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rcRect l="-80" r="-80"/>
          <a:stretch>
            <a:fillRect/>
          </a:stretch>
        </p:blipFill>
        <p:spPr>
          <a:xfrm>
            <a:off x="7381951" y="1690726"/>
            <a:ext cx="286207" cy="228600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9144000" y="1766621"/>
            <a:ext cx="2476195" cy="3619195"/>
          </a:xfrm>
          <a:prstGeom prst="roundRect">
            <a:avLst>
              <a:gd name="adj" fmla="val 2272"/>
            </a:avLst>
          </a:prstGeom>
          <a:solidFill>
            <a:srgbClr val="1E293B"/>
          </a:solidFill>
          <a:ln w="50800">
            <a:solidFill>
              <a:srgbClr val="EF444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9381744" y="3090672"/>
            <a:ext cx="57607" cy="57607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50" name="Shape 45"/>
          <p:cNvSpPr/>
          <p:nvPr/>
        </p:nvSpPr>
        <p:spPr>
          <a:xfrm>
            <a:off x="9381744" y="3567989"/>
            <a:ext cx="57607" cy="57607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51" name="Shape 46"/>
          <p:cNvSpPr/>
          <p:nvPr/>
        </p:nvSpPr>
        <p:spPr>
          <a:xfrm>
            <a:off x="9381744" y="4045306"/>
            <a:ext cx="57607" cy="57607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52" name="Shape 47"/>
          <p:cNvSpPr/>
          <p:nvPr/>
        </p:nvSpPr>
        <p:spPr>
          <a:xfrm>
            <a:off x="9381744" y="4950562"/>
            <a:ext cx="743407" cy="200254"/>
          </a:xfrm>
          <a:prstGeom prst="roundRect">
            <a:avLst>
              <a:gd name="adj" fmla="val 86975"/>
            </a:avLst>
          </a:prstGeom>
          <a:solidFill>
            <a:srgbClr val="EF4444">
              <a:alpha val="10000"/>
            </a:srgbClr>
          </a:solidFill>
        </p:spPr>
      </p:sp>
      <p:sp>
        <p:nvSpPr>
          <p:cNvPr id="53" name="Text 48"/>
          <p:cNvSpPr txBox="1"/>
          <p:nvPr/>
        </p:nvSpPr>
        <p:spPr>
          <a:xfrm>
            <a:off x="9381744" y="2414930"/>
            <a:ext cx="9052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风险控制</a:t>
            </a:r>
            <a:endParaRPr lang="en-US" sz="1500" dirty="0"/>
          </a:p>
        </p:txBody>
      </p:sp>
      <p:sp>
        <p:nvSpPr>
          <p:cNvPr id="54" name="Text 49"/>
          <p:cNvSpPr txBox="1"/>
          <p:nvPr/>
        </p:nvSpPr>
        <p:spPr>
          <a:xfrm>
            <a:off x="9381744" y="2738628"/>
            <a:ext cx="11247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87171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Risk Guardrails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9534449" y="3023921"/>
            <a:ext cx="19165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资金闭环：回购贷款严禁用于发工资/还债，仅限回流股市。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9534449" y="3501238"/>
            <a:ext cx="19165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防空转：严控信贷资金违规流入房地产或影子银行。</a:t>
            </a:r>
            <a:endParaRPr lang="en-US" sz="1000" dirty="0"/>
          </a:p>
        </p:txBody>
      </p:sp>
      <p:sp>
        <p:nvSpPr>
          <p:cNvPr id="57" name="Text 52"/>
          <p:cNvSpPr txBox="1"/>
          <p:nvPr/>
        </p:nvSpPr>
        <p:spPr>
          <a:xfrm>
            <a:off x="9534449" y="3978554"/>
            <a:ext cx="1916582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汇率底线：保持人民币在合理均衡水平上的基本稳定。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9458554" y="4968850"/>
            <a:ext cx="67117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BOUNDARY</a:t>
            </a:r>
            <a:endParaRPr lang="en-US" sz="800" dirty="0"/>
          </a:p>
        </p:txBody>
      </p:sp>
      <p:sp>
        <p:nvSpPr>
          <p:cNvPr id="59" name="Text 54"/>
          <p:cNvSpPr txBox="1"/>
          <p:nvPr/>
        </p:nvSpPr>
        <p:spPr>
          <a:xfrm>
            <a:off x="10926166" y="1910182"/>
            <a:ext cx="886054" cy="657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04</a:t>
            </a:r>
            <a:endParaRPr lang="en-US" sz="3600" dirty="0"/>
          </a:p>
        </p:txBody>
      </p:sp>
      <p:sp>
        <p:nvSpPr>
          <p:cNvPr id="60" name="Shape 55"/>
          <p:cNvSpPr/>
          <p:nvPr/>
        </p:nvSpPr>
        <p:spPr>
          <a:xfrm>
            <a:off x="10096805" y="1518818"/>
            <a:ext cx="571500" cy="571500"/>
          </a:xfrm>
          <a:prstGeom prst="ellipse">
            <a:avLst/>
          </a:prstGeom>
          <a:solidFill>
            <a:srgbClr val="0F172A"/>
          </a:solidFill>
          <a:ln w="50800">
            <a:solidFill>
              <a:srgbClr val="EF4444"/>
            </a:solidFill>
            <a:prstDash val="solid"/>
          </a:ln>
          <a:effectLst>
            <a:outerShdw blurRad="139700" dist="12700" dir="16200000" algn="bl" rotWithShape="0">
              <a:srgbClr val="EF4444">
                <a:alpha val="30000"/>
              </a:srgbClr>
            </a:outerShdw>
          </a:effectLst>
        </p:spPr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267798" y="1690726"/>
            <a:ext cx="228600" cy="228600"/>
          </a:xfrm>
          <a:prstGeom prst="rect">
            <a:avLst/>
          </a:prstGeom>
        </p:spPr>
      </p:pic>
      <p:sp>
        <p:nvSpPr>
          <p:cNvPr id="62" name="Shape 56"/>
          <p:cNvSpPr/>
          <p:nvPr/>
        </p:nvSpPr>
        <p:spPr>
          <a:xfrm>
            <a:off x="571500" y="6077102"/>
            <a:ext cx="11048695" cy="495605"/>
          </a:xfrm>
          <a:prstGeom prst="roundRect">
            <a:avLst>
              <a:gd name="adj" fmla="val 425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400593" y="6248095"/>
            <a:ext cx="152705" cy="152705"/>
          </a:xfrm>
          <a:prstGeom prst="rect">
            <a:avLst/>
          </a:prstGeom>
        </p:spPr>
      </p:pic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314993" y="6248095"/>
            <a:ext cx="152705" cy="152705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457993" y="6248095"/>
            <a:ext cx="152705" cy="152705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1009498" y="6229807"/>
            <a:ext cx="40059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当前状态： 政策组合拳正在密集落地，市场流动性预期显著改善。</a:t>
            </a:r>
            <a:endParaRPr lang="en-US" sz="1000" dirty="0"/>
          </a:p>
        </p:txBody>
      </p:sp>
      <p:sp>
        <p:nvSpPr>
          <p:cNvPr id="67" name="Text 58"/>
          <p:cNvSpPr txBox="1"/>
          <p:nvPr/>
        </p:nvSpPr>
        <p:spPr>
          <a:xfrm>
            <a:off x="8629193" y="6238951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降准降息</a:t>
            </a:r>
            <a:endParaRPr lang="en-US" sz="900" dirty="0"/>
          </a:p>
        </p:txBody>
      </p:sp>
      <p:sp>
        <p:nvSpPr>
          <p:cNvPr id="68" name="Text 59"/>
          <p:cNvSpPr txBox="1"/>
          <p:nvPr/>
        </p:nvSpPr>
        <p:spPr>
          <a:xfrm>
            <a:off x="9543593" y="6238951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创新工具启动</a:t>
            </a:r>
            <a:endParaRPr lang="en-US" sz="900" dirty="0"/>
          </a:p>
        </p:txBody>
      </p:sp>
      <p:sp>
        <p:nvSpPr>
          <p:cNvPr id="69" name="Text 60"/>
          <p:cNvSpPr txBox="1"/>
          <p:nvPr/>
        </p:nvSpPr>
        <p:spPr>
          <a:xfrm>
            <a:off x="10686593" y="6238951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国债买卖扩容</a:t>
            </a:r>
            <a:endParaRPr lang="en-US" sz="900" dirty="0"/>
          </a:p>
        </p:txBody>
      </p:sp>
      <p:sp>
        <p:nvSpPr>
          <p:cNvPr id="70" name="Shape 61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1" name="Shape 62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72" name="Text 63"/>
          <p:cNvSpPr txBox="1"/>
          <p:nvPr/>
        </p:nvSpPr>
        <p:spPr>
          <a:xfrm>
            <a:off x="571500" y="247802"/>
            <a:ext cx="4215384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“适度宽松”的政策路径与落地</a:t>
            </a:r>
            <a:endParaRPr lang="en-US" sz="2200" dirty="0"/>
          </a:p>
        </p:txBody>
      </p:sp>
      <p:sp>
        <p:nvSpPr>
          <p:cNvPr id="73" name="Text 64"/>
          <p:cNvSpPr txBox="1"/>
          <p:nvPr/>
        </p:nvSpPr>
        <p:spPr>
          <a:xfrm>
            <a:off x="571500" y="694944"/>
            <a:ext cx="41440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从稳健到适度宽松：存量与增量政策的集成效应</a:t>
            </a:r>
            <a:endParaRPr lang="en-US" sz="1500" dirty="0"/>
          </a:p>
        </p:txBody>
      </p:sp>
      <p:sp>
        <p:nvSpPr>
          <p:cNvPr id="74" name="Shape 65"/>
          <p:cNvSpPr/>
          <p:nvPr/>
        </p:nvSpPr>
        <p:spPr>
          <a:xfrm>
            <a:off x="10213848" y="743407"/>
            <a:ext cx="1410005" cy="256946"/>
          </a:xfrm>
          <a:prstGeom prst="roundRect">
            <a:avLst>
              <a:gd name="adj" fmla="val 52722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5" name="Text 66"/>
          <p:cNvSpPr txBox="1"/>
          <p:nvPr/>
        </p:nvSpPr>
        <p:spPr>
          <a:xfrm>
            <a:off x="10338206" y="790956"/>
            <a:ext cx="12481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POLICY ROADMAP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1457554"/>
            <a:ext cx="4286707" cy="42867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695" y="1457554"/>
            <a:ext cx="6286500" cy="1143000"/>
          </a:xfrm>
          <a:prstGeom prst="roundRect">
            <a:avLst>
              <a:gd name="adj" fmla="val 5333"/>
            </a:avLst>
          </a:prstGeom>
          <a:solidFill>
            <a:srgbClr val="1E293B">
              <a:alpha val="50000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5333695" y="1457554"/>
            <a:ext cx="38405" cy="1143000"/>
          </a:xfrm>
          <a:prstGeom prst="rect">
            <a:avLst/>
          </a:prstGeom>
          <a:solidFill>
            <a:srgbClr val="FBBF24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62295" y="1687982"/>
            <a:ext cx="171907" cy="1719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10098" y="1647749"/>
            <a:ext cx="2974543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战略选择：以我为主 (Independence)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562295" y="1985162"/>
            <a:ext cx="5968289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为了对抗国内通缩，央行必须拥有自主降息的权力。利率是经济的油门，必须掌握在自己手中，不能看美联储脸色。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333695" y="2789834"/>
            <a:ext cx="6286500" cy="1143000"/>
          </a:xfrm>
          <a:prstGeom prst="roundRect">
            <a:avLst>
              <a:gd name="adj" fmla="val 5333"/>
            </a:avLst>
          </a:prstGeom>
          <a:solidFill>
            <a:srgbClr val="1E293B">
              <a:alpha val="50000"/>
            </a:srgbClr>
          </a:solidFill>
        </p:spPr>
      </p:sp>
      <p:sp>
        <p:nvSpPr>
          <p:cNvPr id="11" name="Shape 7"/>
          <p:cNvSpPr/>
          <p:nvPr/>
        </p:nvSpPr>
        <p:spPr>
          <a:xfrm>
            <a:off x="5333695" y="2789834"/>
            <a:ext cx="38405" cy="1143000"/>
          </a:xfrm>
          <a:prstGeom prst="rect">
            <a:avLst/>
          </a:prstGeom>
          <a:solidFill>
            <a:srgbClr val="3B82F6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62295" y="3020263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810098" y="2980030"/>
            <a:ext cx="2498141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底线思维：稳住汇率 (Stability)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562295" y="3317443"/>
            <a:ext cx="5863133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防止国家财富缩水和美元债爆雷。这意味着人民币不能大幅贬值。"降息 + 稳汇率" 本身是矛盾的，除非...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333695" y="4122115"/>
            <a:ext cx="6286500" cy="1143000"/>
          </a:xfrm>
          <a:prstGeom prst="roundRect">
            <a:avLst>
              <a:gd name="adj" fmla="val 5333"/>
            </a:avLst>
          </a:prstGeom>
          <a:solidFill>
            <a:srgbClr val="EF4444">
              <a:alpha val="5000"/>
            </a:srgbClr>
          </a:solidFill>
        </p:spPr>
      </p:sp>
      <p:sp>
        <p:nvSpPr>
          <p:cNvPr id="16" name="Shape 11"/>
          <p:cNvSpPr/>
          <p:nvPr/>
        </p:nvSpPr>
        <p:spPr>
          <a:xfrm>
            <a:off x="5333695" y="4122115"/>
            <a:ext cx="38405" cy="114300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t="-2725" b="-2725"/>
          <a:stretch>
            <a:fillRect/>
          </a:stretch>
        </p:blipFill>
        <p:spPr>
          <a:xfrm>
            <a:off x="5562295" y="4353458"/>
            <a:ext cx="142646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781751" y="4313225"/>
            <a:ext cx="2716682" cy="2386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代价：金融高墙 (Capital Control)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562295" y="4650638"/>
            <a:ext cx="5739689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牺牲资本自由流动。 筑起防波堤，严控内资外逃。企业和个人换汇受限，以此隔离国内外利差压力。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333695" y="5455310"/>
            <a:ext cx="6286500" cy="1552651"/>
          </a:xfrm>
          <a:prstGeom prst="roundRect">
            <a:avLst>
              <a:gd name="adj" fmla="val 4336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19665" y="5289804"/>
            <a:ext cx="1837944" cy="18379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572354" y="5693054"/>
            <a:ext cx="242956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破局时刻：美联储降息周期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5572354" y="6074359"/>
            <a:ext cx="752551" cy="247802"/>
          </a:xfrm>
          <a:prstGeom prst="roundRect">
            <a:avLst>
              <a:gd name="adj" fmla="val 5677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658307" y="6112764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美联储降息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t="-1100" b="-1100"/>
          <a:stretch>
            <a:fillRect/>
          </a:stretch>
        </p:blipFill>
        <p:spPr>
          <a:xfrm>
            <a:off x="6467551" y="6131052"/>
            <a:ext cx="114300" cy="13350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657746" y="6074359"/>
            <a:ext cx="866851" cy="247802"/>
          </a:xfrm>
          <a:prstGeom prst="roundRect">
            <a:avLst>
              <a:gd name="adj" fmla="val 5677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743700" y="6112764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中美利差收窄</a:t>
            </a:r>
            <a:endParaRPr lang="en-US" sz="9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rcRect t="-1100" b="-1100"/>
          <a:stretch>
            <a:fillRect/>
          </a:stretch>
        </p:blipFill>
        <p:spPr>
          <a:xfrm>
            <a:off x="7668158" y="6131052"/>
            <a:ext cx="114300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858354" y="6102706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主导权回归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5572354" y="6407201"/>
            <a:ext cx="5468112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外部压力的撤销是关键变量。当美元资产吸引力下降，中国央行将彻底解除“封印”，在保持汇率稳定的同时，大胆实施适度宽松政策。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2277770" y="3495751"/>
            <a:ext cx="9765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IMPOSSIBLE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2431390" y="3685946"/>
            <a:ext cx="6720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TRINITY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rcRect t="-100" b="-100"/>
          <a:stretch>
            <a:fillRect/>
          </a:stretch>
        </p:blipFill>
        <p:spPr>
          <a:xfrm>
            <a:off x="2657246" y="3952951"/>
            <a:ext cx="114300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048256" y="1457554"/>
            <a:ext cx="1333195" cy="1333195"/>
          </a:xfrm>
          <a:prstGeom prst="ellipse">
            <a:avLst/>
          </a:prstGeom>
          <a:solidFill>
            <a:srgbClr val="FBBF24">
              <a:alpha val="10000"/>
            </a:srgbClr>
          </a:solidFill>
          <a:ln w="25400">
            <a:solidFill>
              <a:srgbClr val="FBBF24"/>
            </a:solidFill>
            <a:prstDash val="solid"/>
          </a:ln>
          <a:effectLst>
            <a:outerShdw blurRad="190500" dist="12700" dir="16200000" algn="bl" rotWithShape="0">
              <a:srgbClr val="FBBF24">
                <a:alpha val="20000"/>
              </a:srgbClr>
            </a:outerShdw>
          </a:effectLst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562149" y="1769364"/>
            <a:ext cx="304495" cy="3044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2440534" y="2130552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货币政策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2509114" y="2295144"/>
            <a:ext cx="52212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独立性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2542946" y="1371600"/>
            <a:ext cx="438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必选项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3524098" y="4028846"/>
            <a:ext cx="1333195" cy="1333195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blurRad="190500" dist="12700" dir="16200000" algn="bl" rotWithShape="0">
              <a:srgbClr val="3B82F6">
                <a:alpha val="20000"/>
              </a:srgbClr>
            </a:outerShdw>
          </a:effectLst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rcRect l="-50" r="-50"/>
          <a:stretch>
            <a:fillRect/>
          </a:stretch>
        </p:blipFill>
        <p:spPr>
          <a:xfrm>
            <a:off x="4019702" y="4340657"/>
            <a:ext cx="342900" cy="30449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4053535" y="4702759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汇率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4053535" y="4867351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稳定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3942893" y="3933749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3B82F6"/>
          </a:solidFill>
        </p:spPr>
      </p:sp>
      <p:sp>
        <p:nvSpPr>
          <p:cNvPr id="44" name="Text 32"/>
          <p:cNvSpPr txBox="1"/>
          <p:nvPr/>
        </p:nvSpPr>
        <p:spPr>
          <a:xfrm>
            <a:off x="4019702" y="3943807"/>
            <a:ext cx="4389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必选项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571500" y="4028846"/>
            <a:ext cx="1333195" cy="1333195"/>
          </a:xfrm>
          <a:prstGeom prst="ellipse">
            <a:avLst/>
          </a:prstGeom>
          <a:solidFill>
            <a:srgbClr val="0F172A">
              <a:alpha val="80000"/>
            </a:srgbClr>
          </a:solidFill>
          <a:ln w="25400">
            <a:solidFill>
              <a:srgbClr val="EF4444"/>
            </a:solidFill>
            <a:prstDash val="solid"/>
          </a:ln>
          <a:effectLst>
            <a:outerShdw blurRad="241300" dist="101600" dir="54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/>
          <a:stretch>
            <a:fillRect/>
          </a:stretch>
        </p:blipFill>
        <p:spPr>
          <a:xfrm>
            <a:off x="1086307" y="4340657"/>
            <a:ext cx="304495" cy="3044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1100938" y="4702759"/>
            <a:ext cx="37947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资本</a:t>
            </a:r>
            <a:endParaRPr lang="en-US" sz="1000" dirty="0"/>
          </a:p>
        </p:txBody>
      </p:sp>
      <p:sp>
        <p:nvSpPr>
          <p:cNvPr id="48" name="Text 35"/>
          <p:cNvSpPr txBox="1"/>
          <p:nvPr/>
        </p:nvSpPr>
        <p:spPr>
          <a:xfrm>
            <a:off x="963778" y="4867351"/>
            <a:ext cx="65562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自由流动</a:t>
            </a:r>
            <a:endParaRPr lang="en-US" sz="1000" dirty="0"/>
          </a:p>
        </p:txBody>
      </p:sp>
      <p:sp>
        <p:nvSpPr>
          <p:cNvPr id="49" name="Shape 36"/>
          <p:cNvSpPr/>
          <p:nvPr/>
        </p:nvSpPr>
        <p:spPr>
          <a:xfrm>
            <a:off x="1037844" y="5248656"/>
            <a:ext cx="409651" cy="209398"/>
          </a:xfrm>
          <a:prstGeom prst="roundRect">
            <a:avLst>
              <a:gd name="adj" fmla="val 79396"/>
            </a:avLst>
          </a:prstGeom>
          <a:solidFill>
            <a:srgbClr val="7F1D1D">
              <a:alpha val="80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1123798" y="5266944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A5A5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放弃</a:t>
            </a:r>
            <a:endParaRPr lang="en-US" sz="9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1">
            <a:alphaModFix amt="64000"/>
          </a:blip>
          <a:srcRect/>
          <a:stretch>
            <a:fillRect/>
          </a:stretch>
        </p:blipFill>
        <p:spPr>
          <a:xfrm>
            <a:off x="933602" y="4390949"/>
            <a:ext cx="609905" cy="609905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3" name="Shape 39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54" name="Text 40"/>
          <p:cNvSpPr txBox="1"/>
          <p:nvPr/>
        </p:nvSpPr>
        <p:spPr>
          <a:xfrm>
            <a:off x="571500" y="247802"/>
            <a:ext cx="50721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不可能三角破局：独立与稳汇率的权衡</a:t>
            </a:r>
            <a:endParaRPr lang="en-US" sz="2200" dirty="0"/>
          </a:p>
        </p:txBody>
      </p:sp>
      <p:sp>
        <p:nvSpPr>
          <p:cNvPr id="55" name="Text 41"/>
          <p:cNvSpPr txBox="1"/>
          <p:nvPr/>
        </p:nvSpPr>
        <p:spPr>
          <a:xfrm>
            <a:off x="571500" y="694944"/>
            <a:ext cx="5382158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Impossible Trinity: China's Strategic Choice &amp; Breakthrough</a:t>
            </a:r>
            <a:endParaRPr lang="en-US" sz="1500" dirty="0"/>
          </a:p>
        </p:txBody>
      </p:sp>
      <p:sp>
        <p:nvSpPr>
          <p:cNvPr id="56" name="Shape 42"/>
          <p:cNvSpPr/>
          <p:nvPr/>
        </p:nvSpPr>
        <p:spPr>
          <a:xfrm>
            <a:off x="9876434" y="743407"/>
            <a:ext cx="1752905" cy="256946"/>
          </a:xfrm>
          <a:prstGeom prst="roundRect">
            <a:avLst>
              <a:gd name="adj" fmla="val 52722"/>
            </a:avLst>
          </a:prstGeom>
          <a:solidFill>
            <a:srgbClr val="7F1D1D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43"/>
          <p:cNvSpPr txBox="1"/>
          <p:nvPr/>
        </p:nvSpPr>
        <p:spPr>
          <a:xfrm>
            <a:off x="10000793" y="790956"/>
            <a:ext cx="1591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STRATEGIC TRADE-OFF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2076602" y="1876349"/>
            <a:ext cx="3619195" cy="3619195"/>
          </a:xfrm>
          <a:prstGeom prst="ellipse">
            <a:avLst/>
          </a:prstGeom>
          <a:solidFill>
            <a:srgbClr val="EF4444">
              <a:alpha val="5000"/>
            </a:srgbClr>
          </a:solidFill>
          <a:ln w="25400">
            <a:solidFill>
              <a:srgbClr val="EF4444">
                <a:alpha val="30000"/>
              </a:srgbClr>
            </a:solidFill>
            <a:prstDash val="solid"/>
          </a:ln>
          <a:effectLst>
            <a:outerShdw blurRad="292100" dist="12700" dir="16200000" algn="bl" rotWithShape="0">
              <a:srgbClr val="EF4444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rcRect/>
          <a:stretch>
            <a:fillRect/>
          </a:stretch>
        </p:blipFill>
        <p:spPr>
          <a:xfrm>
            <a:off x="3657600" y="2419502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53335" y="3907231"/>
            <a:ext cx="2866644" cy="1447495"/>
          </a:xfrm>
          <a:prstGeom prst="roundRect">
            <a:avLst>
              <a:gd name="adj" fmla="val 4987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7" name="Text 4"/>
          <p:cNvSpPr txBox="1"/>
          <p:nvPr/>
        </p:nvSpPr>
        <p:spPr>
          <a:xfrm>
            <a:off x="3454603" y="4040734"/>
            <a:ext cx="9528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央行主动实施 QE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3543300" y="4297680"/>
            <a:ext cx="866851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~2.0%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599993" y="4659782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低利率环境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96896" y="4974336"/>
            <a:ext cx="2581351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11" name="Text 8"/>
          <p:cNvSpPr txBox="1"/>
          <p:nvPr/>
        </p:nvSpPr>
        <p:spPr>
          <a:xfrm>
            <a:off x="3307385" y="5050231"/>
            <a:ext cx="12481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CAC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目标：对抗通缩 &amp; 救市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77102" y="2257654"/>
            <a:ext cx="19202" cy="28575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13" name="Shape 10"/>
          <p:cNvSpPr/>
          <p:nvPr/>
        </p:nvSpPr>
        <p:spPr>
          <a:xfrm>
            <a:off x="6495898" y="1876349"/>
            <a:ext cx="3619195" cy="3619195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>
            <a:solidFill>
              <a:srgbClr val="3B82F6">
                <a:alpha val="30000"/>
              </a:srgbClr>
            </a:solidFill>
            <a:prstDash val="solid"/>
          </a:ln>
          <a:effectLst>
            <a:outerShdw blurRad="292100" dist="12700" dir="16200000" algn="bl" rotWithShape="0">
              <a:srgbClr val="3B82F6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>
            <a:alphaModFix amt="80000"/>
          </a:blip>
          <a:srcRect/>
          <a:stretch>
            <a:fillRect/>
          </a:stretch>
        </p:blipFill>
        <p:spPr>
          <a:xfrm>
            <a:off x="8076895" y="2419502"/>
            <a:ext cx="457200" cy="457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73545" y="3907231"/>
            <a:ext cx="2866644" cy="1447495"/>
          </a:xfrm>
          <a:prstGeom prst="roundRect">
            <a:avLst>
              <a:gd name="adj" fmla="val 4987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16" name="Text 12"/>
          <p:cNvSpPr txBox="1"/>
          <p:nvPr/>
        </p:nvSpPr>
        <p:spPr>
          <a:xfrm>
            <a:off x="7543800" y="4040734"/>
            <a:ext cx="16102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点心债爆发 (Dim Sum Bonds)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7733995" y="4297680"/>
            <a:ext cx="1314907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融资吸引力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599578" y="4659782"/>
            <a:ext cx="15051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借低息人民币 -&gt; 需配置资产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016191" y="4974336"/>
            <a:ext cx="2581351" cy="9144"/>
          </a:xfrm>
          <a:prstGeom prst="rect">
            <a:avLst/>
          </a:prstGeom>
          <a:solidFill>
            <a:srgbClr val="E5E7EB"/>
          </a:solidFill>
        </p:spPr>
      </p:sp>
      <p:sp>
        <p:nvSpPr>
          <p:cNvPr id="20" name="Text 16"/>
          <p:cNvSpPr txBox="1"/>
          <p:nvPr/>
        </p:nvSpPr>
        <p:spPr>
          <a:xfrm>
            <a:off x="7677302" y="5050231"/>
            <a:ext cx="1353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结果：外部需求托底汇率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557723" y="2885846"/>
            <a:ext cx="1086307" cy="267005"/>
          </a:xfrm>
          <a:prstGeom prst="roundRect">
            <a:avLst>
              <a:gd name="adj" fmla="val 146771"/>
            </a:avLst>
          </a:prstGeom>
          <a:solidFill>
            <a:srgbClr val="0F172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5682082" y="2967228"/>
            <a:ext cx="105156" cy="1143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824728" y="2933395"/>
            <a:ext cx="781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资本管制高墙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324551" y="4219956"/>
            <a:ext cx="1552651" cy="267005"/>
          </a:xfrm>
          <a:prstGeom prst="roundRect">
            <a:avLst>
              <a:gd name="adj" fmla="val 146771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47995" y="4300423"/>
            <a:ext cx="114300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600700" y="4267505"/>
            <a:ext cx="12390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融资需求创造持有需求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0" y="4343400"/>
            <a:ext cx="752551" cy="19202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8" name="Shape 22"/>
          <p:cNvSpPr/>
          <p:nvPr/>
        </p:nvSpPr>
        <p:spPr>
          <a:xfrm>
            <a:off x="6868058" y="4343400"/>
            <a:ext cx="752551" cy="19202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9" name="Text 23"/>
          <p:cNvSpPr txBox="1"/>
          <p:nvPr/>
        </p:nvSpPr>
        <p:spPr>
          <a:xfrm>
            <a:off x="3222346" y="3105302"/>
            <a:ext cx="14767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E2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在岸市场 (CNY)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3276295" y="3438144"/>
            <a:ext cx="131125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墙内放水 · 独立自主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995721" y="3448202"/>
            <a:ext cx="219456" cy="476402"/>
          </a:xfrm>
          <a:prstGeom prst="ellipse">
            <a:avLst/>
          </a:prstGeom>
          <a:solidFill>
            <a:srgbClr val="1E293B"/>
          </a:solidFill>
          <a:ln w="25400">
            <a:solidFill>
              <a:srgbClr val="64748B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14923" y="3595421"/>
            <a:ext cx="181051" cy="181051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625182" y="3105302"/>
            <a:ext cx="1505102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BEAF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离岸市场 (CNH)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7696505" y="3438144"/>
            <a:ext cx="1311250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墙外蓄水 · 融资货币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6" name="Shape 29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37" name="Text 30"/>
          <p:cNvSpPr txBox="1"/>
          <p:nvPr/>
        </p:nvSpPr>
        <p:spPr>
          <a:xfrm>
            <a:off x="571500" y="247802"/>
            <a:ext cx="57579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人民币升值路径：离岸/在岸双轨与政策共振</a:t>
            </a:r>
            <a:endParaRPr lang="en-US" sz="2200" dirty="0"/>
          </a:p>
        </p:txBody>
      </p:sp>
      <p:sp>
        <p:nvSpPr>
          <p:cNvPr id="38" name="Text 31"/>
          <p:cNvSpPr txBox="1"/>
          <p:nvPr/>
        </p:nvSpPr>
        <p:spPr>
          <a:xfrm>
            <a:off x="571500" y="694944"/>
            <a:ext cx="5658307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RMB Appreciation Path: Dual-Track System &amp; Policy Resonance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10099548" y="743407"/>
            <a:ext cx="1524305" cy="256946"/>
          </a:xfrm>
          <a:prstGeom prst="roundRect">
            <a:avLst>
              <a:gd name="adj" fmla="val 52722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223906" y="790956"/>
            <a:ext cx="13624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DUAL CIRCULATION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571500" y="1266444"/>
            <a:ext cx="11048695" cy="514807"/>
          </a:xfrm>
          <a:prstGeom prst="roundRect">
            <a:avLst>
              <a:gd name="adj" fmla="val 26314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71754" y="1429207"/>
            <a:ext cx="190195" cy="190195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1076249" y="1438351"/>
            <a:ext cx="17007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华尔街“聪明钱”抢跑信号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2752344" y="1457554"/>
            <a:ext cx="11530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Smart Money Signal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8668512" y="1429207"/>
            <a:ext cx="9390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汇率目标预判: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9581998" y="1410005"/>
            <a:ext cx="49560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rPr>
              <a:t>6.8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10001707" y="1438351"/>
            <a:ext cx="15051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(Bank of America Forecast)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571500" y="5591556"/>
            <a:ext cx="11048695" cy="886054"/>
          </a:xfrm>
          <a:prstGeom prst="roundRect">
            <a:avLst>
              <a:gd name="adj" fmla="val 8877"/>
            </a:avLst>
          </a:prstGeom>
          <a:solidFill>
            <a:srgbClr val="1E293B"/>
          </a:solidFill>
        </p:spPr>
      </p:sp>
      <p:sp>
        <p:nvSpPr>
          <p:cNvPr id="49" name="Shape 41"/>
          <p:cNvSpPr/>
          <p:nvPr/>
        </p:nvSpPr>
        <p:spPr>
          <a:xfrm>
            <a:off x="571500" y="5591556"/>
            <a:ext cx="11048695" cy="38405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50" name="Shape 42"/>
          <p:cNvSpPr/>
          <p:nvPr/>
        </p:nvSpPr>
        <p:spPr>
          <a:xfrm>
            <a:off x="7394753" y="6005779"/>
            <a:ext cx="724205" cy="286207"/>
          </a:xfrm>
          <a:prstGeom prst="roundRect">
            <a:avLst>
              <a:gd name="adj" fmla="val 42599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7"/>
          <a:srcRect l="-1082" r="-1082"/>
          <a:stretch>
            <a:fillRect/>
          </a:stretch>
        </p:blipFill>
        <p:spPr>
          <a:xfrm>
            <a:off x="8259775" y="5962802"/>
            <a:ext cx="161849" cy="181051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8564270" y="6005779"/>
            <a:ext cx="724205" cy="286207"/>
          </a:xfrm>
          <a:prstGeom prst="roundRect">
            <a:avLst>
              <a:gd name="adj" fmla="val 42599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8"/>
          <a:srcRect l="-57" r="-57"/>
          <a:stretch>
            <a:fillRect/>
          </a:stretch>
        </p:blipFill>
        <p:spPr>
          <a:xfrm>
            <a:off x="9524390" y="5939028"/>
            <a:ext cx="200254" cy="2286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57707" y="5833872"/>
            <a:ext cx="3471977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 宏观共振时刻 (Strategic Resonance)</a:t>
            </a:r>
            <a:endParaRPr lang="en-US" sz="1300" dirty="0"/>
          </a:p>
        </p:txBody>
      </p:sp>
      <p:sp>
        <p:nvSpPr>
          <p:cNvPr id="55" name="Text 45"/>
          <p:cNvSpPr txBox="1"/>
          <p:nvPr/>
        </p:nvSpPr>
        <p:spPr>
          <a:xfrm>
            <a:off x="857707" y="6120079"/>
            <a:ext cx="31821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中美货币政策周期的历史性相遇，解除不可能三角的最后枷锁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7641641" y="5805526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中国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7519111" y="6053328"/>
            <a:ext cx="5769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 QE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8811158" y="5805526"/>
            <a:ext cx="324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美国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8688629" y="6053328"/>
            <a:ext cx="57698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被迫 QE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10001707" y="5833872"/>
            <a:ext cx="1476756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人民币资产重估</a:t>
            </a:r>
            <a:endParaRPr lang="en-US" sz="1500" dirty="0"/>
          </a:p>
        </p:txBody>
      </p:sp>
      <p:sp>
        <p:nvSpPr>
          <p:cNvPr id="61" name="Text 51"/>
          <p:cNvSpPr txBox="1"/>
          <p:nvPr/>
        </p:nvSpPr>
        <p:spPr>
          <a:xfrm>
            <a:off x="9962388" y="6100877"/>
            <a:ext cx="1467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全球流动性泛滥 + 汇率升值</a:t>
            </a:r>
            <a:endParaRPr lang="en-US" sz="900" dirty="0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315346" y="5438851"/>
            <a:ext cx="1495044" cy="14950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</p:spPr>
      </p:sp>
      <p:sp>
        <p:nvSpPr>
          <p:cNvPr id="4" name="Shape 2"/>
          <p:cNvSpPr/>
          <p:nvPr/>
        </p:nvSpPr>
        <p:spPr>
          <a:xfrm>
            <a:off x="571500" y="1266444"/>
            <a:ext cx="11048695" cy="981151"/>
          </a:xfrm>
          <a:prstGeom prst="roundRect">
            <a:avLst>
              <a:gd name="adj" fmla="val 10858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BBF24"/>
            </a:solidFill>
            <a:prstDash val="solid"/>
          </a:ln>
          <a:effectLst>
            <a:outerShdw blurRad="190500" dist="12700" dir="16200000" algn="bl" rotWithShape="0">
              <a:srgbClr val="FBBF24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867644" y="1528877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" y="2771546"/>
            <a:ext cx="6486754" cy="666598"/>
          </a:xfrm>
          <a:prstGeom prst="roundRect">
            <a:avLst>
              <a:gd name="adj" fmla="val 15677"/>
            </a:avLst>
          </a:prstGeom>
          <a:solidFill>
            <a:srgbClr val="1E293B"/>
          </a:solidFill>
        </p:spPr>
      </p:sp>
      <p:sp>
        <p:nvSpPr>
          <p:cNvPr id="7" name="Shape 4"/>
          <p:cNvSpPr/>
          <p:nvPr/>
        </p:nvSpPr>
        <p:spPr>
          <a:xfrm>
            <a:off x="571500" y="2771546"/>
            <a:ext cx="38405" cy="66659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Shape 5"/>
          <p:cNvSpPr/>
          <p:nvPr/>
        </p:nvSpPr>
        <p:spPr>
          <a:xfrm>
            <a:off x="800100" y="291510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9E0B">
              <a:alpha val="20000"/>
            </a:srgbClr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rcRect l="-1082" r="-1082"/>
          <a:stretch>
            <a:fillRect/>
          </a:stretch>
        </p:blipFill>
        <p:spPr>
          <a:xfrm>
            <a:off x="909828" y="3014777"/>
            <a:ext cx="161849" cy="1810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1500" y="3581705"/>
            <a:ext cx="6486754" cy="666598"/>
          </a:xfrm>
          <a:prstGeom prst="roundRect">
            <a:avLst>
              <a:gd name="adj" fmla="val 15677"/>
            </a:avLst>
          </a:prstGeom>
          <a:solidFill>
            <a:srgbClr val="1E293B"/>
          </a:solidFill>
        </p:spPr>
      </p:sp>
      <p:sp>
        <p:nvSpPr>
          <p:cNvPr id="11" name="Shape 7"/>
          <p:cNvSpPr/>
          <p:nvPr/>
        </p:nvSpPr>
        <p:spPr>
          <a:xfrm>
            <a:off x="571500" y="3581705"/>
            <a:ext cx="38405" cy="666598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2" name="Shape 8"/>
          <p:cNvSpPr/>
          <p:nvPr/>
        </p:nvSpPr>
        <p:spPr>
          <a:xfrm>
            <a:off x="800100" y="3724351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20000"/>
            </a:srgbClr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99770" y="3824021"/>
            <a:ext cx="181051" cy="18105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71500" y="4390949"/>
            <a:ext cx="6486754" cy="666598"/>
          </a:xfrm>
          <a:prstGeom prst="roundRect">
            <a:avLst>
              <a:gd name="adj" fmla="val 15677"/>
            </a:avLst>
          </a:prstGeom>
          <a:solidFill>
            <a:srgbClr val="1E293B"/>
          </a:solidFill>
        </p:spPr>
      </p:sp>
      <p:sp>
        <p:nvSpPr>
          <p:cNvPr id="15" name="Shape 10"/>
          <p:cNvSpPr/>
          <p:nvPr/>
        </p:nvSpPr>
        <p:spPr>
          <a:xfrm>
            <a:off x="571500" y="4390949"/>
            <a:ext cx="38405" cy="666598"/>
          </a:xfrm>
          <a:prstGeom prst="rect">
            <a:avLst/>
          </a:prstGeom>
          <a:solidFill>
            <a:srgbClr val="EC4899"/>
          </a:solidFill>
        </p:spPr>
      </p:sp>
      <p:sp>
        <p:nvSpPr>
          <p:cNvPr id="16" name="Shape 11"/>
          <p:cNvSpPr/>
          <p:nvPr/>
        </p:nvSpPr>
        <p:spPr>
          <a:xfrm>
            <a:off x="800100" y="453359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C4899">
              <a:alpha val="20000"/>
            </a:srgbClr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99770" y="4634179"/>
            <a:ext cx="181051" cy="18105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95998" y="2438705"/>
            <a:ext cx="4324198" cy="2991002"/>
          </a:xfrm>
          <a:prstGeom prst="roundRect">
            <a:avLst>
              <a:gd name="adj" fmla="val 116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496251" y="2962656"/>
            <a:ext cx="3924605" cy="9144"/>
          </a:xfrm>
          <a:prstGeom prst="rect">
            <a:avLst/>
          </a:prstGeom>
          <a:solidFill>
            <a:srgbClr val="3B82F6">
              <a:alpha val="30000"/>
            </a:srgbClr>
          </a:solidFill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l="-33" r="-33"/>
          <a:stretch>
            <a:fillRect/>
          </a:stretch>
        </p:blipFill>
        <p:spPr>
          <a:xfrm>
            <a:off x="7496251" y="2676449"/>
            <a:ext cx="171907" cy="1527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496251" y="3114446"/>
            <a:ext cx="3924605" cy="533095"/>
          </a:xfrm>
          <a:prstGeom prst="roundRect">
            <a:avLst>
              <a:gd name="adj" fmla="val 18378"/>
            </a:avLst>
          </a:prstGeom>
          <a:solidFill>
            <a:srgbClr val="3B82F6">
              <a:alpha val="10000"/>
            </a:srgbClr>
          </a:solidFill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38898" y="3305556"/>
            <a:ext cx="152705" cy="152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96251" y="3762756"/>
            <a:ext cx="3924605" cy="533095"/>
          </a:xfrm>
          <a:prstGeom prst="roundRect">
            <a:avLst>
              <a:gd name="adj" fmla="val 18378"/>
            </a:avLst>
          </a:prstGeom>
          <a:solidFill>
            <a:srgbClr val="3B82F6">
              <a:alpha val="10000"/>
            </a:srgbClr>
          </a:solidFill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638898" y="3952951"/>
            <a:ext cx="152705" cy="152705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496251" y="4410151"/>
            <a:ext cx="3924605" cy="647395"/>
          </a:xfrm>
          <a:prstGeom prst="roundRect">
            <a:avLst>
              <a:gd name="adj" fmla="val 12463"/>
            </a:avLst>
          </a:prstGeom>
          <a:solidFill>
            <a:srgbClr val="3B82F6">
              <a:alpha val="10000"/>
            </a:srgbClr>
          </a:solidFill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638898" y="4657954"/>
            <a:ext cx="152705" cy="152705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571500" y="5619902"/>
            <a:ext cx="5410505" cy="1123798"/>
          </a:xfrm>
          <a:prstGeom prst="roundRect">
            <a:avLst>
              <a:gd name="adj" fmla="val 6896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00100" y="5876849"/>
            <a:ext cx="152705" cy="1527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00100" y="6124651"/>
            <a:ext cx="8961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汇率波动超预期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3326587" y="6124651"/>
            <a:ext cx="10104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政策落地力度滞后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800100" y="6353251"/>
            <a:ext cx="7818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资金违规空转</a:t>
            </a:r>
            <a:endParaRPr lang="en-US" sz="900" dirty="0"/>
          </a:p>
        </p:txBody>
      </p:sp>
      <p:sp>
        <p:nvSpPr>
          <p:cNvPr id="32" name="Text 21"/>
          <p:cNvSpPr txBox="1"/>
          <p:nvPr/>
        </p:nvSpPr>
        <p:spPr>
          <a:xfrm>
            <a:off x="3326587" y="6353251"/>
            <a:ext cx="89611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地缘政治黑天鹅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6215177" y="5619902"/>
            <a:ext cx="5410505" cy="1123798"/>
          </a:xfrm>
          <a:prstGeom prst="roundRect">
            <a:avLst>
              <a:gd name="adj" fmla="val 6896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443777" y="5790895"/>
            <a:ext cx="152705" cy="152705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6443777" y="6038698"/>
            <a:ext cx="1609344" cy="552298"/>
          </a:xfrm>
          <a:prstGeom prst="roundRect">
            <a:avLst>
              <a:gd name="adj" fmla="val 1141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8128102" y="6038698"/>
            <a:ext cx="1609344" cy="552298"/>
          </a:xfrm>
          <a:prstGeom prst="roundRect">
            <a:avLst>
              <a:gd name="adj" fmla="val 1141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9812426" y="6038698"/>
            <a:ext cx="1609344" cy="552298"/>
          </a:xfrm>
          <a:prstGeom prst="roundRect">
            <a:avLst>
              <a:gd name="adj" fmla="val 1141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866851" y="1466698"/>
            <a:ext cx="4657954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BBF2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终局图景：内部大放水 (QE) + 外部相对强势</a:t>
            </a:r>
            <a:endParaRPr lang="en-US" sz="1800" dirty="0"/>
          </a:p>
        </p:txBody>
      </p:sp>
      <p:sp>
        <p:nvSpPr>
          <p:cNvPr id="39" name="Text 27"/>
          <p:cNvSpPr txBox="1"/>
          <p:nvPr/>
        </p:nvSpPr>
        <p:spPr>
          <a:xfrm>
            <a:off x="866851" y="1857146"/>
            <a:ext cx="71487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A股将历史性接棒房地产，成为容纳百万亿资金的超级蓄水池。4000点不仅是目标，更是新一轮“水牛”行情的起跑线。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609905" y="2428646"/>
            <a:ext cx="21625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三大战略效应 (STRATEGIC EFFECTS)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1324051" y="2915107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资本虹吸效应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1324051" y="3133649"/>
            <a:ext cx="46204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内资“储蓄搬家”叠加外资“恐慌性抢筹”，全球资金进行高低切换，涌入A股估值洼地。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1324051" y="3724351"/>
            <a:ext cx="7671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铸币税优势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1324051" y="3943807"/>
            <a:ext cx="4782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利用坚挺的人民币汇率，以低成本在海外收购矿产、能源与技术，完成国家资产负债表升维。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324051" y="4533595"/>
            <a:ext cx="11676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产业结构自然选择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1324051" y="4753051"/>
            <a:ext cx="42108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升值环境淘汰落后产能，筛选出华为、比亚迪等拥有核心护城河的高端制造巨头。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7744054" y="2638044"/>
            <a:ext cx="20674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配置指引 (Asset Allocation)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7905902" y="3209544"/>
            <a:ext cx="154807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高股息央国企 / 红利价值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7905902" y="3390595"/>
            <a:ext cx="21534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直接受益于“回购增持再贷款”套利逻辑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7905902" y="3857854"/>
            <a:ext cx="10149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券商 / 宽基指数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7905902" y="4038905"/>
            <a:ext cx="1810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牛市旗手，流动性泛滥的首要载体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7905902" y="4505249"/>
            <a:ext cx="90068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政策锚定方向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7905902" y="4762195"/>
            <a:ext cx="694944" cy="200254"/>
          </a:xfrm>
          <a:prstGeom prst="roundRect">
            <a:avLst>
              <a:gd name="adj" fmla="val 86975"/>
            </a:avLst>
          </a:prstGeom>
          <a:solidFill>
            <a:srgbClr val="3B82F6">
              <a:alpha val="20000"/>
            </a:srgbClr>
          </a:solidFill>
        </p:spPr>
      </p:sp>
      <p:sp>
        <p:nvSpPr>
          <p:cNvPr id="54" name="Text 42"/>
          <p:cNvSpPr txBox="1"/>
          <p:nvPr/>
        </p:nvSpPr>
        <p:spPr>
          <a:xfrm>
            <a:off x="7962595" y="4781398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科创硬科技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8667598" y="4762195"/>
            <a:ext cx="580644" cy="200254"/>
          </a:xfrm>
          <a:prstGeom prst="roundRect">
            <a:avLst>
              <a:gd name="adj" fmla="val 86975"/>
            </a:avLst>
          </a:prstGeom>
          <a:solidFill>
            <a:srgbClr val="3B82F6">
              <a:alpha val="20000"/>
            </a:srgbClr>
          </a:solidFill>
        </p:spPr>
      </p:sp>
      <p:sp>
        <p:nvSpPr>
          <p:cNvPr id="56" name="Text 44"/>
          <p:cNvSpPr txBox="1"/>
          <p:nvPr/>
        </p:nvSpPr>
        <p:spPr>
          <a:xfrm>
            <a:off x="8725205" y="4781398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绿色金融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9315907" y="4762195"/>
            <a:ext cx="580644" cy="200254"/>
          </a:xfrm>
          <a:prstGeom prst="roundRect">
            <a:avLst>
              <a:gd name="adj" fmla="val 86975"/>
            </a:avLst>
          </a:prstGeom>
          <a:solidFill>
            <a:srgbClr val="3B82F6">
              <a:alpha val="20000"/>
            </a:srgbClr>
          </a:solidFill>
        </p:spPr>
      </p:sp>
      <p:sp>
        <p:nvSpPr>
          <p:cNvPr id="58" name="Text 46"/>
          <p:cNvSpPr txBox="1"/>
          <p:nvPr/>
        </p:nvSpPr>
        <p:spPr>
          <a:xfrm>
            <a:off x="9372600" y="4781398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养老消费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1028700" y="5857646"/>
            <a:ext cx="11100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风险提示 (Risks)</a:t>
            </a:r>
            <a:endParaRPr lang="en-US" sz="1000" dirty="0"/>
          </a:p>
        </p:txBody>
      </p:sp>
      <p:sp>
        <p:nvSpPr>
          <p:cNvPr id="60" name="Text 48"/>
          <p:cNvSpPr txBox="1"/>
          <p:nvPr/>
        </p:nvSpPr>
        <p:spPr>
          <a:xfrm>
            <a:off x="6672377" y="5772607"/>
            <a:ext cx="196778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核心跟踪指标 (Key Indicators)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6529730" y="6115507"/>
            <a:ext cx="5907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降准/MLF</a:t>
            </a:r>
            <a:endParaRPr lang="en-US" sz="900" dirty="0"/>
          </a:p>
        </p:txBody>
      </p:sp>
      <p:sp>
        <p:nvSpPr>
          <p:cNvPr id="62" name="Text 50"/>
          <p:cNvSpPr txBox="1"/>
          <p:nvPr/>
        </p:nvSpPr>
        <p:spPr>
          <a:xfrm>
            <a:off x="6529730" y="6277356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宽松节奏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214055" y="6115507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再贷款额度</a:t>
            </a:r>
            <a:endParaRPr lang="en-US" sz="900" dirty="0"/>
          </a:p>
        </p:txBody>
      </p:sp>
      <p:sp>
        <p:nvSpPr>
          <p:cNvPr id="64" name="Text 52"/>
          <p:cNvSpPr txBox="1"/>
          <p:nvPr/>
        </p:nvSpPr>
        <p:spPr>
          <a:xfrm>
            <a:off x="8214055" y="6277356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精准滴灌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9898380" y="6115507"/>
            <a:ext cx="553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中美利差</a:t>
            </a:r>
            <a:endParaRPr lang="en-US" sz="900" dirty="0"/>
          </a:p>
        </p:txBody>
      </p:sp>
      <p:sp>
        <p:nvSpPr>
          <p:cNvPr id="66" name="Text 54"/>
          <p:cNvSpPr txBox="1"/>
          <p:nvPr/>
        </p:nvSpPr>
        <p:spPr>
          <a:xfrm>
            <a:off x="9898380" y="6277356"/>
            <a:ext cx="7342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汇率压力</a:t>
            </a:r>
            <a:endParaRPr lang="en-US" sz="1200" dirty="0"/>
          </a:p>
        </p:txBody>
      </p:sp>
      <p:sp>
        <p:nvSpPr>
          <p:cNvPr id="67" name="Shape 55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8" name="Shape 56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69" name="Text 57"/>
          <p:cNvSpPr txBox="1"/>
          <p:nvPr/>
        </p:nvSpPr>
        <p:spPr>
          <a:xfrm>
            <a:off x="571500" y="200254"/>
            <a:ext cx="2786177" cy="4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终局展望与行动建议</a:t>
            </a:r>
            <a:endParaRPr lang="en-US" sz="2200" dirty="0"/>
          </a:p>
        </p:txBody>
      </p:sp>
      <p:sp>
        <p:nvSpPr>
          <p:cNvPr id="70" name="Text 58"/>
          <p:cNvSpPr txBox="1"/>
          <p:nvPr/>
        </p:nvSpPr>
        <p:spPr>
          <a:xfrm>
            <a:off x="571500" y="647395"/>
            <a:ext cx="5744261" cy="277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Final Outlook &amp; Action Plan: Capturing the Historic Opportunity</a:t>
            </a:r>
            <a:endParaRPr lang="en-US" sz="1500" dirty="0"/>
          </a:p>
        </p:txBody>
      </p:sp>
      <p:sp>
        <p:nvSpPr>
          <p:cNvPr id="71" name="Shape 59"/>
          <p:cNvSpPr/>
          <p:nvPr/>
        </p:nvSpPr>
        <p:spPr>
          <a:xfrm>
            <a:off x="9756648" y="694944"/>
            <a:ext cx="1867205" cy="256946"/>
          </a:xfrm>
          <a:prstGeom prst="roundRect">
            <a:avLst>
              <a:gd name="adj" fmla="val 527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60"/>
          <p:cNvSpPr txBox="1"/>
          <p:nvPr/>
        </p:nvSpPr>
        <p:spPr>
          <a:xfrm>
            <a:off x="9880092" y="743407"/>
            <a:ext cx="17053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STRATEGIC CONCLUSION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7013</Words>
  <Application>WPS 演示</Application>
  <PresentationFormat>On-screen Show (16:9)</PresentationFormat>
  <Paragraphs>852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Noto Sans SC</vt:lpstr>
      <vt:lpstr>Noto Sans SC</vt:lpstr>
      <vt:lpstr>Noto Serif SC</vt:lpstr>
      <vt:lpstr>Noto Serif SC</vt:lpstr>
      <vt:lpstr>Mistral</vt:lpstr>
      <vt:lpstr>Courier New</vt:lpstr>
      <vt:lpstr>Courier New</vt:lpstr>
      <vt:lpstr>Courier New</vt:lpstr>
      <vt:lpstr>Impact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2</cp:revision>
  <dcterms:created xsi:type="dcterms:W3CDTF">2025-12-13T14:57:00Z</dcterms:created>
  <dcterms:modified xsi:type="dcterms:W3CDTF">2025-12-21T03:56:06Z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729A36ABADF34192B7040360A48FCA96_12</vt:lpwstr>
  </property>
</Properties>
</file>