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22"/>
  </p:handoutMasterIdLst>
  <p:sldIdLst>
    <p:sldId id="274" r:id="rId3"/>
    <p:sldId id="258" r:id="rId5"/>
    <p:sldId id="259" r:id="rId6"/>
    <p:sldId id="260" r:id="rId7"/>
    <p:sldId id="261" r:id="rId8"/>
    <p:sldId id="262" r:id="rId9"/>
    <p:sldId id="263" r:id="rId10"/>
    <p:sldId id="266" r:id="rId11"/>
    <p:sldId id="264" r:id="rId12"/>
    <p:sldId id="265" r:id="rId13"/>
    <p:sldId id="275" r:id="rId14"/>
    <p:sldId id="267" r:id="rId15"/>
    <p:sldId id="269" r:id="rId16"/>
    <p:sldId id="268" r:id="rId17"/>
    <p:sldId id="270" r:id="rId18"/>
    <p:sldId id="271" r:id="rId19"/>
    <p:sldId id="272" r:id="rId20"/>
    <p:sldId id="273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7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7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20.png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23.png"/><Relationship Id="rId10" Type="http://schemas.openxmlformats.org/officeDocument/2006/relationships/image" Target="../media/image22.png"/><Relationship Id="rId1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31.png"/><Relationship Id="rId7" Type="http://schemas.openxmlformats.org/officeDocument/2006/relationships/image" Target="../media/image30.png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43.png"/><Relationship Id="rId7" Type="http://schemas.openxmlformats.org/officeDocument/2006/relationships/image" Target="../media/image42.png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51.png"/><Relationship Id="rId7" Type="http://schemas.openxmlformats.org/officeDocument/2006/relationships/image" Target="../media/image50.png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0" Type="http://schemas.openxmlformats.org/officeDocument/2006/relationships/notesSlide" Target="../notesSlides/notesSlide7.xml"/><Relationship Id="rId1" Type="http://schemas.openxmlformats.org/officeDocument/2006/relationships/image" Target="../media/image44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60.png"/><Relationship Id="rId8" Type="http://schemas.openxmlformats.org/officeDocument/2006/relationships/image" Target="../media/image59.png"/><Relationship Id="rId7" Type="http://schemas.openxmlformats.org/officeDocument/2006/relationships/image" Target="../media/image58.png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52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9.png"/><Relationship Id="rId8" Type="http://schemas.openxmlformats.org/officeDocument/2006/relationships/image" Target="../media/image68.png"/><Relationship Id="rId7" Type="http://schemas.openxmlformats.org/officeDocument/2006/relationships/image" Target="../media/image67.png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3" Type="http://schemas.openxmlformats.org/officeDocument/2006/relationships/notesSlide" Target="../notesSlides/notesSlide9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71.png"/><Relationship Id="rId10" Type="http://schemas.openxmlformats.org/officeDocument/2006/relationships/image" Target="../media/image70.png"/><Relationship Id="rId1" Type="http://schemas.openxmlformats.org/officeDocument/2006/relationships/image" Target="../media/image6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8.png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image" Target="../media/image72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6.png"/><Relationship Id="rId7" Type="http://schemas.openxmlformats.org/officeDocument/2006/relationships/image" Target="../media/image85.png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0" Type="http://schemas.openxmlformats.org/officeDocument/2006/relationships/notesSlide" Target="../notesSlides/notesSlide11.xml"/><Relationship Id="rId1" Type="http://schemas.openxmlformats.org/officeDocument/2006/relationships/image" Target="../media/image79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5.png"/><Relationship Id="rId8" Type="http://schemas.openxmlformats.org/officeDocument/2006/relationships/image" Target="../media/image94.png"/><Relationship Id="rId7" Type="http://schemas.openxmlformats.org/officeDocument/2006/relationships/image" Target="../media/image93.png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2" Type="http://schemas.openxmlformats.org/officeDocument/2006/relationships/notesSlide" Target="../notesSlides/notesSlide12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96.png"/><Relationship Id="rId1" Type="http://schemas.openxmlformats.org/officeDocument/2006/relationships/image" Target="../media/image87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04.png"/><Relationship Id="rId7" Type="http://schemas.openxmlformats.org/officeDocument/2006/relationships/image" Target="../media/image103.png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0" Type="http://schemas.openxmlformats.org/officeDocument/2006/relationships/notesSlide" Target="../notesSlides/notesSlide13.xml"/><Relationship Id="rId1" Type="http://schemas.openxmlformats.org/officeDocument/2006/relationships/image" Target="../media/image97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12.png"/><Relationship Id="rId7" Type="http://schemas.openxmlformats.org/officeDocument/2006/relationships/image" Target="../media/image111.png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0" Type="http://schemas.openxmlformats.org/officeDocument/2006/relationships/notesSlide" Target="../notesSlides/notesSlide14.xml"/><Relationship Id="rId1" Type="http://schemas.openxmlformats.org/officeDocument/2006/relationships/image" Target="../media/image105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17.png"/><Relationship Id="rId4" Type="http://schemas.openxmlformats.org/officeDocument/2006/relationships/image" Target="../media/image116.png"/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image" Target="../media/image113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8.png"/><Relationship Id="rId3" Type="http://schemas.openxmlformats.org/officeDocument/2006/relationships/image" Target="../media/image119.png"/><Relationship Id="rId2" Type="http://schemas.openxmlformats.org/officeDocument/2006/relationships/image" Target="../media/image37.png"/><Relationship Id="rId1" Type="http://schemas.openxmlformats.org/officeDocument/2006/relationships/image" Target="../media/image118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26.png"/><Relationship Id="rId7" Type="http://schemas.openxmlformats.org/officeDocument/2006/relationships/image" Target="../media/image82.png"/><Relationship Id="rId6" Type="http://schemas.openxmlformats.org/officeDocument/2006/relationships/image" Target="../media/image125.png"/><Relationship Id="rId5" Type="http://schemas.openxmlformats.org/officeDocument/2006/relationships/image" Target="../media/image124.png"/><Relationship Id="rId4" Type="http://schemas.openxmlformats.org/officeDocument/2006/relationships/image" Target="../media/image123.png"/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0" Type="http://schemas.openxmlformats.org/officeDocument/2006/relationships/notesSlide" Target="../notesSlides/notesSlide17.xml"/><Relationship Id="rId1" Type="http://schemas.openxmlformats.org/officeDocument/2006/relationships/image" Target="../media/image120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5.png"/><Relationship Id="rId8" Type="http://schemas.openxmlformats.org/officeDocument/2006/relationships/image" Target="../media/image134.png"/><Relationship Id="rId7" Type="http://schemas.openxmlformats.org/officeDocument/2006/relationships/image" Target="../media/image133.png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4" Type="http://schemas.openxmlformats.org/officeDocument/2006/relationships/image" Target="../media/image130.png"/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1" Type="http://schemas.openxmlformats.org/officeDocument/2006/relationships/notesSlide" Target="../notesSlides/notesSlide18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txBody>
          <a:bodyPr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304495" cy="304495"/>
          </a:xfrm>
          <a:prstGeom prst="rect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0" y="6172683"/>
            <a:ext cx="304495" cy="304495"/>
          </a:xfrm>
          <a:prstGeom prst="rect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582010" y="2257425"/>
            <a:ext cx="800100" cy="914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067837" y="1943100"/>
            <a:ext cx="1828800" cy="1828800"/>
          </a:xfrm>
          <a:prstGeom prst="roundRect">
            <a:avLst>
              <a:gd name="adj" fmla="val 2083"/>
            </a:avLst>
          </a:prstGeom>
          <a:noFill/>
          <a:ln w="25400">
            <a:solidFill>
              <a:srgbClr val="4B556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86430" y="3771748"/>
            <a:ext cx="1686154" cy="8293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E5E7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炒股</a:t>
            </a:r>
            <a:endParaRPr lang="en-US" sz="4500" dirty="0"/>
          </a:p>
        </p:txBody>
      </p:sp>
      <p:sp>
        <p:nvSpPr>
          <p:cNvPr id="11" name="Text 8"/>
          <p:cNvSpPr txBox="1"/>
          <p:nvPr/>
        </p:nvSpPr>
        <p:spPr>
          <a:xfrm>
            <a:off x="3642995" y="3504260"/>
            <a:ext cx="73883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STRATEGY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839612" y="2685263"/>
            <a:ext cx="715061" cy="4864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i="1" dirty="0">
                <a:solidFill>
                  <a:srgbClr val="D4AF37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VS</a:t>
            </a:r>
            <a:endParaRPr lang="en-US" sz="2700" dirty="0"/>
          </a:p>
        </p:txBody>
      </p:sp>
      <p:sp>
        <p:nvSpPr>
          <p:cNvPr id="13" name="Shape 10"/>
          <p:cNvSpPr/>
          <p:nvPr/>
        </p:nvSpPr>
        <p:spPr>
          <a:xfrm>
            <a:off x="7234555" y="1829435"/>
            <a:ext cx="1874520" cy="1933575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4B5563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rcRect t="-4310" b="-4310"/>
          <a:stretch>
            <a:fillRect/>
          </a:stretch>
        </p:blipFill>
        <p:spPr>
          <a:xfrm>
            <a:off x="7496531" y="2021332"/>
            <a:ext cx="1304849" cy="11338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594600" y="3771748"/>
            <a:ext cx="1686154" cy="8293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E5E7E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赌博</a:t>
            </a:r>
            <a:endParaRPr lang="en-US" sz="4500" dirty="0"/>
          </a:p>
        </p:txBody>
      </p:sp>
      <p:sp>
        <p:nvSpPr>
          <p:cNvPr id="16" name="Text 12"/>
          <p:cNvSpPr txBox="1"/>
          <p:nvPr/>
        </p:nvSpPr>
        <p:spPr>
          <a:xfrm>
            <a:off x="7860309" y="3428695"/>
            <a:ext cx="62453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CHANCE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639105" y="4167505"/>
            <a:ext cx="914400" cy="38405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18" name="Text 14"/>
          <p:cNvSpPr txBox="1"/>
          <p:nvPr/>
        </p:nvSpPr>
        <p:spPr>
          <a:xfrm>
            <a:off x="682295" y="5057394"/>
            <a:ext cx="6143854" cy="991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博弈的智慧</a:t>
            </a:r>
            <a:endParaRPr lang="en-US" sz="5400" dirty="0"/>
          </a:p>
        </p:txBody>
      </p:sp>
      <p:sp>
        <p:nvSpPr>
          <p:cNvPr id="19" name="Text 15"/>
          <p:cNvSpPr txBox="1"/>
          <p:nvPr/>
        </p:nvSpPr>
        <p:spPr>
          <a:xfrm>
            <a:off x="762305" y="6049264"/>
            <a:ext cx="345826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CA3AF">
                    <a:alpha val="6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THE WISDOM OF CONTINUOUS GAMES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Text 1"/>
          <p:cNvSpPr txBox="1"/>
          <p:nvPr/>
        </p:nvSpPr>
        <p:spPr>
          <a:xfrm>
            <a:off x="4400093" y="6038698"/>
            <a:ext cx="3486607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核心启示： 避免把连续的股票交易，做成了一次性的"猜硬币"。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988906" y="6038698"/>
            <a:ext cx="199156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P.03 | 炒股与赌博：连续性博弈的智慧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1143000"/>
            <a:ext cx="12191695" cy="9144"/>
          </a:xfrm>
          <a:prstGeom prst="rect">
            <a:avLst/>
          </a:prstGeom>
          <a:solidFill>
            <a:srgbClr val="1F2937"/>
          </a:solidFill>
        </p:spPr>
      </p:sp>
      <p:sp>
        <p:nvSpPr>
          <p:cNvPr id="6" name="Text 4"/>
          <p:cNvSpPr txBox="1"/>
          <p:nvPr/>
        </p:nvSpPr>
        <p:spPr>
          <a:xfrm>
            <a:off x="609905" y="552298"/>
            <a:ext cx="5401361" cy="4864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本质区别：连续性 vs 一次性事件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10116007" y="800100"/>
            <a:ext cx="156728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博弈论视角下的深度解析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371246"/>
            <a:ext cx="19248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4AF37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FUNDAMENTAL DIFFERENCE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86246" y="1944014"/>
            <a:ext cx="19202" cy="3962095"/>
          </a:xfrm>
          <a:prstGeom prst="rect">
            <a:avLst/>
          </a:prstGeom>
          <a:solidFill>
            <a:srgbClr val="D4AF37">
              <a:alpha val="30000"/>
            </a:srgbClr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>
            <a:alphaModFix amt="5000"/>
          </a:blip>
          <a:srcRect/>
          <a:stretch>
            <a:fillRect/>
          </a:stretch>
        </p:blipFill>
        <p:spPr>
          <a:xfrm>
            <a:off x="5513832" y="1526134"/>
            <a:ext cx="219456" cy="21945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57200" y="1609344"/>
            <a:ext cx="2723998" cy="362102"/>
          </a:xfrm>
          <a:prstGeom prst="roundRect">
            <a:avLst>
              <a:gd name="adj" fmla="val 252526"/>
            </a:avLst>
          </a:prstGeom>
          <a:solidFill>
            <a:srgbClr val="1E3A8A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rcRect l="-1507" r="-1507"/>
          <a:stretch>
            <a:fillRect/>
          </a:stretch>
        </p:blipFill>
        <p:spPr>
          <a:xfrm>
            <a:off x="619049" y="1723644"/>
            <a:ext cx="171907" cy="1335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905256" y="1695298"/>
            <a:ext cx="22146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连续博弈 (CONTINUOUS GAME)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2085746"/>
            <a:ext cx="2500884" cy="419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炒股·连续性事件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2553005"/>
            <a:ext cx="287213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FDBFE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价格如流水，是一个动态演变的过程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57200" y="3152851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1E3A8A">
              <a:alpha val="40000"/>
            </a:srgbClr>
          </a:solidFill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rcRect t="-180" b="-180"/>
          <a:stretch>
            <a:fillRect/>
          </a:stretch>
        </p:blipFill>
        <p:spPr>
          <a:xfrm>
            <a:off x="599846" y="3267151"/>
            <a:ext cx="95098" cy="1527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90295" y="3105302"/>
            <a:ext cx="128656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买入只是开始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990295" y="3429000"/>
            <a:ext cx="4543654" cy="476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决策并未终结，你拥有后续的控制权。可以随时决定持有、加仓、减仓或清仓。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57200" y="4181551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1E3A8A">
              <a:alpha val="40000"/>
            </a:srgbClr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rcRect l="-33" r="-33"/>
          <a:stretch>
            <a:fillRect/>
          </a:stretch>
        </p:blipFill>
        <p:spPr>
          <a:xfrm>
            <a:off x="562356" y="4295851"/>
            <a:ext cx="171907" cy="15270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90295" y="4134002"/>
            <a:ext cx="905256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顺势修正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90295" y="4457700"/>
            <a:ext cx="4524451" cy="476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根据价格的"流向"和"惯性"调整策略。哪怕入场点错了，也可以通过后续操作挽回。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57200" y="5210251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1E3A8A">
              <a:alpha val="40000"/>
            </a:srgbClr>
          </a:solidFill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rcRect t="-100" b="-100"/>
          <a:stretch>
            <a:fillRect/>
          </a:stretch>
        </p:blipFill>
        <p:spPr>
          <a:xfrm>
            <a:off x="590702" y="5324551"/>
            <a:ext cx="114300" cy="15270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90295" y="5162702"/>
            <a:ext cx="109545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时间的朋友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990295" y="5486400"/>
            <a:ext cx="4543654" cy="476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只要股票不退市，博弈就没有终局。你可以一直拿下去，直到逻辑兑现。</a:t>
            </a:r>
            <a:endParaRPr lang="en-US" sz="12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>
            <a:alphaModFix amt="5000"/>
          </a:blip>
          <a:srcRect t="-7829" b="-7829"/>
          <a:stretch>
            <a:fillRect/>
          </a:stretch>
        </p:blipFill>
        <p:spPr>
          <a:xfrm>
            <a:off x="11578133" y="1513332"/>
            <a:ext cx="256946" cy="237744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6705295" y="1857146"/>
            <a:ext cx="2409444" cy="362102"/>
          </a:xfrm>
          <a:prstGeom prst="roundRect">
            <a:avLst>
              <a:gd name="adj" fmla="val 252526"/>
            </a:avLst>
          </a:prstGeom>
          <a:solidFill>
            <a:srgbClr val="7F1D1D">
              <a:alpha val="3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7"/>
          <a:srcRect t="-1100" b="-1100"/>
          <a:stretch>
            <a:fillRect/>
          </a:stretch>
        </p:blipFill>
        <p:spPr>
          <a:xfrm>
            <a:off x="6867144" y="1971446"/>
            <a:ext cx="114300" cy="133502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7095744" y="1943100"/>
            <a:ext cx="195773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717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离散博弈 (DISCRETE GAME)</a:t>
            </a:r>
            <a:endParaRPr lang="en-US" sz="1000" dirty="0"/>
          </a:p>
        </p:txBody>
      </p:sp>
      <p:sp>
        <p:nvSpPr>
          <p:cNvPr id="32" name="Text 23"/>
          <p:cNvSpPr txBox="1"/>
          <p:nvPr/>
        </p:nvSpPr>
        <p:spPr>
          <a:xfrm>
            <a:off x="6705295" y="2333549"/>
            <a:ext cx="2500884" cy="419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赌博·一次性事件</a:t>
            </a:r>
            <a:endParaRPr lang="en-US" sz="2200" dirty="0"/>
          </a:p>
        </p:txBody>
      </p:sp>
      <p:sp>
        <p:nvSpPr>
          <p:cNvPr id="33" name="Text 24"/>
          <p:cNvSpPr txBox="1"/>
          <p:nvPr/>
        </p:nvSpPr>
        <p:spPr>
          <a:xfrm>
            <a:off x="6705295" y="2800807"/>
            <a:ext cx="2015338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ECACA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结果瞬间坍塌，非赢即输</a:t>
            </a:r>
            <a:endParaRPr lang="en-US" sz="1300" dirty="0"/>
          </a:p>
        </p:txBody>
      </p:sp>
      <p:sp>
        <p:nvSpPr>
          <p:cNvPr id="34" name="Shape 25"/>
          <p:cNvSpPr/>
          <p:nvPr/>
        </p:nvSpPr>
        <p:spPr>
          <a:xfrm>
            <a:off x="6705295" y="3400654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7F1D1D">
              <a:alpha val="40000"/>
            </a:srgbClr>
          </a:solidFill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819595" y="3514954"/>
            <a:ext cx="152705" cy="152705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7239305" y="3353105"/>
            <a:ext cx="109545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下注即定局</a:t>
            </a:r>
            <a:endParaRPr lang="en-US" sz="1500" dirty="0"/>
          </a:p>
        </p:txBody>
      </p:sp>
      <p:sp>
        <p:nvSpPr>
          <p:cNvPr id="37" name="Text 27"/>
          <p:cNvSpPr txBox="1"/>
          <p:nvPr/>
        </p:nvSpPr>
        <p:spPr>
          <a:xfrm>
            <a:off x="7239305" y="3676802"/>
            <a:ext cx="45436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无论是抛硬币还是开牌，一旦离手，结果就已经注定，无法更改。</a:t>
            </a:r>
            <a:endParaRPr lang="en-US" sz="1200" dirty="0"/>
          </a:p>
        </p:txBody>
      </p:sp>
      <p:sp>
        <p:nvSpPr>
          <p:cNvPr id="38" name="Shape 28"/>
          <p:cNvSpPr/>
          <p:nvPr/>
        </p:nvSpPr>
        <p:spPr>
          <a:xfrm>
            <a:off x="6705295" y="4181551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7F1D1D">
              <a:alpha val="40000"/>
            </a:srgbClr>
          </a:solidFill>
        </p:spPr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6819595" y="4295851"/>
            <a:ext cx="152705" cy="152705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7239305" y="4134002"/>
            <a:ext cx="109545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无修正空间</a:t>
            </a:r>
            <a:endParaRPr lang="en-US" sz="1500" dirty="0"/>
          </a:p>
        </p:txBody>
      </p:sp>
      <p:sp>
        <p:nvSpPr>
          <p:cNvPr id="41" name="Text 30"/>
          <p:cNvSpPr txBox="1"/>
          <p:nvPr/>
        </p:nvSpPr>
        <p:spPr>
          <a:xfrm>
            <a:off x="7239305" y="4457700"/>
            <a:ext cx="4610405" cy="476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只有赢或输两种结果。当你压上筹码，没办法中途喊停说"把钱还给我"。</a:t>
            </a:r>
            <a:endParaRPr lang="en-US" sz="1200" dirty="0"/>
          </a:p>
        </p:txBody>
      </p:sp>
      <p:sp>
        <p:nvSpPr>
          <p:cNvPr id="42" name="Shape 31"/>
          <p:cNvSpPr/>
          <p:nvPr/>
        </p:nvSpPr>
        <p:spPr>
          <a:xfrm>
            <a:off x="6705295" y="5210251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7F1D1D">
              <a:alpha val="40000"/>
            </a:srgbClr>
          </a:solidFill>
        </p:spPr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6819595" y="5324551"/>
            <a:ext cx="152705" cy="152705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7239305" y="5162702"/>
            <a:ext cx="905256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随机离散</a:t>
            </a:r>
            <a:endParaRPr lang="en-US" sz="1500" dirty="0"/>
          </a:p>
        </p:txBody>
      </p:sp>
      <p:sp>
        <p:nvSpPr>
          <p:cNvPr id="45" name="Text 33"/>
          <p:cNvSpPr txBox="1"/>
          <p:nvPr/>
        </p:nvSpPr>
        <p:spPr>
          <a:xfrm>
            <a:off x="7239305" y="5486400"/>
            <a:ext cx="40864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每次事件都是独立的，难以通过策略迭代来改变单次概率。</a:t>
            </a:r>
            <a:endParaRPr lang="en-US" sz="1200" dirty="0"/>
          </a:p>
        </p:txBody>
      </p:sp>
      <p:sp>
        <p:nvSpPr>
          <p:cNvPr id="46" name="Shape 34"/>
          <p:cNvSpPr/>
          <p:nvPr/>
        </p:nvSpPr>
        <p:spPr>
          <a:xfrm>
            <a:off x="5810098" y="3504895"/>
            <a:ext cx="571500" cy="57150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47" name="Text 35"/>
          <p:cNvSpPr txBox="1"/>
          <p:nvPr/>
        </p:nvSpPr>
        <p:spPr>
          <a:xfrm>
            <a:off x="5946343" y="3619195"/>
            <a:ext cx="476402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4AF37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VS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63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Text 1"/>
          <p:cNvSpPr txBox="1"/>
          <p:nvPr/>
        </p:nvSpPr>
        <p:spPr>
          <a:xfrm>
            <a:off x="9988906" y="5429707"/>
            <a:ext cx="199156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P.04 | 炒股与赌博：连续性博弈的智慧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1143000"/>
            <a:ext cx="12191695" cy="9144"/>
          </a:xfrm>
          <a:prstGeom prst="rect">
            <a:avLst/>
          </a:prstGeom>
          <a:solidFill>
            <a:srgbClr val="1F2937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rcRect l="-266" r="-266"/>
          <a:stretch>
            <a:fillRect/>
          </a:stretch>
        </p:blipFill>
        <p:spPr>
          <a:xfrm>
            <a:off x="11259007" y="676656"/>
            <a:ext cx="323698" cy="28620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09905" y="552298"/>
            <a:ext cx="3076956" cy="4864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控制结果的所有权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10178186" y="638251"/>
            <a:ext cx="10195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TEMPLATE TYPE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087661" y="800100"/>
            <a:ext cx="111922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4AF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PROCESS FLOW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09905" y="371246"/>
            <a:ext cx="164866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4AF37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STRATEGIC OWNERSHIP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09905" y="2046427"/>
            <a:ext cx="3504895" cy="1514246"/>
          </a:xfrm>
          <a:prstGeom prst="roundRect">
            <a:avLst>
              <a:gd name="adj" fmla="val 4557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304800" dist="762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09905" y="3934663"/>
            <a:ext cx="362102" cy="381305"/>
          </a:xfrm>
          <a:prstGeom prst="roundRect">
            <a:avLst>
              <a:gd name="adj" fmla="val 252526"/>
            </a:avLst>
          </a:prstGeom>
          <a:noFill/>
          <a:ln w="12700">
            <a:solidFill>
              <a:srgbClr val="4B5563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rcRect l="-33" r="-33"/>
          <a:stretch>
            <a:fillRect/>
          </a:stretch>
        </p:blipFill>
        <p:spPr>
          <a:xfrm>
            <a:off x="703174" y="4048963"/>
            <a:ext cx="171907" cy="15270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09905" y="4544568"/>
            <a:ext cx="381305" cy="381305"/>
          </a:xfrm>
          <a:prstGeom prst="roundRect">
            <a:avLst>
              <a:gd name="adj" fmla="val 239808"/>
            </a:avLst>
          </a:prstGeom>
          <a:noFill/>
          <a:ln w="12700">
            <a:solidFill>
              <a:srgbClr val="4B5563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24205" y="4658868"/>
            <a:ext cx="152705" cy="15270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47649" y="2275027"/>
            <a:ext cx="300106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你无法控制风向，但可以调整风帆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847649" y="2675534"/>
            <a:ext cx="3100730" cy="6291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当你买入一只股票时，你决定不了它未来的涨跌（随机性）。但你可以决定在不同情况发生时，你该如何行动（确定性）。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1121054" y="3858768"/>
            <a:ext cx="7342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拒绝幻想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1121054" y="4078224"/>
            <a:ext cx="3001061" cy="3145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不要把精力花在期待"涨起来"，而是准备好"如果不涨怎么办"。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1143000" y="4544568"/>
            <a:ext cx="8860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策略三要素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1143000" y="4764024"/>
            <a:ext cx="16962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预设条件 + 触发阈值 + 执行纪律</a:t>
            </a:r>
            <a:endParaRPr lang="en-US" sz="9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572000" y="1457554"/>
            <a:ext cx="7010705" cy="4058107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858000" y="1457554"/>
            <a:ext cx="2438705" cy="972007"/>
          </a:xfrm>
          <a:prstGeom prst="roundRect">
            <a:avLst>
              <a:gd name="adj" fmla="val 7378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304800" dist="762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24705" y="2885846"/>
            <a:ext cx="2133295" cy="972007"/>
          </a:xfrm>
          <a:prstGeom prst="roundRect">
            <a:avLst>
              <a:gd name="adj" fmla="val 7378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304800" dist="762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010705" y="2885846"/>
            <a:ext cx="2133295" cy="972007"/>
          </a:xfrm>
          <a:prstGeom prst="roundRect">
            <a:avLst>
              <a:gd name="adj" fmla="val 7378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304800" dist="762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296705" y="2885846"/>
            <a:ext cx="2133295" cy="972007"/>
          </a:xfrm>
          <a:prstGeom prst="roundRect">
            <a:avLst>
              <a:gd name="adj" fmla="val 7378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304800" dist="762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600700" y="4315054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C2626"/>
          </a:solidFill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715000" y="4429354"/>
            <a:ext cx="152705" cy="152705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4724705" y="4809744"/>
            <a:ext cx="2133295" cy="705002"/>
          </a:xfrm>
          <a:prstGeom prst="roundRect">
            <a:avLst>
              <a:gd name="adj" fmla="val 7011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304800" dist="762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7886700" y="4315054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4B5563"/>
          </a:solidFill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6"/>
          <a:srcRect t="-180" b="-180"/>
          <a:stretch>
            <a:fillRect/>
          </a:stretch>
        </p:blipFill>
        <p:spPr>
          <a:xfrm>
            <a:off x="7981798" y="4429354"/>
            <a:ext cx="190195" cy="152705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7010705" y="4809744"/>
            <a:ext cx="2133295" cy="705002"/>
          </a:xfrm>
          <a:prstGeom prst="roundRect">
            <a:avLst>
              <a:gd name="adj" fmla="val 7011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304800" dist="762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10172700" y="4315054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4AF37"/>
          </a:solidFill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0287000" y="4429354"/>
            <a:ext cx="152705" cy="152705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9296705" y="4809744"/>
            <a:ext cx="2133295" cy="705002"/>
          </a:xfrm>
          <a:prstGeom prst="roundRect">
            <a:avLst>
              <a:gd name="adj" fmla="val 7011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304800" dist="762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Text 26"/>
          <p:cNvSpPr txBox="1"/>
          <p:nvPr/>
        </p:nvSpPr>
        <p:spPr>
          <a:xfrm>
            <a:off x="7472477" y="1609344"/>
            <a:ext cx="12957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1: INITIATION</a:t>
            </a:r>
            <a:endParaRPr lang="en-US" sz="90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7563002" y="1852574"/>
            <a:ext cx="190195" cy="190195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7830007" y="1800454"/>
            <a:ext cx="905256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买入建仓</a:t>
            </a:r>
            <a:endParaRPr lang="en-US" sz="1500" dirty="0"/>
          </a:p>
        </p:txBody>
      </p:sp>
      <p:sp>
        <p:nvSpPr>
          <p:cNvPr id="38" name="Text 28"/>
          <p:cNvSpPr txBox="1"/>
          <p:nvPr/>
        </p:nvSpPr>
        <p:spPr>
          <a:xfrm>
            <a:off x="7563002" y="2104949"/>
            <a:ext cx="11247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资金投入，博弈开始</a:t>
            </a:r>
            <a:endParaRPr lang="en-US" sz="900" dirty="0"/>
          </a:p>
        </p:txBody>
      </p:sp>
      <p:sp>
        <p:nvSpPr>
          <p:cNvPr id="39" name="Text 29"/>
          <p:cNvSpPr txBox="1"/>
          <p:nvPr/>
        </p:nvSpPr>
        <p:spPr>
          <a:xfrm>
            <a:off x="5451653" y="3038551"/>
            <a:ext cx="77175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717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SCENARIO A</a:t>
            </a:r>
            <a:endParaRPr lang="en-US" sz="900" dirty="0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9"/>
          <a:srcRect t="-842" b="-842"/>
          <a:stretch>
            <a:fillRect/>
          </a:stretch>
        </p:blipFill>
        <p:spPr>
          <a:xfrm>
            <a:off x="5315407" y="3298241"/>
            <a:ext cx="190195" cy="171907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5581498" y="3247949"/>
            <a:ext cx="81473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下跌趋势</a:t>
            </a:r>
            <a:endParaRPr lang="en-US" sz="1300" dirty="0"/>
          </a:p>
        </p:txBody>
      </p:sp>
      <p:sp>
        <p:nvSpPr>
          <p:cNvPr id="42" name="Text 31"/>
          <p:cNvSpPr txBox="1"/>
          <p:nvPr/>
        </p:nvSpPr>
        <p:spPr>
          <a:xfrm>
            <a:off x="5342839" y="3534156"/>
            <a:ext cx="9912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触及止损线 / 破位</a:t>
            </a:r>
            <a:endParaRPr lang="en-US" sz="900" dirty="0"/>
          </a:p>
        </p:txBody>
      </p:sp>
      <p:sp>
        <p:nvSpPr>
          <p:cNvPr id="43" name="Text 32"/>
          <p:cNvSpPr txBox="1"/>
          <p:nvPr/>
        </p:nvSpPr>
        <p:spPr>
          <a:xfrm>
            <a:off x="7735824" y="3038551"/>
            <a:ext cx="77175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SCENARIO B</a:t>
            </a:r>
            <a:endParaRPr lang="en-US" sz="900" dirty="0"/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10"/>
          <a:srcRect l="-760" r="-760"/>
          <a:stretch>
            <a:fillRect/>
          </a:stretch>
        </p:blipFill>
        <p:spPr>
          <a:xfrm>
            <a:off x="7619695" y="3298241"/>
            <a:ext cx="152705" cy="171907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7848295" y="3247949"/>
            <a:ext cx="81473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震荡盘整</a:t>
            </a:r>
            <a:endParaRPr lang="en-US" sz="1300" dirty="0"/>
          </a:p>
        </p:txBody>
      </p:sp>
      <p:sp>
        <p:nvSpPr>
          <p:cNvPr id="46" name="Text 34"/>
          <p:cNvSpPr txBox="1"/>
          <p:nvPr/>
        </p:nvSpPr>
        <p:spPr>
          <a:xfrm>
            <a:off x="7457846" y="3534156"/>
            <a:ext cx="13341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逻辑未证伪 / 时间换空间</a:t>
            </a:r>
            <a:endParaRPr lang="en-US" sz="900" dirty="0"/>
          </a:p>
        </p:txBody>
      </p:sp>
      <p:sp>
        <p:nvSpPr>
          <p:cNvPr id="47" name="Text 35"/>
          <p:cNvSpPr txBox="1"/>
          <p:nvPr/>
        </p:nvSpPr>
        <p:spPr>
          <a:xfrm>
            <a:off x="10022738" y="3038551"/>
            <a:ext cx="77175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F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SCENARIO C</a:t>
            </a:r>
            <a:endParaRPr lang="en-US" sz="900" dirty="0"/>
          </a:p>
        </p:txBody>
      </p:sp>
      <p:pic>
        <p:nvPicPr>
          <p:cNvPr id="48" name="Image 10" descr="preencoded.png"/>
          <p:cNvPicPr>
            <a:picLocks noChangeAspect="1"/>
          </p:cNvPicPr>
          <p:nvPr/>
        </p:nvPicPr>
        <p:blipFill>
          <a:blip r:embed="rId11"/>
          <a:srcRect t="-842" b="-842"/>
          <a:stretch>
            <a:fillRect/>
          </a:stretch>
        </p:blipFill>
        <p:spPr>
          <a:xfrm>
            <a:off x="9887407" y="3298241"/>
            <a:ext cx="190195" cy="171907"/>
          </a:xfrm>
          <a:prstGeom prst="rect">
            <a:avLst/>
          </a:prstGeom>
        </p:spPr>
      </p:pic>
      <p:sp>
        <p:nvSpPr>
          <p:cNvPr id="49" name="Text 36"/>
          <p:cNvSpPr txBox="1"/>
          <p:nvPr/>
        </p:nvSpPr>
        <p:spPr>
          <a:xfrm>
            <a:off x="10153498" y="3247949"/>
            <a:ext cx="81473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上涨趋势</a:t>
            </a:r>
            <a:endParaRPr lang="en-US" sz="1300" dirty="0"/>
          </a:p>
        </p:txBody>
      </p:sp>
      <p:sp>
        <p:nvSpPr>
          <p:cNvPr id="50" name="Text 37"/>
          <p:cNvSpPr txBox="1"/>
          <p:nvPr/>
        </p:nvSpPr>
        <p:spPr>
          <a:xfrm>
            <a:off x="9858146" y="3534156"/>
            <a:ext cx="11055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符合预期 / 突破压力</a:t>
            </a:r>
            <a:endParaRPr lang="en-US" sz="900" dirty="0"/>
          </a:p>
        </p:txBody>
      </p:sp>
      <p:sp>
        <p:nvSpPr>
          <p:cNvPr id="51" name="Text 38"/>
          <p:cNvSpPr txBox="1"/>
          <p:nvPr/>
        </p:nvSpPr>
        <p:spPr>
          <a:xfrm>
            <a:off x="5422392" y="4934102"/>
            <a:ext cx="85770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717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减仓 / 止损</a:t>
            </a:r>
            <a:endParaRPr lang="en-US" sz="1200" dirty="0"/>
          </a:p>
        </p:txBody>
      </p:sp>
      <p:sp>
        <p:nvSpPr>
          <p:cNvPr id="52" name="Text 39"/>
          <p:cNvSpPr txBox="1"/>
          <p:nvPr/>
        </p:nvSpPr>
        <p:spPr>
          <a:xfrm>
            <a:off x="5105095" y="5162702"/>
            <a:ext cx="14959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保住本金是第一原则</a:t>
            </a:r>
            <a:endParaRPr lang="en-US" sz="1200" dirty="0"/>
          </a:p>
        </p:txBody>
      </p:sp>
      <p:sp>
        <p:nvSpPr>
          <p:cNvPr id="53" name="Text 40"/>
          <p:cNvSpPr txBox="1"/>
          <p:nvPr/>
        </p:nvSpPr>
        <p:spPr>
          <a:xfrm>
            <a:off x="7708392" y="4934102"/>
            <a:ext cx="85770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持有 / 调仓</a:t>
            </a:r>
            <a:endParaRPr lang="en-US" sz="1200" dirty="0"/>
          </a:p>
        </p:txBody>
      </p:sp>
      <p:sp>
        <p:nvSpPr>
          <p:cNvPr id="54" name="Text 41"/>
          <p:cNvSpPr txBox="1"/>
          <p:nvPr/>
        </p:nvSpPr>
        <p:spPr>
          <a:xfrm>
            <a:off x="7619695" y="5162702"/>
            <a:ext cx="10387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观察量能变化</a:t>
            </a:r>
            <a:endParaRPr lang="en-US" sz="1200" dirty="0"/>
          </a:p>
        </p:txBody>
      </p:sp>
      <p:sp>
        <p:nvSpPr>
          <p:cNvPr id="55" name="Text 42"/>
          <p:cNvSpPr txBox="1"/>
          <p:nvPr/>
        </p:nvSpPr>
        <p:spPr>
          <a:xfrm>
            <a:off x="9994392" y="4934102"/>
            <a:ext cx="85770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F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加仓 / 止盈</a:t>
            </a:r>
            <a:endParaRPr lang="en-US" sz="1200" dirty="0"/>
          </a:p>
        </p:txBody>
      </p:sp>
      <p:sp>
        <p:nvSpPr>
          <p:cNvPr id="56" name="Text 43"/>
          <p:cNvSpPr txBox="1"/>
          <p:nvPr/>
        </p:nvSpPr>
        <p:spPr>
          <a:xfrm>
            <a:off x="9601200" y="5162702"/>
            <a:ext cx="16486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让利润奔跑或落袋为安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736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Text 1"/>
          <p:cNvSpPr txBox="1"/>
          <p:nvPr/>
        </p:nvSpPr>
        <p:spPr>
          <a:xfrm>
            <a:off x="10136226" y="6635318"/>
            <a:ext cx="199156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P.05 | 炒股与赌博：连续性博弈的智慧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1143000"/>
            <a:ext cx="12191695" cy="9144"/>
          </a:xfrm>
          <a:prstGeom prst="rect">
            <a:avLst/>
          </a:prstGeom>
          <a:solidFill>
            <a:srgbClr val="1F2937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296498" y="676656"/>
            <a:ext cx="286207" cy="28620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09905" y="552298"/>
            <a:ext cx="6591910" cy="4864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尺度效应与分形：时间跨度决定可操作性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10216591" y="638251"/>
            <a:ext cx="10195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TEMPLATE TYPE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231222" y="800100"/>
            <a:ext cx="101498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4AF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TEXT + CHART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09905" y="371246"/>
            <a:ext cx="184800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4AF37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SCALE EFFECT &amp; FRACTALS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09905" y="1457554"/>
            <a:ext cx="3457346" cy="1476756"/>
          </a:xfrm>
          <a:prstGeom prst="roundRect">
            <a:avLst>
              <a:gd name="adj" fmla="val 3196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9244" y="1657807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1E3A8A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rcRect t="-180" b="-180"/>
          <a:stretch>
            <a:fillRect/>
          </a:stretch>
        </p:blipFill>
        <p:spPr>
          <a:xfrm>
            <a:off x="866851" y="1733702"/>
            <a:ext cx="190195" cy="15270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369003" y="1457554"/>
            <a:ext cx="3457346" cy="1476756"/>
          </a:xfrm>
          <a:prstGeom prst="roundRect">
            <a:avLst>
              <a:gd name="adj" fmla="val 3196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68342" y="1657807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78350F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645152" y="1733702"/>
            <a:ext cx="152705" cy="15270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128102" y="1457554"/>
            <a:ext cx="3457346" cy="1476756"/>
          </a:xfrm>
          <a:prstGeom prst="roundRect">
            <a:avLst>
              <a:gd name="adj" fmla="val 3196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328355" y="1657807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374151"/>
          </a:solidFill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404250" y="1733702"/>
            <a:ext cx="152705" cy="15270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28954" y="1686154"/>
            <a:ext cx="986638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多周期观察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809244" y="2085746"/>
            <a:ext cx="3091586" cy="6291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股价像河流一样有方向和惯性。微观的分钟级波动多为随机噪音，而日线/周线级别才具备可交易的趋势惯性。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4988052" y="1686154"/>
            <a:ext cx="1567282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分形特性 (Fractal)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4568342" y="2085746"/>
            <a:ext cx="3110789" cy="6291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“自相似性”陷阱：遮住时间轴，1分钟图和年线图看起来一样。但小周期的趋势极不稳定，容易被量化资金的“显微镜”操纵。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8747150" y="1686154"/>
            <a:ext cx="115763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结构识别工具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8328355" y="2085746"/>
            <a:ext cx="3033979" cy="6291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摒弃对图形的单纯幻想。利用道氏理论（高低点演进）和波浪理论（推动与调整）来透过噪音识别“真趋势”。</a:t>
            </a:r>
            <a:endParaRPr lang="en-US" sz="10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09524" y="3078556"/>
            <a:ext cx="152705" cy="15270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48284" y="3030423"/>
            <a:ext cx="136702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市场结构可视化对比</a:t>
            </a:r>
            <a:endParaRPr lang="en-US" sz="1000" dirty="0"/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8800" y="3429000"/>
            <a:ext cx="3460115" cy="3098800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915" y="3429000"/>
            <a:ext cx="3627120" cy="3098800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0055" y="3308350"/>
            <a:ext cx="3659505" cy="3058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81544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81544"/>
          </a:xfrm>
          <a:prstGeom prst="rect">
            <a:avLst/>
          </a:prstGeom>
          <a:solidFill>
            <a:srgbClr val="0B1120"/>
          </a:solidFill>
        </p:spPr>
      </p:sp>
      <p:sp>
        <p:nvSpPr>
          <p:cNvPr id="4" name="Text 2"/>
          <p:cNvSpPr txBox="1"/>
          <p:nvPr/>
        </p:nvSpPr>
        <p:spPr>
          <a:xfrm>
            <a:off x="9988906" y="7384694"/>
            <a:ext cx="199156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P.06 | 炒股与赌博：连续性博弈的智慧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1143000"/>
            <a:ext cx="12191695" cy="9144"/>
          </a:xfrm>
          <a:prstGeom prst="rect">
            <a:avLst/>
          </a:prstGeom>
          <a:solidFill>
            <a:srgbClr val="1F2937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 l="-1118" r="-1118"/>
          <a:stretch>
            <a:fillRect/>
          </a:stretch>
        </p:blipFill>
        <p:spPr>
          <a:xfrm>
            <a:off x="11363249" y="676656"/>
            <a:ext cx="219456" cy="28620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9905" y="552298"/>
            <a:ext cx="6296558" cy="4864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摩擦成本：为何50%胜率也可能亏钱？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10283342" y="638251"/>
            <a:ext cx="10195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TEMPLATE TYPE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9948672" y="800100"/>
            <a:ext cx="136702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4AF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DATA TABLE &amp; CALC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09905" y="371246"/>
            <a:ext cx="28483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4AF37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FRICTION COST &amp; NEGATIVE EXPECTATION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09905" y="1457554"/>
            <a:ext cx="4267505" cy="2219249"/>
          </a:xfrm>
          <a:prstGeom prst="roundRect">
            <a:avLst>
              <a:gd name="adj" fmla="val 2122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47649" y="1733702"/>
            <a:ext cx="190195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14654" y="1695298"/>
            <a:ext cx="1286561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负期望值回归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47649" y="2841041"/>
            <a:ext cx="3791102" cy="590702"/>
          </a:xfrm>
          <a:prstGeom prst="roundRect">
            <a:avLst>
              <a:gd name="adj" fmla="val 9987"/>
            </a:avLst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09905" y="3898087"/>
            <a:ext cx="4267505" cy="3571646"/>
          </a:xfrm>
          <a:prstGeom prst="roundRect">
            <a:avLst>
              <a:gd name="adj" fmla="val 819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9049" y="3907231"/>
            <a:ext cx="4248302" cy="504749"/>
          </a:xfrm>
          <a:prstGeom prst="rect">
            <a:avLst/>
          </a:prstGeom>
          <a:solidFill>
            <a:srgbClr val="1F2937">
              <a:alpha val="50000"/>
            </a:srgbClr>
          </a:solidFill>
        </p:spPr>
      </p:sp>
      <p:sp>
        <p:nvSpPr>
          <p:cNvPr id="17" name="Shape 13"/>
          <p:cNvSpPr/>
          <p:nvPr/>
        </p:nvSpPr>
        <p:spPr>
          <a:xfrm>
            <a:off x="619049" y="4402836"/>
            <a:ext cx="4248302" cy="9144"/>
          </a:xfrm>
          <a:prstGeom prst="rect">
            <a:avLst/>
          </a:prstGeom>
          <a:solidFill>
            <a:srgbClr val="374151"/>
          </a:solidFill>
        </p:spPr>
      </p:sp>
      <p:sp>
        <p:nvSpPr>
          <p:cNvPr id="18" name="Shape 14"/>
          <p:cNvSpPr/>
          <p:nvPr/>
        </p:nvSpPr>
        <p:spPr>
          <a:xfrm>
            <a:off x="619049" y="4813402"/>
            <a:ext cx="1143000" cy="9144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19" name="Shape 15"/>
          <p:cNvSpPr/>
          <p:nvPr/>
        </p:nvSpPr>
        <p:spPr>
          <a:xfrm>
            <a:off x="1759306" y="4813402"/>
            <a:ext cx="1209751" cy="9144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20" name="Shape 16"/>
          <p:cNvSpPr/>
          <p:nvPr/>
        </p:nvSpPr>
        <p:spPr>
          <a:xfrm>
            <a:off x="2963570" y="4813402"/>
            <a:ext cx="981151" cy="9144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21" name="Shape 17"/>
          <p:cNvSpPr/>
          <p:nvPr/>
        </p:nvSpPr>
        <p:spPr>
          <a:xfrm>
            <a:off x="3941978" y="4813402"/>
            <a:ext cx="933602" cy="9144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22" name="Shape 18"/>
          <p:cNvSpPr/>
          <p:nvPr/>
        </p:nvSpPr>
        <p:spPr>
          <a:xfrm>
            <a:off x="619049" y="5245913"/>
            <a:ext cx="1143000" cy="9144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23" name="Shape 19"/>
          <p:cNvSpPr/>
          <p:nvPr/>
        </p:nvSpPr>
        <p:spPr>
          <a:xfrm>
            <a:off x="1759306" y="5245913"/>
            <a:ext cx="1209751" cy="9144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24" name="Shape 20"/>
          <p:cNvSpPr/>
          <p:nvPr/>
        </p:nvSpPr>
        <p:spPr>
          <a:xfrm>
            <a:off x="2963570" y="5245913"/>
            <a:ext cx="981151" cy="9144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25" name="Shape 21"/>
          <p:cNvSpPr/>
          <p:nvPr/>
        </p:nvSpPr>
        <p:spPr>
          <a:xfrm>
            <a:off x="3941978" y="5245913"/>
            <a:ext cx="933602" cy="9144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26" name="Shape 22"/>
          <p:cNvSpPr/>
          <p:nvPr/>
        </p:nvSpPr>
        <p:spPr>
          <a:xfrm>
            <a:off x="619049" y="5683910"/>
            <a:ext cx="1143000" cy="9144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27" name="Shape 23"/>
          <p:cNvSpPr/>
          <p:nvPr/>
        </p:nvSpPr>
        <p:spPr>
          <a:xfrm>
            <a:off x="1759306" y="5683910"/>
            <a:ext cx="1209751" cy="9144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28" name="Shape 24"/>
          <p:cNvSpPr/>
          <p:nvPr/>
        </p:nvSpPr>
        <p:spPr>
          <a:xfrm>
            <a:off x="2963570" y="5683910"/>
            <a:ext cx="981151" cy="9144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29" name="Shape 25"/>
          <p:cNvSpPr/>
          <p:nvPr/>
        </p:nvSpPr>
        <p:spPr>
          <a:xfrm>
            <a:off x="3941978" y="5683910"/>
            <a:ext cx="933602" cy="9144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30" name="Shape 26"/>
          <p:cNvSpPr/>
          <p:nvPr/>
        </p:nvSpPr>
        <p:spPr>
          <a:xfrm>
            <a:off x="619049" y="6122822"/>
            <a:ext cx="1143000" cy="9144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31" name="Shape 27"/>
          <p:cNvSpPr/>
          <p:nvPr/>
        </p:nvSpPr>
        <p:spPr>
          <a:xfrm>
            <a:off x="1759306" y="6122822"/>
            <a:ext cx="1209751" cy="9144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32" name="Shape 28"/>
          <p:cNvSpPr/>
          <p:nvPr/>
        </p:nvSpPr>
        <p:spPr>
          <a:xfrm>
            <a:off x="2963570" y="6122822"/>
            <a:ext cx="981151" cy="9144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33" name="Shape 29"/>
          <p:cNvSpPr/>
          <p:nvPr/>
        </p:nvSpPr>
        <p:spPr>
          <a:xfrm>
            <a:off x="3941978" y="6122822"/>
            <a:ext cx="933602" cy="9144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34" name="Shape 30"/>
          <p:cNvSpPr/>
          <p:nvPr/>
        </p:nvSpPr>
        <p:spPr>
          <a:xfrm>
            <a:off x="619049" y="6560820"/>
            <a:ext cx="1143000" cy="9144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35" name="Shape 31"/>
          <p:cNvSpPr/>
          <p:nvPr/>
        </p:nvSpPr>
        <p:spPr>
          <a:xfrm>
            <a:off x="1759306" y="6560820"/>
            <a:ext cx="1209751" cy="9144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36" name="Shape 32"/>
          <p:cNvSpPr/>
          <p:nvPr/>
        </p:nvSpPr>
        <p:spPr>
          <a:xfrm>
            <a:off x="2963570" y="6560820"/>
            <a:ext cx="981151" cy="9144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37" name="Shape 33"/>
          <p:cNvSpPr/>
          <p:nvPr/>
        </p:nvSpPr>
        <p:spPr>
          <a:xfrm>
            <a:off x="3941978" y="6560820"/>
            <a:ext cx="933602" cy="9144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38" name="Shape 34"/>
          <p:cNvSpPr/>
          <p:nvPr/>
        </p:nvSpPr>
        <p:spPr>
          <a:xfrm>
            <a:off x="619049" y="6569964"/>
            <a:ext cx="4248302" cy="437998"/>
          </a:xfrm>
          <a:prstGeom prst="rect">
            <a:avLst/>
          </a:prstGeom>
          <a:solidFill>
            <a:srgbClr val="1F2937">
              <a:alpha val="30000"/>
            </a:srgbClr>
          </a:solidFill>
        </p:spPr>
      </p:sp>
      <p:sp>
        <p:nvSpPr>
          <p:cNvPr id="39" name="Shape 35"/>
          <p:cNvSpPr/>
          <p:nvPr/>
        </p:nvSpPr>
        <p:spPr>
          <a:xfrm>
            <a:off x="619049" y="6569964"/>
            <a:ext cx="4248302" cy="9144"/>
          </a:xfrm>
          <a:prstGeom prst="rect">
            <a:avLst/>
          </a:prstGeom>
          <a:solidFill>
            <a:srgbClr val="4B5563"/>
          </a:solidFill>
        </p:spPr>
      </p:sp>
      <p:sp>
        <p:nvSpPr>
          <p:cNvPr id="40" name="Shape 36"/>
          <p:cNvSpPr/>
          <p:nvPr/>
        </p:nvSpPr>
        <p:spPr>
          <a:xfrm>
            <a:off x="619049" y="7003390"/>
            <a:ext cx="4248302" cy="457200"/>
          </a:xfrm>
          <a:prstGeom prst="rect">
            <a:avLst/>
          </a:prstGeom>
          <a:solidFill>
            <a:srgbClr val="111827">
              <a:alpha val="50000"/>
            </a:srgbClr>
          </a:solidFill>
        </p:spPr>
      </p:sp>
      <p:sp>
        <p:nvSpPr>
          <p:cNvPr id="41" name="Text 37"/>
          <p:cNvSpPr txBox="1"/>
          <p:nvPr/>
        </p:nvSpPr>
        <p:spPr>
          <a:xfrm>
            <a:off x="847649" y="2048256"/>
            <a:ext cx="3824935" cy="6291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即使你的策略是公平的（50%胜率，1:1盈亏比），只要存在摩擦成本（佣金、印花税、滑点），长期高频交易的结果必然是归零。</a:t>
            </a:r>
            <a:endParaRPr lang="en-US" sz="1000" dirty="0"/>
          </a:p>
        </p:txBody>
      </p:sp>
      <p:sp>
        <p:nvSpPr>
          <p:cNvPr id="42" name="Text 38"/>
          <p:cNvSpPr txBox="1"/>
          <p:nvPr/>
        </p:nvSpPr>
        <p:spPr>
          <a:xfrm>
            <a:off x="972007" y="2974543"/>
            <a:ext cx="324886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Impact" panose="020B0806030902050204" charset="0"/>
                <a:ea typeface="Impact" panose="020B0806030902050204" charset="0"/>
                <a:cs typeface="Impact" panose="020B0806030902050204" charset="0"/>
              </a:rPr>
              <a:t>期望值 E = (胜率 × 盈利) - (败率 × 亏损) - 单笔成本</a:t>
            </a:r>
            <a:endParaRPr lang="en-US" sz="900" dirty="0"/>
          </a:p>
        </p:txBody>
      </p:sp>
      <p:sp>
        <p:nvSpPr>
          <p:cNvPr id="43" name="Text 39"/>
          <p:cNvSpPr txBox="1"/>
          <p:nvPr/>
        </p:nvSpPr>
        <p:spPr>
          <a:xfrm>
            <a:off x="972007" y="3164738"/>
            <a:ext cx="26956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Impact" panose="020B0806030902050204" charset="0"/>
                <a:ea typeface="Impact" panose="020B0806030902050204" charset="0"/>
                <a:cs typeface="Impact" panose="020B0806030902050204" charset="0"/>
              </a:rPr>
              <a:t>E = (0.5 × 1) - (0.5 × 1) - 0.1 = -0.1</a:t>
            </a:r>
            <a:endParaRPr lang="en-US" sz="900" dirty="0"/>
          </a:p>
        </p:txBody>
      </p:sp>
      <p:sp>
        <p:nvSpPr>
          <p:cNvPr id="44" name="Text 40"/>
          <p:cNvSpPr txBox="1"/>
          <p:nvPr/>
        </p:nvSpPr>
        <p:spPr>
          <a:xfrm>
            <a:off x="847649" y="4059936"/>
            <a:ext cx="116768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4AF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单笔交易账单示例</a:t>
            </a:r>
            <a:endParaRPr lang="en-US" sz="1000" dirty="0"/>
          </a:p>
        </p:txBody>
      </p:sp>
      <p:sp>
        <p:nvSpPr>
          <p:cNvPr id="45" name="Text 41"/>
          <p:cNvSpPr txBox="1"/>
          <p:nvPr/>
        </p:nvSpPr>
        <p:spPr>
          <a:xfrm>
            <a:off x="3928262" y="4069994"/>
            <a:ext cx="8001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假设本金 10W</a:t>
            </a:r>
            <a:endParaRPr lang="en-US" sz="900" dirty="0"/>
          </a:p>
        </p:txBody>
      </p:sp>
      <p:sp>
        <p:nvSpPr>
          <p:cNvPr id="46" name="Text 42"/>
          <p:cNvSpPr txBox="1"/>
          <p:nvPr/>
        </p:nvSpPr>
        <p:spPr>
          <a:xfrm>
            <a:off x="771754" y="4527194"/>
            <a:ext cx="3337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交易</a:t>
            </a:r>
            <a:endParaRPr lang="en-US" sz="900" dirty="0"/>
          </a:p>
        </p:txBody>
      </p:sp>
      <p:sp>
        <p:nvSpPr>
          <p:cNvPr id="47" name="Text 43"/>
          <p:cNvSpPr txBox="1"/>
          <p:nvPr/>
        </p:nvSpPr>
        <p:spPr>
          <a:xfrm>
            <a:off x="1912010" y="4527194"/>
            <a:ext cx="5715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盈亏结果</a:t>
            </a:r>
            <a:endParaRPr lang="en-US" sz="900" dirty="0"/>
          </a:p>
        </p:txBody>
      </p:sp>
      <p:sp>
        <p:nvSpPr>
          <p:cNvPr id="48" name="Text 44"/>
          <p:cNvSpPr txBox="1"/>
          <p:nvPr/>
        </p:nvSpPr>
        <p:spPr>
          <a:xfrm>
            <a:off x="3116275" y="4527194"/>
            <a:ext cx="5715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摩擦成本</a:t>
            </a:r>
            <a:endParaRPr lang="en-US" sz="900" dirty="0"/>
          </a:p>
        </p:txBody>
      </p:sp>
      <p:sp>
        <p:nvSpPr>
          <p:cNvPr id="49" name="Text 45"/>
          <p:cNvSpPr txBox="1"/>
          <p:nvPr/>
        </p:nvSpPr>
        <p:spPr>
          <a:xfrm>
            <a:off x="4094683" y="4527194"/>
            <a:ext cx="4480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净损益</a:t>
            </a:r>
            <a:endParaRPr lang="en-US" sz="900" dirty="0"/>
          </a:p>
        </p:txBody>
      </p:sp>
      <p:sp>
        <p:nvSpPr>
          <p:cNvPr id="50" name="Text 46"/>
          <p:cNvSpPr txBox="1"/>
          <p:nvPr/>
        </p:nvSpPr>
        <p:spPr>
          <a:xfrm>
            <a:off x="771754" y="4935931"/>
            <a:ext cx="6336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Trade #1</a:t>
            </a:r>
            <a:endParaRPr lang="en-US" sz="1000" dirty="0"/>
          </a:p>
        </p:txBody>
      </p:sp>
      <p:sp>
        <p:nvSpPr>
          <p:cNvPr id="51" name="Text 47"/>
          <p:cNvSpPr txBox="1"/>
          <p:nvPr/>
        </p:nvSpPr>
        <p:spPr>
          <a:xfrm>
            <a:off x="1912010" y="4935931"/>
            <a:ext cx="73883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-2,000 (输)</a:t>
            </a:r>
            <a:endParaRPr lang="en-US" sz="1000" dirty="0"/>
          </a:p>
        </p:txBody>
      </p:sp>
      <p:sp>
        <p:nvSpPr>
          <p:cNvPr id="52" name="Text 48"/>
          <p:cNvSpPr txBox="1"/>
          <p:nvPr/>
        </p:nvSpPr>
        <p:spPr>
          <a:xfrm>
            <a:off x="3116275" y="4935931"/>
            <a:ext cx="37673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-200</a:t>
            </a:r>
            <a:endParaRPr lang="en-US" sz="1000" dirty="0"/>
          </a:p>
        </p:txBody>
      </p:sp>
      <p:sp>
        <p:nvSpPr>
          <p:cNvPr id="53" name="Text 49"/>
          <p:cNvSpPr txBox="1"/>
          <p:nvPr/>
        </p:nvSpPr>
        <p:spPr>
          <a:xfrm>
            <a:off x="4094683" y="4935931"/>
            <a:ext cx="51023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-2,200</a:t>
            </a:r>
            <a:endParaRPr lang="en-US" sz="1000" dirty="0"/>
          </a:p>
        </p:txBody>
      </p:sp>
      <p:sp>
        <p:nvSpPr>
          <p:cNvPr id="54" name="Text 50"/>
          <p:cNvSpPr txBox="1"/>
          <p:nvPr/>
        </p:nvSpPr>
        <p:spPr>
          <a:xfrm>
            <a:off x="771754" y="5374843"/>
            <a:ext cx="6336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Trade #2</a:t>
            </a:r>
            <a:endParaRPr lang="en-US" sz="1000" dirty="0"/>
          </a:p>
        </p:txBody>
      </p:sp>
      <p:sp>
        <p:nvSpPr>
          <p:cNvPr id="55" name="Text 51"/>
          <p:cNvSpPr txBox="1"/>
          <p:nvPr/>
        </p:nvSpPr>
        <p:spPr>
          <a:xfrm>
            <a:off x="1912010" y="5374843"/>
            <a:ext cx="76718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+2,000 (赢)</a:t>
            </a:r>
            <a:endParaRPr lang="en-US" sz="1000" dirty="0"/>
          </a:p>
        </p:txBody>
      </p:sp>
      <p:sp>
        <p:nvSpPr>
          <p:cNvPr id="56" name="Text 52"/>
          <p:cNvSpPr txBox="1"/>
          <p:nvPr/>
        </p:nvSpPr>
        <p:spPr>
          <a:xfrm>
            <a:off x="3116275" y="5374843"/>
            <a:ext cx="37673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-200</a:t>
            </a:r>
            <a:endParaRPr lang="en-US" sz="1000" dirty="0"/>
          </a:p>
        </p:txBody>
      </p:sp>
      <p:sp>
        <p:nvSpPr>
          <p:cNvPr id="57" name="Text 53"/>
          <p:cNvSpPr txBox="1"/>
          <p:nvPr/>
        </p:nvSpPr>
        <p:spPr>
          <a:xfrm>
            <a:off x="4094683" y="5374843"/>
            <a:ext cx="53858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+1,800</a:t>
            </a:r>
            <a:endParaRPr lang="en-US" sz="1000" dirty="0"/>
          </a:p>
        </p:txBody>
      </p:sp>
      <p:sp>
        <p:nvSpPr>
          <p:cNvPr id="58" name="Text 54"/>
          <p:cNvSpPr txBox="1"/>
          <p:nvPr/>
        </p:nvSpPr>
        <p:spPr>
          <a:xfrm>
            <a:off x="771754" y="5812841"/>
            <a:ext cx="6336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Trade #3</a:t>
            </a:r>
            <a:endParaRPr lang="en-US" sz="1000" dirty="0"/>
          </a:p>
        </p:txBody>
      </p:sp>
      <p:sp>
        <p:nvSpPr>
          <p:cNvPr id="59" name="Text 55"/>
          <p:cNvSpPr txBox="1"/>
          <p:nvPr/>
        </p:nvSpPr>
        <p:spPr>
          <a:xfrm>
            <a:off x="1912010" y="5812841"/>
            <a:ext cx="76718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+2,000 (赢)</a:t>
            </a:r>
            <a:endParaRPr lang="en-US" sz="1000" dirty="0"/>
          </a:p>
        </p:txBody>
      </p:sp>
      <p:sp>
        <p:nvSpPr>
          <p:cNvPr id="60" name="Text 56"/>
          <p:cNvSpPr txBox="1"/>
          <p:nvPr/>
        </p:nvSpPr>
        <p:spPr>
          <a:xfrm>
            <a:off x="3116275" y="5812841"/>
            <a:ext cx="37673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-200</a:t>
            </a:r>
            <a:endParaRPr lang="en-US" sz="1000" dirty="0"/>
          </a:p>
        </p:txBody>
      </p:sp>
      <p:sp>
        <p:nvSpPr>
          <p:cNvPr id="61" name="Text 57"/>
          <p:cNvSpPr txBox="1"/>
          <p:nvPr/>
        </p:nvSpPr>
        <p:spPr>
          <a:xfrm>
            <a:off x="4094683" y="5812841"/>
            <a:ext cx="53858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+1,800</a:t>
            </a:r>
            <a:endParaRPr lang="en-US" sz="1000" dirty="0"/>
          </a:p>
        </p:txBody>
      </p:sp>
      <p:sp>
        <p:nvSpPr>
          <p:cNvPr id="62" name="Text 58"/>
          <p:cNvSpPr txBox="1"/>
          <p:nvPr/>
        </p:nvSpPr>
        <p:spPr>
          <a:xfrm>
            <a:off x="771754" y="6250838"/>
            <a:ext cx="6336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Trade #4</a:t>
            </a:r>
            <a:endParaRPr lang="en-US" sz="1000" dirty="0"/>
          </a:p>
        </p:txBody>
      </p:sp>
      <p:sp>
        <p:nvSpPr>
          <p:cNvPr id="63" name="Text 59"/>
          <p:cNvSpPr txBox="1"/>
          <p:nvPr/>
        </p:nvSpPr>
        <p:spPr>
          <a:xfrm>
            <a:off x="1912010" y="6250838"/>
            <a:ext cx="73883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-2,000 (输)</a:t>
            </a:r>
            <a:endParaRPr lang="en-US" sz="1000" dirty="0"/>
          </a:p>
        </p:txBody>
      </p:sp>
      <p:sp>
        <p:nvSpPr>
          <p:cNvPr id="64" name="Text 60"/>
          <p:cNvSpPr txBox="1"/>
          <p:nvPr/>
        </p:nvSpPr>
        <p:spPr>
          <a:xfrm>
            <a:off x="3116275" y="6250838"/>
            <a:ext cx="37673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-200</a:t>
            </a:r>
            <a:endParaRPr lang="en-US" sz="1000" dirty="0"/>
          </a:p>
        </p:txBody>
      </p:sp>
      <p:sp>
        <p:nvSpPr>
          <p:cNvPr id="65" name="Text 61"/>
          <p:cNvSpPr txBox="1"/>
          <p:nvPr/>
        </p:nvSpPr>
        <p:spPr>
          <a:xfrm>
            <a:off x="4094683" y="6250838"/>
            <a:ext cx="51023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-2,200</a:t>
            </a:r>
            <a:endParaRPr lang="en-US" sz="1000" dirty="0"/>
          </a:p>
        </p:txBody>
      </p:sp>
      <p:sp>
        <p:nvSpPr>
          <p:cNvPr id="66" name="Text 62"/>
          <p:cNvSpPr txBox="1"/>
          <p:nvPr/>
        </p:nvSpPr>
        <p:spPr>
          <a:xfrm>
            <a:off x="771754" y="6688836"/>
            <a:ext cx="71963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总计 (4笔)</a:t>
            </a:r>
            <a:endParaRPr lang="en-US" sz="1000" dirty="0"/>
          </a:p>
        </p:txBody>
      </p:sp>
      <p:sp>
        <p:nvSpPr>
          <p:cNvPr id="67" name="Text 63"/>
          <p:cNvSpPr txBox="1"/>
          <p:nvPr/>
        </p:nvSpPr>
        <p:spPr>
          <a:xfrm>
            <a:off x="1912010" y="6688836"/>
            <a:ext cx="56692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 (打平)</a:t>
            </a:r>
            <a:endParaRPr lang="en-US" sz="1000" dirty="0"/>
          </a:p>
        </p:txBody>
      </p:sp>
      <p:sp>
        <p:nvSpPr>
          <p:cNvPr id="68" name="Text 64"/>
          <p:cNvSpPr txBox="1"/>
          <p:nvPr/>
        </p:nvSpPr>
        <p:spPr>
          <a:xfrm>
            <a:off x="3116275" y="6688836"/>
            <a:ext cx="37673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-800</a:t>
            </a:r>
            <a:endParaRPr lang="en-US" sz="1000" dirty="0"/>
          </a:p>
        </p:txBody>
      </p:sp>
      <p:sp>
        <p:nvSpPr>
          <p:cNvPr id="69" name="Text 65"/>
          <p:cNvSpPr txBox="1"/>
          <p:nvPr/>
        </p:nvSpPr>
        <p:spPr>
          <a:xfrm>
            <a:off x="4094683" y="6688836"/>
            <a:ext cx="3858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-800</a:t>
            </a:r>
            <a:endParaRPr lang="en-US" sz="1000" dirty="0"/>
          </a:p>
        </p:txBody>
      </p:sp>
      <p:sp>
        <p:nvSpPr>
          <p:cNvPr id="70" name="Text 66"/>
          <p:cNvSpPr txBox="1"/>
          <p:nvPr/>
        </p:nvSpPr>
        <p:spPr>
          <a:xfrm>
            <a:off x="1687982" y="7146036"/>
            <a:ext cx="220096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*注：即便胜负各半，本金依然因成本缩水</a:t>
            </a:r>
            <a:endParaRPr lang="en-US" sz="900" dirty="0"/>
          </a:p>
        </p:txBody>
      </p:sp>
      <p:sp>
        <p:nvSpPr>
          <p:cNvPr id="71" name="Shape 67"/>
          <p:cNvSpPr/>
          <p:nvPr/>
        </p:nvSpPr>
        <p:spPr>
          <a:xfrm>
            <a:off x="5181600" y="1457325"/>
            <a:ext cx="6400800" cy="5400675"/>
          </a:xfrm>
          <a:prstGeom prst="roundRect">
            <a:avLst>
              <a:gd name="adj" fmla="val 1557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2" name="Text 68"/>
          <p:cNvSpPr txBox="1"/>
          <p:nvPr/>
        </p:nvSpPr>
        <p:spPr>
          <a:xfrm>
            <a:off x="5419649" y="1705356"/>
            <a:ext cx="252923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资金曲线模拟：高频交易的陷阱</a:t>
            </a:r>
            <a:endParaRPr lang="en-US" sz="1300" dirty="0"/>
          </a:p>
        </p:txBody>
      </p:sp>
      <p:sp>
        <p:nvSpPr>
          <p:cNvPr id="73" name="Text 69"/>
          <p:cNvSpPr txBox="1"/>
          <p:nvPr/>
        </p:nvSpPr>
        <p:spPr>
          <a:xfrm>
            <a:off x="5419649" y="1952244"/>
            <a:ext cx="202905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100次交易模拟 | 胜率 50% | 盈亏比 1:1</a:t>
            </a:r>
            <a:endParaRPr lang="en-US" sz="900" dirty="0"/>
          </a:p>
        </p:txBody>
      </p:sp>
      <p:sp>
        <p:nvSpPr>
          <p:cNvPr id="74" name="Shape 70"/>
          <p:cNvSpPr/>
          <p:nvPr/>
        </p:nvSpPr>
        <p:spPr>
          <a:xfrm>
            <a:off x="9210751" y="1714500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6B7280"/>
          </a:solidFill>
        </p:spPr>
      </p:sp>
      <p:sp>
        <p:nvSpPr>
          <p:cNvPr id="75" name="Text 71"/>
          <p:cNvSpPr txBox="1"/>
          <p:nvPr/>
        </p:nvSpPr>
        <p:spPr>
          <a:xfrm>
            <a:off x="9400946" y="1686154"/>
            <a:ext cx="8961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无成本理想曲线</a:t>
            </a:r>
            <a:endParaRPr lang="en-US" sz="900" dirty="0"/>
          </a:p>
        </p:txBody>
      </p:sp>
      <p:sp>
        <p:nvSpPr>
          <p:cNvPr id="76" name="Shape 72"/>
          <p:cNvSpPr/>
          <p:nvPr/>
        </p:nvSpPr>
        <p:spPr>
          <a:xfrm>
            <a:off x="10353751" y="1714500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EF4444"/>
          </a:solidFill>
        </p:spPr>
      </p:sp>
      <p:sp>
        <p:nvSpPr>
          <p:cNvPr id="77" name="Text 73"/>
          <p:cNvSpPr txBox="1"/>
          <p:nvPr/>
        </p:nvSpPr>
        <p:spPr>
          <a:xfrm>
            <a:off x="10543946" y="1686154"/>
            <a:ext cx="8961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含成本实际曲线</a:t>
            </a:r>
            <a:endParaRPr lang="en-US" sz="900" dirty="0"/>
          </a:p>
        </p:txBody>
      </p:sp>
      <p:sp>
        <p:nvSpPr>
          <p:cNvPr id="78" name="Shape 74"/>
          <p:cNvSpPr/>
          <p:nvPr/>
        </p:nvSpPr>
        <p:spPr>
          <a:xfrm>
            <a:off x="5419649" y="2266798"/>
            <a:ext cx="5924398" cy="1543507"/>
          </a:xfrm>
          <a:prstGeom prst="roundRect">
            <a:avLst>
              <a:gd name="adj" fmla="val 1463"/>
            </a:avLst>
          </a:prstGeom>
          <a:noFill/>
          <a:ln w="12700">
            <a:solidFill>
              <a:srgbClr val="1F2937"/>
            </a:solidFill>
            <a:prstDash val="solid"/>
          </a:ln>
        </p:spPr>
      </p:sp>
      <p:pic>
        <p:nvPicPr>
          <p:cNvPr id="79" name="Image 2" descr="preencoded.png"/>
          <p:cNvPicPr>
            <a:picLocks noChangeAspect="1"/>
          </p:cNvPicPr>
          <p:nvPr/>
        </p:nvPicPr>
        <p:blipFill>
          <a:blip r:embed="rId3"/>
          <a:srcRect t="-13" b="-13"/>
          <a:stretch>
            <a:fillRect/>
          </a:stretch>
        </p:blipFill>
        <p:spPr>
          <a:xfrm>
            <a:off x="5429885" y="2277110"/>
            <a:ext cx="5905500" cy="3535680"/>
          </a:xfrm>
          <a:prstGeom prst="rect">
            <a:avLst/>
          </a:prstGeom>
        </p:spPr>
      </p:pic>
      <p:sp>
        <p:nvSpPr>
          <p:cNvPr id="80" name="Shape 75"/>
          <p:cNvSpPr/>
          <p:nvPr/>
        </p:nvSpPr>
        <p:spPr>
          <a:xfrm>
            <a:off x="8381746" y="1924355"/>
            <a:ext cx="3047695" cy="838505"/>
          </a:xfrm>
          <a:prstGeom prst="roundRect">
            <a:avLst>
              <a:gd name="adj" fmla="val 4957"/>
            </a:avLst>
          </a:prstGeom>
          <a:solidFill>
            <a:srgbClr val="111827">
              <a:alpha val="90000"/>
            </a:srgbClr>
          </a:solidFill>
          <a:ln w="12700">
            <a:solidFill>
              <a:srgbClr val="D4AF37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pic>
        <p:nvPicPr>
          <p:cNvPr id="81" name="Image 3" descr="preencoded.png"/>
          <p:cNvPicPr>
            <a:picLocks noChangeAspect="1"/>
          </p:cNvPicPr>
          <p:nvPr/>
        </p:nvPicPr>
        <p:blipFill>
          <a:blip r:embed="rId4"/>
          <a:srcRect t="-100" b="-100"/>
          <a:stretch>
            <a:fillRect/>
          </a:stretch>
        </p:blipFill>
        <p:spPr>
          <a:xfrm>
            <a:off x="8382305" y="2048764"/>
            <a:ext cx="114300" cy="152705"/>
          </a:xfrm>
          <a:prstGeom prst="rect">
            <a:avLst/>
          </a:prstGeom>
        </p:spPr>
      </p:pic>
      <p:sp>
        <p:nvSpPr>
          <p:cNvPr id="82" name="Text 76"/>
          <p:cNvSpPr txBox="1"/>
          <p:nvPr/>
        </p:nvSpPr>
        <p:spPr>
          <a:xfrm>
            <a:off x="8496605" y="2010639"/>
            <a:ext cx="6336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4AF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关键结论</a:t>
            </a:r>
            <a:endParaRPr lang="en-US" sz="1000" dirty="0"/>
          </a:p>
        </p:txBody>
      </p:sp>
      <p:sp>
        <p:nvSpPr>
          <p:cNvPr id="83" name="Text 77"/>
          <p:cNvSpPr txBox="1"/>
          <p:nvPr/>
        </p:nvSpPr>
        <p:spPr>
          <a:xfrm>
            <a:off x="8610905" y="2276805"/>
            <a:ext cx="2563063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由于摩擦成本的存在，短线交易必须追求&gt;50%的胜率或更高的盈亏比才能生存。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4" name="Text 2"/>
          <p:cNvSpPr txBox="1"/>
          <p:nvPr/>
        </p:nvSpPr>
        <p:spPr>
          <a:xfrm>
            <a:off x="9988906" y="5545836"/>
            <a:ext cx="199156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P.07 | 炒股与赌博：连续性博弈的智慧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1295705"/>
            <a:ext cx="12191695" cy="9144"/>
          </a:xfrm>
          <a:prstGeom prst="rect">
            <a:avLst/>
          </a:prstGeom>
          <a:solidFill>
            <a:srgbClr val="1F2937"/>
          </a:solidFill>
        </p:spPr>
      </p:sp>
      <p:sp>
        <p:nvSpPr>
          <p:cNvPr id="6" name="Text 4"/>
          <p:cNvSpPr txBox="1"/>
          <p:nvPr/>
        </p:nvSpPr>
        <p:spPr>
          <a:xfrm>
            <a:off x="609905" y="629107"/>
            <a:ext cx="5886907" cy="4864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决策疲劳：快思考与慢思考的能量账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448056"/>
            <a:ext cx="1314907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4AF37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DECISION FATIGUE</a:t>
            </a:r>
            <a:endParaRPr lang="en-US" sz="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>
            <a:alphaModFix amt="50000"/>
          </a:blip>
          <a:srcRect/>
          <a:stretch>
            <a:fillRect/>
          </a:stretch>
        </p:blipFill>
        <p:spPr>
          <a:xfrm>
            <a:off x="11239805" y="718718"/>
            <a:ext cx="342900" cy="3429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0" y="1762049"/>
            <a:ext cx="457200" cy="457200"/>
          </a:xfrm>
          <a:prstGeom prst="roundRect">
            <a:avLst>
              <a:gd name="adj" fmla="val 33333"/>
            </a:avLst>
          </a:prstGeom>
          <a:noFill/>
          <a:ln w="12700">
            <a:solidFill>
              <a:srgbClr val="374151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rcRect l="-1648" r="-1648"/>
          <a:stretch>
            <a:fillRect/>
          </a:stretch>
        </p:blipFill>
        <p:spPr>
          <a:xfrm>
            <a:off x="4714646" y="1895551"/>
            <a:ext cx="171907" cy="19019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067898" y="1790395"/>
            <a:ext cx="523951" cy="247802"/>
          </a:xfrm>
          <a:prstGeom prst="roundRect">
            <a:avLst>
              <a:gd name="adj" fmla="val 56770"/>
            </a:avLst>
          </a:prstGeom>
          <a:solidFill>
            <a:srgbClr val="064E3B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2000" y="2928823"/>
            <a:ext cx="457200" cy="457200"/>
          </a:xfrm>
          <a:prstGeom prst="roundRect">
            <a:avLst>
              <a:gd name="adj" fmla="val 33333"/>
            </a:avLst>
          </a:prstGeom>
          <a:noFill/>
          <a:ln w="12700">
            <a:solidFill>
              <a:srgbClr val="374151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681728" y="3062326"/>
            <a:ext cx="237744" cy="190195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1067898" y="2957170"/>
            <a:ext cx="523951" cy="247802"/>
          </a:xfrm>
          <a:prstGeom prst="roundRect">
            <a:avLst>
              <a:gd name="adj" fmla="val 56770"/>
            </a:avLst>
          </a:prstGeom>
          <a:solidFill>
            <a:srgbClr val="7F1D1D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572000" y="3816706"/>
            <a:ext cx="457200" cy="457200"/>
          </a:xfrm>
          <a:prstGeom prst="roundRect">
            <a:avLst>
              <a:gd name="adj" fmla="val 33333"/>
            </a:avLst>
          </a:prstGeom>
          <a:noFill/>
          <a:ln w="12700">
            <a:solidFill>
              <a:srgbClr val="374151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705502" y="3950208"/>
            <a:ext cx="190195" cy="190195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572000" y="4984394"/>
            <a:ext cx="38405" cy="495605"/>
          </a:xfrm>
          <a:prstGeom prst="rect">
            <a:avLst/>
          </a:prstGeom>
          <a:solidFill>
            <a:srgbClr val="D4AF37"/>
          </a:solidFill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762195" y="5136185"/>
            <a:ext cx="142646" cy="19019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257800" y="1742846"/>
            <a:ext cx="2371954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系统1：快思考 (Fast)</a:t>
            </a:r>
            <a:endParaRPr lang="en-US" sz="1800" dirty="0"/>
          </a:p>
        </p:txBody>
      </p:sp>
      <p:sp>
        <p:nvSpPr>
          <p:cNvPr id="20" name="Text 13"/>
          <p:cNvSpPr txBox="1"/>
          <p:nvPr/>
        </p:nvSpPr>
        <p:spPr>
          <a:xfrm>
            <a:off x="11153851" y="1828800"/>
            <a:ext cx="4389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E7B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能耗低</a:t>
            </a:r>
            <a:endParaRPr lang="en-US" sz="900" dirty="0"/>
          </a:p>
        </p:txBody>
      </p:sp>
      <p:sp>
        <p:nvSpPr>
          <p:cNvPr id="21" name="Text 14"/>
          <p:cNvSpPr txBox="1"/>
          <p:nvPr/>
        </p:nvSpPr>
        <p:spPr>
          <a:xfrm>
            <a:off x="5257800" y="2152498"/>
            <a:ext cx="6301130" cy="5340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直觉、本能、情绪化。这是大脑的默认模式，负责处理日常琐事和瞬间反应，但容易产生认知偏差。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5257800" y="2909621"/>
            <a:ext cx="2457907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系统2：慢思考 (Slow)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11153851" y="2995574"/>
            <a:ext cx="4389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CA5A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能耗高</a:t>
            </a:r>
            <a:endParaRPr lang="en-US" sz="900" dirty="0"/>
          </a:p>
        </p:txBody>
      </p:sp>
      <p:sp>
        <p:nvSpPr>
          <p:cNvPr id="24" name="Text 17"/>
          <p:cNvSpPr txBox="1"/>
          <p:nvPr/>
        </p:nvSpPr>
        <p:spPr>
          <a:xfrm>
            <a:off x="5257800" y="3319272"/>
            <a:ext cx="630113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逻辑、计算、推理。这是交易获利所需的理性核心，但它非常"懒惰"且容易疲劳。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5257800" y="3798418"/>
            <a:ext cx="1543507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决策质量坍塌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5257800" y="4208069"/>
            <a:ext cx="6348679" cy="5340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当慢思考系统耗尽，控制权直接移交快思考。 逻辑消失 → 情绪接管 (贪婪、恐惧、愤怒)。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5057546" y="5136185"/>
            <a:ext cx="560618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对策： 降低决策频率，设定标准化流程，限制单日决策窗口，避免在能量耗尽时做关键决定。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609905" y="2020824"/>
            <a:ext cx="3504895" cy="2324405"/>
          </a:xfrm>
          <a:prstGeom prst="roundRect">
            <a:avLst>
              <a:gd name="adj" fmla="val 1935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6">
            <a:alphaModFix amt="10000"/>
          </a:blip>
          <a:srcRect l="-347" r="-347"/>
          <a:stretch>
            <a:fillRect/>
          </a:stretch>
        </p:blipFill>
        <p:spPr>
          <a:xfrm>
            <a:off x="3305556" y="2182673"/>
            <a:ext cx="647395" cy="57150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923544" y="2344522"/>
            <a:ext cx="3001061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丹尼尔·卡尼曼《思考，快与慢》 "当你短时间内做出多次决策的时候，实际上就是在消耗能量。"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923544" y="3501238"/>
            <a:ext cx="2872130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高强度的短线交易会快速耗尽你的慢思考系统。</a:t>
            </a:r>
            <a:endParaRPr lang="en-US" sz="130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7">
            <a:alphaModFix amt="80000"/>
          </a:blip>
          <a:srcRect l="-607" r="-607"/>
          <a:stretch>
            <a:fillRect/>
          </a:stretch>
        </p:blipFill>
        <p:spPr>
          <a:xfrm>
            <a:off x="1410005" y="4644238"/>
            <a:ext cx="390449" cy="34290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424635" y="5059375"/>
            <a:ext cx="4480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开盘前</a:t>
            </a:r>
            <a:endParaRPr lang="en-US" sz="900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8">
            <a:alphaModFix amt="80000"/>
          </a:blip>
          <a:srcRect l="-607" r="-607"/>
          <a:stretch>
            <a:fillRect/>
          </a:stretch>
        </p:blipFill>
        <p:spPr>
          <a:xfrm>
            <a:off x="2819095" y="4644238"/>
            <a:ext cx="390449" cy="342900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2714854" y="5059375"/>
            <a:ext cx="69585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频繁交易后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Text 1"/>
          <p:cNvSpPr txBox="1"/>
          <p:nvPr/>
        </p:nvSpPr>
        <p:spPr>
          <a:xfrm>
            <a:off x="9988906" y="6305702"/>
            <a:ext cx="199156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P.08 | 炒股与赌博：连续性博弈的智慧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1143000"/>
            <a:ext cx="12191695" cy="9144"/>
          </a:xfrm>
          <a:prstGeom prst="rect">
            <a:avLst/>
          </a:prstGeom>
          <a:solidFill>
            <a:srgbClr val="1F2937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296498" y="676656"/>
            <a:ext cx="286207" cy="28620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09905" y="552298"/>
            <a:ext cx="3781958" cy="4864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压力荷尔蒙的三重陷阱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10150754" y="638251"/>
            <a:ext cx="1086307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ANALYSIS MODEL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9688982" y="800100"/>
            <a:ext cx="155813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4AF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FIGHT-FLIGHT-FREEZE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09905" y="371246"/>
            <a:ext cx="15243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7171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PHYSIOLOGICAL TRAP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09905" y="2223821"/>
            <a:ext cx="3504895" cy="1723644"/>
          </a:xfrm>
          <a:prstGeom prst="roundRect">
            <a:avLst>
              <a:gd name="adj" fmla="val 3517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304800" dist="762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09905" y="4252874"/>
            <a:ext cx="304495" cy="381305"/>
          </a:xfrm>
          <a:prstGeom prst="roundRect">
            <a:avLst>
              <a:gd name="adj" fmla="val 300300"/>
            </a:avLst>
          </a:prstGeom>
          <a:noFill/>
          <a:ln w="12700">
            <a:solidFill>
              <a:srgbClr val="4B5563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rcRect l="-33" r="-33"/>
          <a:stretch>
            <a:fillRect/>
          </a:stretch>
        </p:blipFill>
        <p:spPr>
          <a:xfrm>
            <a:off x="673913" y="4367174"/>
            <a:ext cx="171907" cy="15270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09905" y="5052974"/>
            <a:ext cx="342900" cy="381305"/>
          </a:xfrm>
          <a:prstGeom prst="roundRect">
            <a:avLst>
              <a:gd name="adj" fmla="val 266667"/>
            </a:avLst>
          </a:prstGeom>
          <a:noFill/>
          <a:ln w="12700">
            <a:solidFill>
              <a:srgbClr val="4B5563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02259" y="5167274"/>
            <a:ext cx="152705" cy="15270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47649" y="2452421"/>
            <a:ext cx="2048256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皮质醇的“大脑劫持”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847649" y="2852928"/>
            <a:ext cx="3119933" cy="8485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当账户亏损导致压力上升时，皮质醇（Cortisol）飙升。它会抑制负责理性决策的前额叶皮层，并激活负责生存本能的杏仁核。此刻，你不再是投资者，而是被本能支配的生物。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1062533" y="4252874"/>
            <a:ext cx="7342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激素失衡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1062533" y="4509821"/>
            <a:ext cx="3096158" cy="3145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从多巴胺（贪婪/上瘾）快速切换到皮质醇（恐惧/压力），大脑无法平稳过渡。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1099109" y="5052974"/>
            <a:ext cx="7342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理性断路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1099109" y="5309921"/>
            <a:ext cx="3067812" cy="3145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慢思考系统被切断，逻辑推理能力归零，所有决策降级为动物本能。</a:t>
            </a:r>
            <a:endParaRPr lang="en-US" sz="9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572000" y="1457554"/>
            <a:ext cx="7010705" cy="4934102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705295" y="1457554"/>
            <a:ext cx="2743200" cy="780898"/>
          </a:xfrm>
          <a:prstGeom prst="roundRect">
            <a:avLst>
              <a:gd name="adj" fmla="val 117096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304800" dist="762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248095" y="2542946"/>
            <a:ext cx="3657600" cy="1238098"/>
          </a:xfrm>
          <a:prstGeom prst="roundRect">
            <a:avLst>
              <a:gd name="adj" fmla="val 6817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304800" dist="762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970471" y="2743200"/>
            <a:ext cx="886054" cy="304495"/>
          </a:xfrm>
          <a:prstGeom prst="roundRect">
            <a:avLst>
              <a:gd name="adj" fmla="val 37538"/>
            </a:avLst>
          </a:prstGeom>
          <a:solidFill>
            <a:srgbClr val="DC2626"/>
          </a:solidFill>
        </p:spPr>
      </p:sp>
      <p:sp>
        <p:nvSpPr>
          <p:cNvPr id="25" name="Text 19"/>
          <p:cNvSpPr txBox="1"/>
          <p:nvPr/>
        </p:nvSpPr>
        <p:spPr>
          <a:xfrm>
            <a:off x="7412126" y="1580998"/>
            <a:ext cx="144841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TRIGGER EVENT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7443216" y="1857146"/>
            <a:ext cx="1653235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账户剧烈回撤 / 亏损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7046366" y="2781605"/>
            <a:ext cx="8485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WARNING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7965338" y="2809951"/>
            <a:ext cx="130576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CA5A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AMYGDALA HIJACK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7081114" y="3114446"/>
            <a:ext cx="2143354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杏仁核激活 · 理性下线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7025335" y="3419856"/>
            <a:ext cx="219090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ECAC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皮质醇水平飙升 → 激活"战斗或逃跑"机制</a:t>
            </a:r>
            <a:endParaRPr lang="en-US" sz="9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195414" y="1907438"/>
            <a:ext cx="171907" cy="171907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4647895" y="4390949"/>
            <a:ext cx="1895551" cy="1857146"/>
          </a:xfrm>
          <a:prstGeom prst="roundRect">
            <a:avLst>
              <a:gd name="adj" fmla="val 202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304800" dist="762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>
            <a:alphaModFix amt="10000"/>
          </a:blip>
          <a:srcRect l="-743" r="-743"/>
          <a:stretch>
            <a:fillRect/>
          </a:stretch>
        </p:blipFill>
        <p:spPr>
          <a:xfrm>
            <a:off x="6143854" y="4519879"/>
            <a:ext cx="304495" cy="34290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4848149" y="4600346"/>
            <a:ext cx="1081735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717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战斗 (Fight)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4848149" y="4924044"/>
            <a:ext cx="6766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"赌狗模式"</a:t>
            </a:r>
            <a:endParaRPr lang="en-US" sz="900" dirty="0"/>
          </a:p>
        </p:txBody>
      </p:sp>
      <p:sp>
        <p:nvSpPr>
          <p:cNvPr id="36" name="Text 28"/>
          <p:cNvSpPr txBox="1"/>
          <p:nvPr/>
        </p:nvSpPr>
        <p:spPr>
          <a:xfrm>
            <a:off x="4962449" y="5201107"/>
            <a:ext cx="14959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疯狂加仓，试图摊平</a:t>
            </a:r>
            <a:endParaRPr lang="en-US" sz="1200" dirty="0"/>
          </a:p>
        </p:txBody>
      </p:sp>
      <p:sp>
        <p:nvSpPr>
          <p:cNvPr id="37" name="Text 29"/>
          <p:cNvSpPr txBox="1"/>
          <p:nvPr/>
        </p:nvSpPr>
        <p:spPr>
          <a:xfrm>
            <a:off x="4962449" y="5505602"/>
            <a:ext cx="14959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急于回本，频繁操作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4962449" y="5810098"/>
            <a:ext cx="13432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甚至借贷、上杠杆</a:t>
            </a:r>
            <a:endParaRPr lang="en-US" sz="1200" dirty="0"/>
          </a:p>
        </p:txBody>
      </p:sp>
      <p:sp>
        <p:nvSpPr>
          <p:cNvPr id="39" name="Shape 31"/>
          <p:cNvSpPr/>
          <p:nvPr/>
        </p:nvSpPr>
        <p:spPr>
          <a:xfrm>
            <a:off x="7134149" y="4390949"/>
            <a:ext cx="1895551" cy="1857146"/>
          </a:xfrm>
          <a:prstGeom prst="roundRect">
            <a:avLst>
              <a:gd name="adj" fmla="val 202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304800" dist="762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7">
            <a:alphaModFix amt="10000"/>
          </a:blip>
          <a:srcRect l="-743" r="-743"/>
          <a:stretch>
            <a:fillRect/>
          </a:stretch>
        </p:blipFill>
        <p:spPr>
          <a:xfrm>
            <a:off x="8630107" y="4519879"/>
            <a:ext cx="304495" cy="342900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7334402" y="4600346"/>
            <a:ext cx="1138428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逃跑 (Flight)</a:t>
            </a:r>
            <a:endParaRPr lang="en-US" sz="1300" dirty="0"/>
          </a:p>
        </p:txBody>
      </p:sp>
      <p:sp>
        <p:nvSpPr>
          <p:cNvPr id="42" name="Text 33"/>
          <p:cNvSpPr txBox="1"/>
          <p:nvPr/>
        </p:nvSpPr>
        <p:spPr>
          <a:xfrm>
            <a:off x="7334402" y="4924044"/>
            <a:ext cx="6766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"鸵鸟心态"</a:t>
            </a:r>
            <a:endParaRPr lang="en-US" sz="900" dirty="0"/>
          </a:p>
        </p:txBody>
      </p:sp>
      <p:sp>
        <p:nvSpPr>
          <p:cNvPr id="43" name="Text 34"/>
          <p:cNvSpPr txBox="1"/>
          <p:nvPr/>
        </p:nvSpPr>
        <p:spPr>
          <a:xfrm>
            <a:off x="7448702" y="5201107"/>
            <a:ext cx="10387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拒绝查看账户</a:t>
            </a:r>
            <a:endParaRPr lang="en-US" sz="1200" dirty="0"/>
          </a:p>
        </p:txBody>
      </p:sp>
      <p:sp>
        <p:nvSpPr>
          <p:cNvPr id="44" name="Text 35"/>
          <p:cNvSpPr txBox="1"/>
          <p:nvPr/>
        </p:nvSpPr>
        <p:spPr>
          <a:xfrm>
            <a:off x="7448702" y="5505602"/>
            <a:ext cx="14959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死扛不卖，幻想反弹</a:t>
            </a:r>
            <a:endParaRPr lang="en-US" sz="1200" dirty="0"/>
          </a:p>
        </p:txBody>
      </p:sp>
      <p:sp>
        <p:nvSpPr>
          <p:cNvPr id="45" name="Text 36"/>
          <p:cNvSpPr txBox="1"/>
          <p:nvPr/>
        </p:nvSpPr>
        <p:spPr>
          <a:xfrm>
            <a:off x="7448702" y="5810098"/>
            <a:ext cx="14959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听不进任何止损建议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9620402" y="4390949"/>
            <a:ext cx="1895551" cy="1857146"/>
          </a:xfrm>
          <a:prstGeom prst="roundRect">
            <a:avLst>
              <a:gd name="adj" fmla="val 202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304800" dist="762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8">
            <a:alphaModFix amt="10000"/>
          </a:blip>
          <a:srcRect l="-743" r="-743"/>
          <a:stretch>
            <a:fillRect/>
          </a:stretch>
        </p:blipFill>
        <p:spPr>
          <a:xfrm>
            <a:off x="11115446" y="4519879"/>
            <a:ext cx="304495" cy="342900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9819742" y="4600346"/>
            <a:ext cx="1196035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假死 (Freeze)</a:t>
            </a:r>
            <a:endParaRPr lang="en-US" sz="1300" dirty="0"/>
          </a:p>
        </p:txBody>
      </p:sp>
      <p:sp>
        <p:nvSpPr>
          <p:cNvPr id="49" name="Text 39"/>
          <p:cNvSpPr txBox="1"/>
          <p:nvPr/>
        </p:nvSpPr>
        <p:spPr>
          <a:xfrm>
            <a:off x="9819742" y="4924044"/>
            <a:ext cx="6766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"解离状态"</a:t>
            </a:r>
            <a:endParaRPr lang="en-US" sz="900" dirty="0"/>
          </a:p>
        </p:txBody>
      </p:sp>
      <p:sp>
        <p:nvSpPr>
          <p:cNvPr id="50" name="Text 40"/>
          <p:cNvSpPr txBox="1"/>
          <p:nvPr/>
        </p:nvSpPr>
        <p:spPr>
          <a:xfrm>
            <a:off x="9934042" y="5201107"/>
            <a:ext cx="14959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大脑空白，手指僵硬</a:t>
            </a:r>
            <a:endParaRPr lang="en-US" sz="1200" dirty="0"/>
          </a:p>
        </p:txBody>
      </p:sp>
      <p:sp>
        <p:nvSpPr>
          <p:cNvPr id="51" name="Text 41"/>
          <p:cNvSpPr txBox="1"/>
          <p:nvPr/>
        </p:nvSpPr>
        <p:spPr>
          <a:xfrm>
            <a:off x="9934042" y="5505602"/>
            <a:ext cx="13432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看着暴跌无动于衷</a:t>
            </a:r>
            <a:endParaRPr lang="en-US" sz="1200" dirty="0"/>
          </a:p>
        </p:txBody>
      </p:sp>
      <p:sp>
        <p:nvSpPr>
          <p:cNvPr id="52" name="Text 42"/>
          <p:cNvSpPr txBox="1"/>
          <p:nvPr/>
        </p:nvSpPr>
        <p:spPr>
          <a:xfrm>
            <a:off x="9934042" y="5810098"/>
            <a:ext cx="14959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彻底麻木，等待爆仓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736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Text 1"/>
          <p:cNvSpPr txBox="1"/>
          <p:nvPr/>
        </p:nvSpPr>
        <p:spPr>
          <a:xfrm>
            <a:off x="9988906" y="4860036"/>
            <a:ext cx="199156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P.11 | 炒股与赌博：连续性博弈的智慧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1143000"/>
            <a:ext cx="12191695" cy="9144"/>
          </a:xfrm>
          <a:prstGeom prst="rect">
            <a:avLst/>
          </a:prstGeom>
          <a:solidFill>
            <a:srgbClr val="1F2937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296498" y="676656"/>
            <a:ext cx="286207" cy="28620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09905" y="552298"/>
            <a:ext cx="2724912" cy="4864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量化交易的本质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10749686" y="638251"/>
            <a:ext cx="48646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FOCUS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9911182" y="800100"/>
            <a:ext cx="133868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4AF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MICROSTRUCTURE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09905" y="371246"/>
            <a:ext cx="16770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4AF37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QUANTITATIVE TRADING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09905" y="1457554"/>
            <a:ext cx="3504895" cy="1514246"/>
          </a:xfrm>
          <a:prstGeom prst="roundRect">
            <a:avLst>
              <a:gd name="adj" fmla="val 4557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304800" dist="762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09905" y="3269894"/>
            <a:ext cx="457200" cy="457200"/>
          </a:xfrm>
          <a:prstGeom prst="roundRect">
            <a:avLst>
              <a:gd name="adj" fmla="val 33333"/>
            </a:avLst>
          </a:prstGeom>
          <a:noFill/>
          <a:ln w="12700">
            <a:solidFill>
              <a:srgbClr val="4B5563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18718" y="3402482"/>
            <a:ext cx="237744" cy="19019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09905" y="3878885"/>
            <a:ext cx="457200" cy="457200"/>
          </a:xfrm>
          <a:prstGeom prst="roundRect">
            <a:avLst>
              <a:gd name="adj" fmla="val 33333"/>
            </a:avLst>
          </a:prstGeom>
          <a:noFill/>
          <a:ln w="12700">
            <a:solidFill>
              <a:srgbClr val="4B5563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18718" y="4012387"/>
            <a:ext cx="237744" cy="19019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09905" y="4488790"/>
            <a:ext cx="457200" cy="457200"/>
          </a:xfrm>
          <a:prstGeom prst="roundRect">
            <a:avLst>
              <a:gd name="adj" fmla="val 33333"/>
            </a:avLst>
          </a:prstGeom>
          <a:noFill/>
          <a:ln w="12700">
            <a:solidFill>
              <a:srgbClr val="4B5563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rcRect l="-1282" r="-1282"/>
          <a:stretch>
            <a:fillRect/>
          </a:stretch>
        </p:blipFill>
        <p:spPr>
          <a:xfrm>
            <a:off x="728777" y="4622292"/>
            <a:ext cx="219456" cy="19019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47649" y="1686154"/>
            <a:ext cx="185806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显微镜下的分子运动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847649" y="2085746"/>
            <a:ext cx="3033979" cy="6291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人类看的是“趋势”（波浪），而量化看的是“微观结构”（分子）。它们不在乎明天涨跌，只在乎毫秒级别的价差。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218895" y="3307385"/>
            <a:ext cx="7342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绝对理性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218895" y="3526841"/>
            <a:ext cx="16962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无情绪干扰，严格执行数学期望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1218895" y="3917290"/>
            <a:ext cx="7342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大数定律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1218895" y="4135831"/>
            <a:ext cx="191475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51%胜率 x 无限次交易 = 确定性盈利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218895" y="4527194"/>
            <a:ext cx="6958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底仓T+0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218895" y="4745736"/>
            <a:ext cx="18105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利用存量底仓，实现日内高频回转</a:t>
            </a:r>
            <a:endParaRPr lang="en-US" sz="9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572000" y="1457554"/>
            <a:ext cx="7010705" cy="3495751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8716975" y="1762049"/>
            <a:ext cx="2562149" cy="342900"/>
          </a:xfrm>
          <a:prstGeom prst="roundRect">
            <a:avLst>
              <a:gd name="adj" fmla="val 2963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304800" dist="762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Text 20"/>
          <p:cNvSpPr txBox="1"/>
          <p:nvPr/>
        </p:nvSpPr>
        <p:spPr>
          <a:xfrm>
            <a:off x="6151169" y="1600200"/>
            <a:ext cx="13716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1: DETECTION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6408115" y="1809598"/>
            <a:ext cx="115763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识别大单吸筹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5950915" y="2095805"/>
            <a:ext cx="15819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分析挂单消失速度与成交密度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8802929" y="1876349"/>
            <a:ext cx="50566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Impact" panose="020B0806030902050204" charset="0"/>
                <a:ea typeface="Impact" panose="020B0806030902050204" charset="0"/>
                <a:cs typeface="Impact" panose="020B0806030902050204" charset="0"/>
              </a:rPr>
              <a:t>Input:</a:t>
            </a:r>
            <a:endParaRPr lang="en-US" sz="900" dirty="0"/>
          </a:p>
        </p:txBody>
      </p:sp>
      <p:sp>
        <p:nvSpPr>
          <p:cNvPr id="31" name="Text 24"/>
          <p:cNvSpPr txBox="1"/>
          <p:nvPr/>
        </p:nvSpPr>
        <p:spPr>
          <a:xfrm>
            <a:off x="9214409" y="1837944"/>
            <a:ext cx="9528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Order Flow Data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7818120" y="1628546"/>
            <a:ext cx="523951" cy="609905"/>
          </a:xfrm>
          <a:prstGeom prst="roundRect">
            <a:avLst>
              <a:gd name="adj" fmla="val 174520"/>
            </a:avLst>
          </a:prstGeom>
          <a:noFill/>
          <a:ln w="25400">
            <a:solidFill>
              <a:srgbClr val="3B82F6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962595" y="1819656"/>
            <a:ext cx="228600" cy="228600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6405372" y="2537460"/>
            <a:ext cx="1037844" cy="342900"/>
          </a:xfrm>
          <a:prstGeom prst="roundRect">
            <a:avLst>
              <a:gd name="adj" fmla="val 2963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304800" dist="762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Text 27"/>
          <p:cNvSpPr txBox="1"/>
          <p:nvPr/>
        </p:nvSpPr>
        <p:spPr>
          <a:xfrm>
            <a:off x="8716975" y="2375611"/>
            <a:ext cx="138165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78B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2: EXECUTION</a:t>
            </a:r>
            <a:endParaRPr lang="en-US" sz="900" dirty="0"/>
          </a:p>
        </p:txBody>
      </p:sp>
      <p:sp>
        <p:nvSpPr>
          <p:cNvPr id="36" name="Text 28"/>
          <p:cNvSpPr txBox="1"/>
          <p:nvPr/>
        </p:nvSpPr>
        <p:spPr>
          <a:xfrm>
            <a:off x="8716975" y="2585009"/>
            <a:ext cx="986638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毫秒级抢跑</a:t>
            </a:r>
            <a:endParaRPr lang="en-US" sz="1300" dirty="0"/>
          </a:p>
        </p:txBody>
      </p:sp>
      <p:sp>
        <p:nvSpPr>
          <p:cNvPr id="37" name="Text 29"/>
          <p:cNvSpPr txBox="1"/>
          <p:nvPr/>
        </p:nvSpPr>
        <p:spPr>
          <a:xfrm>
            <a:off x="8716975" y="2871216"/>
            <a:ext cx="15819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在大户成交前，算法优先买入</a:t>
            </a:r>
            <a:endParaRPr lang="en-US" sz="900" dirty="0"/>
          </a:p>
        </p:txBody>
      </p:sp>
      <p:sp>
        <p:nvSpPr>
          <p:cNvPr id="38" name="Text 30"/>
          <p:cNvSpPr txBox="1"/>
          <p:nvPr/>
        </p:nvSpPr>
        <p:spPr>
          <a:xfrm>
            <a:off x="6490411" y="2651760"/>
            <a:ext cx="6382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78BFA"/>
                </a:solidFill>
                <a:latin typeface="Impact" panose="020B0806030902050204" charset="0"/>
                <a:ea typeface="Impact" panose="020B0806030902050204" charset="0"/>
                <a:cs typeface="Impact" panose="020B0806030902050204" charset="0"/>
              </a:rPr>
              <a:t>Latency: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7039051" y="2613355"/>
            <a:ext cx="400507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&lt; 5ms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7818120" y="2403958"/>
            <a:ext cx="523951" cy="609905"/>
          </a:xfrm>
          <a:prstGeom prst="roundRect">
            <a:avLst>
              <a:gd name="adj" fmla="val 174520"/>
            </a:avLst>
          </a:prstGeom>
          <a:noFill/>
          <a:ln w="25400">
            <a:solidFill>
              <a:srgbClr val="8B5CF6"/>
            </a:solidFill>
            <a:prstDash val="solid"/>
          </a:ln>
        </p:spPr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7"/>
          <a:srcRect l="-57" r="-57"/>
          <a:stretch>
            <a:fillRect/>
          </a:stretch>
        </p:blipFill>
        <p:spPr>
          <a:xfrm>
            <a:off x="7977226" y="2595067"/>
            <a:ext cx="200254" cy="228600"/>
          </a:xfrm>
          <a:prstGeom prst="rect">
            <a:avLst/>
          </a:prstGeom>
        </p:spPr>
      </p:pic>
      <p:sp>
        <p:nvSpPr>
          <p:cNvPr id="42" name="Shape 33"/>
          <p:cNvSpPr/>
          <p:nvPr/>
        </p:nvSpPr>
        <p:spPr>
          <a:xfrm>
            <a:off x="8716975" y="3312871"/>
            <a:ext cx="2562149" cy="342900"/>
          </a:xfrm>
          <a:prstGeom prst="roundRect">
            <a:avLst>
              <a:gd name="adj" fmla="val 2963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304800" dist="762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3" name="Text 34"/>
          <p:cNvSpPr txBox="1"/>
          <p:nvPr/>
        </p:nvSpPr>
        <p:spPr>
          <a:xfrm>
            <a:off x="6416345" y="3151022"/>
            <a:ext cx="111465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F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3: PROFIT</a:t>
            </a:r>
            <a:endParaRPr lang="en-US" sz="900" dirty="0"/>
          </a:p>
        </p:txBody>
      </p:sp>
      <p:sp>
        <p:nvSpPr>
          <p:cNvPr id="44" name="Text 35"/>
          <p:cNvSpPr txBox="1"/>
          <p:nvPr/>
        </p:nvSpPr>
        <p:spPr>
          <a:xfrm>
            <a:off x="6751015" y="3360420"/>
            <a:ext cx="81473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吃掉滑点</a:t>
            </a:r>
            <a:endParaRPr lang="en-US" sz="1300" dirty="0"/>
          </a:p>
        </p:txBody>
      </p:sp>
      <p:sp>
        <p:nvSpPr>
          <p:cNvPr id="45" name="Text 36"/>
          <p:cNvSpPr txBox="1"/>
          <p:nvPr/>
        </p:nvSpPr>
        <p:spPr>
          <a:xfrm>
            <a:off x="5950915" y="3646627"/>
            <a:ext cx="15819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高一分钱卖给大户，完成收割</a:t>
            </a:r>
            <a:endParaRPr lang="en-US" sz="900" dirty="0"/>
          </a:p>
        </p:txBody>
      </p:sp>
      <p:sp>
        <p:nvSpPr>
          <p:cNvPr id="46" name="Text 37"/>
          <p:cNvSpPr txBox="1"/>
          <p:nvPr/>
        </p:nvSpPr>
        <p:spPr>
          <a:xfrm>
            <a:off x="8802929" y="3427171"/>
            <a:ext cx="57150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4AF37"/>
                </a:solidFill>
                <a:latin typeface="Impact" panose="020B0806030902050204" charset="0"/>
                <a:ea typeface="Impact" panose="020B0806030902050204" charset="0"/>
                <a:cs typeface="Impact" panose="020B0806030902050204" charset="0"/>
              </a:rPr>
              <a:t>Spread:</a:t>
            </a:r>
            <a:endParaRPr lang="en-US" sz="900" dirty="0"/>
          </a:p>
        </p:txBody>
      </p:sp>
      <p:sp>
        <p:nvSpPr>
          <p:cNvPr id="47" name="Text 38"/>
          <p:cNvSpPr txBox="1"/>
          <p:nvPr/>
        </p:nvSpPr>
        <p:spPr>
          <a:xfrm>
            <a:off x="9282989" y="3388766"/>
            <a:ext cx="37216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+0.01</a:t>
            </a:r>
            <a:endParaRPr lang="en-US" sz="900" dirty="0"/>
          </a:p>
        </p:txBody>
      </p:sp>
      <p:sp>
        <p:nvSpPr>
          <p:cNvPr id="48" name="Shape 39"/>
          <p:cNvSpPr/>
          <p:nvPr/>
        </p:nvSpPr>
        <p:spPr>
          <a:xfrm>
            <a:off x="7818120" y="3179369"/>
            <a:ext cx="523951" cy="609905"/>
          </a:xfrm>
          <a:prstGeom prst="roundRect">
            <a:avLst>
              <a:gd name="adj" fmla="val 174520"/>
            </a:avLst>
          </a:prstGeom>
          <a:noFill/>
          <a:ln w="25400">
            <a:solidFill>
              <a:srgbClr val="D4AF37"/>
            </a:solidFill>
            <a:prstDash val="solid"/>
          </a:ln>
        </p:spPr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8"/>
          <a:srcRect t="-45" b="-45"/>
          <a:stretch>
            <a:fillRect/>
          </a:stretch>
        </p:blipFill>
        <p:spPr>
          <a:xfrm>
            <a:off x="7948879" y="3370478"/>
            <a:ext cx="256946" cy="228600"/>
          </a:xfrm>
          <a:prstGeom prst="rect">
            <a:avLst/>
          </a:prstGeom>
        </p:spPr>
      </p:pic>
      <p:sp>
        <p:nvSpPr>
          <p:cNvPr id="50" name="Shape 40"/>
          <p:cNvSpPr/>
          <p:nvPr/>
        </p:nvSpPr>
        <p:spPr>
          <a:xfrm>
            <a:off x="5943600" y="4088282"/>
            <a:ext cx="4267505" cy="705002"/>
          </a:xfrm>
          <a:prstGeom prst="roundRect">
            <a:avLst>
              <a:gd name="adj" fmla="val 21033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304800" dist="762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6219749" y="4364431"/>
            <a:ext cx="152705" cy="152705"/>
          </a:xfrm>
          <a:prstGeom prst="rect">
            <a:avLst/>
          </a:prstGeom>
        </p:spPr>
      </p:pic>
      <p:sp>
        <p:nvSpPr>
          <p:cNvPr id="52" name="Text 41"/>
          <p:cNvSpPr txBox="1"/>
          <p:nvPr/>
        </p:nvSpPr>
        <p:spPr>
          <a:xfrm>
            <a:off x="6638544" y="4250131"/>
            <a:ext cx="7342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最终结果</a:t>
            </a:r>
            <a:endParaRPr lang="en-US" sz="1200" dirty="0"/>
          </a:p>
        </p:txBody>
      </p:sp>
      <p:sp>
        <p:nvSpPr>
          <p:cNvPr id="53" name="Text 42"/>
          <p:cNvSpPr txBox="1"/>
          <p:nvPr/>
        </p:nvSpPr>
        <p:spPr>
          <a:xfrm>
            <a:off x="6638544" y="4469587"/>
            <a:ext cx="173370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4D3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利润 = 交易次数 (∞) × 微小价差</a:t>
            </a:r>
            <a:endParaRPr lang="en-US" sz="900" dirty="0"/>
          </a:p>
        </p:txBody>
      </p:sp>
      <p:sp>
        <p:nvSpPr>
          <p:cNvPr id="54" name="Text 43"/>
          <p:cNvSpPr txBox="1"/>
          <p:nvPr/>
        </p:nvSpPr>
        <p:spPr>
          <a:xfrm>
            <a:off x="9225382" y="4307738"/>
            <a:ext cx="1000354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Impact" panose="020B0806030902050204" charset="0"/>
                <a:ea typeface="Impact" panose="020B0806030902050204" charset="0"/>
                <a:cs typeface="Impact" panose="020B0806030902050204" charset="0"/>
              </a:rPr>
              <a:t>Profit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63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9144"/>
          </a:xfrm>
          <a:prstGeom prst="rect">
            <a:avLst/>
          </a:prstGeom>
          <a:solidFill>
            <a:srgbClr val="1F2937"/>
          </a:solidFill>
        </p:spPr>
      </p:sp>
      <p:sp>
        <p:nvSpPr>
          <p:cNvPr id="4" name="Text 2"/>
          <p:cNvSpPr txBox="1"/>
          <p:nvPr/>
        </p:nvSpPr>
        <p:spPr>
          <a:xfrm>
            <a:off x="609905" y="552298"/>
            <a:ext cx="5667451" cy="4864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A股独特生态(上)：涨跌停板与T+1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0116007" y="800100"/>
            <a:ext cx="156728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制度摩擦创造的博弈空间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371246"/>
            <a:ext cx="18288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4AF37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UNIQUE MARKET ECOLOGY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86246" y="1944014"/>
            <a:ext cx="19202" cy="3962095"/>
          </a:xfrm>
          <a:prstGeom prst="rect">
            <a:avLst/>
          </a:prstGeom>
          <a:solidFill>
            <a:srgbClr val="D4AF37">
              <a:alpha val="30000"/>
            </a:srgbClr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>
            <a:alphaModFix amt="5000"/>
          </a:blip>
          <a:srcRect t="-1923" b="-1923"/>
          <a:stretch>
            <a:fillRect/>
          </a:stretch>
        </p:blipFill>
        <p:spPr>
          <a:xfrm>
            <a:off x="5495544" y="1524305"/>
            <a:ext cx="237744" cy="2194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609344"/>
            <a:ext cx="2229307" cy="362102"/>
          </a:xfrm>
          <a:prstGeom prst="roundRect">
            <a:avLst>
              <a:gd name="adj" fmla="val 252526"/>
            </a:avLst>
          </a:prstGeom>
          <a:solidFill>
            <a:srgbClr val="7F1D1D">
              <a:alpha val="3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9049" y="1723644"/>
            <a:ext cx="133502" cy="13350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6851" y="1695298"/>
            <a:ext cx="17574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717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涨跌停板 (PRICE LIMITS)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2085746"/>
            <a:ext cx="2548433" cy="419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制造"稀缺与焦虑"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2553005"/>
            <a:ext cx="2701138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ECACA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人为截断流动性，创造确定性溢价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7200" y="3152851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7F1D1D">
              <a:alpha val="40000"/>
            </a:srgbClr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rcRect l="-33" r="-33"/>
          <a:stretch>
            <a:fillRect/>
          </a:stretch>
        </p:blipFill>
        <p:spPr>
          <a:xfrm>
            <a:off x="562356" y="3267151"/>
            <a:ext cx="171907" cy="15270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90295" y="3105302"/>
            <a:ext cx="109545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确定性溢价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990295" y="3429000"/>
            <a:ext cx="4534510" cy="476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一旦涨停，想买的人买不到。这种"买不到"的焦虑转化为次日的高开预期。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" y="4181551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7F1D1D">
              <a:alpha val="40000"/>
            </a:srgbClr>
          </a:solidFill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71500" y="4295851"/>
            <a:ext cx="152705" cy="15270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90295" y="4134002"/>
            <a:ext cx="109545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打板的本质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990295" y="4457700"/>
            <a:ext cx="4381805" cy="476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不是买入公司价值，而是买一张"明天有人愿意更高价接盘"的门票。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57200" y="5210251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7F1D1D">
              <a:alpha val="40000"/>
            </a:srgbClr>
          </a:solidFill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rcRect t="-180" b="-180"/>
          <a:stretch>
            <a:fillRect/>
          </a:stretch>
        </p:blipFill>
        <p:spPr>
          <a:xfrm>
            <a:off x="552298" y="5324551"/>
            <a:ext cx="190195" cy="15270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90295" y="5162702"/>
            <a:ext cx="109545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信号显性化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990295" y="5486400"/>
            <a:ext cx="4381805" cy="476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将连续的价格流强行锁定成一个确定的"最强信号"，便于资金聚焦。</a:t>
            </a:r>
            <a:endParaRPr lang="en-US" sz="12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>
            <a:alphaModFix amt="5000"/>
          </a:blip>
          <a:srcRect l="-2143" r="-2143"/>
          <a:stretch>
            <a:fillRect/>
          </a:stretch>
        </p:blipFill>
        <p:spPr>
          <a:xfrm>
            <a:off x="11634826" y="1528877"/>
            <a:ext cx="200254" cy="219456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6705295" y="1733702"/>
            <a:ext cx="2428646" cy="362102"/>
          </a:xfrm>
          <a:prstGeom prst="roundRect">
            <a:avLst>
              <a:gd name="adj" fmla="val 252526"/>
            </a:avLst>
          </a:prstGeom>
          <a:solidFill>
            <a:srgbClr val="1E3A8A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rcRect t="-1100" b="-1100"/>
          <a:stretch>
            <a:fillRect/>
          </a:stretch>
        </p:blipFill>
        <p:spPr>
          <a:xfrm>
            <a:off x="6867144" y="1848002"/>
            <a:ext cx="114300" cy="133502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7095744" y="1819656"/>
            <a:ext cx="197693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T+1 制度 (TRADING RULES)</a:t>
            </a:r>
            <a:endParaRPr lang="en-US" sz="1000" dirty="0"/>
          </a:p>
        </p:txBody>
      </p:sp>
      <p:sp>
        <p:nvSpPr>
          <p:cNvPr id="30" name="Text 21"/>
          <p:cNvSpPr txBox="1"/>
          <p:nvPr/>
        </p:nvSpPr>
        <p:spPr>
          <a:xfrm>
            <a:off x="6705295" y="2210105"/>
            <a:ext cx="2262226" cy="419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锁死"日内纠错"</a:t>
            </a:r>
            <a:endParaRPr lang="en-US" sz="2200" dirty="0"/>
          </a:p>
        </p:txBody>
      </p:sp>
      <p:sp>
        <p:nvSpPr>
          <p:cNvPr id="31" name="Text 22"/>
          <p:cNvSpPr txBox="1"/>
          <p:nvPr/>
        </p:nvSpPr>
        <p:spPr>
          <a:xfrm>
            <a:off x="6705295" y="2676449"/>
            <a:ext cx="2701138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FDBFE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无法当日止损，逼迫资金追求极致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6705295" y="327629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1E3A8A">
              <a:alpha val="40000"/>
            </a:srgbClr>
          </a:solidFill>
        </p:spPr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819595" y="3390595"/>
            <a:ext cx="152705" cy="152705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7239305" y="3228746"/>
            <a:ext cx="128656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日内风险对冲</a:t>
            </a:r>
            <a:endParaRPr lang="en-US" sz="1500" dirty="0"/>
          </a:p>
        </p:txBody>
      </p:sp>
      <p:sp>
        <p:nvSpPr>
          <p:cNvPr id="35" name="Text 25"/>
          <p:cNvSpPr txBox="1"/>
          <p:nvPr/>
        </p:nvSpPr>
        <p:spPr>
          <a:xfrm>
            <a:off x="7239305" y="3552444"/>
            <a:ext cx="43918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因为不能当日卖出，只有封死涨停，才能消除当天的波动风险。</a:t>
            </a:r>
            <a:endParaRPr lang="en-US" sz="1200" dirty="0"/>
          </a:p>
        </p:txBody>
      </p:sp>
      <p:sp>
        <p:nvSpPr>
          <p:cNvPr id="36" name="Shape 26"/>
          <p:cNvSpPr/>
          <p:nvPr/>
        </p:nvSpPr>
        <p:spPr>
          <a:xfrm>
            <a:off x="6705295" y="4058107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1E3A8A">
              <a:alpha val="40000"/>
            </a:srgbClr>
          </a:solidFill>
        </p:spPr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6819595" y="4172407"/>
            <a:ext cx="152705" cy="152705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7239305" y="4009644"/>
            <a:ext cx="151516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逼出"龙头战法"</a:t>
            </a:r>
            <a:endParaRPr lang="en-US" sz="1500" dirty="0"/>
          </a:p>
        </p:txBody>
      </p:sp>
      <p:sp>
        <p:nvSpPr>
          <p:cNvPr id="39" name="Text 28"/>
          <p:cNvSpPr txBox="1"/>
          <p:nvPr/>
        </p:nvSpPr>
        <p:spPr>
          <a:xfrm>
            <a:off x="7239305" y="4334256"/>
            <a:ext cx="4496105" cy="476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为了对抗T+1的持仓不确定性，资金被迫放弃温和股票，只攻击最强的龙头。</a:t>
            </a:r>
            <a:endParaRPr lang="en-US" sz="1200" dirty="0"/>
          </a:p>
        </p:txBody>
      </p:sp>
      <p:sp>
        <p:nvSpPr>
          <p:cNvPr id="40" name="Shape 29"/>
          <p:cNvSpPr/>
          <p:nvPr/>
        </p:nvSpPr>
        <p:spPr>
          <a:xfrm>
            <a:off x="6705295" y="5086807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1E3A8A">
              <a:alpha val="40000"/>
            </a:srgbClr>
          </a:solidFill>
        </p:spPr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10"/>
          <a:srcRect t="-180" b="-180"/>
          <a:stretch>
            <a:fillRect/>
          </a:stretch>
        </p:blipFill>
        <p:spPr>
          <a:xfrm>
            <a:off x="6801307" y="5201107"/>
            <a:ext cx="190195" cy="152705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7239305" y="5038344"/>
            <a:ext cx="109545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制度性扭曲</a:t>
            </a:r>
            <a:endParaRPr lang="en-US" sz="1500" dirty="0"/>
          </a:p>
        </p:txBody>
      </p:sp>
      <p:sp>
        <p:nvSpPr>
          <p:cNvPr id="43" name="Text 31"/>
          <p:cNvSpPr txBox="1"/>
          <p:nvPr/>
        </p:nvSpPr>
        <p:spPr>
          <a:xfrm>
            <a:off x="7239305" y="5362956"/>
            <a:ext cx="4543654" cy="476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制度摩擦导致交易行为异化，不求基本面长期逻辑，只求隔日情绪溢价。</a:t>
            </a:r>
            <a:endParaRPr lang="en-US" sz="1200" dirty="0"/>
          </a:p>
        </p:txBody>
      </p:sp>
      <p:sp>
        <p:nvSpPr>
          <p:cNvPr id="44" name="Text 32"/>
          <p:cNvSpPr txBox="1"/>
          <p:nvPr/>
        </p:nvSpPr>
        <p:spPr>
          <a:xfrm>
            <a:off x="4122115" y="6038698"/>
            <a:ext cx="40389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核心逻辑： A股短线生态是"流动性充沛"与"制度摩擦"共同逼出来的产物。</a:t>
            </a:r>
            <a:endParaRPr lang="en-US" sz="900" dirty="0"/>
          </a:p>
        </p:txBody>
      </p:sp>
      <p:sp>
        <p:nvSpPr>
          <p:cNvPr id="45" name="Text 33"/>
          <p:cNvSpPr txBox="1"/>
          <p:nvPr/>
        </p:nvSpPr>
        <p:spPr>
          <a:xfrm>
            <a:off x="9988906" y="6038698"/>
            <a:ext cx="199156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P.09 | 炒股与赌博：连续性博弈的智慧</a:t>
            </a:r>
            <a:endParaRPr lang="en-US" sz="900" dirty="0"/>
          </a:p>
        </p:txBody>
      </p:sp>
      <p:sp>
        <p:nvSpPr>
          <p:cNvPr id="46" name="Shape 34"/>
          <p:cNvSpPr/>
          <p:nvPr/>
        </p:nvSpPr>
        <p:spPr>
          <a:xfrm>
            <a:off x="5810098" y="3504895"/>
            <a:ext cx="571500" cy="57150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D4AF37"/>
            </a:solidFill>
            <a:prstDash val="solid"/>
          </a:ln>
        </p:spPr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11"/>
          <a:srcRect l="-1648" r="-1648"/>
          <a:stretch>
            <a:fillRect/>
          </a:stretch>
        </p:blipFill>
        <p:spPr>
          <a:xfrm>
            <a:off x="6010351" y="3696005"/>
            <a:ext cx="171907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63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9144"/>
          </a:xfrm>
          <a:prstGeom prst="rect">
            <a:avLst/>
          </a:prstGeom>
          <a:solidFill>
            <a:srgbClr val="1F2937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rcRect l="-607" r="-607"/>
          <a:stretch>
            <a:fillRect/>
          </a:stretch>
        </p:blipFill>
        <p:spPr>
          <a:xfrm>
            <a:off x="11220602" y="676656"/>
            <a:ext cx="362102" cy="28620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9905" y="552298"/>
            <a:ext cx="6334963" cy="4864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A股独特生态（下）：龙虎榜与散户结构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10039198" y="638251"/>
            <a:ext cx="111465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CONCEPT &amp; FLOW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9291218" y="800100"/>
            <a:ext cx="188183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4AF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IDOL ECONOMY &amp; HERDING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09905" y="371246"/>
            <a:ext cx="276240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4AF37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UNIQUE ECOLOGY OF A-SHARES (PART 2)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09905" y="1380744"/>
            <a:ext cx="3504895" cy="1438351"/>
          </a:xfrm>
          <a:prstGeom prst="roundRect">
            <a:avLst>
              <a:gd name="adj" fmla="val 3368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09244" y="1580998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7F1D1D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95198" y="1666951"/>
            <a:ext cx="133502" cy="13350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343400" y="1380744"/>
            <a:ext cx="3504895" cy="1438351"/>
          </a:xfrm>
          <a:prstGeom prst="roundRect">
            <a:avLst>
              <a:gd name="adj" fmla="val 3368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43654" y="1580998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78350F"/>
          </a:solidFill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1507" r="-1507"/>
          <a:stretch>
            <a:fillRect/>
          </a:stretch>
        </p:blipFill>
        <p:spPr>
          <a:xfrm>
            <a:off x="4610405" y="1666951"/>
            <a:ext cx="171907" cy="13350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8076895" y="1380744"/>
            <a:ext cx="3504895" cy="1438351"/>
          </a:xfrm>
          <a:prstGeom prst="roundRect">
            <a:avLst>
              <a:gd name="adj" fmla="val 3368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277149" y="1580998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1E3A8A"/>
          </a:solidFill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363102" y="1666951"/>
            <a:ext cx="133502" cy="13350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28954" y="1609344"/>
            <a:ext cx="2015338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“明牌”机制与偶像经济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809244" y="1971446"/>
            <a:ext cx="3167482" cy="6291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龙虎榜公布前五大买卖席位，将暗箱博弈异化为“追星现场”。散户不看基本面，只看“章盟主”、“赵老哥”是否上榜，席位本身即产生溢价。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4962449" y="1609344"/>
            <a:ext cx="150053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散户羊群与流动性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4543654" y="1971446"/>
            <a:ext cx="3167482" cy="6291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机构受限于仓位，散户提供主要活跃流动性。庞大的散户群体缺乏分析能力，渴望简单暴利的信号。连板成为了最极致的“可视化信号”。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8695944" y="1609344"/>
            <a:ext cx="1329538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注意力套利游戏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8277149" y="1971446"/>
            <a:ext cx="3167482" cy="6291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短线生态本质是注意力争夺战。基本面无效，情绪有效。打板客博弈的不是公司价值，而是“明天会有更贪婪的人接力”的确定性。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609905" y="3240634"/>
            <a:ext cx="12390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Genspark AI Academy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9683496" y="3240634"/>
            <a:ext cx="199156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P.10 | 炒股与赌博：连续性博弈的智慧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609905" y="3002890"/>
            <a:ext cx="10972800" cy="19202"/>
          </a:xfrm>
          <a:prstGeom prst="roundRect">
            <a:avLst>
              <a:gd name="adj" fmla="val 4762004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rcRect l="-33" r="-33"/>
          <a:stretch>
            <a:fillRect/>
          </a:stretch>
        </p:blipFill>
        <p:spPr>
          <a:xfrm>
            <a:off x="847649" y="3145536"/>
            <a:ext cx="171907" cy="15270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095451" y="3126334"/>
            <a:ext cx="230063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A股短线生态循环图：从信号到收割</a:t>
            </a:r>
            <a:endParaRPr lang="en-US" sz="1000" dirty="0"/>
          </a:p>
        </p:txBody>
      </p:sp>
      <p:pic>
        <p:nvPicPr>
          <p:cNvPr id="31" name="图片 30" descr="A股生态_高清大图_4401x247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540"/>
            <a:ext cx="12192000" cy="6856095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125" y="2073275"/>
            <a:ext cx="11969115" cy="45700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029907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7029907"/>
          </a:xfrm>
          <a:prstGeom prst="rect">
            <a:avLst/>
          </a:prstGeom>
          <a:solidFill>
            <a:srgbClr val="0B1120"/>
          </a:solidFill>
        </p:spPr>
      </p:sp>
      <p:sp>
        <p:nvSpPr>
          <p:cNvPr id="4" name="Text 2"/>
          <p:cNvSpPr txBox="1"/>
          <p:nvPr/>
        </p:nvSpPr>
        <p:spPr>
          <a:xfrm>
            <a:off x="9988906" y="6638544"/>
            <a:ext cx="199156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P.17 | 炒股与赌博：连续性博弈的智慧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1143000"/>
            <a:ext cx="12191695" cy="9144"/>
          </a:xfrm>
          <a:prstGeom prst="rect">
            <a:avLst/>
          </a:prstGeom>
          <a:solidFill>
            <a:srgbClr val="1F2937"/>
          </a:solidFill>
        </p:spPr>
      </p:sp>
      <p:sp>
        <p:nvSpPr>
          <p:cNvPr id="6" name="Text 4"/>
          <p:cNvSpPr txBox="1"/>
          <p:nvPr/>
        </p:nvSpPr>
        <p:spPr>
          <a:xfrm>
            <a:off x="609905" y="552298"/>
            <a:ext cx="5800954" cy="4864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A股生存之道：低频交易，短线持股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371246"/>
            <a:ext cx="24387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4AF37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THE WAY OF SURVIVAL IN A-SHARES</a:t>
            </a:r>
            <a:endParaRPr lang="en-US" sz="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>
            <a:alphaModFix amt="50000"/>
          </a:blip>
          <a:srcRect/>
          <a:stretch>
            <a:fillRect/>
          </a:stretch>
        </p:blipFill>
        <p:spPr>
          <a:xfrm>
            <a:off x="11239805" y="629107"/>
            <a:ext cx="342900" cy="3429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224821" y="599846"/>
            <a:ext cx="9528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>
                    <a:alpha val="5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STRATEGY CORE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9804197" y="761695"/>
            <a:ext cx="140086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4AF37">
                    <a:alpha val="5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8-WORD MANTRA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9905" y="1457554"/>
            <a:ext cx="4419295" cy="1438351"/>
          </a:xfrm>
          <a:prstGeom prst="roundRect">
            <a:avLst>
              <a:gd name="adj" fmla="val 3368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9244" y="1695298"/>
            <a:ext cx="152705" cy="1527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37844" y="1657807"/>
            <a:ext cx="10387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717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诚实面对环境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809244" y="1971446"/>
            <a:ext cx="311993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这里是A股。没有长达十年的慢牛，只有牛短熊长。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809244" y="2264969"/>
            <a:ext cx="4072738" cy="409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走势往往不是“长坡厚雪”，而是“过山车”。死守长线 = 坐电梯 = 利润回撤。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3519526" y="5915254"/>
            <a:ext cx="8961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F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正解：生存之道</a:t>
            </a:r>
            <a:endParaRPr lang="en-US" sz="9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rcRect t="-1100" b="-1100"/>
          <a:stretch>
            <a:fillRect/>
          </a:stretch>
        </p:blipFill>
        <p:spPr>
          <a:xfrm>
            <a:off x="3576218" y="6151169"/>
            <a:ext cx="114300" cy="1335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728923" y="6115507"/>
            <a:ext cx="6336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低频决策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3310128" y="6344107"/>
            <a:ext cx="13432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像狙击手一样潜伏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09905" y="3117190"/>
            <a:ext cx="4419295" cy="2428646"/>
          </a:xfrm>
          <a:prstGeom prst="roundRect">
            <a:avLst>
              <a:gd name="adj" fmla="val 1772"/>
            </a:avLst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914400" y="2992831"/>
            <a:ext cx="13341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4AF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CORE PHILOSOPHY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313078" y="5915254"/>
            <a:ext cx="8961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>
                    <a:alpha val="5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误区：短线赌博</a:t>
            </a:r>
            <a:endParaRPr lang="en-US" sz="9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 l="-2512" r="-2512"/>
          <a:stretch>
            <a:fillRect/>
          </a:stretch>
        </p:blipFill>
        <p:spPr>
          <a:xfrm>
            <a:off x="1374343" y="6151169"/>
            <a:ext cx="105156" cy="1335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517904" y="6115507"/>
            <a:ext cx="6336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高频决策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103681" y="6344107"/>
            <a:ext cx="13432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>
                    <a:alpha val="5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盯着分时图杀红眼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5404104" y="1457554"/>
            <a:ext cx="6181344" cy="5266944"/>
          </a:xfrm>
          <a:prstGeom prst="roundRect">
            <a:avLst>
              <a:gd name="adj" fmla="val 377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>
            <a:alphaModFix amt="5000"/>
          </a:blip>
          <a:srcRect/>
          <a:stretch>
            <a:fillRect/>
          </a:stretch>
        </p:blipFill>
        <p:spPr>
          <a:xfrm>
            <a:off x="10125151" y="1695298"/>
            <a:ext cx="1218895" cy="1218895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5717743" y="1772107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064E3B">
              <a:alpha val="30000"/>
            </a:srgbClr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827471" y="1904695"/>
            <a:ext cx="237744" cy="190195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6289243" y="1772107"/>
            <a:ext cx="8860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像鳄鱼一样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6289243" y="2048256"/>
            <a:ext cx="8961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极度耐心的等待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7547458" y="1772107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7F1D1D">
              <a:alpha val="30000"/>
            </a:srgbClr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7680046" y="1904695"/>
            <a:ext cx="190195" cy="190195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8118958" y="1772107"/>
            <a:ext cx="10387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像狙击手一样</a:t>
            </a:r>
            <a:endParaRPr lang="en-US" sz="1200" dirty="0"/>
          </a:p>
        </p:txBody>
      </p:sp>
      <p:sp>
        <p:nvSpPr>
          <p:cNvPr id="35" name="Text 26"/>
          <p:cNvSpPr txBox="1"/>
          <p:nvPr/>
        </p:nvSpPr>
        <p:spPr>
          <a:xfrm>
            <a:off x="8118958" y="2048256"/>
            <a:ext cx="8961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一击必中的潜伏</a:t>
            </a:r>
            <a:endParaRPr lang="en-US" sz="900" dirty="0"/>
          </a:p>
        </p:txBody>
      </p:sp>
      <p:sp>
        <p:nvSpPr>
          <p:cNvPr id="36" name="Shape 27"/>
          <p:cNvSpPr/>
          <p:nvPr/>
        </p:nvSpPr>
        <p:spPr>
          <a:xfrm>
            <a:off x="5717743" y="5639105"/>
            <a:ext cx="5553151" cy="9144"/>
          </a:xfrm>
          <a:prstGeom prst="rect">
            <a:avLst/>
          </a:prstGeom>
          <a:solidFill>
            <a:srgbClr val="374151"/>
          </a:solidFill>
        </p:spPr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8">
            <a:alphaModFix amt="30000"/>
          </a:blip>
          <a:srcRect t="-44119" b="-44119"/>
          <a:stretch>
            <a:fillRect/>
          </a:stretch>
        </p:blipFill>
        <p:spPr>
          <a:xfrm>
            <a:off x="5717743" y="5876849"/>
            <a:ext cx="247802" cy="533095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6118250" y="5867705"/>
            <a:ext cx="1819656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E5E7EB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"善猎者必善等待。"</a:t>
            </a:r>
            <a:endParaRPr lang="en-US" sz="1500" dirty="0"/>
          </a:p>
        </p:txBody>
      </p:sp>
      <p:sp>
        <p:nvSpPr>
          <p:cNvPr id="39" name="Text 29"/>
          <p:cNvSpPr txBox="1"/>
          <p:nvPr/>
        </p:nvSpPr>
        <p:spPr>
          <a:xfrm>
            <a:off x="6118250" y="6219749"/>
            <a:ext cx="263438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用低频的决策，去换取高质量的短线爆发。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2510942" y="4311396"/>
            <a:ext cx="609905" cy="38405"/>
          </a:xfrm>
          <a:prstGeom prst="rect">
            <a:avLst/>
          </a:prstGeom>
          <a:solidFill>
            <a:srgbClr val="374151"/>
          </a:solidFill>
        </p:spPr>
      </p:sp>
      <p:sp>
        <p:nvSpPr>
          <p:cNvPr id="41" name="Text 31"/>
          <p:cNvSpPr txBox="1"/>
          <p:nvPr/>
        </p:nvSpPr>
        <p:spPr>
          <a:xfrm>
            <a:off x="1615745" y="3539642"/>
            <a:ext cx="2829154" cy="8193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FFFFFF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低频交易</a:t>
            </a:r>
            <a:endParaRPr lang="en-US" sz="4500" dirty="0"/>
          </a:p>
        </p:txBody>
      </p:sp>
      <p:sp>
        <p:nvSpPr>
          <p:cNvPr id="42" name="Text 32"/>
          <p:cNvSpPr txBox="1"/>
          <p:nvPr/>
        </p:nvSpPr>
        <p:spPr>
          <a:xfrm>
            <a:off x="1615745" y="4301338"/>
            <a:ext cx="2829154" cy="8193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FFFFFF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短线持股</a:t>
            </a:r>
            <a:endParaRPr lang="en-US" sz="4500" dirty="0"/>
          </a:p>
        </p:txBody>
      </p:sp>
      <p:sp>
        <p:nvSpPr>
          <p:cNvPr id="43" name="Shape 33"/>
          <p:cNvSpPr/>
          <p:nvPr/>
        </p:nvSpPr>
        <p:spPr>
          <a:xfrm>
            <a:off x="5717743" y="2762402"/>
            <a:ext cx="457200" cy="457200"/>
          </a:xfrm>
          <a:prstGeom prst="roundRect">
            <a:avLst>
              <a:gd name="adj" fmla="val 200000"/>
            </a:avLst>
          </a:prstGeom>
          <a:noFill/>
          <a:ln w="25400">
            <a:solidFill>
              <a:srgbClr val="4B5563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6327648" y="2762402"/>
            <a:ext cx="4943246" cy="705002"/>
          </a:xfrm>
          <a:prstGeom prst="roundRect">
            <a:avLst>
              <a:gd name="adj" fmla="val 7011"/>
            </a:avLst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45" name="Text 35"/>
          <p:cNvSpPr txBox="1"/>
          <p:nvPr/>
        </p:nvSpPr>
        <p:spPr>
          <a:xfrm>
            <a:off x="5856732" y="2876702"/>
            <a:ext cx="29535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01</a:t>
            </a:r>
            <a:endParaRPr lang="en-US" sz="1200" dirty="0"/>
          </a:p>
        </p:txBody>
      </p:sp>
      <p:sp>
        <p:nvSpPr>
          <p:cNvPr id="46" name="Text 36"/>
          <p:cNvSpPr txBox="1"/>
          <p:nvPr/>
        </p:nvSpPr>
        <p:spPr>
          <a:xfrm>
            <a:off x="6452006" y="2885846"/>
            <a:ext cx="7342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4AF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空仓等待</a:t>
            </a:r>
            <a:endParaRPr lang="en-US" sz="1200" dirty="0"/>
          </a:p>
        </p:txBody>
      </p:sp>
      <p:sp>
        <p:nvSpPr>
          <p:cNvPr id="47" name="Text 37"/>
          <p:cNvSpPr txBox="1"/>
          <p:nvPr/>
        </p:nvSpPr>
        <p:spPr>
          <a:xfrm>
            <a:off x="6452006" y="3152851"/>
            <a:ext cx="343448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可以空仓等一个月，只为了等待一个确定性的结构出现。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5717743" y="3696005"/>
            <a:ext cx="457200" cy="457200"/>
          </a:xfrm>
          <a:prstGeom prst="roundRect">
            <a:avLst>
              <a:gd name="adj" fmla="val 200000"/>
            </a:avLst>
          </a:prstGeom>
          <a:noFill/>
          <a:ln w="25400">
            <a:solidFill>
              <a:srgbClr val="4B5563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6327648" y="3696005"/>
            <a:ext cx="4943246" cy="705002"/>
          </a:xfrm>
          <a:prstGeom prst="roundRect">
            <a:avLst>
              <a:gd name="adj" fmla="val 7011"/>
            </a:avLst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50" name="Text 40"/>
          <p:cNvSpPr txBox="1"/>
          <p:nvPr/>
        </p:nvSpPr>
        <p:spPr>
          <a:xfrm>
            <a:off x="5856732" y="3810305"/>
            <a:ext cx="29535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02</a:t>
            </a:r>
            <a:endParaRPr lang="en-US" sz="1200" dirty="0"/>
          </a:p>
        </p:txBody>
      </p:sp>
      <p:sp>
        <p:nvSpPr>
          <p:cNvPr id="51" name="Text 41"/>
          <p:cNvSpPr txBox="1"/>
          <p:nvPr/>
        </p:nvSpPr>
        <p:spPr>
          <a:xfrm>
            <a:off x="6452006" y="3819449"/>
            <a:ext cx="7342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4AF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果断出击</a:t>
            </a:r>
            <a:endParaRPr lang="en-US" sz="1200" dirty="0"/>
          </a:p>
        </p:txBody>
      </p:sp>
      <p:sp>
        <p:nvSpPr>
          <p:cNvPr id="52" name="Text 42"/>
          <p:cNvSpPr txBox="1"/>
          <p:nvPr/>
        </p:nvSpPr>
        <p:spPr>
          <a:xfrm>
            <a:off x="6452006" y="4086454"/>
            <a:ext cx="37005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一旦机会来临，买入并持有三天、五天或几周，吃掉主升浪。</a:t>
            </a:r>
            <a:endParaRPr lang="en-US" sz="1000" dirty="0"/>
          </a:p>
        </p:txBody>
      </p:sp>
      <p:sp>
        <p:nvSpPr>
          <p:cNvPr id="53" name="Shape 43"/>
          <p:cNvSpPr/>
          <p:nvPr/>
        </p:nvSpPr>
        <p:spPr>
          <a:xfrm>
            <a:off x="5717743" y="4629607"/>
            <a:ext cx="457200" cy="457200"/>
          </a:xfrm>
          <a:prstGeom prst="roundRect">
            <a:avLst>
              <a:gd name="adj" fmla="val 200000"/>
            </a:avLst>
          </a:prstGeom>
          <a:noFill/>
          <a:ln w="25400">
            <a:solidFill>
              <a:srgbClr val="4B5563"/>
            </a:solidFill>
            <a:prstDash val="solid"/>
          </a:ln>
        </p:spPr>
      </p:sp>
      <p:sp>
        <p:nvSpPr>
          <p:cNvPr id="54" name="Shape 44"/>
          <p:cNvSpPr/>
          <p:nvPr/>
        </p:nvSpPr>
        <p:spPr>
          <a:xfrm>
            <a:off x="6327648" y="4629607"/>
            <a:ext cx="4943246" cy="705002"/>
          </a:xfrm>
          <a:prstGeom prst="roundRect">
            <a:avLst>
              <a:gd name="adj" fmla="val 7011"/>
            </a:avLst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55" name="Text 45"/>
          <p:cNvSpPr txBox="1"/>
          <p:nvPr/>
        </p:nvSpPr>
        <p:spPr>
          <a:xfrm>
            <a:off x="5856732" y="4743907"/>
            <a:ext cx="29535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03</a:t>
            </a:r>
            <a:endParaRPr lang="en-US" sz="1200" dirty="0"/>
          </a:p>
        </p:txBody>
      </p:sp>
      <p:sp>
        <p:nvSpPr>
          <p:cNvPr id="56" name="Text 46"/>
          <p:cNvSpPr txBox="1"/>
          <p:nvPr/>
        </p:nvSpPr>
        <p:spPr>
          <a:xfrm>
            <a:off x="6452006" y="4753051"/>
            <a:ext cx="7342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4AF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落袋为安</a:t>
            </a:r>
            <a:endParaRPr lang="en-US" sz="1200" dirty="0"/>
          </a:p>
        </p:txBody>
      </p:sp>
      <p:sp>
        <p:nvSpPr>
          <p:cNvPr id="57" name="Text 47"/>
          <p:cNvSpPr txBox="1"/>
          <p:nvPr/>
        </p:nvSpPr>
        <p:spPr>
          <a:xfrm>
            <a:off x="6452006" y="5020056"/>
            <a:ext cx="45006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无论后面还会不会涨，果断离场。不为了交易而交易，只为了盈利而交易。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Text 1"/>
          <p:cNvSpPr txBox="1"/>
          <p:nvPr/>
        </p:nvSpPr>
        <p:spPr>
          <a:xfrm>
            <a:off x="3904488" y="5928970"/>
            <a:ext cx="447690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核心洞察： 科技越进步，“逻辑”与“审美” 这种人类独有的感性价值就越稀缺。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988906" y="5928970"/>
            <a:ext cx="199156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P.12 | 炒股与赌博：连续性博弈的智慧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1219810"/>
            <a:ext cx="12191695" cy="9144"/>
          </a:xfrm>
          <a:prstGeom prst="rect">
            <a:avLst/>
          </a:prstGeom>
          <a:solidFill>
            <a:srgbClr val="1F2937"/>
          </a:solidFill>
        </p:spPr>
      </p:sp>
      <p:sp>
        <p:nvSpPr>
          <p:cNvPr id="6" name="Text 4"/>
          <p:cNvSpPr txBox="1"/>
          <p:nvPr/>
        </p:nvSpPr>
        <p:spPr>
          <a:xfrm>
            <a:off x="609905" y="629107"/>
            <a:ext cx="5181905" cy="4864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量化的致命弱点：无法想象未来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9784994" y="875995"/>
            <a:ext cx="190103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机器归纳过去 vs 人类演绎未来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409651"/>
            <a:ext cx="104790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QUANTITATIVE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679753" y="381305"/>
            <a:ext cx="26700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vs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944929" y="409651"/>
            <a:ext cx="157185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HUMAN INTELLIGENCE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86246" y="1992478"/>
            <a:ext cx="19202" cy="3819449"/>
          </a:xfrm>
          <a:prstGeom prst="rect">
            <a:avLst/>
          </a:prstGeom>
          <a:solidFill>
            <a:srgbClr val="D4AF37">
              <a:alpha val="30000"/>
            </a:srgbClr>
          </a:solidFill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>
            <a:alphaModFix amt="5000"/>
          </a:blip>
          <a:srcRect/>
          <a:stretch>
            <a:fillRect/>
          </a:stretch>
        </p:blipFill>
        <p:spPr>
          <a:xfrm>
            <a:off x="5513832" y="1602943"/>
            <a:ext cx="219456" cy="219456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57200" y="1686154"/>
            <a:ext cx="2457907" cy="362102"/>
          </a:xfrm>
          <a:prstGeom prst="roundRect">
            <a:avLst>
              <a:gd name="adj" fmla="val 252526"/>
            </a:avLst>
          </a:prstGeom>
          <a:noFill/>
          <a:ln w="12700">
            <a:solidFill>
              <a:srgbClr val="E5E7EB">
                <a:alpha val="30000"/>
              </a:srgbClr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rcRect l="-1507" r="-1507"/>
          <a:stretch>
            <a:fillRect/>
          </a:stretch>
        </p:blipFill>
        <p:spPr>
          <a:xfrm>
            <a:off x="619049" y="1800454"/>
            <a:ext cx="171907" cy="13350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05256" y="1772107"/>
            <a:ext cx="194858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机器算法 (MACHINE LOGIC)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2162556"/>
            <a:ext cx="2214677" cy="419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量化·归纳过去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2628900"/>
            <a:ext cx="252923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只能看见数据，看不见“分量”</a:t>
            </a:r>
            <a:endParaRPr lang="en-US" sz="13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rcRect t="-180" b="-180"/>
          <a:stretch>
            <a:fillRect/>
          </a:stretch>
        </p:blipFill>
        <p:spPr>
          <a:xfrm>
            <a:off x="552298" y="3343046"/>
            <a:ext cx="190195" cy="15270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90295" y="3181198"/>
            <a:ext cx="128656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语义理解局限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990295" y="3504895"/>
            <a:ext cx="4491533" cy="409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NLP只能抓取新闻“关键词”。它无法理解一个政策（如低空经济）背后的宏观叙事和产业革命重量，只会套利跑路。</a:t>
            </a:r>
            <a:endParaRPr lang="en-US" sz="10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71500" y="4310482"/>
            <a:ext cx="152705" cy="15270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90295" y="4147718"/>
            <a:ext cx="905256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机械风控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90295" y="4472330"/>
            <a:ext cx="4500677" cy="409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面对极端情绪，机器只会执行机械止损或止盈。它无法理解“烂板出妖股”的逆向博弈逻辑。</a:t>
            </a:r>
            <a:endParaRPr lang="en-US" sz="10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71500" y="5277002"/>
            <a:ext cx="152705" cy="15270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990295" y="5115154"/>
            <a:ext cx="1476756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指标钝化即卖出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990295" y="5438851"/>
            <a:ext cx="4500677" cy="409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当妖股翻倍、指标背离时，模型判定“极度高估”报警卖出，从而错失情绪总宣泄的主升浪。</a:t>
            </a:r>
            <a:endParaRPr lang="en-US" sz="10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>
            <a:alphaModFix amt="5000"/>
          </a:blip>
          <a:srcRect t="-7829" b="-7829"/>
          <a:stretch>
            <a:fillRect/>
          </a:stretch>
        </p:blipFill>
        <p:spPr>
          <a:xfrm>
            <a:off x="11578133" y="1589227"/>
            <a:ext cx="256946" cy="237744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705295" y="1686154"/>
            <a:ext cx="2352751" cy="362102"/>
          </a:xfrm>
          <a:prstGeom prst="roundRect">
            <a:avLst>
              <a:gd name="adj" fmla="val 252526"/>
            </a:avLst>
          </a:prstGeom>
          <a:noFill/>
          <a:ln w="12700">
            <a:solidFill>
              <a:srgbClr val="E5E7EB">
                <a:alpha val="30000"/>
              </a:srgbClr>
            </a:solidFill>
            <a:prstDash val="solid"/>
          </a:ln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867144" y="1800454"/>
            <a:ext cx="133502" cy="133502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7114946" y="1772107"/>
            <a:ext cx="188183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人类游资 (HUMAN VISION)</a:t>
            </a:r>
            <a:endParaRPr lang="en-US" sz="1000" dirty="0"/>
          </a:p>
        </p:txBody>
      </p:sp>
      <p:sp>
        <p:nvSpPr>
          <p:cNvPr id="31" name="Text 22"/>
          <p:cNvSpPr txBox="1"/>
          <p:nvPr/>
        </p:nvSpPr>
        <p:spPr>
          <a:xfrm>
            <a:off x="6705295" y="2162556"/>
            <a:ext cx="2214677" cy="419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游资·演绎未来</a:t>
            </a:r>
            <a:endParaRPr lang="en-US" sz="2200" dirty="0"/>
          </a:p>
        </p:txBody>
      </p:sp>
      <p:sp>
        <p:nvSpPr>
          <p:cNvPr id="32" name="Text 23"/>
          <p:cNvSpPr txBox="1"/>
          <p:nvPr/>
        </p:nvSpPr>
        <p:spPr>
          <a:xfrm>
            <a:off x="6705295" y="2628900"/>
            <a:ext cx="252923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逻辑与审美，创造不可能的奇迹</a:t>
            </a:r>
            <a:endParaRPr lang="en-US" sz="130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8"/>
          <a:srcRect l="-33" r="-33"/>
          <a:stretch>
            <a:fillRect/>
          </a:stretch>
        </p:blipFill>
        <p:spPr>
          <a:xfrm>
            <a:off x="6810451" y="3343046"/>
            <a:ext cx="171907" cy="152705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7239305" y="3181198"/>
            <a:ext cx="128656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宏观叙事能力</a:t>
            </a:r>
            <a:endParaRPr lang="en-US" sz="1500" dirty="0"/>
          </a:p>
        </p:txBody>
      </p:sp>
      <p:sp>
        <p:nvSpPr>
          <p:cNvPr id="35" name="Text 25"/>
          <p:cNvSpPr txBox="1"/>
          <p:nvPr/>
        </p:nvSpPr>
        <p:spPr>
          <a:xfrm>
            <a:off x="7239305" y="3504895"/>
            <a:ext cx="4500677" cy="409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能读懂新闻背后的时代机遇。因为看见未来万亿市场，所以敢于“格局”锁仓，无视短期波动。</a:t>
            </a:r>
            <a:endParaRPr lang="en-US" sz="1000" dirty="0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9"/>
          <a:srcRect t="-100" b="-100"/>
          <a:stretch>
            <a:fillRect/>
          </a:stretch>
        </p:blipFill>
        <p:spPr>
          <a:xfrm>
            <a:off x="6838798" y="4310482"/>
            <a:ext cx="114300" cy="152705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7239305" y="4147718"/>
            <a:ext cx="1476756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情绪共振与审美</a:t>
            </a:r>
            <a:endParaRPr lang="en-US" sz="1500" dirty="0"/>
          </a:p>
        </p:txBody>
      </p:sp>
      <p:sp>
        <p:nvSpPr>
          <p:cNvPr id="38" name="Text 27"/>
          <p:cNvSpPr txBox="1"/>
          <p:nvPr/>
        </p:nvSpPr>
        <p:spPr>
          <a:xfrm>
            <a:off x="7239305" y="4472330"/>
            <a:ext cx="4567428" cy="409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懂得“辨识度”和“英雄救美”。在大盘绝望时逆势点火，利用“悲剧美学”打造市场总龙头。</a:t>
            </a:r>
            <a:endParaRPr lang="en-US" sz="1000" dirty="0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10"/>
          <a:srcRect t="-43" b="-43"/>
          <a:stretch>
            <a:fillRect/>
          </a:stretch>
        </p:blipFill>
        <p:spPr>
          <a:xfrm>
            <a:off x="6829654" y="5277002"/>
            <a:ext cx="133502" cy="152705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7239305" y="5115154"/>
            <a:ext cx="109545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反身性博弈</a:t>
            </a:r>
            <a:endParaRPr lang="en-US" sz="1500" dirty="0"/>
          </a:p>
        </p:txBody>
      </p:sp>
      <p:sp>
        <p:nvSpPr>
          <p:cNvPr id="41" name="Text 29"/>
          <p:cNvSpPr txBox="1"/>
          <p:nvPr/>
        </p:nvSpPr>
        <p:spPr>
          <a:xfrm>
            <a:off x="7239305" y="5438851"/>
            <a:ext cx="4500677" cy="409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预判量化的预判。故意砸盘制造恐慌诱骗机器割肉，再利用合力封板，完成对机器的收割。</a:t>
            </a:r>
            <a:endParaRPr lang="en-US" sz="1000" dirty="0"/>
          </a:p>
        </p:txBody>
      </p:sp>
      <p:sp>
        <p:nvSpPr>
          <p:cNvPr id="42" name="Shape 30"/>
          <p:cNvSpPr/>
          <p:nvPr/>
        </p:nvSpPr>
        <p:spPr>
          <a:xfrm>
            <a:off x="5810098" y="3488436"/>
            <a:ext cx="571500" cy="57150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43" name="Text 31"/>
          <p:cNvSpPr txBox="1"/>
          <p:nvPr/>
        </p:nvSpPr>
        <p:spPr>
          <a:xfrm>
            <a:off x="5946343" y="3602736"/>
            <a:ext cx="476402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4AF37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VS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4" name="Shape 2"/>
          <p:cNvSpPr/>
          <p:nvPr/>
        </p:nvSpPr>
        <p:spPr>
          <a:xfrm>
            <a:off x="761695" y="761695"/>
            <a:ext cx="1218895" cy="1218895"/>
          </a:xfrm>
          <a:prstGeom prst="roundRect">
            <a:avLst>
              <a:gd name="adj" fmla="val 75019"/>
            </a:avLst>
          </a:prstGeom>
          <a:solidFill>
            <a:srgbClr val="3B82F6">
              <a:alpha val="5000"/>
            </a:srgbClr>
          </a:solidFill>
        </p:spPr>
      </p:sp>
      <p:sp>
        <p:nvSpPr>
          <p:cNvPr id="5" name="Text 3"/>
          <p:cNvSpPr txBox="1"/>
          <p:nvPr/>
        </p:nvSpPr>
        <p:spPr>
          <a:xfrm>
            <a:off x="9988906" y="5162702"/>
            <a:ext cx="199156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P.14 | 炒股与赌博：连续性博弈的智慧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1143000"/>
            <a:ext cx="12191695" cy="9144"/>
          </a:xfrm>
          <a:prstGeom prst="rect">
            <a:avLst/>
          </a:prstGeom>
          <a:solidFill>
            <a:srgbClr val="1F2937"/>
          </a:solidFill>
        </p:spPr>
      </p:sp>
      <p:sp>
        <p:nvSpPr>
          <p:cNvPr id="7" name="Text 5"/>
          <p:cNvSpPr txBox="1"/>
          <p:nvPr/>
        </p:nvSpPr>
        <p:spPr>
          <a:xfrm>
            <a:off x="609905" y="552298"/>
            <a:ext cx="4476902" cy="4864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短线生存之道：逻辑与审美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371246"/>
            <a:ext cx="11814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4AF37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SURVIVAL GUIDE</a:t>
            </a:r>
            <a:endParaRPr lang="en-US" sz="9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>
            <a:alphaModFix amt="50000"/>
          </a:blip>
          <a:srcRect l="-607" r="-607"/>
          <a:stretch>
            <a:fillRect/>
          </a:stretch>
        </p:blipFill>
        <p:spPr>
          <a:xfrm>
            <a:off x="11192256" y="642823"/>
            <a:ext cx="390449" cy="3429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520794" y="1533449"/>
            <a:ext cx="381305" cy="381305"/>
          </a:xfrm>
          <a:prstGeom prst="roundRect">
            <a:avLst>
              <a:gd name="adj" fmla="val 47962"/>
            </a:avLst>
          </a:prstGeom>
          <a:noFill/>
          <a:ln w="12700">
            <a:solidFill>
              <a:srgbClr val="374151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645152" y="1657807"/>
            <a:ext cx="133502" cy="13350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20794" y="2676449"/>
            <a:ext cx="381305" cy="381305"/>
          </a:xfrm>
          <a:prstGeom prst="roundRect">
            <a:avLst>
              <a:gd name="adj" fmla="val 47962"/>
            </a:avLst>
          </a:prstGeom>
          <a:noFill/>
          <a:ln w="12700">
            <a:solidFill>
              <a:srgbClr val="374151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20794" y="3666744"/>
            <a:ext cx="381305" cy="381305"/>
          </a:xfrm>
          <a:prstGeom prst="roundRect">
            <a:avLst>
              <a:gd name="adj" fmla="val 47962"/>
            </a:avLst>
          </a:prstGeom>
          <a:noFill/>
          <a:ln w="12700">
            <a:solidFill>
              <a:srgbClr val="374151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20794" y="4657954"/>
            <a:ext cx="381305" cy="381305"/>
          </a:xfrm>
          <a:prstGeom prst="roundRect">
            <a:avLst>
              <a:gd name="adj" fmla="val 47962"/>
            </a:avLst>
          </a:prstGeom>
          <a:noFill/>
          <a:ln w="12700">
            <a:solidFill>
              <a:srgbClr val="374151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092294" y="4924044"/>
            <a:ext cx="1181405" cy="286207"/>
          </a:xfrm>
          <a:prstGeom prst="roundRect">
            <a:avLst>
              <a:gd name="adj" fmla="val 42599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rcRect l="-2571" r="-2571"/>
          <a:stretch>
            <a:fillRect/>
          </a:stretch>
        </p:blipFill>
        <p:spPr>
          <a:xfrm>
            <a:off x="6387998" y="5009998"/>
            <a:ext cx="105156" cy="1143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607454" y="4924044"/>
            <a:ext cx="780898" cy="286207"/>
          </a:xfrm>
          <a:prstGeom prst="roundRect">
            <a:avLst>
              <a:gd name="adj" fmla="val 42599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rcRect l="-2571" r="-2571"/>
          <a:stretch>
            <a:fillRect/>
          </a:stretch>
        </p:blipFill>
        <p:spPr>
          <a:xfrm>
            <a:off x="7502652" y="5009998"/>
            <a:ext cx="105156" cy="1143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7721194" y="4924044"/>
            <a:ext cx="780898" cy="286207"/>
          </a:xfrm>
          <a:prstGeom prst="roundRect">
            <a:avLst>
              <a:gd name="adj" fmla="val 42599"/>
            </a:avLst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092294" y="1485900"/>
            <a:ext cx="2048256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核心逻辑：短线三要素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5244998" y="1886407"/>
            <a:ext cx="643738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强题材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5835701" y="1923898"/>
            <a:ext cx="1911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4AF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✕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6007608" y="1886407"/>
            <a:ext cx="643738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强资金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6598310" y="1923898"/>
            <a:ext cx="1911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4AF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✕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6770218" y="1886407"/>
            <a:ext cx="81473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情绪共振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5092294" y="2257654"/>
            <a:ext cx="276788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不仅要看公司，更要看此时此刻的市场合力。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4647895" y="2743200"/>
            <a:ext cx="262433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4AF37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A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5092294" y="2628900"/>
            <a:ext cx="2048256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辨识度：黑暗中的火把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5092294" y="2952598"/>
            <a:ext cx="6458407" cy="476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名字玄学：大气、有方位感（如"东方"）、中字头厚重感。 历史声望："家教"要好，历史股性干脆，不做"老赖"。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4650638" y="3733495"/>
            <a:ext cx="253289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4AF37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B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5092294" y="3619195"/>
            <a:ext cx="2400300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结构审美：K线的"天际线"</a:t>
            </a:r>
            <a:endParaRPr lang="en-US" sz="1500" dirty="0"/>
          </a:p>
        </p:txBody>
      </p:sp>
      <p:sp>
        <p:nvSpPr>
          <p:cNvPr id="32" name="Text 26"/>
          <p:cNvSpPr txBox="1"/>
          <p:nvPr/>
        </p:nvSpPr>
        <p:spPr>
          <a:xfrm>
            <a:off x="5092294" y="3943807"/>
            <a:ext cx="6544361" cy="476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必须具备"不羁"的美感。创历史新高或突破大平台，意味着上方无套牢盘。 分时图要直线攻击，而非像蚯蚓一样犹豫。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4651553" y="4724705"/>
            <a:ext cx="253289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4AF37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C</a:t>
            </a:r>
            <a:endParaRPr lang="en-US" sz="1300" dirty="0"/>
          </a:p>
        </p:txBody>
      </p:sp>
      <p:sp>
        <p:nvSpPr>
          <p:cNvPr id="34" name="Text 28"/>
          <p:cNvSpPr txBox="1"/>
          <p:nvPr/>
        </p:nvSpPr>
        <p:spPr>
          <a:xfrm>
            <a:off x="5092294" y="4610405"/>
            <a:ext cx="185806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情绪共振：生逢其时</a:t>
            </a:r>
            <a:endParaRPr lang="en-US" sz="1500" dirty="0"/>
          </a:p>
        </p:txBody>
      </p:sp>
      <p:sp>
        <p:nvSpPr>
          <p:cNvPr id="35" name="Text 29"/>
          <p:cNvSpPr txBox="1"/>
          <p:nvPr/>
        </p:nvSpPr>
        <p:spPr>
          <a:xfrm>
            <a:off x="5216652" y="4972507"/>
            <a:ext cx="103418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ECAC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场景：千股跌停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6730898" y="4972507"/>
            <a:ext cx="6336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逆势封板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7845552" y="4972507"/>
            <a:ext cx="6336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4AF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单骑救主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609905" y="1739189"/>
            <a:ext cx="3534156" cy="2400300"/>
          </a:xfrm>
          <a:prstGeom prst="roundRect">
            <a:avLst>
              <a:gd name="adj" fmla="val 1814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4">
            <a:alphaModFix amt="10000"/>
          </a:blip>
          <a:srcRect l="-347" r="-347"/>
          <a:stretch>
            <a:fillRect/>
          </a:stretch>
        </p:blipFill>
        <p:spPr>
          <a:xfrm>
            <a:off x="3330245" y="1901038"/>
            <a:ext cx="647395" cy="571500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923544" y="2063801"/>
            <a:ext cx="3001061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万中选一的"王" "审美不是看K线画得漂不漂亮，而是看它具不具备领袖气质和辨识度。"</a:t>
            </a:r>
            <a:endParaRPr lang="en-US" sz="1500" dirty="0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5"/>
          <a:srcRect l="-16534" r="-16534"/>
          <a:stretch>
            <a:fillRect/>
          </a:stretch>
        </p:blipFill>
        <p:spPr>
          <a:xfrm>
            <a:off x="923544" y="3248863"/>
            <a:ext cx="228600" cy="152705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1266444" y="3211373"/>
            <a:ext cx="8860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逻辑是剧本</a:t>
            </a:r>
            <a:endParaRPr lang="en-US" sz="1200" dirty="0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6"/>
          <a:srcRect l="-9880" r="-9880"/>
          <a:stretch>
            <a:fillRect/>
          </a:stretch>
        </p:blipFill>
        <p:spPr>
          <a:xfrm>
            <a:off x="923544" y="3630168"/>
            <a:ext cx="228600" cy="152705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1266444" y="3591763"/>
            <a:ext cx="8860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审美是选角</a:t>
            </a:r>
            <a:endParaRPr lang="en-US" sz="1200" dirty="0"/>
          </a:p>
        </p:txBody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7">
            <a:alphaModFix amt="60000"/>
          </a:blip>
          <a:srcRect/>
          <a:stretch>
            <a:fillRect/>
          </a:stretch>
        </p:blipFill>
        <p:spPr>
          <a:xfrm>
            <a:off x="1687068" y="4439412"/>
            <a:ext cx="286207" cy="286207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1590142" y="4804258"/>
            <a:ext cx="5715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理性逻辑</a:t>
            </a:r>
            <a:endParaRPr lang="en-US" sz="900" dirty="0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8">
            <a:alphaModFix amt="60000"/>
          </a:blip>
          <a:srcRect/>
          <a:stretch>
            <a:fillRect/>
          </a:stretch>
        </p:blipFill>
        <p:spPr>
          <a:xfrm>
            <a:off x="2777033" y="4439412"/>
            <a:ext cx="286207" cy="286207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2680106" y="4804258"/>
            <a:ext cx="5715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艺术审美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Text 1"/>
          <p:cNvSpPr txBox="1"/>
          <p:nvPr/>
        </p:nvSpPr>
        <p:spPr>
          <a:xfrm>
            <a:off x="9988906" y="4555541"/>
            <a:ext cx="199156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P.13 | 炒股与赌博：连续性博弈的智慧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1143000"/>
            <a:ext cx="12191695" cy="9144"/>
          </a:xfrm>
          <a:prstGeom prst="rect">
            <a:avLst/>
          </a:prstGeom>
          <a:solidFill>
            <a:srgbClr val="1F2937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rcRect t="-530" b="-530"/>
          <a:stretch>
            <a:fillRect/>
          </a:stretch>
        </p:blipFill>
        <p:spPr>
          <a:xfrm>
            <a:off x="11334902" y="676656"/>
            <a:ext cx="247802" cy="28620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09905" y="552298"/>
            <a:ext cx="3781958" cy="4864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人机共舞：新时代博弈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10628071" y="638251"/>
            <a:ext cx="6483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CONCEPT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182758" y="800100"/>
            <a:ext cx="110093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4AF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CO-EVOLUTION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09905" y="371246"/>
            <a:ext cx="18672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4AF37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HUMAN-MACHINE SYNERGY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09905" y="1457554"/>
            <a:ext cx="3504895" cy="1514246"/>
          </a:xfrm>
          <a:prstGeom prst="roundRect">
            <a:avLst>
              <a:gd name="adj" fmla="val 4557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304800" dist="762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09905" y="3269894"/>
            <a:ext cx="381305" cy="381305"/>
          </a:xfrm>
          <a:prstGeom prst="roundRect">
            <a:avLst>
              <a:gd name="adj" fmla="val 239808"/>
            </a:avLst>
          </a:prstGeom>
          <a:noFill/>
          <a:ln w="12700">
            <a:solidFill>
              <a:srgbClr val="4B5563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rcRect t="-43" b="-43"/>
          <a:stretch>
            <a:fillRect/>
          </a:stretch>
        </p:blipFill>
        <p:spPr>
          <a:xfrm>
            <a:off x="733349" y="3384194"/>
            <a:ext cx="133502" cy="15270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09905" y="4069994"/>
            <a:ext cx="381305" cy="381305"/>
          </a:xfrm>
          <a:prstGeom prst="roundRect">
            <a:avLst>
              <a:gd name="adj" fmla="val 239808"/>
            </a:avLst>
          </a:prstGeom>
          <a:noFill/>
          <a:ln w="12700">
            <a:solidFill>
              <a:srgbClr val="4B5563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t="-180" b="-180"/>
          <a:stretch>
            <a:fillRect/>
          </a:stretch>
        </p:blipFill>
        <p:spPr>
          <a:xfrm>
            <a:off x="705002" y="4184294"/>
            <a:ext cx="190195" cy="15270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47649" y="1686154"/>
            <a:ext cx="1476756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当逻辑遇见效率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847649" y="2085746"/>
            <a:ext cx="3119933" cy="6291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在量化盛行的A股，单纯的对抗已成过去。顶级游资正在利用量化的“机械性”，将其变成助推股价的燃料。这是一种危险而迷人的“人机共舞”。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1143000" y="3269894"/>
            <a:ext cx="13432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人类优势：想象力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1143000" y="3526841"/>
            <a:ext cx="2724912" cy="3145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理解宏观叙事与情绪拐点，做量化无法理解的“点火者”。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1143000" y="4069994"/>
            <a:ext cx="13432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机器优势：执行力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1143000" y="4326941"/>
            <a:ext cx="2724912" cy="3145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毫秒级捕捉动量，提供流动性与溢价，是最好的“轿夫”。</a:t>
            </a:r>
            <a:endParaRPr lang="en-US" sz="9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567428" y="1457554"/>
            <a:ext cx="7019849" cy="3191256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4874666" y="1467612"/>
            <a:ext cx="2743200" cy="1276502"/>
          </a:xfrm>
          <a:prstGeom prst="roundRect">
            <a:avLst>
              <a:gd name="adj" fmla="val 4277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304800" dist="762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69510" y="1363370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4AF37"/>
          </a:solidFill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24" name="Text 18"/>
          <p:cNvSpPr txBox="1"/>
          <p:nvPr/>
        </p:nvSpPr>
        <p:spPr>
          <a:xfrm>
            <a:off x="4877410" y="1401775"/>
            <a:ext cx="21031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5074920" y="1658722"/>
            <a:ext cx="11055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4AF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HUMAN ACTION</a:t>
            </a:r>
            <a:endParaRPr lang="en-US" sz="9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rcRect l="-1648" r="-1648"/>
          <a:stretch>
            <a:fillRect/>
          </a:stretch>
        </p:blipFill>
        <p:spPr>
          <a:xfrm>
            <a:off x="5074920" y="1939442"/>
            <a:ext cx="171907" cy="19019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21808" y="1887322"/>
            <a:ext cx="52395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点火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5074920" y="2230222"/>
            <a:ext cx="2267712" cy="3145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游资利用敏锐嗅觉，在底部瞬间打出直线拉升，制造"异动信号"。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8532266" y="1467612"/>
            <a:ext cx="2743200" cy="1276502"/>
          </a:xfrm>
          <a:prstGeom prst="roundRect">
            <a:avLst>
              <a:gd name="adj" fmla="val 4277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304800" dist="762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11075213" y="1363370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3B82F6"/>
          </a:solidFill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31" name="Text 24"/>
          <p:cNvSpPr txBox="1"/>
          <p:nvPr/>
        </p:nvSpPr>
        <p:spPr>
          <a:xfrm>
            <a:off x="11182198" y="1401775"/>
            <a:ext cx="21031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9767621" y="1658722"/>
            <a:ext cx="140086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MACHINE REACTION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10427818" y="1887322"/>
            <a:ext cx="52395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抬轿</a:t>
            </a:r>
            <a:endParaRPr lang="en-US" sz="15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0885018" y="1939442"/>
            <a:ext cx="190195" cy="190195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8960206" y="2230222"/>
            <a:ext cx="2210105" cy="3145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算法侦测到"急速拉升+大单"，动量策略触发，蜂拥买入推升涨停。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4874666" y="3354019"/>
            <a:ext cx="2743200" cy="1276502"/>
          </a:xfrm>
          <a:prstGeom prst="roundRect">
            <a:avLst>
              <a:gd name="adj" fmla="val 4277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304800" dist="762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769510" y="4430268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EF4444"/>
          </a:solidFill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38" name="Text 30"/>
          <p:cNvSpPr txBox="1"/>
          <p:nvPr/>
        </p:nvSpPr>
        <p:spPr>
          <a:xfrm>
            <a:off x="4877410" y="4468673"/>
            <a:ext cx="21031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Text 31"/>
          <p:cNvSpPr txBox="1"/>
          <p:nvPr/>
        </p:nvSpPr>
        <p:spPr>
          <a:xfrm>
            <a:off x="5074920" y="3544214"/>
            <a:ext cx="10195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717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GAME THEORY</a:t>
            </a:r>
            <a:endParaRPr lang="en-US" sz="900" dirty="0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5074920" y="3825850"/>
            <a:ext cx="190195" cy="190195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5341010" y="3772814"/>
            <a:ext cx="905256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砸盘博弈</a:t>
            </a:r>
            <a:endParaRPr lang="en-US" sz="1500" dirty="0"/>
          </a:p>
        </p:txBody>
      </p:sp>
      <p:sp>
        <p:nvSpPr>
          <p:cNvPr id="42" name="Text 33"/>
          <p:cNvSpPr txBox="1"/>
          <p:nvPr/>
        </p:nvSpPr>
        <p:spPr>
          <a:xfrm>
            <a:off x="5074920" y="4115714"/>
            <a:ext cx="2382012" cy="3145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次日预判量化机械止损，故意砸盘诱骗机器割肉，完成筹码交换。</a:t>
            </a:r>
            <a:endParaRPr lang="en-US" sz="900" dirty="0"/>
          </a:p>
        </p:txBody>
      </p:sp>
      <p:sp>
        <p:nvSpPr>
          <p:cNvPr id="43" name="Shape 34"/>
          <p:cNvSpPr/>
          <p:nvPr/>
        </p:nvSpPr>
        <p:spPr>
          <a:xfrm>
            <a:off x="8532266" y="3354019"/>
            <a:ext cx="2743200" cy="1276502"/>
          </a:xfrm>
          <a:prstGeom prst="roundRect">
            <a:avLst>
              <a:gd name="adj" fmla="val 4277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304800" dist="762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4" name="Shape 35"/>
          <p:cNvSpPr/>
          <p:nvPr/>
        </p:nvSpPr>
        <p:spPr>
          <a:xfrm>
            <a:off x="11075213" y="4430268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8B5CF6"/>
          </a:solidFill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45" name="Text 36"/>
          <p:cNvSpPr txBox="1"/>
          <p:nvPr/>
        </p:nvSpPr>
        <p:spPr>
          <a:xfrm>
            <a:off x="11182198" y="4468673"/>
            <a:ext cx="21031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endParaRPr lang="en-US" sz="1200" dirty="0"/>
          </a:p>
        </p:txBody>
      </p:sp>
      <p:sp>
        <p:nvSpPr>
          <p:cNvPr id="46" name="Text 37"/>
          <p:cNvSpPr txBox="1"/>
          <p:nvPr/>
        </p:nvSpPr>
        <p:spPr>
          <a:xfrm>
            <a:off x="10478110" y="3544214"/>
            <a:ext cx="6858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78B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SYNERGY</a:t>
            </a:r>
            <a:endParaRPr lang="en-US" sz="900" dirty="0"/>
          </a:p>
        </p:txBody>
      </p:sp>
      <p:sp>
        <p:nvSpPr>
          <p:cNvPr id="47" name="Text 38"/>
          <p:cNvSpPr txBox="1"/>
          <p:nvPr/>
        </p:nvSpPr>
        <p:spPr>
          <a:xfrm>
            <a:off x="10065715" y="3772814"/>
            <a:ext cx="905256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合力封板</a:t>
            </a:r>
            <a:endParaRPr lang="en-US" sz="1500" dirty="0"/>
          </a:p>
        </p:txBody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8"/>
          <a:srcRect l="-1648" r="-1648"/>
          <a:stretch>
            <a:fillRect/>
          </a:stretch>
        </p:blipFill>
        <p:spPr>
          <a:xfrm>
            <a:off x="10904220" y="3825850"/>
            <a:ext cx="171907" cy="190195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8789213" y="4115714"/>
            <a:ext cx="2382012" cy="3145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游资利用量化资金封死涨停，确认溢价，共同锁住流动性。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Text 1"/>
          <p:cNvSpPr txBox="1"/>
          <p:nvPr/>
        </p:nvSpPr>
        <p:spPr>
          <a:xfrm>
            <a:off x="9988906" y="5586070"/>
            <a:ext cx="199156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P.15 | 炒股与赌博：连续性博弈的智慧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1143000"/>
            <a:ext cx="12191695" cy="9144"/>
          </a:xfrm>
          <a:prstGeom prst="rect">
            <a:avLst/>
          </a:prstGeom>
          <a:solidFill>
            <a:srgbClr val="1F2937"/>
          </a:solidFill>
        </p:spPr>
      </p:sp>
      <p:sp>
        <p:nvSpPr>
          <p:cNvPr id="5" name="Text 3"/>
          <p:cNvSpPr txBox="1"/>
          <p:nvPr/>
        </p:nvSpPr>
        <p:spPr>
          <a:xfrm>
            <a:off x="609905" y="552298"/>
            <a:ext cx="4829861" cy="4864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长线交易哲学：确定性的艺术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371246"/>
            <a:ext cx="17529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4AF37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LONG-TERM PHILOSOPHY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>
            <a:alphaModFix amt="50000"/>
          </a:blip>
          <a:srcRect t="-45" b="-45"/>
          <a:stretch>
            <a:fillRect/>
          </a:stretch>
        </p:blipFill>
        <p:spPr>
          <a:xfrm>
            <a:off x="11324844" y="642823"/>
            <a:ext cx="256946" cy="3429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200900" y="1533449"/>
            <a:ext cx="4381805" cy="1257300"/>
          </a:xfrm>
          <a:prstGeom prst="roundRect">
            <a:avLst>
              <a:gd name="adj" fmla="val 4408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457846" y="1867205"/>
            <a:ext cx="190195" cy="19019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200900" y="2938882"/>
            <a:ext cx="4381805" cy="1257300"/>
          </a:xfrm>
          <a:prstGeom prst="roundRect">
            <a:avLst>
              <a:gd name="adj" fmla="val 4408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462418" y="3271723"/>
            <a:ext cx="190195" cy="19019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7200900" y="4343400"/>
            <a:ext cx="4381805" cy="1257300"/>
          </a:xfrm>
          <a:prstGeom prst="roundRect">
            <a:avLst>
              <a:gd name="adj" fmla="val 4408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464247" y="4677156"/>
            <a:ext cx="190195" cy="19019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819949" y="1781251"/>
            <a:ext cx="986638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认知的变现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7819949" y="2124151"/>
            <a:ext cx="3557930" cy="409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长线不是赌博，是对企业未来现金流折现（DCF）的确定性下注。 风险已通过深度研究被极度降低。</a:t>
            </a:r>
            <a:endParaRPr lang="en-US" sz="1000" dirty="0"/>
          </a:p>
        </p:txBody>
      </p:sp>
      <p:sp>
        <p:nvSpPr>
          <p:cNvPr id="16" name="Text 10"/>
          <p:cNvSpPr txBox="1"/>
          <p:nvPr/>
        </p:nvSpPr>
        <p:spPr>
          <a:xfrm>
            <a:off x="7829093" y="3185770"/>
            <a:ext cx="986638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重仓的理性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7829093" y="3528670"/>
            <a:ext cx="3567989" cy="409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当你看懂了护城河与管理层，这时候“重仓”才是理性的极致。 分散投资往往是无知的保护伞。</a:t>
            </a:r>
            <a:endParaRPr lang="en-US" sz="1000" dirty="0"/>
          </a:p>
        </p:txBody>
      </p:sp>
      <p:sp>
        <p:nvSpPr>
          <p:cNvPr id="18" name="Text 12"/>
          <p:cNvSpPr txBox="1"/>
          <p:nvPr/>
        </p:nvSpPr>
        <p:spPr>
          <a:xfrm>
            <a:off x="7831836" y="4591202"/>
            <a:ext cx="81473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机会成本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7831836" y="4934102"/>
            <a:ext cx="3510382" cy="409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乱打孔=浪费“额度”。为了抓短线题材而浪费一个孔位， 意味着在历史性大底时你已无子弹。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09905" y="1457554"/>
            <a:ext cx="6133795" cy="4219956"/>
          </a:xfrm>
          <a:prstGeom prst="roundRect">
            <a:avLst>
              <a:gd name="adj" fmla="val 587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21" name="Text 15"/>
          <p:cNvSpPr txBox="1"/>
          <p:nvPr/>
        </p:nvSpPr>
        <p:spPr>
          <a:xfrm>
            <a:off x="466344" y="895198"/>
            <a:ext cx="2143354" cy="1752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dirty="0">
                <a:solidFill>
                  <a:srgbClr val="D4AF37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“</a:t>
            </a:r>
            <a:endParaRPr lang="en-US" sz="9600" dirty="0"/>
          </a:p>
        </p:txBody>
      </p:sp>
      <p:sp>
        <p:nvSpPr>
          <p:cNvPr id="22" name="Shape 16"/>
          <p:cNvSpPr/>
          <p:nvPr/>
        </p:nvSpPr>
        <p:spPr>
          <a:xfrm>
            <a:off x="1000354" y="4346143"/>
            <a:ext cx="457200" cy="457200"/>
          </a:xfrm>
          <a:prstGeom prst="roundRect">
            <a:avLst>
              <a:gd name="adj" fmla="val 200000"/>
            </a:avLst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019556" y="4364431"/>
            <a:ext cx="418795" cy="418795"/>
          </a:xfrm>
          <a:prstGeom prst="rect">
            <a:avLst/>
          </a:prstGeom>
          <a:solidFill>
            <a:srgbClr val="4B5563">
              <a:alpha val="80000"/>
            </a:srgbClr>
          </a:solidFill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rcRect l="-57" r="-57"/>
          <a:stretch>
            <a:fillRect/>
          </a:stretch>
        </p:blipFill>
        <p:spPr>
          <a:xfrm>
            <a:off x="1128370" y="4460443"/>
            <a:ext cx="200254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609344" y="4374490"/>
            <a:ext cx="1367028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4AF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Warren Buffett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1609344" y="4622292"/>
            <a:ext cx="128656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ORACLE OF OMAHA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3869741" y="5243170"/>
            <a:ext cx="190195" cy="190195"/>
          </a:xfrm>
          <a:prstGeom prst="ellipse">
            <a:avLst/>
          </a:prstGeom>
          <a:solidFill>
            <a:srgbClr val="D4AF37">
              <a:alpha val="50000"/>
            </a:srgbClr>
          </a:solidFill>
          <a:effectLst>
            <a:outerShdw blurRad="101600" dist="12700" dir="16200000" algn="bl" rotWithShape="0">
              <a:srgbClr val="D4AF37">
                <a:alpha val="5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135831" y="5243170"/>
            <a:ext cx="190195" cy="190195"/>
          </a:xfrm>
          <a:prstGeom prst="ellipse">
            <a:avLst/>
          </a:prstGeom>
          <a:solidFill>
            <a:srgbClr val="D4AF37">
              <a:alpha val="50000"/>
            </a:srgbClr>
          </a:solidFill>
          <a:effectLst>
            <a:outerShdw blurRad="101600" dist="12700" dir="16200000" algn="bl" rotWithShape="0">
              <a:srgbClr val="D4AF37">
                <a:alpha val="5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402836" y="5243170"/>
            <a:ext cx="190195" cy="190195"/>
          </a:xfrm>
          <a:prstGeom prst="ellipse">
            <a:avLst/>
          </a:prstGeom>
          <a:solidFill>
            <a:srgbClr val="D4AF37">
              <a:alpha val="50000"/>
            </a:srgbClr>
          </a:solidFill>
          <a:effectLst>
            <a:outerShdw blurRad="101600" dist="12700" dir="16200000" algn="bl" rotWithShape="0">
              <a:srgbClr val="D4AF37">
                <a:alpha val="5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669841" y="5243170"/>
            <a:ext cx="190195" cy="190195"/>
          </a:xfrm>
          <a:prstGeom prst="ellipse">
            <a:avLst/>
          </a:prstGeom>
          <a:solidFill>
            <a:srgbClr val="0B1120">
              <a:alpha val="50000"/>
            </a:srgbClr>
          </a:solidFill>
          <a:effectLst>
            <a:outerShdw blurRad="63500" dist="38100" dir="27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935931" y="5243170"/>
            <a:ext cx="190195" cy="190195"/>
          </a:xfrm>
          <a:prstGeom prst="ellipse">
            <a:avLst/>
          </a:prstGeom>
          <a:solidFill>
            <a:srgbClr val="0B1120">
              <a:alpha val="50000"/>
            </a:srgbClr>
          </a:solidFill>
          <a:effectLst>
            <a:outerShdw blurRad="63500" dist="38100" dir="27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5278831" y="5253228"/>
            <a:ext cx="1314907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>
                    <a:alpha val="5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LIFETIME PUNCH CARD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1000354" y="2345436"/>
            <a:ext cx="5143500" cy="7050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3F4F6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给你一张只有 20个打孔位 的卡片，你可以打20个孔，代表着你在这一生中所有可以做的投资。</a:t>
            </a:r>
            <a:endParaRPr lang="en-US" sz="1800" dirty="0"/>
          </a:p>
        </p:txBody>
      </p:sp>
      <p:sp>
        <p:nvSpPr>
          <p:cNvPr id="34" name="Text 27"/>
          <p:cNvSpPr txBox="1"/>
          <p:nvPr/>
        </p:nvSpPr>
        <p:spPr>
          <a:xfrm>
            <a:off x="1000354" y="3317443"/>
            <a:ext cx="5429707" cy="7050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D1D5DB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但是一旦打完了卡上所有的孔，你就不能再做任何投资了…… 你会被迫三思而后行。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029907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7029907"/>
          </a:xfrm>
          <a:prstGeom prst="rect">
            <a:avLst/>
          </a:prstGeom>
          <a:solidFill>
            <a:srgbClr val="0B1120"/>
          </a:solidFill>
        </p:spPr>
      </p:sp>
      <p:sp>
        <p:nvSpPr>
          <p:cNvPr id="4" name="Text 2"/>
          <p:cNvSpPr txBox="1"/>
          <p:nvPr/>
        </p:nvSpPr>
        <p:spPr>
          <a:xfrm>
            <a:off x="9988906" y="6632143"/>
            <a:ext cx="199156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P.16 | 炒股与赌博：连续性博弈的智慧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1143000"/>
            <a:ext cx="12191695" cy="9144"/>
          </a:xfrm>
          <a:prstGeom prst="rect">
            <a:avLst/>
          </a:prstGeom>
          <a:solidFill>
            <a:srgbClr val="1F2937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 l="-607" r="-607"/>
          <a:stretch>
            <a:fillRect/>
          </a:stretch>
        </p:blipFill>
        <p:spPr>
          <a:xfrm>
            <a:off x="11220602" y="676656"/>
            <a:ext cx="362102" cy="28620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9905" y="552298"/>
            <a:ext cx="4476902" cy="4864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短线交易哲学：赔率与效率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10393070" y="638251"/>
            <a:ext cx="7626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A股实战策略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9779508" y="800100"/>
            <a:ext cx="139628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4AF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PROFIT/LOSS RATIO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09905" y="371246"/>
            <a:ext cx="30861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4AF37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ODDS &amp; EFFICIENCY IN SHORT-TERM TRADING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09905" y="1457554"/>
            <a:ext cx="4267505" cy="2257654"/>
          </a:xfrm>
          <a:prstGeom prst="roundRect">
            <a:avLst>
              <a:gd name="adj" fmla="val 2051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rcRect l="-1648" r="-1648"/>
          <a:stretch>
            <a:fillRect/>
          </a:stretch>
        </p:blipFill>
        <p:spPr>
          <a:xfrm>
            <a:off x="847649" y="1733702"/>
            <a:ext cx="171907" cy="1901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95451" y="1695298"/>
            <a:ext cx="1666951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不对称的收益结构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47649" y="2841041"/>
            <a:ext cx="3791102" cy="629107"/>
          </a:xfrm>
          <a:prstGeom prst="roundRect">
            <a:avLst>
              <a:gd name="adj" fmla="val 8809"/>
            </a:avLst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09905" y="3936492"/>
            <a:ext cx="4267505" cy="2781605"/>
          </a:xfrm>
          <a:prstGeom prst="roundRect">
            <a:avLst>
              <a:gd name="adj" fmla="val 1351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9049" y="3945636"/>
            <a:ext cx="4248302" cy="504749"/>
          </a:xfrm>
          <a:prstGeom prst="rect">
            <a:avLst/>
          </a:prstGeom>
          <a:solidFill>
            <a:srgbClr val="1F2937">
              <a:alpha val="50000"/>
            </a:srgbClr>
          </a:solidFill>
        </p:spPr>
      </p:sp>
      <p:sp>
        <p:nvSpPr>
          <p:cNvPr id="17" name="Shape 13"/>
          <p:cNvSpPr/>
          <p:nvPr/>
        </p:nvSpPr>
        <p:spPr>
          <a:xfrm>
            <a:off x="619049" y="4441241"/>
            <a:ext cx="4248302" cy="9144"/>
          </a:xfrm>
          <a:prstGeom prst="rect">
            <a:avLst/>
          </a:prstGeom>
          <a:solidFill>
            <a:srgbClr val="374151"/>
          </a:solidFill>
        </p:spPr>
      </p:sp>
      <p:sp>
        <p:nvSpPr>
          <p:cNvPr id="18" name="Shape 14"/>
          <p:cNvSpPr/>
          <p:nvPr/>
        </p:nvSpPr>
        <p:spPr>
          <a:xfrm>
            <a:off x="619049" y="4850892"/>
            <a:ext cx="1209751" cy="9144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19" name="Shape 15"/>
          <p:cNvSpPr/>
          <p:nvPr/>
        </p:nvSpPr>
        <p:spPr>
          <a:xfrm>
            <a:off x="1825142" y="4850892"/>
            <a:ext cx="790956" cy="9144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20" name="Shape 16"/>
          <p:cNvSpPr/>
          <p:nvPr/>
        </p:nvSpPr>
        <p:spPr>
          <a:xfrm>
            <a:off x="2608783" y="4850892"/>
            <a:ext cx="1133856" cy="9144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21" name="Shape 17"/>
          <p:cNvSpPr/>
          <p:nvPr/>
        </p:nvSpPr>
        <p:spPr>
          <a:xfrm>
            <a:off x="3738067" y="4850892"/>
            <a:ext cx="1133856" cy="9144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22" name="Shape 18"/>
          <p:cNvSpPr/>
          <p:nvPr/>
        </p:nvSpPr>
        <p:spPr>
          <a:xfrm>
            <a:off x="619049" y="5288890"/>
            <a:ext cx="1209751" cy="9144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23" name="Text 19"/>
          <p:cNvSpPr txBox="1"/>
          <p:nvPr/>
        </p:nvSpPr>
        <p:spPr>
          <a:xfrm>
            <a:off x="771754" y="4974336"/>
            <a:ext cx="633679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试错止损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1825142" y="5294376"/>
            <a:ext cx="790956" cy="9144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25" name="Shape 21"/>
          <p:cNvSpPr/>
          <p:nvPr/>
        </p:nvSpPr>
        <p:spPr>
          <a:xfrm>
            <a:off x="2608783" y="5294376"/>
            <a:ext cx="1133856" cy="9144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26" name="Shape 22"/>
          <p:cNvSpPr/>
          <p:nvPr/>
        </p:nvSpPr>
        <p:spPr>
          <a:xfrm>
            <a:off x="3738067" y="5294376"/>
            <a:ext cx="1133856" cy="9144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27" name="Shape 23"/>
          <p:cNvSpPr/>
          <p:nvPr/>
        </p:nvSpPr>
        <p:spPr>
          <a:xfrm>
            <a:off x="619049" y="5726887"/>
            <a:ext cx="1209751" cy="9144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28" name="Text 24"/>
          <p:cNvSpPr txBox="1"/>
          <p:nvPr/>
        </p:nvSpPr>
        <p:spPr>
          <a:xfrm>
            <a:off x="771754" y="5412334"/>
            <a:ext cx="633679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抓住龙头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1825142" y="5736946"/>
            <a:ext cx="790956" cy="9144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30" name="Shape 26"/>
          <p:cNvSpPr/>
          <p:nvPr/>
        </p:nvSpPr>
        <p:spPr>
          <a:xfrm>
            <a:off x="2608783" y="5736946"/>
            <a:ext cx="1133856" cy="9144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31" name="Shape 27"/>
          <p:cNvSpPr/>
          <p:nvPr/>
        </p:nvSpPr>
        <p:spPr>
          <a:xfrm>
            <a:off x="3738067" y="5736946"/>
            <a:ext cx="1133856" cy="9144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32" name="Shape 28"/>
          <p:cNvSpPr/>
          <p:nvPr/>
        </p:nvSpPr>
        <p:spPr>
          <a:xfrm>
            <a:off x="619049" y="5741518"/>
            <a:ext cx="4248302" cy="504749"/>
          </a:xfrm>
          <a:prstGeom prst="rect">
            <a:avLst/>
          </a:prstGeom>
          <a:solidFill>
            <a:srgbClr val="1F2937">
              <a:alpha val="30000"/>
            </a:srgbClr>
          </a:solidFill>
        </p:spPr>
      </p:sp>
      <p:sp>
        <p:nvSpPr>
          <p:cNvPr id="33" name="Shape 29"/>
          <p:cNvSpPr/>
          <p:nvPr/>
        </p:nvSpPr>
        <p:spPr>
          <a:xfrm>
            <a:off x="619049" y="5741518"/>
            <a:ext cx="4248302" cy="9144"/>
          </a:xfrm>
          <a:prstGeom prst="rect">
            <a:avLst/>
          </a:prstGeom>
          <a:solidFill>
            <a:srgbClr val="4B5563"/>
          </a:solidFill>
        </p:spPr>
      </p:sp>
      <p:sp>
        <p:nvSpPr>
          <p:cNvPr id="34" name="Shape 30"/>
          <p:cNvSpPr/>
          <p:nvPr/>
        </p:nvSpPr>
        <p:spPr>
          <a:xfrm>
            <a:off x="619049" y="6241694"/>
            <a:ext cx="4248302" cy="466344"/>
          </a:xfrm>
          <a:prstGeom prst="rect">
            <a:avLst/>
          </a:prstGeom>
          <a:solidFill>
            <a:srgbClr val="111827">
              <a:alpha val="50000"/>
            </a:srgbClr>
          </a:solidFill>
        </p:spPr>
      </p:sp>
      <p:sp>
        <p:nvSpPr>
          <p:cNvPr id="35" name="Shape 31"/>
          <p:cNvSpPr/>
          <p:nvPr/>
        </p:nvSpPr>
        <p:spPr>
          <a:xfrm>
            <a:off x="619049" y="6241694"/>
            <a:ext cx="4248302" cy="9144"/>
          </a:xfrm>
          <a:prstGeom prst="rect">
            <a:avLst/>
          </a:prstGeom>
          <a:solidFill>
            <a:srgbClr val="1F2937"/>
          </a:solidFill>
        </p:spPr>
      </p:sp>
      <p:sp>
        <p:nvSpPr>
          <p:cNvPr id="36" name="Text 32"/>
          <p:cNvSpPr txBox="1"/>
          <p:nvPr/>
        </p:nvSpPr>
        <p:spPr>
          <a:xfrm>
            <a:off x="847649" y="2048256"/>
            <a:ext cx="3767328" cy="6291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短线交易不追求完美的胜率，而是追求极致的盈亏比（赔率）。核心在于："向下空间有限（有止损），向上空间无限（有爆发）"。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972007" y="2974543"/>
            <a:ext cx="8961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Impact" panose="020B0806030902050204" charset="0"/>
                <a:ea typeface="Impact" panose="020B0806030902050204" charset="0"/>
                <a:cs typeface="Impact" panose="020B0806030902050204" charset="0"/>
              </a:rPr>
              <a:t>假设策略模型：</a:t>
            </a:r>
            <a:endParaRPr lang="en-US" sz="900" dirty="0"/>
          </a:p>
        </p:txBody>
      </p:sp>
      <p:sp>
        <p:nvSpPr>
          <p:cNvPr id="38" name="Text 34"/>
          <p:cNvSpPr txBox="1"/>
          <p:nvPr/>
        </p:nvSpPr>
        <p:spPr>
          <a:xfrm>
            <a:off x="972007" y="3173882"/>
            <a:ext cx="45262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mpact" panose="020B0806030902050204" charset="0"/>
                <a:ea typeface="Impact" panose="020B0806030902050204" charset="0"/>
                <a:cs typeface="Impact" panose="020B0806030902050204" charset="0"/>
              </a:rPr>
              <a:t>胜率: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1318565" y="3173882"/>
            <a:ext cx="348386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  <a:latin typeface="Impact" panose="020B0806030902050204" charset="0"/>
                <a:ea typeface="Impact" panose="020B0806030902050204" charset="0"/>
                <a:cs typeface="Impact" panose="020B0806030902050204" charset="0"/>
              </a:rPr>
              <a:t>40%</a:t>
            </a:r>
            <a:endParaRPr lang="en-US" sz="1000" dirty="0"/>
          </a:p>
        </p:txBody>
      </p:sp>
      <p:sp>
        <p:nvSpPr>
          <p:cNvPr id="40" name="Text 36"/>
          <p:cNvSpPr txBox="1"/>
          <p:nvPr/>
        </p:nvSpPr>
        <p:spPr>
          <a:xfrm>
            <a:off x="2409444" y="3173882"/>
            <a:ext cx="45262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mpact" panose="020B0806030902050204" charset="0"/>
                <a:ea typeface="Impact" panose="020B0806030902050204" charset="0"/>
                <a:cs typeface="Impact" panose="020B0806030902050204" charset="0"/>
              </a:rPr>
              <a:t>止盈:</a:t>
            </a:r>
            <a:endParaRPr lang="en-US" sz="1000" dirty="0"/>
          </a:p>
        </p:txBody>
      </p:sp>
      <p:sp>
        <p:nvSpPr>
          <p:cNvPr id="41" name="Text 37"/>
          <p:cNvSpPr txBox="1"/>
          <p:nvPr/>
        </p:nvSpPr>
        <p:spPr>
          <a:xfrm>
            <a:off x="2756002" y="3173882"/>
            <a:ext cx="42428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4444"/>
                </a:solidFill>
                <a:latin typeface="Impact" panose="020B0806030902050204" charset="0"/>
                <a:ea typeface="Impact" panose="020B0806030902050204" charset="0"/>
                <a:cs typeface="Impact" panose="020B0806030902050204" charset="0"/>
              </a:rPr>
              <a:t>+10%</a:t>
            </a:r>
            <a:endParaRPr lang="en-US" sz="1000" dirty="0"/>
          </a:p>
        </p:txBody>
      </p:sp>
      <p:sp>
        <p:nvSpPr>
          <p:cNvPr id="42" name="Text 38"/>
          <p:cNvSpPr txBox="1"/>
          <p:nvPr/>
        </p:nvSpPr>
        <p:spPr>
          <a:xfrm>
            <a:off x="3927348" y="3173882"/>
            <a:ext cx="45262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mpact" panose="020B0806030902050204" charset="0"/>
                <a:ea typeface="Impact" panose="020B0806030902050204" charset="0"/>
                <a:cs typeface="Impact" panose="020B0806030902050204" charset="0"/>
              </a:rPr>
              <a:t>止损: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4274820" y="3173882"/>
            <a:ext cx="348386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Impact" panose="020B0806030902050204" charset="0"/>
                <a:ea typeface="Impact" panose="020B0806030902050204" charset="0"/>
                <a:cs typeface="Impact" panose="020B0806030902050204" charset="0"/>
              </a:rPr>
              <a:t>-3%</a:t>
            </a:r>
            <a:endParaRPr lang="en-US" sz="1000" dirty="0"/>
          </a:p>
        </p:txBody>
      </p:sp>
      <p:sp>
        <p:nvSpPr>
          <p:cNvPr id="44" name="Text 40"/>
          <p:cNvSpPr txBox="1"/>
          <p:nvPr/>
        </p:nvSpPr>
        <p:spPr>
          <a:xfrm>
            <a:off x="847649" y="4098341"/>
            <a:ext cx="119603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4AF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10次交易模拟推演</a:t>
            </a:r>
            <a:endParaRPr lang="en-US" sz="1000" dirty="0"/>
          </a:p>
        </p:txBody>
      </p:sp>
      <p:sp>
        <p:nvSpPr>
          <p:cNvPr id="45" name="Text 41"/>
          <p:cNvSpPr txBox="1"/>
          <p:nvPr/>
        </p:nvSpPr>
        <p:spPr>
          <a:xfrm>
            <a:off x="4060850" y="4107485"/>
            <a:ext cx="6675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本金单位: 1</a:t>
            </a:r>
            <a:endParaRPr lang="en-US" sz="900" dirty="0"/>
          </a:p>
        </p:txBody>
      </p:sp>
      <p:sp>
        <p:nvSpPr>
          <p:cNvPr id="46" name="Text 42"/>
          <p:cNvSpPr txBox="1"/>
          <p:nvPr/>
        </p:nvSpPr>
        <p:spPr>
          <a:xfrm>
            <a:off x="771754" y="4564685"/>
            <a:ext cx="5715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交易结果</a:t>
            </a:r>
            <a:endParaRPr lang="en-US" sz="900" dirty="0"/>
          </a:p>
        </p:txBody>
      </p:sp>
      <p:sp>
        <p:nvSpPr>
          <p:cNvPr id="47" name="Text 43"/>
          <p:cNvSpPr txBox="1"/>
          <p:nvPr/>
        </p:nvSpPr>
        <p:spPr>
          <a:xfrm>
            <a:off x="1976933" y="4564685"/>
            <a:ext cx="3337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次数</a:t>
            </a:r>
            <a:endParaRPr lang="en-US" sz="900" dirty="0"/>
          </a:p>
        </p:txBody>
      </p:sp>
      <p:sp>
        <p:nvSpPr>
          <p:cNvPr id="48" name="Text 44"/>
          <p:cNvSpPr txBox="1"/>
          <p:nvPr/>
        </p:nvSpPr>
        <p:spPr>
          <a:xfrm>
            <a:off x="2761488" y="4564685"/>
            <a:ext cx="5715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单次变动</a:t>
            </a:r>
            <a:endParaRPr lang="en-US" sz="900" dirty="0"/>
          </a:p>
        </p:txBody>
      </p:sp>
      <p:sp>
        <p:nvSpPr>
          <p:cNvPr id="49" name="Text 45"/>
          <p:cNvSpPr txBox="1"/>
          <p:nvPr/>
        </p:nvSpPr>
        <p:spPr>
          <a:xfrm>
            <a:off x="3889858" y="4564685"/>
            <a:ext cx="5715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累计贡献</a:t>
            </a:r>
            <a:endParaRPr lang="en-US" sz="900" dirty="0"/>
          </a:p>
        </p:txBody>
      </p:sp>
      <p:sp>
        <p:nvSpPr>
          <p:cNvPr id="50" name="Text 46"/>
          <p:cNvSpPr txBox="1"/>
          <p:nvPr/>
        </p:nvSpPr>
        <p:spPr>
          <a:xfrm>
            <a:off x="1976933" y="4977079"/>
            <a:ext cx="30998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6次</a:t>
            </a:r>
            <a:endParaRPr lang="en-US" sz="1000" dirty="0"/>
          </a:p>
        </p:txBody>
      </p:sp>
      <p:sp>
        <p:nvSpPr>
          <p:cNvPr id="51" name="Text 47"/>
          <p:cNvSpPr txBox="1"/>
          <p:nvPr/>
        </p:nvSpPr>
        <p:spPr>
          <a:xfrm>
            <a:off x="2761488" y="4977079"/>
            <a:ext cx="34838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-3%</a:t>
            </a:r>
            <a:endParaRPr lang="en-US" sz="1000" dirty="0"/>
          </a:p>
        </p:txBody>
      </p:sp>
      <p:sp>
        <p:nvSpPr>
          <p:cNvPr id="52" name="Text 48"/>
          <p:cNvSpPr txBox="1"/>
          <p:nvPr/>
        </p:nvSpPr>
        <p:spPr>
          <a:xfrm>
            <a:off x="3889858" y="4977079"/>
            <a:ext cx="44348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-18%</a:t>
            </a:r>
            <a:endParaRPr lang="en-US" sz="1000" dirty="0"/>
          </a:p>
        </p:txBody>
      </p:sp>
      <p:sp>
        <p:nvSpPr>
          <p:cNvPr id="53" name="Text 49"/>
          <p:cNvSpPr txBox="1"/>
          <p:nvPr/>
        </p:nvSpPr>
        <p:spPr>
          <a:xfrm>
            <a:off x="1976933" y="5419649"/>
            <a:ext cx="30998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4次</a:t>
            </a:r>
            <a:endParaRPr lang="en-US" sz="1000" dirty="0"/>
          </a:p>
        </p:txBody>
      </p:sp>
      <p:sp>
        <p:nvSpPr>
          <p:cNvPr id="54" name="Text 50"/>
          <p:cNvSpPr txBox="1"/>
          <p:nvPr/>
        </p:nvSpPr>
        <p:spPr>
          <a:xfrm>
            <a:off x="2761488" y="5419649"/>
            <a:ext cx="45262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+10%</a:t>
            </a:r>
            <a:endParaRPr lang="en-US" sz="1000" dirty="0"/>
          </a:p>
        </p:txBody>
      </p:sp>
      <p:sp>
        <p:nvSpPr>
          <p:cNvPr id="55" name="Text 51"/>
          <p:cNvSpPr txBox="1"/>
          <p:nvPr/>
        </p:nvSpPr>
        <p:spPr>
          <a:xfrm>
            <a:off x="3889858" y="5419649"/>
            <a:ext cx="47183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+40%</a:t>
            </a:r>
            <a:endParaRPr lang="en-US" sz="1000" dirty="0"/>
          </a:p>
        </p:txBody>
      </p:sp>
      <p:sp>
        <p:nvSpPr>
          <p:cNvPr id="56" name="Text 52"/>
          <p:cNvSpPr txBox="1"/>
          <p:nvPr/>
        </p:nvSpPr>
        <p:spPr>
          <a:xfrm>
            <a:off x="2785262" y="5893308"/>
            <a:ext cx="90068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最终期望收益</a:t>
            </a:r>
            <a:endParaRPr lang="en-US" sz="1000" dirty="0"/>
          </a:p>
        </p:txBody>
      </p:sp>
      <p:sp>
        <p:nvSpPr>
          <p:cNvPr id="57" name="Text 53"/>
          <p:cNvSpPr txBox="1"/>
          <p:nvPr/>
        </p:nvSpPr>
        <p:spPr>
          <a:xfrm>
            <a:off x="3889858" y="5869534"/>
            <a:ext cx="605333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+22%</a:t>
            </a:r>
            <a:endParaRPr lang="en-US" sz="1300" dirty="0"/>
          </a:p>
        </p:txBody>
      </p:sp>
      <p:sp>
        <p:nvSpPr>
          <p:cNvPr id="58" name="Text 54"/>
          <p:cNvSpPr txBox="1"/>
          <p:nvPr/>
        </p:nvSpPr>
        <p:spPr>
          <a:xfrm>
            <a:off x="1257300" y="6393485"/>
            <a:ext cx="30678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结论：即便做错 6 次，只要能抓住 4 次大机会，依然大赚。</a:t>
            </a:r>
            <a:endParaRPr lang="en-US" sz="900" dirty="0"/>
          </a:p>
        </p:txBody>
      </p:sp>
      <p:sp>
        <p:nvSpPr>
          <p:cNvPr id="59" name="Shape 55"/>
          <p:cNvSpPr/>
          <p:nvPr/>
        </p:nvSpPr>
        <p:spPr>
          <a:xfrm>
            <a:off x="5181600" y="1457325"/>
            <a:ext cx="6400800" cy="5250815"/>
          </a:xfrm>
          <a:prstGeom prst="roundRect">
            <a:avLst>
              <a:gd name="adj" fmla="val 865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5419649" y="1705356"/>
            <a:ext cx="2043684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"小亏大赚"的非线性增长</a:t>
            </a:r>
            <a:endParaRPr lang="en-US" sz="1300" dirty="0"/>
          </a:p>
        </p:txBody>
      </p:sp>
      <p:sp>
        <p:nvSpPr>
          <p:cNvPr id="61" name="Text 57"/>
          <p:cNvSpPr txBox="1"/>
          <p:nvPr/>
        </p:nvSpPr>
        <p:spPr>
          <a:xfrm>
            <a:off x="5419649" y="1952244"/>
            <a:ext cx="265816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盈亏分布可视化 | 红色盈利(+10%)，绿色亏损(-3%)</a:t>
            </a:r>
            <a:endParaRPr lang="en-US" sz="900" dirty="0"/>
          </a:p>
        </p:txBody>
      </p:sp>
      <p:sp>
        <p:nvSpPr>
          <p:cNvPr id="62" name="Shape 58"/>
          <p:cNvSpPr/>
          <p:nvPr/>
        </p:nvSpPr>
        <p:spPr>
          <a:xfrm>
            <a:off x="9438437" y="1714500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10B981"/>
          </a:solidFill>
        </p:spPr>
      </p:sp>
      <p:sp>
        <p:nvSpPr>
          <p:cNvPr id="63" name="Text 59"/>
          <p:cNvSpPr txBox="1"/>
          <p:nvPr/>
        </p:nvSpPr>
        <p:spPr>
          <a:xfrm>
            <a:off x="9629546" y="1686154"/>
            <a:ext cx="3246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试错</a:t>
            </a:r>
            <a:endParaRPr lang="en-US" sz="900" dirty="0"/>
          </a:p>
        </p:txBody>
      </p:sp>
      <p:sp>
        <p:nvSpPr>
          <p:cNvPr id="64" name="Shape 60"/>
          <p:cNvSpPr/>
          <p:nvPr/>
        </p:nvSpPr>
        <p:spPr>
          <a:xfrm>
            <a:off x="10010851" y="1714500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EF4444"/>
          </a:solidFill>
        </p:spPr>
      </p:sp>
      <p:sp>
        <p:nvSpPr>
          <p:cNvPr id="65" name="Text 61"/>
          <p:cNvSpPr txBox="1"/>
          <p:nvPr/>
        </p:nvSpPr>
        <p:spPr>
          <a:xfrm>
            <a:off x="10201046" y="1686154"/>
            <a:ext cx="3246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爆发</a:t>
            </a:r>
            <a:endParaRPr lang="en-US" sz="900" dirty="0"/>
          </a:p>
        </p:txBody>
      </p:sp>
      <p:sp>
        <p:nvSpPr>
          <p:cNvPr id="66" name="Shape 62"/>
          <p:cNvSpPr/>
          <p:nvPr/>
        </p:nvSpPr>
        <p:spPr>
          <a:xfrm>
            <a:off x="10582351" y="1762049"/>
            <a:ext cx="228600" cy="19202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67" name="Text 63"/>
          <p:cNvSpPr txBox="1"/>
          <p:nvPr/>
        </p:nvSpPr>
        <p:spPr>
          <a:xfrm>
            <a:off x="10886846" y="1686154"/>
            <a:ext cx="5532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4AF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累计资金</a:t>
            </a:r>
            <a:endParaRPr lang="en-US" sz="900" dirty="0"/>
          </a:p>
        </p:txBody>
      </p:sp>
      <p:sp>
        <p:nvSpPr>
          <p:cNvPr id="68" name="Shape 64"/>
          <p:cNvSpPr/>
          <p:nvPr/>
        </p:nvSpPr>
        <p:spPr>
          <a:xfrm>
            <a:off x="5419649" y="2266798"/>
            <a:ext cx="5924398" cy="1580998"/>
          </a:xfrm>
          <a:prstGeom prst="roundRect">
            <a:avLst>
              <a:gd name="adj" fmla="val 1394"/>
            </a:avLst>
          </a:prstGeom>
          <a:noFill/>
          <a:ln w="12700">
            <a:solidFill>
              <a:srgbClr val="1F2937"/>
            </a:solidFill>
            <a:prstDash val="solid"/>
          </a:ln>
        </p:spPr>
      </p:sp>
      <p:pic>
        <p:nvPicPr>
          <p:cNvPr id="69" name="Image 2" descr="preencoded.png"/>
          <p:cNvPicPr>
            <a:picLocks noChangeAspect="1"/>
          </p:cNvPicPr>
          <p:nvPr/>
        </p:nvPicPr>
        <p:blipFill>
          <a:blip r:embed="rId3"/>
          <a:srcRect l="-7" r="-7"/>
          <a:stretch>
            <a:fillRect/>
          </a:stretch>
        </p:blipFill>
        <p:spPr>
          <a:xfrm>
            <a:off x="5429885" y="2277110"/>
            <a:ext cx="5905500" cy="2731135"/>
          </a:xfrm>
          <a:prstGeom prst="rect">
            <a:avLst/>
          </a:prstGeom>
        </p:spPr>
      </p:pic>
      <p:sp>
        <p:nvSpPr>
          <p:cNvPr id="70" name="Shape 65"/>
          <p:cNvSpPr/>
          <p:nvPr/>
        </p:nvSpPr>
        <p:spPr>
          <a:xfrm>
            <a:off x="5410124" y="5861685"/>
            <a:ext cx="5924398" cy="694944"/>
          </a:xfrm>
          <a:prstGeom prst="roundRect">
            <a:avLst>
              <a:gd name="adj" fmla="val 7210"/>
            </a:avLst>
          </a:prstGeom>
          <a:solidFill>
            <a:srgbClr val="111827">
              <a:alpha val="60000"/>
            </a:srgbClr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71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581498" y="5412334"/>
            <a:ext cx="152705" cy="152705"/>
          </a:xfrm>
          <a:prstGeom prst="rect">
            <a:avLst/>
          </a:prstGeom>
        </p:spPr>
      </p:pic>
      <p:sp>
        <p:nvSpPr>
          <p:cNvPr id="72" name="Text 66"/>
          <p:cNvSpPr txBox="1"/>
          <p:nvPr/>
        </p:nvSpPr>
        <p:spPr>
          <a:xfrm>
            <a:off x="5848502" y="5412029"/>
            <a:ext cx="76718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4AF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效率的关键</a:t>
            </a:r>
            <a:endParaRPr lang="en-US" sz="1000" dirty="0"/>
          </a:p>
        </p:txBody>
      </p:sp>
      <p:sp>
        <p:nvSpPr>
          <p:cNvPr id="73" name="Text 67"/>
          <p:cNvSpPr txBox="1"/>
          <p:nvPr/>
        </p:nvSpPr>
        <p:spPr>
          <a:xfrm>
            <a:off x="5849137" y="6165520"/>
            <a:ext cx="477225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短线的精髓在于截断亏损，让利润奔跑。每一次买入都是在寻找那个"非线性爆发"的临界点。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63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4" name="Text 2"/>
          <p:cNvSpPr txBox="1"/>
          <p:nvPr/>
        </p:nvSpPr>
        <p:spPr>
          <a:xfrm>
            <a:off x="9988906" y="5829300"/>
            <a:ext cx="199156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P.17 | 炒股与赌博：连续性博弈的智慧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1219810"/>
            <a:ext cx="12191695" cy="9144"/>
          </a:xfrm>
          <a:prstGeom prst="rect">
            <a:avLst/>
          </a:prstGeom>
          <a:solidFill>
            <a:srgbClr val="1F2937"/>
          </a:solidFill>
        </p:spPr>
      </p:sp>
      <p:sp>
        <p:nvSpPr>
          <p:cNvPr id="6" name="Text 4"/>
          <p:cNvSpPr txBox="1"/>
          <p:nvPr/>
        </p:nvSpPr>
        <p:spPr>
          <a:xfrm>
            <a:off x="609905" y="629107"/>
            <a:ext cx="4476902" cy="4864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实践建议：新手的成长路径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448056"/>
            <a:ext cx="11055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4AF37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PRACTICE PATH</a:t>
            </a:r>
            <a:endParaRPr lang="en-US" sz="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>
            <a:alphaModFix amt="50000"/>
          </a:blip>
          <a:srcRect l="-607" r="-607"/>
          <a:stretch>
            <a:fillRect/>
          </a:stretch>
        </p:blipFill>
        <p:spPr>
          <a:xfrm>
            <a:off x="11192256" y="718718"/>
            <a:ext cx="390449" cy="3429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0" y="5115154"/>
            <a:ext cx="38405" cy="724205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10" name="Text 7"/>
          <p:cNvSpPr txBox="1"/>
          <p:nvPr/>
        </p:nvSpPr>
        <p:spPr>
          <a:xfrm>
            <a:off x="4762195" y="5286146"/>
            <a:ext cx="147218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4AF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必备工具栈 Tool Stack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762195" y="5505602"/>
            <a:ext cx="19248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前置知识储备，构建交易系统的基石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7806233" y="5266944"/>
            <a:ext cx="33832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F10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695590" y="5458054"/>
            <a:ext cx="5815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基本面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622792" y="5266944"/>
            <a:ext cx="69128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道氏/波浪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609990" y="5458054"/>
            <a:ext cx="7342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趋势结构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782251" y="5266944"/>
            <a:ext cx="5001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形态学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677095" y="5458054"/>
            <a:ext cx="7342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微观结构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848442" y="5266944"/>
            <a:ext cx="5001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龙虎榜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0744200" y="5458054"/>
            <a:ext cx="7342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情绪博弈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09905" y="1802282"/>
            <a:ext cx="3504895" cy="2324405"/>
          </a:xfrm>
          <a:prstGeom prst="roundRect">
            <a:avLst>
              <a:gd name="adj" fmla="val 1935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2">
            <a:alphaModFix amt="10000"/>
          </a:blip>
          <a:srcRect t="-16" b="-16"/>
          <a:stretch>
            <a:fillRect/>
          </a:stretch>
        </p:blipFill>
        <p:spPr>
          <a:xfrm>
            <a:off x="3238805" y="1964131"/>
            <a:ext cx="714146" cy="57150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923544" y="2126894"/>
            <a:ext cx="2953512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生存第一 "高频交易虽然是新手的禁区，但也是熟悉A股最快的路径。前提是：极低仓位。"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923544" y="3283610"/>
            <a:ext cx="2919679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如果你想在这个市场活下去， 必须经历至少3个月的刻意练习。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09905" y="4426610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1E3A8A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rcRect l="-837" r="-837"/>
          <a:stretch>
            <a:fillRect/>
          </a:stretch>
        </p:blipFill>
        <p:spPr>
          <a:xfrm>
            <a:off x="685800" y="4512564"/>
            <a:ext cx="152705" cy="133502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609905" y="4883810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1E3A8A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rcRect l="-837" r="-837"/>
          <a:stretch>
            <a:fillRect/>
          </a:stretch>
        </p:blipFill>
        <p:spPr>
          <a:xfrm>
            <a:off x="685800" y="4969764"/>
            <a:ext cx="152705" cy="133502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609905" y="5341010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1E3A8A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rcRect/>
          <a:stretch>
            <a:fillRect/>
          </a:stretch>
        </p:blipFill>
        <p:spPr>
          <a:xfrm>
            <a:off x="694944" y="5426964"/>
            <a:ext cx="133502" cy="13350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067105" y="4484218"/>
            <a:ext cx="133868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熟悉 5000+ 上市公司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1067105" y="4941418"/>
            <a:ext cx="116768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建立市场肌肉记忆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1067105" y="5398618"/>
            <a:ext cx="13002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验证并固化交易系统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5257800" y="2276856"/>
            <a:ext cx="942746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1E40AF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6347765" y="2276856"/>
            <a:ext cx="1057046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1E40AF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5257800" y="1600200"/>
            <a:ext cx="2628900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训练模式：低仓位 + 高频练习</a:t>
            </a:r>
            <a:endParaRPr lang="en-US" sz="1500" dirty="0"/>
          </a:p>
        </p:txBody>
      </p:sp>
      <p:sp>
        <p:nvSpPr>
          <p:cNvPr id="36" name="Text 29"/>
          <p:cNvSpPr txBox="1"/>
          <p:nvPr/>
        </p:nvSpPr>
        <p:spPr>
          <a:xfrm>
            <a:off x="5257800" y="1962302"/>
            <a:ext cx="31720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既然目的是为了熟悉环境，就不要为了赚钱。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5381244" y="2314346"/>
            <a:ext cx="7818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FDBF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总仓位 &lt; 10%</a:t>
            </a:r>
            <a:endParaRPr lang="en-US" sz="900" dirty="0"/>
          </a:p>
        </p:txBody>
      </p:sp>
      <p:sp>
        <p:nvSpPr>
          <p:cNvPr id="38" name="Text 31"/>
          <p:cNvSpPr txBox="1"/>
          <p:nvPr/>
        </p:nvSpPr>
        <p:spPr>
          <a:xfrm>
            <a:off x="6471209" y="2314346"/>
            <a:ext cx="8961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FDBF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双账户隔离策略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4800600" y="2066544"/>
            <a:ext cx="9144" cy="761695"/>
          </a:xfrm>
          <a:prstGeom prst="rect">
            <a:avLst/>
          </a:prstGeom>
          <a:solidFill>
            <a:srgbClr val="D4AF37">
              <a:alpha val="30000"/>
            </a:srgbClr>
          </a:solidFill>
        </p:spPr>
      </p:sp>
      <p:sp>
        <p:nvSpPr>
          <p:cNvPr id="40" name="Shape 33"/>
          <p:cNvSpPr/>
          <p:nvPr/>
        </p:nvSpPr>
        <p:spPr>
          <a:xfrm>
            <a:off x="4572000" y="1609344"/>
            <a:ext cx="457200" cy="457200"/>
          </a:xfrm>
          <a:prstGeom prst="roundRect">
            <a:avLst>
              <a:gd name="adj" fmla="val 33333"/>
            </a:avLst>
          </a:prstGeom>
          <a:noFill/>
          <a:ln w="12700">
            <a:solidFill>
              <a:srgbClr val="374151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41" name="Text 34"/>
          <p:cNvSpPr txBox="1"/>
          <p:nvPr/>
        </p:nvSpPr>
        <p:spPr>
          <a:xfrm>
            <a:off x="4700016" y="1695298"/>
            <a:ext cx="352958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4AF37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01</a:t>
            </a:r>
            <a:endParaRPr lang="en-US" sz="1500" dirty="0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6"/>
          <a:srcRect l="-3120" r="-3120"/>
          <a:stretch>
            <a:fillRect/>
          </a:stretch>
        </p:blipFill>
        <p:spPr>
          <a:xfrm>
            <a:off x="5562295" y="3438144"/>
            <a:ext cx="75895" cy="114300"/>
          </a:xfrm>
          <a:prstGeom prst="rect">
            <a:avLst/>
          </a:prstGeom>
        </p:spPr>
      </p:pic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6"/>
          <a:srcRect l="-3120" r="-3120"/>
          <a:stretch>
            <a:fillRect/>
          </a:stretch>
        </p:blipFill>
        <p:spPr>
          <a:xfrm>
            <a:off x="6020410" y="3438144"/>
            <a:ext cx="75895" cy="114300"/>
          </a:xfrm>
          <a:prstGeom prst="rect">
            <a:avLst/>
          </a:prstGeom>
        </p:spPr>
      </p:pic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6"/>
          <a:srcRect l="-3120" r="-3120"/>
          <a:stretch>
            <a:fillRect/>
          </a:stretch>
        </p:blipFill>
        <p:spPr>
          <a:xfrm>
            <a:off x="6477610" y="3438144"/>
            <a:ext cx="75895" cy="114300"/>
          </a:xfrm>
          <a:prstGeom prst="rect">
            <a:avLst/>
          </a:prstGeom>
        </p:spPr>
      </p:pic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6"/>
          <a:srcRect l="-3120" r="-3120"/>
          <a:stretch>
            <a:fillRect/>
          </a:stretch>
        </p:blipFill>
        <p:spPr>
          <a:xfrm>
            <a:off x="7207301" y="3438144"/>
            <a:ext cx="75895" cy="114300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5257800" y="2743200"/>
            <a:ext cx="2257654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复盘SOP：每日必做功课</a:t>
            </a:r>
            <a:endParaRPr lang="en-US" sz="1500" dirty="0"/>
          </a:p>
        </p:txBody>
      </p:sp>
      <p:sp>
        <p:nvSpPr>
          <p:cNvPr id="47" name="Text 36"/>
          <p:cNvSpPr txBox="1"/>
          <p:nvPr/>
        </p:nvSpPr>
        <p:spPr>
          <a:xfrm>
            <a:off x="5257800" y="3105302"/>
            <a:ext cx="45436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只有复盘才能将当天的经验转化为能力。按照以下顺序扫描市场：</a:t>
            </a:r>
            <a:endParaRPr lang="en-US" sz="1200" dirty="0"/>
          </a:p>
        </p:txBody>
      </p:sp>
      <p:sp>
        <p:nvSpPr>
          <p:cNvPr id="48" name="Text 37"/>
          <p:cNvSpPr txBox="1"/>
          <p:nvPr/>
        </p:nvSpPr>
        <p:spPr>
          <a:xfrm>
            <a:off x="5257800" y="3409798"/>
            <a:ext cx="3246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题材</a:t>
            </a:r>
            <a:endParaRPr lang="en-US" sz="900" dirty="0"/>
          </a:p>
        </p:txBody>
      </p:sp>
      <p:sp>
        <p:nvSpPr>
          <p:cNvPr id="49" name="Text 38"/>
          <p:cNvSpPr txBox="1"/>
          <p:nvPr/>
        </p:nvSpPr>
        <p:spPr>
          <a:xfrm>
            <a:off x="5715000" y="3409798"/>
            <a:ext cx="3246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龙头</a:t>
            </a:r>
            <a:endParaRPr lang="en-US" sz="900" dirty="0"/>
          </a:p>
        </p:txBody>
      </p:sp>
      <p:sp>
        <p:nvSpPr>
          <p:cNvPr id="50" name="Text 39"/>
          <p:cNvSpPr txBox="1"/>
          <p:nvPr/>
        </p:nvSpPr>
        <p:spPr>
          <a:xfrm>
            <a:off x="6172200" y="3409798"/>
            <a:ext cx="3246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承接</a:t>
            </a:r>
            <a:endParaRPr lang="en-US" sz="900" dirty="0"/>
          </a:p>
        </p:txBody>
      </p:sp>
      <p:sp>
        <p:nvSpPr>
          <p:cNvPr id="51" name="Text 40"/>
          <p:cNvSpPr txBox="1"/>
          <p:nvPr/>
        </p:nvSpPr>
        <p:spPr>
          <a:xfrm>
            <a:off x="6629400" y="3409798"/>
            <a:ext cx="59070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分歧/一致</a:t>
            </a:r>
            <a:endParaRPr lang="en-US" sz="900" dirty="0"/>
          </a:p>
        </p:txBody>
      </p:sp>
      <p:sp>
        <p:nvSpPr>
          <p:cNvPr id="52" name="Text 41"/>
          <p:cNvSpPr txBox="1"/>
          <p:nvPr/>
        </p:nvSpPr>
        <p:spPr>
          <a:xfrm>
            <a:off x="7360006" y="3409798"/>
            <a:ext cx="3246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量能</a:t>
            </a:r>
            <a:endParaRPr lang="en-US" sz="900" dirty="0"/>
          </a:p>
        </p:txBody>
      </p:sp>
      <p:sp>
        <p:nvSpPr>
          <p:cNvPr id="53" name="Shape 42"/>
          <p:cNvSpPr/>
          <p:nvPr/>
        </p:nvSpPr>
        <p:spPr>
          <a:xfrm>
            <a:off x="4800600" y="3209544"/>
            <a:ext cx="9144" cy="666598"/>
          </a:xfrm>
          <a:prstGeom prst="rect">
            <a:avLst/>
          </a:prstGeom>
          <a:solidFill>
            <a:srgbClr val="D4AF37">
              <a:alpha val="30000"/>
            </a:srgbClr>
          </a:solidFill>
        </p:spPr>
      </p:sp>
      <p:sp>
        <p:nvSpPr>
          <p:cNvPr id="54" name="Shape 43"/>
          <p:cNvSpPr/>
          <p:nvPr/>
        </p:nvSpPr>
        <p:spPr>
          <a:xfrm>
            <a:off x="4572000" y="2752344"/>
            <a:ext cx="457200" cy="457200"/>
          </a:xfrm>
          <a:prstGeom prst="roundRect">
            <a:avLst>
              <a:gd name="adj" fmla="val 33333"/>
            </a:avLst>
          </a:prstGeom>
          <a:noFill/>
          <a:ln w="12700">
            <a:solidFill>
              <a:srgbClr val="374151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55" name="Text 44"/>
          <p:cNvSpPr txBox="1"/>
          <p:nvPr/>
        </p:nvSpPr>
        <p:spPr>
          <a:xfrm>
            <a:off x="4687214" y="2838298"/>
            <a:ext cx="37216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4AF37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02</a:t>
            </a:r>
            <a:endParaRPr lang="en-US" sz="1500" dirty="0"/>
          </a:p>
        </p:txBody>
      </p:sp>
      <p:sp>
        <p:nvSpPr>
          <p:cNvPr id="56" name="Text 45"/>
          <p:cNvSpPr txBox="1"/>
          <p:nvPr/>
        </p:nvSpPr>
        <p:spPr>
          <a:xfrm>
            <a:off x="5257800" y="3791102"/>
            <a:ext cx="185806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熔断机制：铁律风控</a:t>
            </a:r>
            <a:endParaRPr lang="en-US" sz="1500" dirty="0"/>
          </a:p>
        </p:txBody>
      </p:sp>
      <p:sp>
        <p:nvSpPr>
          <p:cNvPr id="57" name="Text 46"/>
          <p:cNvSpPr txBox="1"/>
          <p:nvPr/>
        </p:nvSpPr>
        <p:spPr>
          <a:xfrm>
            <a:off x="5257800" y="4153205"/>
            <a:ext cx="40864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保护本金是第一要务，防止情绪化交易带来的灾难性亏损。</a:t>
            </a:r>
            <a:endParaRPr lang="en-US" sz="1200" dirty="0"/>
          </a:p>
        </p:txBody>
      </p:sp>
      <p:pic>
        <p:nvPicPr>
          <p:cNvPr id="58" name="Image 9" descr="preencoded.png"/>
          <p:cNvPicPr>
            <a:picLocks noChangeAspect="1"/>
          </p:cNvPicPr>
          <p:nvPr/>
        </p:nvPicPr>
        <p:blipFill>
          <a:blip r:embed="rId7"/>
          <a:srcRect l="-2512" r="-2512"/>
          <a:stretch>
            <a:fillRect/>
          </a:stretch>
        </p:blipFill>
        <p:spPr>
          <a:xfrm>
            <a:off x="5257800" y="4502506"/>
            <a:ext cx="105156" cy="133502"/>
          </a:xfrm>
          <a:prstGeom prst="rect">
            <a:avLst/>
          </a:prstGeom>
        </p:spPr>
      </p:pic>
      <p:sp>
        <p:nvSpPr>
          <p:cNvPr id="59" name="Text 47"/>
          <p:cNvSpPr txBox="1"/>
          <p:nvPr/>
        </p:nvSpPr>
        <p:spPr>
          <a:xfrm>
            <a:off x="5438851" y="4466844"/>
            <a:ext cx="179588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单笔亏损不超过总资金的 1%</a:t>
            </a:r>
            <a:endParaRPr lang="en-US" sz="1000" dirty="0"/>
          </a:p>
        </p:txBody>
      </p:sp>
      <p:pic>
        <p:nvPicPr>
          <p:cNvPr id="60" name="Image 10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5257800" y="4731106"/>
            <a:ext cx="133502" cy="133502"/>
          </a:xfrm>
          <a:prstGeom prst="rect">
            <a:avLst/>
          </a:prstGeom>
        </p:spPr>
      </p:pic>
      <p:sp>
        <p:nvSpPr>
          <p:cNvPr id="61" name="Text 48"/>
          <p:cNvSpPr txBox="1"/>
          <p:nvPr/>
        </p:nvSpPr>
        <p:spPr>
          <a:xfrm>
            <a:off x="5467198" y="4695444"/>
            <a:ext cx="277703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连续亏损 3 次，强制停手，进入周复盘冷静期</a:t>
            </a:r>
            <a:endParaRPr lang="en-US" sz="1000" dirty="0"/>
          </a:p>
        </p:txBody>
      </p:sp>
      <p:sp>
        <p:nvSpPr>
          <p:cNvPr id="62" name="Shape 49"/>
          <p:cNvSpPr/>
          <p:nvPr/>
        </p:nvSpPr>
        <p:spPr>
          <a:xfrm>
            <a:off x="4572000" y="3800246"/>
            <a:ext cx="457200" cy="457200"/>
          </a:xfrm>
          <a:prstGeom prst="roundRect">
            <a:avLst>
              <a:gd name="adj" fmla="val 33333"/>
            </a:avLst>
          </a:prstGeom>
          <a:noFill/>
          <a:ln w="12700">
            <a:solidFill>
              <a:srgbClr val="374151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63" name="Text 50"/>
          <p:cNvSpPr txBox="1"/>
          <p:nvPr/>
        </p:nvSpPr>
        <p:spPr>
          <a:xfrm>
            <a:off x="4687214" y="3886200"/>
            <a:ext cx="37216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4AF37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03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Text 1"/>
          <p:cNvSpPr txBox="1"/>
          <p:nvPr/>
        </p:nvSpPr>
        <p:spPr>
          <a:xfrm>
            <a:off x="9988906" y="5348326"/>
            <a:ext cx="199156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P.18 | 炒股与赌博：连续性博弈的智慧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1143000"/>
            <a:ext cx="12191695" cy="9144"/>
          </a:xfrm>
          <a:prstGeom prst="rect">
            <a:avLst/>
          </a:prstGeom>
          <a:solidFill>
            <a:srgbClr val="1F2937"/>
          </a:solidFill>
        </p:spPr>
      </p:sp>
      <p:sp>
        <p:nvSpPr>
          <p:cNvPr id="5" name="Text 3"/>
          <p:cNvSpPr txBox="1"/>
          <p:nvPr/>
        </p:nvSpPr>
        <p:spPr>
          <a:xfrm>
            <a:off x="609905" y="552298"/>
            <a:ext cx="2019910" cy="4864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总结与展望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371246"/>
            <a:ext cx="16962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4AF37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SUMMARY &amp; NEXT STEPS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>
            <a:alphaModFix amt="50000"/>
          </a:blip>
          <a:srcRect l="-743" r="-743"/>
          <a:stretch>
            <a:fillRect/>
          </a:stretch>
        </p:blipFill>
        <p:spPr>
          <a:xfrm>
            <a:off x="11277295" y="642823"/>
            <a:ext cx="304495" cy="3429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09905" y="4005072"/>
            <a:ext cx="3562502" cy="1429207"/>
          </a:xfrm>
          <a:prstGeom prst="roundRect">
            <a:avLst>
              <a:gd name="adj" fmla="val 5118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09905" y="1457554"/>
            <a:ext cx="245333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核心观点回顾 · KEY TAKEAWAYS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47649" y="4233672"/>
            <a:ext cx="100035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COMING NEXT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847649" y="4462272"/>
            <a:ext cx="1476756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下一步课程预告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47649" y="4815230"/>
            <a:ext cx="3072384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我们将从理论框架走向实操细节，系统讲解： 《从F10基本面到结构交易系统实操》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9905" y="1800454"/>
            <a:ext cx="3504895" cy="1904695"/>
          </a:xfrm>
          <a:prstGeom prst="roundRect">
            <a:avLst>
              <a:gd name="adj" fmla="val 2880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>
            <a:alphaModFix amt="5000"/>
          </a:blip>
          <a:srcRect t="-16" b="-16"/>
          <a:stretch>
            <a:fillRect/>
          </a:stretch>
        </p:blipFill>
        <p:spPr>
          <a:xfrm>
            <a:off x="3238805" y="1962302"/>
            <a:ext cx="714146" cy="5715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47649" y="2038198"/>
            <a:ext cx="381305" cy="381305"/>
          </a:xfrm>
          <a:prstGeom prst="roundRect">
            <a:avLst>
              <a:gd name="adj" fmla="val 23981"/>
            </a:avLst>
          </a:prstGeom>
          <a:noFill/>
          <a:ln w="12700">
            <a:solidFill>
              <a:srgbClr val="374151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rcRect t="-43" b="-43"/>
          <a:stretch>
            <a:fillRect/>
          </a:stretch>
        </p:blipFill>
        <p:spPr>
          <a:xfrm>
            <a:off x="972007" y="2152498"/>
            <a:ext cx="133502" cy="15270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7649" y="2581351"/>
            <a:ext cx="115763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连续博弈思维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847649" y="3038551"/>
            <a:ext cx="3033979" cy="409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炒股不是一次性的赌博，而是对结果拥有控制权的连续性事件。 方法论 &gt; 运气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343400" y="1800454"/>
            <a:ext cx="3504895" cy="1904695"/>
          </a:xfrm>
          <a:prstGeom prst="roundRect">
            <a:avLst>
              <a:gd name="adj" fmla="val 2880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>
            <a:alphaModFix amt="5000"/>
          </a:blip>
          <a:srcRect/>
          <a:stretch>
            <a:fillRect/>
          </a:stretch>
        </p:blipFill>
        <p:spPr>
          <a:xfrm>
            <a:off x="7114946" y="1962302"/>
            <a:ext cx="571500" cy="57150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4581144" y="2038198"/>
            <a:ext cx="381305" cy="381305"/>
          </a:xfrm>
          <a:prstGeom prst="roundRect">
            <a:avLst>
              <a:gd name="adj" fmla="val 23981"/>
            </a:avLst>
          </a:prstGeom>
          <a:noFill/>
          <a:ln w="12700">
            <a:solidFill>
              <a:srgbClr val="374151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rcRect t="-180" b="-180"/>
          <a:stretch>
            <a:fillRect/>
          </a:stretch>
        </p:blipFill>
        <p:spPr>
          <a:xfrm>
            <a:off x="4677156" y="2152498"/>
            <a:ext cx="190195" cy="15270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4581144" y="2581351"/>
            <a:ext cx="1100938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A股独特生态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4581144" y="3038551"/>
            <a:ext cx="3129077" cy="409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短线生态是“制度(T+1/涨跌停) × 人性 × 注意力”的产物。 本质是情绪溢价的套利。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8076895" y="1800454"/>
            <a:ext cx="3504895" cy="1904695"/>
          </a:xfrm>
          <a:prstGeom prst="roundRect">
            <a:avLst>
              <a:gd name="adj" fmla="val 2880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>
            <a:alphaModFix amt="5000"/>
          </a:blip>
          <a:srcRect t="-16" b="-16"/>
          <a:stretch>
            <a:fillRect/>
          </a:stretch>
        </p:blipFill>
        <p:spPr>
          <a:xfrm>
            <a:off x="10705795" y="1962302"/>
            <a:ext cx="714146" cy="57150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8315554" y="2038198"/>
            <a:ext cx="381305" cy="381305"/>
          </a:xfrm>
          <a:prstGeom prst="roundRect">
            <a:avLst>
              <a:gd name="adj" fmla="val 23981"/>
            </a:avLst>
          </a:prstGeom>
          <a:noFill/>
          <a:ln w="12700">
            <a:solidFill>
              <a:srgbClr val="374151"/>
            </a:solidFill>
            <a:prstDash val="solid"/>
          </a:ln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rcRect t="-180" b="-180"/>
          <a:stretch>
            <a:fillRect/>
          </a:stretch>
        </p:blipFill>
        <p:spPr>
          <a:xfrm>
            <a:off x="8410651" y="2152498"/>
            <a:ext cx="190195" cy="152705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8315554" y="2581351"/>
            <a:ext cx="115763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人机共舞优势</a:t>
            </a:r>
            <a:endParaRPr lang="en-US" sz="1300" dirty="0"/>
          </a:p>
        </p:txBody>
      </p:sp>
      <p:sp>
        <p:nvSpPr>
          <p:cNvPr id="30" name="Text 21"/>
          <p:cNvSpPr txBox="1"/>
          <p:nvPr/>
        </p:nvSpPr>
        <p:spPr>
          <a:xfrm>
            <a:off x="8315554" y="3038551"/>
            <a:ext cx="3072384" cy="409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量化赢在效率，人类赢在想象力。 人类核心竞争力 = 逻辑 + 审美。</a:t>
            </a:r>
            <a:endParaRPr lang="en-US" sz="1000" dirty="0"/>
          </a:p>
        </p:txBody>
      </p:sp>
      <p:sp>
        <p:nvSpPr>
          <p:cNvPr id="31" name="Shape 22"/>
          <p:cNvSpPr/>
          <p:nvPr/>
        </p:nvSpPr>
        <p:spPr>
          <a:xfrm>
            <a:off x="4475074" y="4005072"/>
            <a:ext cx="7114946" cy="1429207"/>
          </a:xfrm>
          <a:prstGeom prst="roundRect">
            <a:avLst>
              <a:gd name="adj" fmla="val 5118"/>
            </a:avLst>
          </a:prstGeom>
          <a:noFill/>
          <a:ln w="12700">
            <a:solidFill>
              <a:srgbClr val="D4AF37"/>
            </a:solidFill>
            <a:prstDash val="solid"/>
          </a:ln>
          <a:effectLst>
            <a:outerShdw blurRad="139700" dist="12700" dir="16200000" algn="bl" rotWithShape="0">
              <a:srgbClr val="D4AF37">
                <a:alpha val="20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10658246" y="4015130"/>
            <a:ext cx="914400" cy="914400"/>
          </a:xfrm>
          <a:prstGeom prst="rect">
            <a:avLst/>
          </a:prstGeom>
          <a:solidFill>
            <a:srgbClr val="D4AF37">
              <a:alpha val="10000"/>
            </a:srgbClr>
          </a:solidFill>
        </p:spPr>
      </p:sp>
      <p:sp>
        <p:nvSpPr>
          <p:cNvPr id="33" name="Text 24"/>
          <p:cNvSpPr txBox="1"/>
          <p:nvPr/>
        </p:nvSpPr>
        <p:spPr>
          <a:xfrm>
            <a:off x="4713732" y="4310482"/>
            <a:ext cx="20574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4AF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IMMEDIATE ACTION · 立即行动</a:t>
            </a:r>
            <a:endParaRPr lang="en-US" sz="900" dirty="0"/>
          </a:p>
        </p:txBody>
      </p:sp>
      <p:sp>
        <p:nvSpPr>
          <p:cNvPr id="34" name="Shape 25"/>
          <p:cNvSpPr/>
          <p:nvPr/>
        </p:nvSpPr>
        <p:spPr>
          <a:xfrm>
            <a:off x="4713732" y="4586630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4AF37"/>
          </a:solidFill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8"/>
          <a:srcRect t="-1100" b="-1100"/>
          <a:stretch>
            <a:fillRect/>
          </a:stretch>
        </p:blipFill>
        <p:spPr>
          <a:xfrm>
            <a:off x="4808830" y="4671670"/>
            <a:ext cx="114300" cy="133502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5170932" y="4586630"/>
            <a:ext cx="117683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建立个人交易SOP</a:t>
            </a:r>
            <a:endParaRPr lang="en-US" sz="1000" dirty="0"/>
          </a:p>
        </p:txBody>
      </p:sp>
      <p:sp>
        <p:nvSpPr>
          <p:cNvPr id="37" name="Text 27"/>
          <p:cNvSpPr txBox="1"/>
          <p:nvPr/>
        </p:nvSpPr>
        <p:spPr>
          <a:xfrm>
            <a:off x="5170932" y="4805172"/>
            <a:ext cx="2610612" cy="3145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将模糊的想法转化为固定的交易流程（买入条件、止损位、仓位管理）。</a:t>
            </a:r>
            <a:endParaRPr lang="en-US" sz="900" dirty="0"/>
          </a:p>
        </p:txBody>
      </p:sp>
      <p:sp>
        <p:nvSpPr>
          <p:cNvPr id="38" name="Shape 28"/>
          <p:cNvSpPr/>
          <p:nvPr/>
        </p:nvSpPr>
        <p:spPr>
          <a:xfrm>
            <a:off x="8333842" y="4586630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4AF37"/>
          </a:solidFill>
        </p:spPr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9"/>
          <a:srcRect t="-1100" b="-1100"/>
          <a:stretch>
            <a:fillRect/>
          </a:stretch>
        </p:blipFill>
        <p:spPr>
          <a:xfrm>
            <a:off x="8428939" y="4671670"/>
            <a:ext cx="114300" cy="133502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8791042" y="4586630"/>
            <a:ext cx="90068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开始每日复盘</a:t>
            </a:r>
            <a:endParaRPr lang="en-US" sz="1000" dirty="0"/>
          </a:p>
        </p:txBody>
      </p:sp>
      <p:sp>
        <p:nvSpPr>
          <p:cNvPr id="41" name="Text 30"/>
          <p:cNvSpPr txBox="1"/>
          <p:nvPr/>
        </p:nvSpPr>
        <p:spPr>
          <a:xfrm>
            <a:off x="8791042" y="4805172"/>
            <a:ext cx="2553005" cy="3145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坚持记录题材、龙头与情绪周期，用3个月时间建立市场盘感。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6581</Words>
  <Application>WPS 演示</Application>
  <PresentationFormat>On-screen Show (16:9)</PresentationFormat>
  <Paragraphs>894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6" baseType="lpstr">
      <vt:lpstr>Arial</vt:lpstr>
      <vt:lpstr>宋体</vt:lpstr>
      <vt:lpstr>Wingdings</vt:lpstr>
      <vt:lpstr>Noto Sans SC</vt:lpstr>
      <vt:lpstr>Noto Sans SC</vt:lpstr>
      <vt:lpstr>Noto Serif SC</vt:lpstr>
      <vt:lpstr>Noto Serif SC</vt:lpstr>
      <vt:lpstr>ui-monospace</vt:lpstr>
      <vt:lpstr>Segoe Print</vt:lpstr>
      <vt:lpstr>ui-monospace</vt:lpstr>
      <vt:lpstr>ui-monospace</vt:lpstr>
      <vt:lpstr>MingLiU-ExtB</vt:lpstr>
      <vt:lpstr>Calibri</vt:lpstr>
      <vt:lpstr>微软雅黑</vt:lpstr>
      <vt:lpstr>Arial Unicode MS</vt:lpstr>
      <vt:lpstr>等线</vt:lpstr>
      <vt:lpstr>Impact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Generated by Gen-Spark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creator>Visual Extract to PPTX Converter</dc:creator>
  <dc:subject>PptxGenJS Presentation</dc:subject>
  <cp:lastModifiedBy>Han</cp:lastModifiedBy>
  <cp:revision>2</cp:revision>
  <dcterms:created xsi:type="dcterms:W3CDTF">2025-12-08T08:45:00Z</dcterms:created>
  <dcterms:modified xsi:type="dcterms:W3CDTF">2025-12-08T13:33:05Z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0F0F0CA1C9F04052BCCCFDB6FEC75497_12</vt:lpwstr>
  </property>
</Properties>
</file>