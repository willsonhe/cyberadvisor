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5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3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image" Target="../media/image63.png"/><Relationship Id="rId7" Type="http://schemas.openxmlformats.org/officeDocument/2006/relationships/image" Target="../media/image62.png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69.png"/><Relationship Id="rId13" Type="http://schemas.openxmlformats.org/officeDocument/2006/relationships/image" Target="../media/image68.png"/><Relationship Id="rId12" Type="http://schemas.openxmlformats.org/officeDocument/2006/relationships/image" Target="../media/image67.png"/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image" Target="../media/image77.png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3.png"/><Relationship Id="rId1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2.png"/><Relationship Id="rId7" Type="http://schemas.openxmlformats.org/officeDocument/2006/relationships/image" Target="../media/image91.png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6.png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9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8.png"/><Relationship Id="rId7" Type="http://schemas.openxmlformats.org/officeDocument/2006/relationships/image" Target="../media/image107.png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15000"/>
          </a:blip>
          <a:srcRect t="-1" b="-1"/>
          <a:stretch>
            <a:fillRect/>
          </a:stretch>
        </p:blipFill>
        <p:spPr>
          <a:xfrm>
            <a:off x="0" y="2743200"/>
            <a:ext cx="12191695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2705" y="3429000"/>
            <a:ext cx="38405" cy="1218895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6" name="Shape 3"/>
          <p:cNvSpPr/>
          <p:nvPr/>
        </p:nvSpPr>
        <p:spPr>
          <a:xfrm>
            <a:off x="12001500" y="3429000"/>
            <a:ext cx="38405" cy="1218895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7" name="Shape 4"/>
          <p:cNvSpPr/>
          <p:nvPr/>
        </p:nvSpPr>
        <p:spPr>
          <a:xfrm>
            <a:off x="0" y="295351"/>
            <a:ext cx="12191695" cy="9144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705" y="85954"/>
            <a:ext cx="114300" cy="1143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2900" y="71323"/>
            <a:ext cx="9811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LIVE TERMINAL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387145" y="71323"/>
            <a:ext cx="13240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SYS.STATUS: ONLINE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938260" y="71323"/>
            <a:ext cx="18105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SESSION ID: 2025-12-26-V4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262018" y="485546"/>
            <a:ext cx="3666744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828800" y="5305349"/>
            <a:ext cx="19202" cy="761695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5" name="Shape 11"/>
          <p:cNvSpPr/>
          <p:nvPr/>
        </p:nvSpPr>
        <p:spPr>
          <a:xfrm>
            <a:off x="4774997" y="5305349"/>
            <a:ext cx="19202" cy="761695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6" name="Shape 12"/>
          <p:cNvSpPr/>
          <p:nvPr/>
        </p:nvSpPr>
        <p:spPr>
          <a:xfrm>
            <a:off x="7721194" y="5305349"/>
            <a:ext cx="19202" cy="761695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7" name="Text 13"/>
          <p:cNvSpPr txBox="1"/>
          <p:nvPr/>
        </p:nvSpPr>
        <p:spPr>
          <a:xfrm>
            <a:off x="4539082" y="543154"/>
            <a:ext cx="336773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SERIES: ADVANCED TRADING PSYCHOLOGY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52882" y="923544"/>
            <a:ext cx="11401654" cy="2714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Market Understanding &amp; Reflexivity Theory 市场理解与反身性理论</a:t>
            </a:r>
            <a:endParaRPr lang="en-US" sz="5400" dirty="0"/>
          </a:p>
        </p:txBody>
      </p:sp>
      <p:sp>
        <p:nvSpPr>
          <p:cNvPr id="19" name="Text 15"/>
          <p:cNvSpPr txBox="1"/>
          <p:nvPr/>
        </p:nvSpPr>
        <p:spPr>
          <a:xfrm>
            <a:off x="2000707" y="5458054"/>
            <a:ext cx="7818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CONCEPT 01</a:t>
            </a:r>
            <a:endParaRPr lang="en-US" sz="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 t="-842" b="-842"/>
          <a:stretch>
            <a:fillRect/>
          </a:stretch>
        </p:blipFill>
        <p:spPr>
          <a:xfrm>
            <a:off x="2000707" y="5707685"/>
            <a:ext cx="190195" cy="1719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266798" y="5658307"/>
            <a:ext cx="118597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MPT &amp; CAPM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946904" y="5458054"/>
            <a:ext cx="7818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CONCEPT 02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46904" y="5707685"/>
            <a:ext cx="171907" cy="17190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194706" y="5658307"/>
            <a:ext cx="1739189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Behavioral Finance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893101" y="5458054"/>
            <a:ext cx="7818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CONCEPT 03</a:t>
            </a:r>
            <a:endParaRPr lang="en-US" sz="9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l="-1064" r="-1064"/>
          <a:stretch>
            <a:fillRect/>
          </a:stretch>
        </p:blipFill>
        <p:spPr>
          <a:xfrm>
            <a:off x="7893101" y="5707685"/>
            <a:ext cx="219456" cy="17190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188452" y="5658307"/>
            <a:ext cx="103418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Reflexivity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856232" y="3972154"/>
            <a:ext cx="8658454" cy="7050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从现代投资组合理论(MPT)到有效市场假说(EMH) 再到索罗斯反身性与A股情绪周期实战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30" name="Text 23"/>
          <p:cNvSpPr txBox="1"/>
          <p:nvPr/>
        </p:nvSpPr>
        <p:spPr>
          <a:xfrm>
            <a:off x="304495" y="6386170"/>
            <a:ext cx="6382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LECTURER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612880" y="6386170"/>
            <a:ext cx="3621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DATE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1087100" y="6548018"/>
            <a:ext cx="90068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2025-12-26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sp>
        <p:nvSpPr>
          <p:cNvPr id="4" name="Text 2"/>
          <p:cNvSpPr txBox="1"/>
          <p:nvPr/>
        </p:nvSpPr>
        <p:spPr>
          <a:xfrm>
            <a:off x="304495" y="504749"/>
            <a:ext cx="97200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CORE THEORY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04495" y="694944"/>
            <a:ext cx="3219602" cy="1353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现代投资组合理论 Modern Portfolio Theory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304495" y="2447849"/>
            <a:ext cx="3805733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1952年，哈里·马科维茨发表《投资组合选择》，标志着现代金融学的诞生。MPT将金融从经济学的附庸转变为独立的量化科学，其核心贡献在于确立了风险与收益的数学框架。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4495" y="3393338"/>
            <a:ext cx="3762756" cy="3019349"/>
          </a:xfrm>
          <a:prstGeom prst="roundRect">
            <a:avLst>
              <a:gd name="adj" fmla="val 382"/>
            </a:avLst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8854" y="3479292"/>
            <a:ext cx="19431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FIG.1.1: EFFICIENT FRONTIER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 l="-7" r="-7"/>
          <a:stretch>
            <a:fillRect/>
          </a:stretch>
        </p:blipFill>
        <p:spPr>
          <a:xfrm>
            <a:off x="314554" y="3402482"/>
            <a:ext cx="3743554" cy="300014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71746" y="836676"/>
            <a:ext cx="7515454" cy="16002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050524" y="808330"/>
            <a:ext cx="1191463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01</a:t>
            </a:r>
            <a:endParaRPr lang="en-US" sz="4800" dirty="0"/>
          </a:p>
        </p:txBody>
      </p:sp>
      <p:sp>
        <p:nvSpPr>
          <p:cNvPr id="12" name="Shape 9"/>
          <p:cNvSpPr/>
          <p:nvPr/>
        </p:nvSpPr>
        <p:spPr>
          <a:xfrm>
            <a:off x="4371746" y="2660904"/>
            <a:ext cx="7515454" cy="16002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050524" y="2632558"/>
            <a:ext cx="1191463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02</a:t>
            </a:r>
            <a:endParaRPr lang="en-US" sz="4800" dirty="0"/>
          </a:p>
        </p:txBody>
      </p:sp>
      <p:sp>
        <p:nvSpPr>
          <p:cNvPr id="14" name="Shape 11"/>
          <p:cNvSpPr/>
          <p:nvPr/>
        </p:nvSpPr>
        <p:spPr>
          <a:xfrm>
            <a:off x="4371746" y="4485132"/>
            <a:ext cx="7515454" cy="16002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050524" y="4456786"/>
            <a:ext cx="1191463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03</a:t>
            </a:r>
            <a:endParaRPr lang="en-US" sz="4800" dirty="0"/>
          </a:p>
        </p:txBody>
      </p:sp>
      <p:sp>
        <p:nvSpPr>
          <p:cNvPr id="16" name="Shape 13"/>
          <p:cNvSpPr/>
          <p:nvPr/>
        </p:nvSpPr>
        <p:spPr>
          <a:xfrm>
            <a:off x="4638751" y="107533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72254" y="1208837"/>
            <a:ext cx="190195" cy="19019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286146" y="1965960"/>
            <a:ext cx="1390802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</p:spPr>
      </p:sp>
      <p:sp>
        <p:nvSpPr>
          <p:cNvPr id="19" name="Text 15"/>
          <p:cNvSpPr txBox="1"/>
          <p:nvPr/>
        </p:nvSpPr>
        <p:spPr>
          <a:xfrm>
            <a:off x="5286146" y="1084478"/>
            <a:ext cx="319125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风险量化 Risk Quantification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286146" y="1427378"/>
            <a:ext cx="6367882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过去风险是主观的"不敢碰"，MPT用数学重新定义：投资者关心的不是收益本身，而是收益的不确定性。这种不确定性可以用收益率的标准差(σ)来精确衡量。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362956" y="2003450"/>
            <a:ext cx="13240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Metrics: σ (Sigma)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6825996" y="2003450"/>
            <a:ext cx="22201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Result: Risk becomes comparable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638751" y="2899562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286146" y="3790188"/>
            <a:ext cx="1457554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</p:spPr>
      </p:sp>
      <p:sp>
        <p:nvSpPr>
          <p:cNvPr id="25" name="Text 21"/>
          <p:cNvSpPr txBox="1"/>
          <p:nvPr/>
        </p:nvSpPr>
        <p:spPr>
          <a:xfrm>
            <a:off x="5286146" y="2908706"/>
            <a:ext cx="399135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科学分散 Scientific Diversification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5286146" y="3251606"/>
            <a:ext cx="6367882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引入协方差与相关性。证明组合的风险不仅取决于各资产自身的波动，更取决于它们是否"同进退"。分散的本质不是买得多，而是降低资产间的相关性以对冲"共震风险"。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5362956" y="3827678"/>
            <a:ext cx="13908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Key: Covariance &lt; 0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6894576" y="3827678"/>
            <a:ext cx="14676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Result: 1+1 &lt; 2 Risk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38751" y="4722876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48479" y="4856378"/>
            <a:ext cx="237744" cy="190195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5286146" y="5613502"/>
            <a:ext cx="1733702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</p:spPr>
      </p:sp>
      <p:sp>
        <p:nvSpPr>
          <p:cNvPr id="32" name="Text 27"/>
          <p:cNvSpPr txBox="1"/>
          <p:nvPr/>
        </p:nvSpPr>
        <p:spPr>
          <a:xfrm>
            <a:off x="5286146" y="4732934"/>
            <a:ext cx="273405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定价基础 Valuation Basis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5286146" y="5075834"/>
            <a:ext cx="5815584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奠定了CAPM（资本资产定价模型）的方法论基础。通过区分系统性风险（Beta）和非系统性风险（Alpha），解决了"从个体最优走向市场均衡"的问题，为资产合理定价提供了标尺。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5362956" y="5651906"/>
            <a:ext cx="16669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Output: Expected Return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7168896" y="5651906"/>
            <a:ext cx="17337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Result: Alpha Definition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0" y="19111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37" name="Text 32"/>
          <p:cNvSpPr txBox="1"/>
          <p:nvPr/>
        </p:nvSpPr>
        <p:spPr>
          <a:xfrm>
            <a:off x="418795" y="9144"/>
            <a:ext cx="226222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03 // THEORY BASE: MPT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10522915" y="9144"/>
            <a:ext cx="154807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ANALYZING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0" y="6717182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40" name="Text 35"/>
          <p:cNvSpPr txBox="1"/>
          <p:nvPr/>
        </p:nvSpPr>
        <p:spPr>
          <a:xfrm>
            <a:off x="228600" y="6727241"/>
            <a:ext cx="36576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SOURCE: HARRY MARKOWITZ, "PORTFOLIO SELECTION", 1952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10111435" y="6727241"/>
            <a:ext cx="19431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MARKET UNDERSTANDING SERIES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495" y="761695"/>
            <a:ext cx="4733849" cy="5553151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3154" y="1571854"/>
            <a:ext cx="4257446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7" name="Shape 4"/>
          <p:cNvSpPr/>
          <p:nvPr/>
        </p:nvSpPr>
        <p:spPr>
          <a:xfrm>
            <a:off x="543154" y="2281428"/>
            <a:ext cx="4257446" cy="819302"/>
          </a:xfrm>
          <a:prstGeom prst="roundRect">
            <a:avLst>
              <a:gd name="adj" fmla="val 5191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3154" y="3557930"/>
            <a:ext cx="4257446" cy="761695"/>
          </a:xfrm>
          <a:prstGeom prst="rect">
            <a:avLst/>
          </a:prstGeom>
          <a:solidFill>
            <a:srgbClr val="FF6B35">
              <a:alpha val="1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543154" y="3557930"/>
            <a:ext cx="28346" cy="761695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0" name="Shape 7"/>
          <p:cNvSpPr/>
          <p:nvPr/>
        </p:nvSpPr>
        <p:spPr>
          <a:xfrm>
            <a:off x="4187952" y="3672230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064E3B"/>
          </a:solidFill>
        </p:spPr>
      </p:sp>
      <p:sp>
        <p:nvSpPr>
          <p:cNvPr id="11" name="Shape 8"/>
          <p:cNvSpPr/>
          <p:nvPr/>
        </p:nvSpPr>
        <p:spPr>
          <a:xfrm>
            <a:off x="543154" y="4433926"/>
            <a:ext cx="4257446" cy="761695"/>
          </a:xfrm>
          <a:prstGeom prst="rect">
            <a:avLst/>
          </a:prstGeom>
          <a:solidFill>
            <a:srgbClr val="1E293B">
              <a:alpha val="4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543154" y="4433926"/>
            <a:ext cx="28346" cy="761695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3" name="Shape 10"/>
          <p:cNvSpPr/>
          <p:nvPr/>
        </p:nvSpPr>
        <p:spPr>
          <a:xfrm>
            <a:off x="4050792" y="4548226"/>
            <a:ext cx="638251" cy="190195"/>
          </a:xfrm>
          <a:prstGeom prst="roundRect">
            <a:avLst>
              <a:gd name="adj" fmla="val 96154"/>
            </a:avLst>
          </a:prstGeom>
          <a:solidFill>
            <a:srgbClr val="374151"/>
          </a:solidFill>
        </p:spPr>
      </p:sp>
      <p:sp>
        <p:nvSpPr>
          <p:cNvPr id="14" name="Shape 11"/>
          <p:cNvSpPr/>
          <p:nvPr/>
        </p:nvSpPr>
        <p:spPr>
          <a:xfrm>
            <a:off x="543154" y="5309921"/>
            <a:ext cx="4257446" cy="761695"/>
          </a:xfrm>
          <a:prstGeom prst="rect">
            <a:avLst/>
          </a:prstGeom>
          <a:solidFill>
            <a:srgbClr val="1E293B">
              <a:alpha val="40000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543154" y="5309921"/>
            <a:ext cx="28346" cy="761695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6" name="Shape 13"/>
          <p:cNvSpPr/>
          <p:nvPr/>
        </p:nvSpPr>
        <p:spPr>
          <a:xfrm>
            <a:off x="4325112" y="5424221"/>
            <a:ext cx="362102" cy="190195"/>
          </a:xfrm>
          <a:prstGeom prst="roundRect">
            <a:avLst>
              <a:gd name="adj" fmla="val 96154"/>
            </a:avLst>
          </a:prstGeom>
          <a:solidFill>
            <a:srgbClr val="7F1D1D"/>
          </a:solidFill>
        </p:spPr>
      </p:sp>
      <p:sp>
        <p:nvSpPr>
          <p:cNvPr id="17" name="Shape 14"/>
          <p:cNvSpPr/>
          <p:nvPr/>
        </p:nvSpPr>
        <p:spPr>
          <a:xfrm>
            <a:off x="304495" y="6538874"/>
            <a:ext cx="4733849" cy="1047902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3154" y="1000354"/>
            <a:ext cx="64831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CONCEPT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43154" y="1171346"/>
            <a:ext cx="20007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相关性与组合方差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3154" y="1742846"/>
            <a:ext cx="4234586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分散投资的科学本质在于资产间不完全正相关。组合风险不仅取决于各自的波动，更取决于相关系数(ρ)。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778508" y="2443277"/>
            <a:ext cx="18772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PORTFOLIO VARIANCE FORMULA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67182" y="2691079"/>
            <a:ext cx="393923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σ²p = w²Aσ²A + w²Bσ²B + 2wAwBCov(A,B)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804111" y="3167482"/>
            <a:ext cx="18196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Cov(A,B) 是决定分散效果的"阀门"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681374"/>
            <a:ext cx="226222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SCENARIO A: 负相关 (Cov &lt; 0)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263847" y="3690518"/>
            <a:ext cx="4389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Jetter" charset="0"/>
                <a:ea typeface="Jetter" charset="0"/>
                <a:cs typeface="Jetter" charset="0"/>
              </a:rPr>
              <a:t>IDEAL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890772"/>
            <a:ext cx="1924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此消彼长，风险项为负，抵消波动，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4043477"/>
            <a:ext cx="896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分散大获成功。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4557370"/>
            <a:ext cx="2129638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SCENARIO B: 无关 (Cov ≈ 0)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126687" y="4567428"/>
            <a:ext cx="5715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Jetter" charset="0"/>
                <a:ea typeface="Jetter" charset="0"/>
                <a:cs typeface="Jetter" charset="0"/>
              </a:rPr>
              <a:t>NEUTRAL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" y="4767682"/>
            <a:ext cx="15819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风险项接近零，有一定效果，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4919472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但不显著。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5434279"/>
            <a:ext cx="226222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SCENARIO C: 正相关 (Cov &gt; 0)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4401007" y="5443423"/>
            <a:ext cx="2953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A5A5"/>
                </a:solidFill>
                <a:latin typeface="Jetter" charset="0"/>
                <a:ea typeface="Jetter" charset="0"/>
                <a:cs typeface="Jetter" charset="0"/>
              </a:rPr>
              <a:t>BAD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643677"/>
            <a:ext cx="1467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同涨同跌，共震风险增加，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685800" y="5796382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分散无效。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466344" y="6700723"/>
            <a:ext cx="19431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Correlation Coefficient (ρ)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3845052" y="6700723"/>
            <a:ext cx="11247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Range: -1 to +1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66344" y="7082028"/>
            <a:ext cx="4410151" cy="38405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39" name="Text 36"/>
          <p:cNvSpPr txBox="1"/>
          <p:nvPr/>
        </p:nvSpPr>
        <p:spPr>
          <a:xfrm>
            <a:off x="466344" y="7196328"/>
            <a:ext cx="3621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-1.0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2635301" y="7196328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0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4598518" y="7196328"/>
            <a:ext cx="3621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+1.0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50392" y="6890918"/>
            <a:ext cx="114300" cy="1143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3" name="Text 40"/>
          <p:cNvSpPr txBox="1"/>
          <p:nvPr/>
        </p:nvSpPr>
        <p:spPr>
          <a:xfrm>
            <a:off x="736092" y="6776618"/>
            <a:ext cx="4389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Jetter" charset="0"/>
                <a:ea typeface="Jetter" charset="0"/>
                <a:cs typeface="Jetter" charset="0"/>
              </a:rPr>
              <a:t>HEDGE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613355" y="6890918"/>
            <a:ext cx="114300" cy="114300"/>
          </a:xfrm>
          <a:prstGeom prst="ellipse">
            <a:avLst/>
          </a:prstGeom>
          <a:solidFill>
            <a:srgbClr val="94A3B8"/>
          </a:solidFill>
        </p:spPr>
      </p:sp>
      <p:sp>
        <p:nvSpPr>
          <p:cNvPr id="45" name="Shape 42"/>
          <p:cNvSpPr/>
          <p:nvPr/>
        </p:nvSpPr>
        <p:spPr>
          <a:xfrm>
            <a:off x="4375404" y="6890918"/>
            <a:ext cx="114300" cy="11430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46" name="Text 43"/>
          <p:cNvSpPr txBox="1"/>
          <p:nvPr/>
        </p:nvSpPr>
        <p:spPr>
          <a:xfrm>
            <a:off x="4295851" y="6776618"/>
            <a:ext cx="3621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ter" charset="0"/>
                <a:ea typeface="Jetter" charset="0"/>
                <a:cs typeface="Jetter" charset="0"/>
              </a:rPr>
              <a:t>RISK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264201" y="761695"/>
            <a:ext cx="6629400" cy="54864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1"/>
          <a:srcRect t="-5" b="-5"/>
          <a:stretch>
            <a:fillRect/>
          </a:stretch>
        </p:blipFill>
        <p:spPr>
          <a:xfrm>
            <a:off x="5426050" y="923544"/>
            <a:ext cx="6295644" cy="5162702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5426050" y="923544"/>
            <a:ext cx="22201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FIG.1.2: CORRELATION SIMULATION</a:t>
            </a:r>
            <a:endParaRPr lang="en-US" sz="900" dirty="0"/>
          </a:p>
        </p:txBody>
      </p:sp>
      <p:sp>
        <p:nvSpPr>
          <p:cNvPr id="50" name="Text 46"/>
          <p:cNvSpPr txBox="1"/>
          <p:nvPr/>
        </p:nvSpPr>
        <p:spPr>
          <a:xfrm>
            <a:off x="5426050" y="1076249"/>
            <a:ext cx="11676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资产联动性可视化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52" name="Text 48"/>
          <p:cNvSpPr txBox="1"/>
          <p:nvPr/>
        </p:nvSpPr>
        <p:spPr>
          <a:xfrm>
            <a:off x="418795" y="138074"/>
            <a:ext cx="298643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04 // DIVERSIFICATION MECHANISM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10443362" y="138074"/>
            <a:ext cx="162488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SIMULATING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55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6648602"/>
            <a:ext cx="114300" cy="114300"/>
          </a:xfrm>
          <a:prstGeom prst="rect">
            <a:avLst/>
          </a:prstGeom>
        </p:spPr>
      </p:pic>
      <p:sp>
        <p:nvSpPr>
          <p:cNvPr id="56" name="Text 51"/>
          <p:cNvSpPr txBox="1"/>
          <p:nvPr/>
        </p:nvSpPr>
        <p:spPr>
          <a:xfrm>
            <a:off x="381305" y="6633972"/>
            <a:ext cx="14676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鸡蛋不要放在同一个篮子里</a:t>
            </a:r>
            <a:endParaRPr lang="en-US" sz="900" dirty="0"/>
          </a:p>
        </p:txBody>
      </p:sp>
      <p:pic>
        <p:nvPicPr>
          <p:cNvPr id="57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04695" y="6648602"/>
            <a:ext cx="114300" cy="114300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2057400" y="6633972"/>
            <a:ext cx="16002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AVOID HIGH CORRELATION</a:t>
            </a:r>
            <a:endParaRPr lang="en-US" sz="900" dirty="0"/>
          </a:p>
        </p:txBody>
      </p:sp>
      <p:sp>
        <p:nvSpPr>
          <p:cNvPr id="59" name="Text 53"/>
          <p:cNvSpPr txBox="1"/>
          <p:nvPr/>
        </p:nvSpPr>
        <p:spPr>
          <a:xfrm>
            <a:off x="10042855" y="6633972"/>
            <a:ext cx="20098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MODEL: PORTFOLIO_VARIANCE_V2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sp>
        <p:nvSpPr>
          <p:cNvPr id="5" name="Shape 3"/>
          <p:cNvSpPr/>
          <p:nvPr/>
        </p:nvSpPr>
        <p:spPr>
          <a:xfrm>
            <a:off x="304495" y="3362249"/>
            <a:ext cx="3762756" cy="666598"/>
          </a:xfrm>
          <a:prstGeom prst="roundRect">
            <a:avLst>
              <a:gd name="adj" fmla="val 7839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" y="761695"/>
            <a:ext cx="16102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ASSET PRICING MODEL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04495" y="952805"/>
            <a:ext cx="3314700" cy="9244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资本资产定价模型 CAPM Framework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304495" y="2276856"/>
            <a:ext cx="3834079" cy="848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CAPM解决了从"个体最优"走向"市场均衡"的问题。它告诉我们：在均衡市场中，资产的预期回报率仅取决于其承担的系统性风险（Beta），而非总体风险。这是区分"随波逐流"与"战胜市场"的理论基石。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774850" y="3467405"/>
            <a:ext cx="9144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CAPM FORMULA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46150" y="3676802"/>
            <a:ext cx="3014777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5E7EB"/>
                </a:solidFill>
                <a:latin typeface="Jetter" charset="0"/>
                <a:ea typeface="Jetter" charset="0"/>
                <a:cs typeface="Jetter" charset="0"/>
              </a:rPr>
              <a:t>E(Ri) = Rf + βi (E(Rm) - Rf)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4495" y="4172407"/>
            <a:ext cx="3762756" cy="2076602"/>
          </a:xfrm>
          <a:prstGeom prst="roundRect">
            <a:avLst>
              <a:gd name="adj" fmla="val 808"/>
            </a:avLst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8854" y="4257446"/>
            <a:ext cx="24963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FIG.5.1: SECURITY MARKET LINE (SML)</a:t>
            </a:r>
            <a:endParaRPr lang="en-US" sz="9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rcRect t="-6" b="-6"/>
          <a:stretch>
            <a:fillRect/>
          </a:stretch>
        </p:blipFill>
        <p:spPr>
          <a:xfrm>
            <a:off x="314554" y="4181551"/>
            <a:ext cx="3743554" cy="204825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371746" y="1261872"/>
            <a:ext cx="7515454" cy="1514246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416284" y="1233526"/>
            <a:ext cx="829361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β</a:t>
            </a:r>
            <a:endParaRPr lang="en-US" sz="4800" dirty="0"/>
          </a:p>
        </p:txBody>
      </p:sp>
      <p:sp>
        <p:nvSpPr>
          <p:cNvPr id="16" name="Shape 13"/>
          <p:cNvSpPr/>
          <p:nvPr/>
        </p:nvSpPr>
        <p:spPr>
          <a:xfrm>
            <a:off x="4371746" y="2964485"/>
            <a:ext cx="7515454" cy="1190549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416284" y="2936138"/>
            <a:ext cx="829361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α</a:t>
            </a:r>
            <a:endParaRPr lang="en-US" sz="4800" dirty="0"/>
          </a:p>
        </p:txBody>
      </p:sp>
      <p:sp>
        <p:nvSpPr>
          <p:cNvPr id="18" name="Shape 15"/>
          <p:cNvSpPr/>
          <p:nvPr/>
        </p:nvSpPr>
        <p:spPr>
          <a:xfrm>
            <a:off x="4371746" y="4343400"/>
            <a:ext cx="7515454" cy="1410005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050524" y="4315054"/>
            <a:ext cx="1191463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03</a:t>
            </a:r>
            <a:endParaRPr lang="en-US" sz="4800" dirty="0"/>
          </a:p>
        </p:txBody>
      </p:sp>
      <p:sp>
        <p:nvSpPr>
          <p:cNvPr id="20" name="Shape 17"/>
          <p:cNvSpPr/>
          <p:nvPr/>
        </p:nvSpPr>
        <p:spPr>
          <a:xfrm>
            <a:off x="4600346" y="1462126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10074" y="1595628"/>
            <a:ext cx="237744" cy="190195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248656" y="2097634"/>
            <a:ext cx="2095805" cy="476402"/>
          </a:xfrm>
          <a:prstGeom prst="roundRect">
            <a:avLst>
              <a:gd name="adj" fmla="val 1535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420356" y="2097634"/>
            <a:ext cx="2095805" cy="476402"/>
          </a:xfrm>
          <a:prstGeom prst="roundRect">
            <a:avLst>
              <a:gd name="adj" fmla="val 1535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592056" y="2097634"/>
            <a:ext cx="2095805" cy="476402"/>
          </a:xfrm>
          <a:prstGeom prst="roundRect">
            <a:avLst>
              <a:gd name="adj" fmla="val 1535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48656" y="1471270"/>
            <a:ext cx="3152851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Beta (贝塔) Systematic Risk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376611" y="1518818"/>
            <a:ext cx="13240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Market Sensitivity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5248656" y="1814170"/>
            <a:ext cx="37005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资产与市场组合的协方差标准化结果。代表"随大流"的程度：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5333695" y="2183587"/>
            <a:ext cx="4389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β &gt; 1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5333695" y="2336292"/>
            <a:ext cx="7818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Aggressive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7505395" y="2183587"/>
            <a:ext cx="4389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β = 1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7505395" y="2336292"/>
            <a:ext cx="8485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Market Sync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9677095" y="2183587"/>
            <a:ext cx="4389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β &lt; 1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9677095" y="2336292"/>
            <a:ext cx="7050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Defensive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600346" y="3164738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rcRect l="-1282" r="-1282"/>
          <a:stretch>
            <a:fillRect/>
          </a:stretch>
        </p:blipFill>
        <p:spPr>
          <a:xfrm>
            <a:off x="4719218" y="3298241"/>
            <a:ext cx="219456" cy="190195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10712196" y="3203143"/>
            <a:ext cx="981151" cy="190195"/>
          </a:xfrm>
          <a:prstGeom prst="roundRect">
            <a:avLst>
              <a:gd name="adj" fmla="val 96154"/>
            </a:avLst>
          </a:prstGeom>
          <a:solidFill>
            <a:srgbClr val="374151"/>
          </a:solidFill>
        </p:spPr>
      </p:sp>
      <p:sp>
        <p:nvSpPr>
          <p:cNvPr id="37" name="Shape 32"/>
          <p:cNvSpPr/>
          <p:nvPr/>
        </p:nvSpPr>
        <p:spPr>
          <a:xfrm>
            <a:off x="5248656" y="3800246"/>
            <a:ext cx="19202" cy="152705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38" name="Text 33"/>
          <p:cNvSpPr txBox="1"/>
          <p:nvPr/>
        </p:nvSpPr>
        <p:spPr>
          <a:xfrm>
            <a:off x="5248656" y="3173882"/>
            <a:ext cx="3229661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Alpha (阿尔法) Excess Return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10788091" y="3221431"/>
            <a:ext cx="9144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Active Skill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5248656" y="3516782"/>
            <a:ext cx="47201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衡量实际收益与CAPM预测值之间的差异。代表剔除市场波动后的"真实能力"。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5343754" y="3800246"/>
            <a:ext cx="32488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Formula: α = Actual Return - [Rf + β(Rm - Rf)]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4600346" y="454365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57623" y="4677156"/>
            <a:ext cx="142646" cy="190195"/>
          </a:xfrm>
          <a:prstGeom prst="rect">
            <a:avLst/>
          </a:prstGeom>
        </p:spPr>
      </p:pic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248656" y="5415077"/>
            <a:ext cx="114300" cy="11430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5400446" y="5395874"/>
            <a:ext cx="7342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ETF for Beta</a:t>
            </a:r>
            <a:endParaRPr lang="en-US" sz="9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193231" y="5415077"/>
            <a:ext cx="114300" cy="114300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6345936" y="5395874"/>
            <a:ext cx="10771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Research for Alpha</a:t>
            </a:r>
            <a:endParaRPr lang="en-US" sz="900" dirty="0"/>
          </a:p>
        </p:txBody>
      </p:sp>
      <p:sp>
        <p:nvSpPr>
          <p:cNvPr id="48" name="Text 40"/>
          <p:cNvSpPr txBox="1"/>
          <p:nvPr/>
        </p:nvSpPr>
        <p:spPr>
          <a:xfrm>
            <a:off x="5248656" y="4552798"/>
            <a:ext cx="227685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投资启示 Implication</a:t>
            </a:r>
            <a:endParaRPr lang="en-US" sz="1500" dirty="0"/>
          </a:p>
        </p:txBody>
      </p:sp>
      <p:sp>
        <p:nvSpPr>
          <p:cNvPr id="49" name="Text 41"/>
          <p:cNvSpPr txBox="1"/>
          <p:nvPr/>
        </p:nvSpPr>
        <p:spPr>
          <a:xfrm>
            <a:off x="5248656" y="4895698"/>
            <a:ext cx="6281928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在高效率市场（如美股），Alpha极度稀缺且易被管理费吞噬，此时低成本获取Beta是优选；在低效率市场（如A股），定价错误常见，寻找Alpha才具有超额价值。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51" name="Text 43"/>
          <p:cNvSpPr txBox="1"/>
          <p:nvPr/>
        </p:nvSpPr>
        <p:spPr>
          <a:xfrm>
            <a:off x="418795" y="138074"/>
            <a:ext cx="242498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05 // CAPM, BETA &amp; ALPHA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10362895" y="138074"/>
            <a:ext cx="170078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CALCULATING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54" name="Text 46"/>
          <p:cNvSpPr txBox="1"/>
          <p:nvPr/>
        </p:nvSpPr>
        <p:spPr>
          <a:xfrm>
            <a:off x="228600" y="6633972"/>
            <a:ext cx="31821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SOURCE: WILLIAM SHARPE (1964), LINTNER (1965)</a:t>
            </a:r>
            <a:endParaRPr lang="en-US" sz="900" dirty="0"/>
          </a:p>
        </p:txBody>
      </p:sp>
      <p:sp>
        <p:nvSpPr>
          <p:cNvPr id="55" name="Text 47"/>
          <p:cNvSpPr txBox="1"/>
          <p:nvPr/>
        </p:nvSpPr>
        <p:spPr>
          <a:xfrm>
            <a:off x="10111435" y="6633972"/>
            <a:ext cx="19431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MARKET UNDERSTANDING SERIES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14893" y="972007"/>
            <a:ext cx="3381451" cy="323698"/>
          </a:xfrm>
          <a:prstGeom prst="roundRect">
            <a:avLst>
              <a:gd name="adj" fmla="val 33234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76742" y="1095451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6B7280"/>
          </a:solidFill>
        </p:spPr>
      </p:sp>
      <p:sp>
        <p:nvSpPr>
          <p:cNvPr id="7" name="Shape 4"/>
          <p:cNvSpPr/>
          <p:nvPr/>
        </p:nvSpPr>
        <p:spPr>
          <a:xfrm>
            <a:off x="9462211" y="1128370"/>
            <a:ext cx="304495" cy="9144"/>
          </a:xfrm>
          <a:prstGeom prst="rect">
            <a:avLst/>
          </a:prstGeom>
          <a:solidFill>
            <a:srgbClr val="4B5563"/>
          </a:solidFill>
        </p:spPr>
      </p:sp>
      <p:sp>
        <p:nvSpPr>
          <p:cNvPr id="8" name="Shape 5"/>
          <p:cNvSpPr/>
          <p:nvPr/>
        </p:nvSpPr>
        <p:spPr>
          <a:xfrm>
            <a:off x="10635386" y="1128370"/>
            <a:ext cx="304495" cy="9144"/>
          </a:xfrm>
          <a:prstGeom prst="rect">
            <a:avLst/>
          </a:prstGeom>
          <a:solidFill>
            <a:srgbClr val="4B5563"/>
          </a:solidFill>
        </p:spPr>
      </p:sp>
      <p:sp>
        <p:nvSpPr>
          <p:cNvPr id="9" name="Shape 6"/>
          <p:cNvSpPr/>
          <p:nvPr/>
        </p:nvSpPr>
        <p:spPr>
          <a:xfrm>
            <a:off x="304495" y="6238951"/>
            <a:ext cx="1158270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/>
          <a:srcRect l="-133" r="-133"/>
          <a:stretch>
            <a:fillRect/>
          </a:stretch>
        </p:blipFill>
        <p:spPr>
          <a:xfrm>
            <a:off x="8684971" y="6420002"/>
            <a:ext cx="85954" cy="1143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4495" y="761695"/>
            <a:ext cx="224851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EFFICIENT MARKET HYPOTHESIS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914400"/>
            <a:ext cx="4215384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有效市场假说(EMH)的三种形态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8829446" y="1057046"/>
            <a:ext cx="5715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HISTORY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0071202" y="1057046"/>
            <a:ext cx="5056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PUBLIC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245291" y="1057046"/>
            <a:ext cx="5715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INSIDER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304495" y="6400800"/>
            <a:ext cx="29059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RELATIONSHIP: Strong ⊃ Semi-Strong ⊃ Weak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8846820" y="6400800"/>
            <a:ext cx="31345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KEY TAKEAWAY: 市场总是"接近"某种形态，而非完美符合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04495" y="1600200"/>
            <a:ext cx="3715207" cy="4410151"/>
          </a:xfrm>
          <a:prstGeom prst="roundRect">
            <a:avLst>
              <a:gd name="adj" fmla="val 50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14554" y="2486254"/>
            <a:ext cx="3696005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0" name="Shape 16"/>
          <p:cNvSpPr/>
          <p:nvPr/>
        </p:nvSpPr>
        <p:spPr>
          <a:xfrm>
            <a:off x="314554" y="2467051"/>
            <a:ext cx="381305" cy="28346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21" name="Text 17"/>
          <p:cNvSpPr txBox="1"/>
          <p:nvPr/>
        </p:nvSpPr>
        <p:spPr>
          <a:xfrm>
            <a:off x="504749" y="1790395"/>
            <a:ext cx="905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弱式有效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3065983" y="1800454"/>
            <a:ext cx="752551" cy="219456"/>
          </a:xfrm>
          <a:prstGeom prst="roundRect">
            <a:avLst>
              <a:gd name="adj" fmla="val 36232"/>
            </a:avLst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151937" y="1837944"/>
            <a:ext cx="66111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Jetter" charset="0"/>
                <a:ea typeface="Jetter" charset="0"/>
                <a:cs typeface="Jetter" charset="0"/>
              </a:rPr>
              <a:t>WEAK-FORM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504749" y="2143354"/>
            <a:ext cx="18772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LEVEL 01: BASIC EFFICIENCY</a:t>
            </a:r>
            <a:endParaRPr lang="en-US" sz="9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2"/>
          <a:srcRect t="-43" b="-43"/>
          <a:stretch>
            <a:fillRect/>
          </a:stretch>
        </p:blipFill>
        <p:spPr>
          <a:xfrm>
            <a:off x="552298" y="2781605"/>
            <a:ext cx="133502" cy="15270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47649" y="2686507"/>
            <a:ext cx="10479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INFO REFLECTED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847649" y="2838298"/>
            <a:ext cx="17007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所有历史价格、成交量数据</a:t>
            </a:r>
            <a:endParaRPr lang="en-US" sz="1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3154" y="3276295"/>
            <a:ext cx="152705" cy="15270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47649" y="3181198"/>
            <a:ext cx="8485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IMPLICATION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847649" y="3333902"/>
            <a:ext cx="17007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过去的价格走势不预示未来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04749" y="4038905"/>
            <a:ext cx="3314700" cy="761695"/>
          </a:xfrm>
          <a:prstGeom prst="rect">
            <a:avLst/>
          </a:prstGeom>
          <a:solidFill>
            <a:srgbClr val="0F172A">
              <a:alpha val="60000"/>
            </a:srgbClr>
          </a:solidFill>
        </p:spPr>
      </p:sp>
      <p:sp>
        <p:nvSpPr>
          <p:cNvPr id="32" name="Shape 26"/>
          <p:cNvSpPr/>
          <p:nvPr/>
        </p:nvSpPr>
        <p:spPr>
          <a:xfrm>
            <a:off x="504749" y="4038905"/>
            <a:ext cx="19202" cy="761695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9049" y="4153205"/>
            <a:ext cx="114300" cy="1143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09244" y="4123944"/>
            <a:ext cx="11338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INVALID STRATEGY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619049" y="4324198"/>
            <a:ext cx="16431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技术分析无效 (K线、均线)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619049" y="4543654"/>
            <a:ext cx="1467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无法通过图表获得超额收益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504749" y="5238598"/>
            <a:ext cx="3314700" cy="571500"/>
          </a:xfrm>
          <a:prstGeom prst="rect">
            <a:avLst/>
          </a:prstGeom>
          <a:solidFill>
            <a:srgbClr val="0F172A">
              <a:alpha val="60000"/>
            </a:srgbClr>
          </a:solidFill>
        </p:spPr>
      </p:sp>
      <p:sp>
        <p:nvSpPr>
          <p:cNvPr id="38" name="Shape 31"/>
          <p:cNvSpPr/>
          <p:nvPr/>
        </p:nvSpPr>
        <p:spPr>
          <a:xfrm>
            <a:off x="504749" y="5238598"/>
            <a:ext cx="19202" cy="571500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19049" y="5352898"/>
            <a:ext cx="114300" cy="1143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09244" y="5324551"/>
            <a:ext cx="10104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VALID STRATEGY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619049" y="5524805"/>
            <a:ext cx="14145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基本面分析 / 内幕信息</a:t>
            </a:r>
            <a:endParaRPr lang="en-US" sz="10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/>
          <a:stretch>
            <a:fillRect/>
          </a:stretch>
        </p:blipFill>
        <p:spPr>
          <a:xfrm>
            <a:off x="3241548" y="5238598"/>
            <a:ext cx="571500" cy="57150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4241902" y="1600200"/>
            <a:ext cx="3715207" cy="4410151"/>
          </a:xfrm>
          <a:prstGeom prst="roundRect">
            <a:avLst>
              <a:gd name="adj" fmla="val 50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4251046" y="2486254"/>
            <a:ext cx="3696005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45" name="Shape 36"/>
          <p:cNvSpPr/>
          <p:nvPr/>
        </p:nvSpPr>
        <p:spPr>
          <a:xfrm>
            <a:off x="4251046" y="2467051"/>
            <a:ext cx="381305" cy="28346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6" name="Text 37"/>
          <p:cNvSpPr txBox="1"/>
          <p:nvPr/>
        </p:nvSpPr>
        <p:spPr>
          <a:xfrm>
            <a:off x="4442155" y="1790395"/>
            <a:ext cx="10954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半强式有效</a:t>
            </a:r>
            <a:endParaRPr lang="en-US" sz="1500" dirty="0"/>
          </a:p>
        </p:txBody>
      </p:sp>
      <p:sp>
        <p:nvSpPr>
          <p:cNvPr id="47" name="Shape 38"/>
          <p:cNvSpPr/>
          <p:nvPr/>
        </p:nvSpPr>
        <p:spPr>
          <a:xfrm>
            <a:off x="6875374" y="1800454"/>
            <a:ext cx="875995" cy="219456"/>
          </a:xfrm>
          <a:prstGeom prst="roundRect">
            <a:avLst>
              <a:gd name="adj" fmla="val 36232"/>
            </a:avLst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6961327" y="1837944"/>
            <a:ext cx="78547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6B35"/>
                </a:solidFill>
                <a:latin typeface="Jetter" charset="0"/>
                <a:ea typeface="Jetter" charset="0"/>
                <a:cs typeface="Jetter" charset="0"/>
              </a:rPr>
              <a:t>SEMI-STRONG</a:t>
            </a:r>
            <a:endParaRPr lang="en-US" sz="800" dirty="0"/>
          </a:p>
        </p:txBody>
      </p:sp>
      <p:sp>
        <p:nvSpPr>
          <p:cNvPr id="49" name="Text 40"/>
          <p:cNvSpPr txBox="1"/>
          <p:nvPr/>
        </p:nvSpPr>
        <p:spPr>
          <a:xfrm>
            <a:off x="4442155" y="2143354"/>
            <a:ext cx="13240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LEVEL 02: ADVANCED</a:t>
            </a:r>
            <a:endParaRPr lang="en-US" sz="9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479646" y="2781605"/>
            <a:ext cx="152705" cy="15270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4785055" y="2686507"/>
            <a:ext cx="10479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INFO REFLECTED</a:t>
            </a:r>
            <a:endParaRPr lang="en-US" sz="900" dirty="0"/>
          </a:p>
        </p:txBody>
      </p:sp>
      <p:sp>
        <p:nvSpPr>
          <p:cNvPr id="52" name="Text 42"/>
          <p:cNvSpPr txBox="1"/>
          <p:nvPr/>
        </p:nvSpPr>
        <p:spPr>
          <a:xfrm>
            <a:off x="4785055" y="2838298"/>
            <a:ext cx="21003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所有公开信息 (财报、新闻、公告)</a:t>
            </a:r>
            <a:endParaRPr lang="en-US" sz="1000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8"/>
          <a:srcRect t="-43" b="-43"/>
          <a:stretch>
            <a:fillRect/>
          </a:stretch>
        </p:blipFill>
        <p:spPr>
          <a:xfrm>
            <a:off x="4489704" y="3276295"/>
            <a:ext cx="133502" cy="152705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4785055" y="3181198"/>
            <a:ext cx="10479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REACTION SPEED</a:t>
            </a:r>
            <a:endParaRPr lang="en-US" sz="900" dirty="0"/>
          </a:p>
        </p:txBody>
      </p:sp>
      <p:sp>
        <p:nvSpPr>
          <p:cNvPr id="55" name="Text 44"/>
          <p:cNvSpPr txBox="1"/>
          <p:nvPr/>
        </p:nvSpPr>
        <p:spPr>
          <a:xfrm>
            <a:off x="4785055" y="3333902"/>
            <a:ext cx="14337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价格迅速调整，无滞后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4442155" y="4038905"/>
            <a:ext cx="3314700" cy="761695"/>
          </a:xfrm>
          <a:prstGeom prst="rect">
            <a:avLst/>
          </a:prstGeom>
          <a:solidFill>
            <a:srgbClr val="0F172A">
              <a:alpha val="60000"/>
            </a:srgbClr>
          </a:solidFill>
        </p:spPr>
      </p:sp>
      <p:sp>
        <p:nvSpPr>
          <p:cNvPr id="57" name="Shape 46"/>
          <p:cNvSpPr/>
          <p:nvPr/>
        </p:nvSpPr>
        <p:spPr>
          <a:xfrm>
            <a:off x="4442155" y="4038905"/>
            <a:ext cx="19202" cy="761695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56455" y="4153205"/>
            <a:ext cx="114300" cy="114300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4746650" y="4123944"/>
            <a:ext cx="11338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INVALID STRATEGY</a:t>
            </a:r>
            <a:endParaRPr lang="en-US" sz="900" dirty="0"/>
          </a:p>
        </p:txBody>
      </p:sp>
      <p:sp>
        <p:nvSpPr>
          <p:cNvPr id="60" name="Text 48"/>
          <p:cNvSpPr txBox="1"/>
          <p:nvPr/>
        </p:nvSpPr>
        <p:spPr>
          <a:xfrm>
            <a:off x="4556455" y="4324198"/>
            <a:ext cx="14438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技术分析 + 基本面分析</a:t>
            </a:r>
            <a:endParaRPr lang="en-US" sz="1000" dirty="0"/>
          </a:p>
        </p:txBody>
      </p:sp>
      <p:sp>
        <p:nvSpPr>
          <p:cNvPr id="61" name="Text 49"/>
          <p:cNvSpPr txBox="1"/>
          <p:nvPr/>
        </p:nvSpPr>
        <p:spPr>
          <a:xfrm>
            <a:off x="4556455" y="4543654"/>
            <a:ext cx="12006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读财报选股难获Alpha</a:t>
            </a:r>
            <a:endParaRPr lang="en-US" sz="900" dirty="0"/>
          </a:p>
        </p:txBody>
      </p:sp>
      <p:sp>
        <p:nvSpPr>
          <p:cNvPr id="62" name="Shape 50"/>
          <p:cNvSpPr/>
          <p:nvPr/>
        </p:nvSpPr>
        <p:spPr>
          <a:xfrm>
            <a:off x="4442155" y="5238598"/>
            <a:ext cx="3314700" cy="571500"/>
          </a:xfrm>
          <a:prstGeom prst="rect">
            <a:avLst/>
          </a:prstGeom>
          <a:solidFill>
            <a:srgbClr val="0F172A">
              <a:alpha val="60000"/>
            </a:srgbClr>
          </a:solidFill>
        </p:spPr>
      </p:sp>
      <p:sp>
        <p:nvSpPr>
          <p:cNvPr id="63" name="Shape 51"/>
          <p:cNvSpPr/>
          <p:nvPr/>
        </p:nvSpPr>
        <p:spPr>
          <a:xfrm>
            <a:off x="4442155" y="5238598"/>
            <a:ext cx="19202" cy="571500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64" name="Image 10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56455" y="5352898"/>
            <a:ext cx="114300" cy="114300"/>
          </a:xfrm>
          <a:prstGeom prst="rect">
            <a:avLst/>
          </a:prstGeom>
        </p:spPr>
      </p:pic>
      <p:sp>
        <p:nvSpPr>
          <p:cNvPr id="65" name="Text 52"/>
          <p:cNvSpPr txBox="1"/>
          <p:nvPr/>
        </p:nvSpPr>
        <p:spPr>
          <a:xfrm>
            <a:off x="4746650" y="5324551"/>
            <a:ext cx="10104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VALID STRATEGY</a:t>
            </a:r>
            <a:endParaRPr lang="en-US" sz="900" dirty="0"/>
          </a:p>
        </p:txBody>
      </p:sp>
      <p:sp>
        <p:nvSpPr>
          <p:cNvPr id="66" name="Text 53"/>
          <p:cNvSpPr txBox="1"/>
          <p:nvPr/>
        </p:nvSpPr>
        <p:spPr>
          <a:xfrm>
            <a:off x="4556455" y="5524805"/>
            <a:ext cx="14246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内幕交易 (非法但有效)</a:t>
            </a:r>
            <a:endParaRPr lang="en-US" sz="1000" dirty="0"/>
          </a:p>
        </p:txBody>
      </p:sp>
      <p:pic>
        <p:nvPicPr>
          <p:cNvPr id="67" name="Image 11" descr="preencoded.png"/>
          <p:cNvPicPr>
            <a:picLocks noChangeAspect="1"/>
          </p:cNvPicPr>
          <p:nvPr/>
        </p:nvPicPr>
        <p:blipFill>
          <a:blip r:embed="rId9">
            <a:alphaModFix amt="10000"/>
          </a:blip>
          <a:srcRect/>
          <a:stretch>
            <a:fillRect/>
          </a:stretch>
        </p:blipFill>
        <p:spPr>
          <a:xfrm>
            <a:off x="6987845" y="5048402"/>
            <a:ext cx="761695" cy="761695"/>
          </a:xfrm>
          <a:prstGeom prst="rect">
            <a:avLst/>
          </a:prstGeom>
        </p:spPr>
      </p:pic>
      <p:sp>
        <p:nvSpPr>
          <p:cNvPr id="68" name="Shape 54"/>
          <p:cNvSpPr/>
          <p:nvPr/>
        </p:nvSpPr>
        <p:spPr>
          <a:xfrm>
            <a:off x="8178394" y="1600200"/>
            <a:ext cx="3715207" cy="4410151"/>
          </a:xfrm>
          <a:prstGeom prst="roundRect">
            <a:avLst>
              <a:gd name="adj" fmla="val 50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9" name="Shape 55"/>
          <p:cNvSpPr/>
          <p:nvPr/>
        </p:nvSpPr>
        <p:spPr>
          <a:xfrm>
            <a:off x="8188452" y="2486254"/>
            <a:ext cx="3696005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70" name="Shape 56"/>
          <p:cNvSpPr/>
          <p:nvPr/>
        </p:nvSpPr>
        <p:spPr>
          <a:xfrm>
            <a:off x="8188452" y="2467051"/>
            <a:ext cx="381305" cy="28346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71" name="Text 57"/>
          <p:cNvSpPr txBox="1"/>
          <p:nvPr/>
        </p:nvSpPr>
        <p:spPr>
          <a:xfrm>
            <a:off x="8378647" y="1790395"/>
            <a:ext cx="905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强式有效</a:t>
            </a:r>
            <a:endParaRPr lang="en-US" sz="1500" dirty="0"/>
          </a:p>
        </p:txBody>
      </p:sp>
      <p:sp>
        <p:nvSpPr>
          <p:cNvPr id="72" name="Shape 58"/>
          <p:cNvSpPr/>
          <p:nvPr/>
        </p:nvSpPr>
        <p:spPr>
          <a:xfrm>
            <a:off x="10812780" y="1800454"/>
            <a:ext cx="875995" cy="219456"/>
          </a:xfrm>
          <a:prstGeom prst="roundRect">
            <a:avLst>
              <a:gd name="adj" fmla="val 36232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3" name="Text 59"/>
          <p:cNvSpPr txBox="1"/>
          <p:nvPr/>
        </p:nvSpPr>
        <p:spPr>
          <a:xfrm>
            <a:off x="10897819" y="1837944"/>
            <a:ext cx="78547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Jetter" charset="0"/>
                <a:ea typeface="Jetter" charset="0"/>
                <a:cs typeface="Jetter" charset="0"/>
              </a:rPr>
              <a:t>STRONG-FORM</a:t>
            </a:r>
            <a:endParaRPr lang="en-US" sz="800" dirty="0"/>
          </a:p>
        </p:txBody>
      </p:sp>
      <p:sp>
        <p:nvSpPr>
          <p:cNvPr id="74" name="Text 60"/>
          <p:cNvSpPr txBox="1"/>
          <p:nvPr/>
        </p:nvSpPr>
        <p:spPr>
          <a:xfrm>
            <a:off x="8378647" y="2143354"/>
            <a:ext cx="18105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LEVEL 03: THEORETICAL MAX</a:t>
            </a:r>
            <a:endParaRPr lang="en-US" sz="900" dirty="0"/>
          </a:p>
        </p:txBody>
      </p:sp>
      <p:pic>
        <p:nvPicPr>
          <p:cNvPr id="75" name="Image 12" descr="preencoded.png"/>
          <p:cNvPicPr>
            <a:picLocks noChangeAspect="1"/>
          </p:cNvPicPr>
          <p:nvPr/>
        </p:nvPicPr>
        <p:blipFill>
          <a:blip r:embed="rId10"/>
          <a:srcRect l="-33" r="-33"/>
          <a:stretch>
            <a:fillRect/>
          </a:stretch>
        </p:blipFill>
        <p:spPr>
          <a:xfrm>
            <a:off x="8406994" y="2781605"/>
            <a:ext cx="171907" cy="152705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8721547" y="2686507"/>
            <a:ext cx="10479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INFO REFLECTED</a:t>
            </a:r>
            <a:endParaRPr lang="en-US" sz="900" dirty="0"/>
          </a:p>
        </p:txBody>
      </p:sp>
      <p:sp>
        <p:nvSpPr>
          <p:cNvPr id="77" name="Text 62"/>
          <p:cNvSpPr txBox="1"/>
          <p:nvPr/>
        </p:nvSpPr>
        <p:spPr>
          <a:xfrm>
            <a:off x="8721547" y="2838298"/>
            <a:ext cx="14337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所有信息 (公开 + 内幕)</a:t>
            </a:r>
            <a:endParaRPr lang="en-US" sz="1000" dirty="0"/>
          </a:p>
        </p:txBody>
      </p:sp>
      <p:pic>
        <p:nvPicPr>
          <p:cNvPr id="78" name="Image 13" descr="preencoded.png"/>
          <p:cNvPicPr>
            <a:picLocks noChangeAspect="1"/>
          </p:cNvPicPr>
          <p:nvPr/>
        </p:nvPicPr>
        <p:blipFill>
          <a:blip r:embed="rId11"/>
          <a:srcRect t="-43" b="-43"/>
          <a:stretch>
            <a:fillRect/>
          </a:stretch>
        </p:blipFill>
        <p:spPr>
          <a:xfrm>
            <a:off x="8426196" y="3276295"/>
            <a:ext cx="133502" cy="152705"/>
          </a:xfrm>
          <a:prstGeom prst="rect">
            <a:avLst/>
          </a:prstGeom>
        </p:spPr>
      </p:pic>
      <p:sp>
        <p:nvSpPr>
          <p:cNvPr id="79" name="Text 63"/>
          <p:cNvSpPr txBox="1"/>
          <p:nvPr/>
        </p:nvSpPr>
        <p:spPr>
          <a:xfrm>
            <a:off x="8721547" y="3181198"/>
            <a:ext cx="9811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REALITY CHECK</a:t>
            </a:r>
            <a:endParaRPr lang="en-US" sz="900" dirty="0"/>
          </a:p>
        </p:txBody>
      </p:sp>
      <p:sp>
        <p:nvSpPr>
          <p:cNvPr id="80" name="Text 64"/>
          <p:cNvSpPr txBox="1"/>
          <p:nvPr/>
        </p:nvSpPr>
        <p:spPr>
          <a:xfrm>
            <a:off x="8721547" y="3333902"/>
            <a:ext cx="11676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现实中几乎不存在</a:t>
            </a:r>
            <a:endParaRPr lang="en-US" sz="1000" dirty="0"/>
          </a:p>
        </p:txBody>
      </p:sp>
      <p:sp>
        <p:nvSpPr>
          <p:cNvPr id="81" name="Shape 65"/>
          <p:cNvSpPr/>
          <p:nvPr/>
        </p:nvSpPr>
        <p:spPr>
          <a:xfrm>
            <a:off x="8378647" y="4038905"/>
            <a:ext cx="3314700" cy="761695"/>
          </a:xfrm>
          <a:prstGeom prst="rect">
            <a:avLst/>
          </a:prstGeom>
          <a:solidFill>
            <a:srgbClr val="0F172A">
              <a:alpha val="60000"/>
            </a:srgbClr>
          </a:solidFill>
        </p:spPr>
      </p:sp>
      <p:sp>
        <p:nvSpPr>
          <p:cNvPr id="82" name="Shape 66"/>
          <p:cNvSpPr/>
          <p:nvPr/>
        </p:nvSpPr>
        <p:spPr>
          <a:xfrm>
            <a:off x="8378647" y="4038905"/>
            <a:ext cx="19202" cy="761695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83" name="Image 1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92947" y="4153205"/>
            <a:ext cx="114300" cy="114300"/>
          </a:xfrm>
          <a:prstGeom prst="rect">
            <a:avLst/>
          </a:prstGeom>
        </p:spPr>
      </p:pic>
      <p:sp>
        <p:nvSpPr>
          <p:cNvPr id="84" name="Text 67"/>
          <p:cNvSpPr txBox="1"/>
          <p:nvPr/>
        </p:nvSpPr>
        <p:spPr>
          <a:xfrm>
            <a:off x="8683142" y="4123944"/>
            <a:ext cx="11338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INVALID STRATEGY</a:t>
            </a:r>
            <a:endParaRPr lang="en-US" sz="900" dirty="0"/>
          </a:p>
        </p:txBody>
      </p:sp>
      <p:sp>
        <p:nvSpPr>
          <p:cNvPr id="85" name="Text 68"/>
          <p:cNvSpPr txBox="1"/>
          <p:nvPr/>
        </p:nvSpPr>
        <p:spPr>
          <a:xfrm>
            <a:off x="8492947" y="4324198"/>
            <a:ext cx="11676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一切主动分析策略</a:t>
            </a:r>
            <a:endParaRPr lang="en-US" sz="1000" dirty="0"/>
          </a:p>
        </p:txBody>
      </p:sp>
      <p:sp>
        <p:nvSpPr>
          <p:cNvPr id="86" name="Text 69"/>
          <p:cNvSpPr txBox="1"/>
          <p:nvPr/>
        </p:nvSpPr>
        <p:spPr>
          <a:xfrm>
            <a:off x="8492947" y="4543654"/>
            <a:ext cx="15819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没有任何方法能长期战胜市场</a:t>
            </a:r>
            <a:endParaRPr lang="en-US" sz="900" dirty="0"/>
          </a:p>
        </p:txBody>
      </p:sp>
      <p:sp>
        <p:nvSpPr>
          <p:cNvPr id="87" name="Shape 70"/>
          <p:cNvSpPr/>
          <p:nvPr/>
        </p:nvSpPr>
        <p:spPr>
          <a:xfrm>
            <a:off x="8378647" y="5238598"/>
            <a:ext cx="3314700" cy="571500"/>
          </a:xfrm>
          <a:prstGeom prst="rect">
            <a:avLst/>
          </a:prstGeom>
          <a:solidFill>
            <a:srgbClr val="0F172A">
              <a:alpha val="60000"/>
            </a:srgbClr>
          </a:solidFill>
        </p:spPr>
      </p:sp>
      <p:sp>
        <p:nvSpPr>
          <p:cNvPr id="88" name="Shape 71"/>
          <p:cNvSpPr/>
          <p:nvPr/>
        </p:nvSpPr>
        <p:spPr>
          <a:xfrm>
            <a:off x="8378647" y="5238598"/>
            <a:ext cx="19202" cy="571500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89" name="Image 15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492947" y="5352898"/>
            <a:ext cx="114300" cy="114300"/>
          </a:xfrm>
          <a:prstGeom prst="rect">
            <a:avLst/>
          </a:prstGeom>
        </p:spPr>
      </p:pic>
      <p:sp>
        <p:nvSpPr>
          <p:cNvPr id="90" name="Text 72"/>
          <p:cNvSpPr txBox="1"/>
          <p:nvPr/>
        </p:nvSpPr>
        <p:spPr>
          <a:xfrm>
            <a:off x="8683142" y="5324551"/>
            <a:ext cx="6483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ONLY WAY</a:t>
            </a:r>
            <a:endParaRPr lang="en-US" sz="900" dirty="0"/>
          </a:p>
        </p:txBody>
      </p:sp>
      <p:sp>
        <p:nvSpPr>
          <p:cNvPr id="91" name="Text 73"/>
          <p:cNvSpPr txBox="1"/>
          <p:nvPr/>
        </p:nvSpPr>
        <p:spPr>
          <a:xfrm>
            <a:off x="8492947" y="5524805"/>
            <a:ext cx="10149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运气 / 随机漫步</a:t>
            </a:r>
            <a:endParaRPr lang="en-US" sz="1000" dirty="0"/>
          </a:p>
        </p:txBody>
      </p:sp>
      <p:pic>
        <p:nvPicPr>
          <p:cNvPr id="92" name="Image 16" descr="preencoded.png"/>
          <p:cNvPicPr>
            <a:picLocks noChangeAspect="1"/>
          </p:cNvPicPr>
          <p:nvPr/>
        </p:nvPicPr>
        <p:blipFill>
          <a:blip r:embed="rId13">
            <a:alphaModFix amt="10000"/>
          </a:blip>
          <a:srcRect/>
          <a:stretch>
            <a:fillRect/>
          </a:stretch>
        </p:blipFill>
        <p:spPr>
          <a:xfrm>
            <a:off x="10735056" y="4858207"/>
            <a:ext cx="952805" cy="952805"/>
          </a:xfrm>
          <a:prstGeom prst="rect">
            <a:avLst/>
          </a:prstGeom>
        </p:spPr>
      </p:pic>
      <p:sp>
        <p:nvSpPr>
          <p:cNvPr id="93" name="Shape 74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94" name="Text 75"/>
          <p:cNvSpPr txBox="1"/>
          <p:nvPr/>
        </p:nvSpPr>
        <p:spPr>
          <a:xfrm>
            <a:off x="418795" y="138074"/>
            <a:ext cx="290047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06 // MARKET EFFICIENCY LEVELS</a:t>
            </a:r>
            <a:endParaRPr lang="en-US" sz="1000" dirty="0"/>
          </a:p>
        </p:txBody>
      </p:sp>
      <p:sp>
        <p:nvSpPr>
          <p:cNvPr id="95" name="Text 76"/>
          <p:cNvSpPr txBox="1"/>
          <p:nvPr/>
        </p:nvSpPr>
        <p:spPr>
          <a:xfrm>
            <a:off x="10042855" y="138074"/>
            <a:ext cx="202448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COMPARISON_MODE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495" y="1485900"/>
            <a:ext cx="3781044" cy="1371600"/>
          </a:xfrm>
          <a:prstGeom prst="roundRect">
            <a:avLst>
              <a:gd name="adj" fmla="val 3704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48940" y="1647749"/>
            <a:ext cx="981151" cy="228600"/>
          </a:xfrm>
          <a:prstGeom prst="roundRect">
            <a:avLst>
              <a:gd name="adj" fmla="val 66667"/>
            </a:avLst>
          </a:prstGeom>
          <a:solidFill>
            <a:srgbClr val="064E3B"/>
          </a:solidFill>
        </p:spPr>
      </p:sp>
      <p:sp>
        <p:nvSpPr>
          <p:cNvPr id="7" name="Shape 4"/>
          <p:cNvSpPr/>
          <p:nvPr/>
        </p:nvSpPr>
        <p:spPr>
          <a:xfrm>
            <a:off x="466344" y="2371954"/>
            <a:ext cx="3457346" cy="57607"/>
          </a:xfrm>
          <a:prstGeom prst="roundRect">
            <a:avLst>
              <a:gd name="adj" fmla="val 793654"/>
            </a:avLst>
          </a:prstGeom>
          <a:solidFill>
            <a:srgbClr val="334155"/>
          </a:solidFill>
        </p:spPr>
      </p:sp>
      <p:sp>
        <p:nvSpPr>
          <p:cNvPr id="8" name="Shape 5"/>
          <p:cNvSpPr/>
          <p:nvPr/>
        </p:nvSpPr>
        <p:spPr>
          <a:xfrm>
            <a:off x="466344" y="2371954"/>
            <a:ext cx="2943454" cy="57607"/>
          </a:xfrm>
          <a:prstGeom prst="roundRect">
            <a:avLst>
              <a:gd name="adj" fmla="val 793654"/>
            </a:avLst>
          </a:prstGeom>
          <a:solidFill>
            <a:srgbClr val="10B981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6344" y="2581351"/>
            <a:ext cx="114300" cy="1143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04495" y="3010205"/>
            <a:ext cx="3781044" cy="1371600"/>
          </a:xfrm>
          <a:prstGeom prst="roundRect">
            <a:avLst>
              <a:gd name="adj" fmla="val 3704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360420" y="3172054"/>
            <a:ext cx="571500" cy="228600"/>
          </a:xfrm>
          <a:prstGeom prst="roundRect">
            <a:avLst>
              <a:gd name="adj" fmla="val 66667"/>
            </a:avLst>
          </a:prstGeom>
          <a:solidFill>
            <a:srgbClr val="78350F"/>
          </a:solidFill>
        </p:spPr>
      </p:sp>
      <p:sp>
        <p:nvSpPr>
          <p:cNvPr id="12" name="Shape 8"/>
          <p:cNvSpPr/>
          <p:nvPr/>
        </p:nvSpPr>
        <p:spPr>
          <a:xfrm>
            <a:off x="466344" y="3895344"/>
            <a:ext cx="3457346" cy="57607"/>
          </a:xfrm>
          <a:prstGeom prst="roundRect">
            <a:avLst>
              <a:gd name="adj" fmla="val 793654"/>
            </a:avLst>
          </a:prstGeom>
          <a:solidFill>
            <a:srgbClr val="334155"/>
          </a:solidFill>
        </p:spPr>
      </p:sp>
      <p:sp>
        <p:nvSpPr>
          <p:cNvPr id="13" name="Shape 9"/>
          <p:cNvSpPr/>
          <p:nvPr/>
        </p:nvSpPr>
        <p:spPr>
          <a:xfrm>
            <a:off x="466344" y="3895344"/>
            <a:ext cx="1561795" cy="57607"/>
          </a:xfrm>
          <a:prstGeom prst="roundRect">
            <a:avLst>
              <a:gd name="adj" fmla="val 793654"/>
            </a:avLst>
          </a:prstGeom>
          <a:solidFill>
            <a:srgbClr val="F59E0B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6344" y="4105656"/>
            <a:ext cx="114300" cy="1143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04495" y="4533595"/>
            <a:ext cx="3781044" cy="1371600"/>
          </a:xfrm>
          <a:prstGeom prst="roundRect">
            <a:avLst>
              <a:gd name="adj" fmla="val 3704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017520" y="4695444"/>
            <a:ext cx="914400" cy="228600"/>
          </a:xfrm>
          <a:prstGeom prst="roundRect">
            <a:avLst>
              <a:gd name="adj" fmla="val 66667"/>
            </a:avLst>
          </a:prstGeom>
          <a:solidFill>
            <a:srgbClr val="7F1D1D"/>
          </a:solidFill>
        </p:spPr>
      </p:sp>
      <p:sp>
        <p:nvSpPr>
          <p:cNvPr id="17" name="Shape 12"/>
          <p:cNvSpPr/>
          <p:nvPr/>
        </p:nvSpPr>
        <p:spPr>
          <a:xfrm>
            <a:off x="466344" y="5419649"/>
            <a:ext cx="3457346" cy="57607"/>
          </a:xfrm>
          <a:prstGeom prst="roundRect">
            <a:avLst>
              <a:gd name="adj" fmla="val 793654"/>
            </a:avLst>
          </a:prstGeom>
          <a:solidFill>
            <a:srgbClr val="334155"/>
          </a:solidFill>
        </p:spPr>
      </p:sp>
      <p:sp>
        <p:nvSpPr>
          <p:cNvPr id="18" name="Shape 13"/>
          <p:cNvSpPr/>
          <p:nvPr/>
        </p:nvSpPr>
        <p:spPr>
          <a:xfrm>
            <a:off x="466344" y="5419649"/>
            <a:ext cx="523951" cy="57607"/>
          </a:xfrm>
          <a:prstGeom prst="roundRect">
            <a:avLst>
              <a:gd name="adj" fmla="val 793654"/>
            </a:avLst>
          </a:prstGeom>
          <a:solidFill>
            <a:srgbClr val="EF4444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rcRect l="-2571" r="-2571"/>
          <a:stretch>
            <a:fillRect/>
          </a:stretch>
        </p:blipFill>
        <p:spPr>
          <a:xfrm>
            <a:off x="466344" y="5629046"/>
            <a:ext cx="105156" cy="1143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315054" y="4419295"/>
            <a:ext cx="3676802" cy="18288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922569" y="47621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78931" y="4895698"/>
            <a:ext cx="142646" cy="19019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8214970" y="4419295"/>
            <a:ext cx="3676802" cy="18288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8376818" y="5038344"/>
            <a:ext cx="3353105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25" name="Shape 18"/>
          <p:cNvSpPr/>
          <p:nvPr/>
        </p:nvSpPr>
        <p:spPr>
          <a:xfrm>
            <a:off x="8376818" y="5391302"/>
            <a:ext cx="3353105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26" name="Text 19"/>
          <p:cNvSpPr txBox="1"/>
          <p:nvPr/>
        </p:nvSpPr>
        <p:spPr>
          <a:xfrm>
            <a:off x="304495" y="761695"/>
            <a:ext cx="177210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MARKET CLASSIFICATION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304495" y="933602"/>
            <a:ext cx="22293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全球市场有效性对照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66344" y="1657807"/>
            <a:ext cx="11576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发达成熟市场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466344" y="1914754"/>
            <a:ext cx="19431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US / UK / DE (e.g. S&amp;P 500)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3024835" y="1686154"/>
            <a:ext cx="9144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Jetter" charset="0"/>
                <a:ea typeface="Jetter" charset="0"/>
                <a:cs typeface="Jetter" charset="0"/>
              </a:rPr>
              <a:t>~SEMI-STRONG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466344" y="2171700"/>
            <a:ext cx="9244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Efficiency Score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3513125" y="2180844"/>
            <a:ext cx="5056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Jetter" charset="0"/>
                <a:ea typeface="Jetter" charset="0"/>
                <a:cs typeface="Jetter" charset="0"/>
              </a:rPr>
              <a:t>85/100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657454" y="2533802"/>
            <a:ext cx="25813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绝大多数主动基金长期跑不赢指数(Net Alpha≈0)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466344" y="3181198"/>
            <a:ext cx="8147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新兴市场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466344" y="3438144"/>
            <a:ext cx="16002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CN (A-Share) / IN / BR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3436315" y="3209544"/>
            <a:ext cx="5056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D34D"/>
                </a:solidFill>
                <a:latin typeface="Jetter" charset="0"/>
                <a:ea typeface="Jetter" charset="0"/>
                <a:cs typeface="Jetter" charset="0"/>
              </a:rPr>
              <a:t>~WEAK+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466344" y="3696005"/>
            <a:ext cx="9244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Efficiency Score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3513125" y="3705149"/>
            <a:ext cx="5056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ter" charset="0"/>
                <a:ea typeface="Jetter" charset="0"/>
                <a:cs typeface="Jetter" charset="0"/>
              </a:rPr>
              <a:t>45/100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657454" y="4058107"/>
            <a:ext cx="27249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弱式部分成立，半强式不足；公开信息存在套利空间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466344" y="4705502"/>
            <a:ext cx="146212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小盘/冷门/低流动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466344" y="4962449"/>
            <a:ext cx="18772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Small Cap / Private Equity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3093415" y="4733849"/>
            <a:ext cx="8485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A5A5"/>
                </a:solidFill>
                <a:latin typeface="Jetter" charset="0"/>
                <a:ea typeface="Jetter" charset="0"/>
                <a:cs typeface="Jetter" charset="0"/>
              </a:rPr>
              <a:t>INEFFICIENT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466344" y="5219395"/>
            <a:ext cx="9244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Efficiency Score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3513125" y="5229454"/>
            <a:ext cx="5056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ter" charset="0"/>
                <a:ea typeface="Jetter" charset="0"/>
                <a:cs typeface="Jetter" charset="0"/>
              </a:rPr>
              <a:t>15/100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647395" y="5581498"/>
            <a:ext cx="22677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连弱式都不满足，价格更新慢，极易被操纵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5613502" y="5333695"/>
            <a:ext cx="11914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微小无效 = 机会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4664354" y="5591556"/>
            <a:ext cx="30678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市场大致有效但不完美，正是那些微小的无效构成了投资的机会与风险。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8376818" y="4581144"/>
            <a:ext cx="14676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STRATEGY IMPLICATION</a:t>
            </a:r>
            <a:endParaRPr lang="en-US" sz="900" dirty="0"/>
          </a:p>
        </p:txBody>
      </p:sp>
      <p:sp>
        <p:nvSpPr>
          <p:cNvPr id="49" name="Text 42"/>
          <p:cNvSpPr txBox="1"/>
          <p:nvPr/>
        </p:nvSpPr>
        <p:spPr>
          <a:xfrm>
            <a:off x="8376818" y="4800600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发达市场</a:t>
            </a:r>
            <a:endParaRPr lang="en-US" sz="900" dirty="0"/>
          </a:p>
        </p:txBody>
      </p:sp>
      <p:sp>
        <p:nvSpPr>
          <p:cNvPr id="50" name="Text 43"/>
          <p:cNvSpPr txBox="1"/>
          <p:nvPr/>
        </p:nvSpPr>
        <p:spPr>
          <a:xfrm>
            <a:off x="10833811" y="4809744"/>
            <a:ext cx="9811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Jetter" charset="0"/>
                <a:ea typeface="Jetter" charset="0"/>
                <a:cs typeface="Jetter" charset="0"/>
              </a:rPr>
              <a:t>PASSIVE (ETF)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8376818" y="5152644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A股/新兴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10902391" y="5162702"/>
            <a:ext cx="9144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ter" charset="0"/>
                <a:ea typeface="Jetter" charset="0"/>
                <a:cs typeface="Jetter" charset="0"/>
              </a:rPr>
              <a:t>ACTIVE ALPHA</a:t>
            </a:r>
            <a:endParaRPr lang="en-US" sz="900" dirty="0"/>
          </a:p>
        </p:txBody>
      </p:sp>
      <p:sp>
        <p:nvSpPr>
          <p:cNvPr id="53" name="Text 46"/>
          <p:cNvSpPr txBox="1"/>
          <p:nvPr/>
        </p:nvSpPr>
        <p:spPr>
          <a:xfrm>
            <a:off x="8376818" y="5505602"/>
            <a:ext cx="5907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冷门/小盘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10765231" y="5514746"/>
            <a:ext cx="10479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ter" charset="0"/>
                <a:ea typeface="Jetter" charset="0"/>
                <a:cs typeface="Jetter" charset="0"/>
              </a:rPr>
              <a:t>INFO ARBITRAGE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4315054" y="761695"/>
            <a:ext cx="7572146" cy="34290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5"/>
          <a:srcRect t="-3" b="-3"/>
          <a:stretch>
            <a:fillRect/>
          </a:stretch>
        </p:blipFill>
        <p:spPr>
          <a:xfrm>
            <a:off x="4476902" y="923544"/>
            <a:ext cx="7248449" cy="3105302"/>
          </a:xfrm>
          <a:prstGeom prst="rect">
            <a:avLst/>
          </a:prstGeom>
        </p:spPr>
      </p:pic>
      <p:sp>
        <p:nvSpPr>
          <p:cNvPr id="57" name="Text 49"/>
          <p:cNvSpPr txBox="1"/>
          <p:nvPr/>
        </p:nvSpPr>
        <p:spPr>
          <a:xfrm>
            <a:off x="4476902" y="923544"/>
            <a:ext cx="32488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FIG.2.1: ACTIVE FUND OUTPERFORMANCE RATE (5YR)</a:t>
            </a:r>
            <a:endParaRPr lang="en-US" sz="900" dirty="0"/>
          </a:p>
        </p:txBody>
      </p:sp>
      <p:sp>
        <p:nvSpPr>
          <p:cNvPr id="58" name="Text 50"/>
          <p:cNvSpPr txBox="1"/>
          <p:nvPr/>
        </p:nvSpPr>
        <p:spPr>
          <a:xfrm>
            <a:off x="4476902" y="1076249"/>
            <a:ext cx="14337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主动基金跑赢指数比例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60" name="Text 52"/>
          <p:cNvSpPr txBox="1"/>
          <p:nvPr/>
        </p:nvSpPr>
        <p:spPr>
          <a:xfrm>
            <a:off x="418795" y="138074"/>
            <a:ext cx="290047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07 // GLOBAL MARKET EFFICIENCY</a:t>
            </a:r>
            <a:endParaRPr lang="en-US" sz="1000" dirty="0"/>
          </a:p>
        </p:txBody>
      </p:sp>
      <p:sp>
        <p:nvSpPr>
          <p:cNvPr id="61" name="Text 53"/>
          <p:cNvSpPr txBox="1"/>
          <p:nvPr/>
        </p:nvSpPr>
        <p:spPr>
          <a:xfrm>
            <a:off x="9803282" y="138074"/>
            <a:ext cx="226222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DATA_VISUALIZATION</a:t>
            </a:r>
            <a:endParaRPr lang="en-US" sz="1000" dirty="0"/>
          </a:p>
        </p:txBody>
      </p:sp>
      <p:sp>
        <p:nvSpPr>
          <p:cNvPr id="62" name="Shape 54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63" name="Image 6" descr="preencoded.png"/>
          <p:cNvPicPr>
            <a:picLocks noChangeAspect="1"/>
          </p:cNvPicPr>
          <p:nvPr/>
        </p:nvPicPr>
        <p:blipFill>
          <a:blip r:embed="rId6"/>
          <a:srcRect l="-2571" r="-2571"/>
          <a:stretch>
            <a:fillRect/>
          </a:stretch>
        </p:blipFill>
        <p:spPr>
          <a:xfrm>
            <a:off x="228600" y="6648602"/>
            <a:ext cx="105156" cy="114300"/>
          </a:xfrm>
          <a:prstGeom prst="rect">
            <a:avLst/>
          </a:prstGeom>
        </p:spPr>
      </p:pic>
      <p:sp>
        <p:nvSpPr>
          <p:cNvPr id="64" name="Text 55"/>
          <p:cNvSpPr txBox="1"/>
          <p:nvPr/>
        </p:nvSpPr>
        <p:spPr>
          <a:xfrm>
            <a:off x="371246" y="6633972"/>
            <a:ext cx="29718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DATA SOURCE: SPIVA SCORECARD / MORNINGSTAR</a:t>
            </a:r>
            <a:endParaRPr lang="en-US" sz="900" dirty="0"/>
          </a:p>
        </p:txBody>
      </p:sp>
      <p:sp>
        <p:nvSpPr>
          <p:cNvPr id="65" name="Text 56"/>
          <p:cNvSpPr txBox="1"/>
          <p:nvPr/>
        </p:nvSpPr>
        <p:spPr>
          <a:xfrm>
            <a:off x="9837115" y="6633972"/>
            <a:ext cx="22201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MODEL: MARKET_EFFICIENCY_MAP_V1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495" y="1485900"/>
            <a:ext cx="3781044" cy="1123798"/>
          </a:xfrm>
          <a:prstGeom prst="roundRect">
            <a:avLst>
              <a:gd name="adj" fmla="val 551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rcRect t="-180" b="-180"/>
          <a:stretch>
            <a:fillRect/>
          </a:stretch>
        </p:blipFill>
        <p:spPr>
          <a:xfrm>
            <a:off x="3733495" y="1647749"/>
            <a:ext cx="190195" cy="152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4495" y="2762402"/>
            <a:ext cx="3781044" cy="1485900"/>
          </a:xfrm>
          <a:prstGeom prst="roundRect">
            <a:avLst>
              <a:gd name="adj" fmla="val 315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71900" y="2924251"/>
            <a:ext cx="152705" cy="1527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66344" y="4028846"/>
            <a:ext cx="3457346" cy="57607"/>
          </a:xfrm>
          <a:prstGeom prst="roundRect">
            <a:avLst>
              <a:gd name="adj" fmla="val 793654"/>
            </a:avLst>
          </a:prstGeom>
          <a:solidFill>
            <a:srgbClr val="334155"/>
          </a:solidFill>
        </p:spPr>
      </p:sp>
      <p:sp>
        <p:nvSpPr>
          <p:cNvPr id="10" name="Shape 5"/>
          <p:cNvSpPr/>
          <p:nvPr/>
        </p:nvSpPr>
        <p:spPr>
          <a:xfrm>
            <a:off x="304495" y="4401007"/>
            <a:ext cx="3781044" cy="1848002"/>
          </a:xfrm>
          <a:prstGeom prst="roundRect">
            <a:avLst>
              <a:gd name="adj" fmla="val 204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66344" y="4957877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EF4444"/>
          </a:solidFill>
        </p:spPr>
      </p:sp>
      <p:sp>
        <p:nvSpPr>
          <p:cNvPr id="12" name="Shape 7"/>
          <p:cNvSpPr/>
          <p:nvPr/>
        </p:nvSpPr>
        <p:spPr>
          <a:xfrm>
            <a:off x="466344" y="522488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F59E0B"/>
          </a:solidFill>
        </p:spPr>
      </p:sp>
      <p:sp>
        <p:nvSpPr>
          <p:cNvPr id="13" name="Shape 8"/>
          <p:cNvSpPr/>
          <p:nvPr/>
        </p:nvSpPr>
        <p:spPr>
          <a:xfrm>
            <a:off x="466344" y="549097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0B981"/>
          </a:solidFill>
        </p:spPr>
      </p:sp>
      <p:sp>
        <p:nvSpPr>
          <p:cNvPr id="14" name="Shape 9"/>
          <p:cNvSpPr/>
          <p:nvPr/>
        </p:nvSpPr>
        <p:spPr>
          <a:xfrm>
            <a:off x="466344" y="5757977"/>
            <a:ext cx="3457346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15" name="Shape 10"/>
          <p:cNvSpPr/>
          <p:nvPr/>
        </p:nvSpPr>
        <p:spPr>
          <a:xfrm>
            <a:off x="4315054" y="4153205"/>
            <a:ext cx="3676802" cy="2095805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76902" y="4334256"/>
            <a:ext cx="152705" cy="15270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45682" y="4695444"/>
            <a:ext cx="9144" cy="304495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18" name="Shape 12"/>
          <p:cNvSpPr/>
          <p:nvPr/>
        </p:nvSpPr>
        <p:spPr>
          <a:xfrm>
            <a:off x="8214970" y="4153205"/>
            <a:ext cx="3676802" cy="2095805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76818" y="4334256"/>
            <a:ext cx="152705" cy="15270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376818" y="4619549"/>
            <a:ext cx="28346" cy="3429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21" name="Shape 14"/>
          <p:cNvSpPr/>
          <p:nvPr/>
        </p:nvSpPr>
        <p:spPr>
          <a:xfrm>
            <a:off x="8376818" y="5076749"/>
            <a:ext cx="28346" cy="3429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22" name="Shape 15"/>
          <p:cNvSpPr/>
          <p:nvPr/>
        </p:nvSpPr>
        <p:spPr>
          <a:xfrm>
            <a:off x="8376818" y="5533949"/>
            <a:ext cx="28346" cy="3429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23" name="Text 16"/>
          <p:cNvSpPr txBox="1"/>
          <p:nvPr/>
        </p:nvSpPr>
        <p:spPr>
          <a:xfrm>
            <a:off x="304495" y="761695"/>
            <a:ext cx="13716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MARKET STRUCTURE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304495" y="933602"/>
            <a:ext cx="2610612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A股结构画像：散户主导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466344" y="1657807"/>
            <a:ext cx="154807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Jetter" charset="0"/>
                <a:ea typeface="Jetter" charset="0"/>
                <a:cs typeface="Jetter" charset="0"/>
              </a:rPr>
              <a:t>TOTAL RETAIL ACCTS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466344" y="1895551"/>
            <a:ext cx="118597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~2.4亿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466344" y="2286000"/>
            <a:ext cx="14200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占A股总交易账户99%以上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466344" y="2933395"/>
            <a:ext cx="162488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Jetter" charset="0"/>
                <a:ea typeface="Jetter" charset="0"/>
                <a:cs typeface="Jetter" charset="0"/>
              </a:rPr>
              <a:t>VOLUME CONTRIBUTION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66344" y="3172054"/>
            <a:ext cx="1243584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60-70%</a:t>
            </a:r>
            <a:endParaRPr lang="en-US" sz="2200" dirty="0"/>
          </a:p>
        </p:txBody>
      </p:sp>
      <p:sp>
        <p:nvSpPr>
          <p:cNvPr id="30" name="Text 23"/>
          <p:cNvSpPr txBox="1"/>
          <p:nvPr/>
        </p:nvSpPr>
        <p:spPr>
          <a:xfrm>
            <a:off x="466344" y="3562502"/>
            <a:ext cx="21433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散户贡献主要流动性 (高频交易者占30%)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466344" y="3829507"/>
            <a:ext cx="8193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Retail Volume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3718865" y="3838651"/>
            <a:ext cx="2953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65%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466344" y="4624121"/>
            <a:ext cx="162488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Jetter" charset="0"/>
                <a:ea typeface="Jetter" charset="0"/>
                <a:cs typeface="Jetter" charset="0"/>
              </a:rPr>
              <a:t>WEALTH DISTRIBUTION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619049" y="4910328"/>
            <a:ext cx="8001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&lt;50万 (Small)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3718865" y="4919472"/>
            <a:ext cx="2953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90%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619049" y="5176418"/>
            <a:ext cx="8577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50-100万 (Mid)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3787445" y="5186477"/>
            <a:ext cx="2286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7%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619049" y="5443423"/>
            <a:ext cx="10195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&gt;100万 (High Net)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3787445" y="5453482"/>
            <a:ext cx="2286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3%</a:t>
            </a:r>
            <a:endParaRPr lang="en-US" sz="9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6344" y="5905195"/>
            <a:ext cx="114300" cy="1143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619049" y="5872277"/>
            <a:ext cx="18672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3%的高净值账户贡献超50%的盈利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4705502" y="4315054"/>
            <a:ext cx="11676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2025H1 收益分析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4533595" y="4610405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年化亏损率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4476902" y="4819802"/>
            <a:ext cx="829361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Jetter" charset="0"/>
                <a:ea typeface="Jetter" charset="0"/>
                <a:cs typeface="Jetter" charset="0"/>
              </a:rPr>
              <a:t>-23.6%</a:t>
            </a:r>
            <a:endParaRPr lang="en-US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7138721" y="4610405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盈利账户占比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7195414" y="4819802"/>
            <a:ext cx="715061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Jetter" charset="0"/>
                <a:ea typeface="Jetter" charset="0"/>
                <a:cs typeface="Jetter" charset="0"/>
              </a:rPr>
              <a:t>18.9%</a:t>
            </a:r>
            <a:endParaRPr lang="en-US" sz="1500" dirty="0"/>
          </a:p>
        </p:txBody>
      </p:sp>
      <p:sp>
        <p:nvSpPr>
          <p:cNvPr id="47" name="Text 39"/>
          <p:cNvSpPr txBox="1"/>
          <p:nvPr/>
        </p:nvSpPr>
        <p:spPr>
          <a:xfrm>
            <a:off x="4476902" y="5238598"/>
            <a:ext cx="3343961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散户呈现显著的“高换手、低收益”特征，交易频率是机构的3-5倍，但频繁交易反而侵蚀了本金。</a:t>
            </a:r>
            <a:endParaRPr lang="en-US" sz="900" dirty="0"/>
          </a:p>
        </p:txBody>
      </p:sp>
      <p:sp>
        <p:nvSpPr>
          <p:cNvPr id="48" name="Text 40"/>
          <p:cNvSpPr txBox="1"/>
          <p:nvPr/>
        </p:nvSpPr>
        <p:spPr>
          <a:xfrm>
            <a:off x="8605418" y="4315054"/>
            <a:ext cx="10341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认知与研究劣势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8520379" y="4610405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信息获取滞后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8520379" y="4800600"/>
            <a:ext cx="20766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依赖公开新闻/自媒体，处于信息链末端</a:t>
            </a:r>
            <a:endParaRPr lang="en-US" sz="900" dirty="0"/>
          </a:p>
        </p:txBody>
      </p:sp>
      <p:sp>
        <p:nvSpPr>
          <p:cNvPr id="51" name="Text 43"/>
          <p:cNvSpPr txBox="1"/>
          <p:nvPr/>
        </p:nvSpPr>
        <p:spPr>
          <a:xfrm>
            <a:off x="8520379" y="5067605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研究深度不足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8520379" y="5257800"/>
            <a:ext cx="2039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缺乏基本面与估值模型，易受情绪驱动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8520379" y="5524805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交易纪律缺失</a:t>
            </a:r>
            <a:endParaRPr lang="en-US" sz="900" dirty="0"/>
          </a:p>
        </p:txBody>
      </p:sp>
      <p:sp>
        <p:nvSpPr>
          <p:cNvPr id="54" name="Text 46"/>
          <p:cNvSpPr txBox="1"/>
          <p:nvPr/>
        </p:nvSpPr>
        <p:spPr>
          <a:xfrm>
            <a:off x="8520379" y="5715000"/>
            <a:ext cx="1924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追涨杀跌，缺乏止损与仓位管理系统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4315054" y="761695"/>
            <a:ext cx="7572146" cy="3161995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6"/>
          <a:srcRect l="-2" r="-2"/>
          <a:stretch>
            <a:fillRect/>
          </a:stretch>
        </p:blipFill>
        <p:spPr>
          <a:xfrm>
            <a:off x="4476902" y="923544"/>
            <a:ext cx="7248449" cy="2838298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4476902" y="923544"/>
            <a:ext cx="32488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FIG.8.1: RETAIL TRADING BEHAVIOR &amp; PERFORMANCE</a:t>
            </a:r>
            <a:endParaRPr lang="en-US" sz="900" dirty="0"/>
          </a:p>
        </p:txBody>
      </p:sp>
      <p:sp>
        <p:nvSpPr>
          <p:cNvPr id="58" name="Text 49"/>
          <p:cNvSpPr txBox="1"/>
          <p:nvPr/>
        </p:nvSpPr>
        <p:spPr>
          <a:xfrm>
            <a:off x="4476902" y="1076249"/>
            <a:ext cx="15672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交易活跃度与收益率错配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60" name="Text 51"/>
          <p:cNvSpPr txBox="1"/>
          <p:nvPr/>
        </p:nvSpPr>
        <p:spPr>
          <a:xfrm>
            <a:off x="418795" y="138074"/>
            <a:ext cx="290047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08 // A-SHARE INVESTOR PROFILE</a:t>
            </a:r>
            <a:endParaRPr lang="en-US" sz="1000" dirty="0"/>
          </a:p>
        </p:txBody>
      </p:sp>
      <p:sp>
        <p:nvSpPr>
          <p:cNvPr id="61" name="Text 52"/>
          <p:cNvSpPr txBox="1"/>
          <p:nvPr/>
        </p:nvSpPr>
        <p:spPr>
          <a:xfrm>
            <a:off x="9882835" y="138074"/>
            <a:ext cx="218633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ANALYSIS_COMPLETE</a:t>
            </a:r>
            <a:endParaRPr lang="en-US" sz="1000" dirty="0"/>
          </a:p>
        </p:txBody>
      </p:sp>
      <p:sp>
        <p:nvSpPr>
          <p:cNvPr id="62" name="Shape 53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7"/>
          <a:srcRect l="-2571" r="-2571"/>
          <a:stretch>
            <a:fillRect/>
          </a:stretch>
        </p:blipFill>
        <p:spPr>
          <a:xfrm>
            <a:off x="228600" y="6648602"/>
            <a:ext cx="105156" cy="114300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371246" y="6633972"/>
            <a:ext cx="19431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DATA: 2025 EXCHANGE REPORTS</a:t>
            </a:r>
            <a:endParaRPr lang="en-US" sz="900" dirty="0"/>
          </a:p>
        </p:txBody>
      </p:sp>
      <p:sp>
        <p:nvSpPr>
          <p:cNvPr id="65" name="Text 55"/>
          <p:cNvSpPr txBox="1"/>
          <p:nvPr/>
        </p:nvSpPr>
        <p:spPr>
          <a:xfrm>
            <a:off x="9768535" y="6633972"/>
            <a:ext cx="22860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MODEL: RETAIL_BEHAVIOR_MATRIX_V2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163117"/>
            <a:ext cx="5753405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6" name="Shape 3"/>
          <p:cNvSpPr/>
          <p:nvPr/>
        </p:nvSpPr>
        <p:spPr>
          <a:xfrm>
            <a:off x="6210605" y="609905"/>
            <a:ext cx="9144" cy="5790895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7" name="Shape 4"/>
          <p:cNvSpPr/>
          <p:nvPr/>
        </p:nvSpPr>
        <p:spPr>
          <a:xfrm>
            <a:off x="6448349" y="1163117"/>
            <a:ext cx="5514746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8" name="Text 5"/>
          <p:cNvSpPr txBox="1"/>
          <p:nvPr/>
        </p:nvSpPr>
        <p:spPr>
          <a:xfrm>
            <a:off x="228600" y="619049"/>
            <a:ext cx="119146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PATTERN 01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rcRect l="-1648" r="-1648"/>
          <a:stretch>
            <a:fillRect/>
          </a:stretch>
        </p:blipFill>
        <p:spPr>
          <a:xfrm>
            <a:off x="228600" y="899770"/>
            <a:ext cx="171907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6402" y="847649"/>
            <a:ext cx="2324405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过度反应 (Overreaction)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610405" y="638251"/>
            <a:ext cx="14959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特征：短期暴涨暴跌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878885" y="875995"/>
            <a:ext cx="222016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87171"/>
                </a:solidFill>
                <a:latin typeface="Jetter" charset="0"/>
                <a:ea typeface="Jetter" charset="0"/>
                <a:cs typeface="Jetter" charset="0"/>
              </a:rPr>
              <a:t>DRIVERS: POLICY / THEME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448349" y="619049"/>
            <a:ext cx="119146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PATTERN 02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48349" y="899770"/>
            <a:ext cx="142646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67805" y="847649"/>
            <a:ext cx="2457907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反应不足 (Underreaction)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0591495" y="638251"/>
            <a:ext cx="14959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特征：缓慢爬升兑现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9859975" y="875995"/>
            <a:ext cx="222016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4D399"/>
                </a:solidFill>
                <a:latin typeface="Jetter" charset="0"/>
                <a:ea typeface="Jetter" charset="0"/>
                <a:cs typeface="Jetter" charset="0"/>
              </a:rPr>
              <a:t>DRIVERS: REPORT / MACRO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28600" y="1248156"/>
            <a:ext cx="5753405" cy="1333195"/>
          </a:xfrm>
          <a:prstGeom prst="roundRect">
            <a:avLst>
              <a:gd name="adj" fmla="val 1960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rcRect l="-10" r="-10"/>
          <a:stretch>
            <a:fillRect/>
          </a:stretch>
        </p:blipFill>
        <p:spPr>
          <a:xfrm>
            <a:off x="276149" y="1295705"/>
            <a:ext cx="5658307" cy="123809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28600" y="2743200"/>
            <a:ext cx="19202" cy="3610051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1" name="Shape 15"/>
          <p:cNvSpPr/>
          <p:nvPr/>
        </p:nvSpPr>
        <p:spPr>
          <a:xfrm>
            <a:off x="333756" y="2752344"/>
            <a:ext cx="114300" cy="11430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71500" y="2695651"/>
            <a:ext cx="5410505" cy="790956"/>
          </a:xfrm>
          <a:prstGeom prst="roundRect">
            <a:avLst>
              <a:gd name="adj" fmla="val 557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57454" y="2790749"/>
            <a:ext cx="11247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T+0 (Day 1)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145329" y="2781605"/>
            <a:ext cx="752551" cy="181051"/>
          </a:xfrm>
          <a:prstGeom prst="roundRect">
            <a:avLst>
              <a:gd name="adj" fmla="val 5316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192878" y="2800807"/>
            <a:ext cx="734263" cy="124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Jetter" charset="0"/>
                <a:ea typeface="Jetter" charset="0"/>
                <a:cs typeface="Jetter" charset="0"/>
              </a:rPr>
              <a:t>EXTREME BUY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657454" y="3029407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政策利好发布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657454" y="3228746"/>
            <a:ext cx="25246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监管组合拳出台，板块涨4.2%，情绪资金蜂拥。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33756" y="3614623"/>
            <a:ext cx="114300" cy="11430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71500" y="3557930"/>
            <a:ext cx="5410505" cy="790956"/>
          </a:xfrm>
          <a:prstGeom prst="roundRect">
            <a:avLst>
              <a:gd name="adj" fmla="val 557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57454" y="3653028"/>
            <a:ext cx="39136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T+3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025542" y="3642970"/>
            <a:ext cx="875995" cy="181051"/>
          </a:xfrm>
          <a:prstGeom prst="roundRect">
            <a:avLst>
              <a:gd name="adj" fmla="val 5316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74006" y="3662172"/>
            <a:ext cx="857707" cy="124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Jetter" charset="0"/>
                <a:ea typeface="Jetter" charset="0"/>
                <a:cs typeface="Jetter" charset="0"/>
              </a:rPr>
              <a:t>MOMENTUM PEAK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657454" y="3890772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情绪惯性冲高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657454" y="4091026"/>
            <a:ext cx="22677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散户无视时滞追涨，估值严重偏离基本面。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333756" y="4476902"/>
            <a:ext cx="114300" cy="1143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571500" y="4419295"/>
            <a:ext cx="5410505" cy="790956"/>
          </a:xfrm>
          <a:prstGeom prst="roundRect">
            <a:avLst>
              <a:gd name="adj" fmla="val 557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57454" y="4515307"/>
            <a:ext cx="48646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T+20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5204765" y="4505249"/>
            <a:ext cx="694944" cy="181051"/>
          </a:xfrm>
          <a:prstGeom prst="roundRect">
            <a:avLst>
              <a:gd name="adj" fmla="val 53163"/>
            </a:avLst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5252314" y="4524451"/>
            <a:ext cx="676656" cy="124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ter" charset="0"/>
                <a:ea typeface="Jetter" charset="0"/>
                <a:cs typeface="Jetter" charset="0"/>
              </a:rPr>
              <a:t>CORRECTION</a:t>
            </a:r>
            <a:endParaRPr lang="en-US" sz="800" dirty="0"/>
          </a:p>
        </p:txBody>
      </p:sp>
      <p:sp>
        <p:nvSpPr>
          <p:cNvPr id="40" name="Text 34"/>
          <p:cNvSpPr txBox="1"/>
          <p:nvPr/>
        </p:nvSpPr>
        <p:spPr>
          <a:xfrm>
            <a:off x="657454" y="4753051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均值回归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657454" y="4953305"/>
            <a:ext cx="21817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回撤至涨幅1.8%，资金被套，回归理性。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6448349" y="1248156"/>
            <a:ext cx="5514746" cy="1333195"/>
          </a:xfrm>
          <a:prstGeom prst="roundRect">
            <a:avLst>
              <a:gd name="adj" fmla="val 1960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4"/>
          <a:srcRect l="-5" r="-5"/>
          <a:stretch>
            <a:fillRect/>
          </a:stretch>
        </p:blipFill>
        <p:spPr>
          <a:xfrm>
            <a:off x="6495898" y="1295705"/>
            <a:ext cx="5419649" cy="1238098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6448349" y="2743200"/>
            <a:ext cx="19202" cy="3610051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45" name="Shape 38"/>
          <p:cNvSpPr/>
          <p:nvPr/>
        </p:nvSpPr>
        <p:spPr>
          <a:xfrm>
            <a:off x="6553505" y="2752344"/>
            <a:ext cx="114300" cy="11430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791249" y="2695651"/>
            <a:ext cx="5171846" cy="790956"/>
          </a:xfrm>
          <a:prstGeom prst="roundRect">
            <a:avLst>
              <a:gd name="adj" fmla="val 557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6877202" y="2790749"/>
            <a:ext cx="149595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Month 1 (Day 1)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11007547" y="2781605"/>
            <a:ext cx="875995" cy="181051"/>
          </a:xfrm>
          <a:prstGeom prst="roundRect">
            <a:avLst>
              <a:gd name="adj" fmla="val 5316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11055096" y="2800807"/>
            <a:ext cx="857707" cy="124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  <a:latin typeface="Jetter" charset="0"/>
                <a:ea typeface="Jetter" charset="0"/>
                <a:cs typeface="Jetter" charset="0"/>
              </a:rPr>
              <a:t>MILD REACTION</a:t>
            </a:r>
            <a:endParaRPr lang="en-US" sz="800" dirty="0"/>
          </a:p>
        </p:txBody>
      </p:sp>
      <p:sp>
        <p:nvSpPr>
          <p:cNvPr id="50" name="Text 43"/>
          <p:cNvSpPr txBox="1"/>
          <p:nvPr/>
        </p:nvSpPr>
        <p:spPr>
          <a:xfrm>
            <a:off x="6877202" y="3029407"/>
            <a:ext cx="10341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超预期财报发布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6877202" y="3228746"/>
            <a:ext cx="23244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净利增25%股价微涨2%，信息未充分消化。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6553505" y="3614623"/>
            <a:ext cx="114300" cy="11430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791249" y="3557930"/>
            <a:ext cx="5171846" cy="790956"/>
          </a:xfrm>
          <a:prstGeom prst="roundRect">
            <a:avLst>
              <a:gd name="adj" fmla="val 557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6877202" y="3653028"/>
            <a:ext cx="7626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Month 2</a:t>
            </a:r>
            <a:endParaRPr lang="en-US" sz="1200" dirty="0"/>
          </a:p>
        </p:txBody>
      </p:sp>
      <p:sp>
        <p:nvSpPr>
          <p:cNvPr id="55" name="Shape 48"/>
          <p:cNvSpPr/>
          <p:nvPr/>
        </p:nvSpPr>
        <p:spPr>
          <a:xfrm>
            <a:off x="10769803" y="3642970"/>
            <a:ext cx="1114654" cy="181051"/>
          </a:xfrm>
          <a:prstGeom prst="roundRect">
            <a:avLst>
              <a:gd name="adj" fmla="val 5316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10817352" y="3662172"/>
            <a:ext cx="1095451" cy="124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  <a:latin typeface="Jetter" charset="0"/>
                <a:ea typeface="Jetter" charset="0"/>
                <a:cs typeface="Jetter" charset="0"/>
              </a:rPr>
              <a:t>INSTITUTIONAL BUY</a:t>
            </a:r>
            <a:endParaRPr lang="en-US" sz="800" dirty="0"/>
          </a:p>
        </p:txBody>
      </p:sp>
      <p:sp>
        <p:nvSpPr>
          <p:cNvPr id="57" name="Text 50"/>
          <p:cNvSpPr txBox="1"/>
          <p:nvPr/>
        </p:nvSpPr>
        <p:spPr>
          <a:xfrm>
            <a:off x="6877202" y="3890772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机构研报覆盖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6877202" y="4091026"/>
            <a:ext cx="21534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深度研报发布，机构确认逻辑持续建仓。</a:t>
            </a:r>
            <a:endParaRPr lang="en-US" sz="900" dirty="0"/>
          </a:p>
        </p:txBody>
      </p:sp>
      <p:sp>
        <p:nvSpPr>
          <p:cNvPr id="59" name="Shape 52"/>
          <p:cNvSpPr/>
          <p:nvPr/>
        </p:nvSpPr>
        <p:spPr>
          <a:xfrm>
            <a:off x="6553505" y="4476902"/>
            <a:ext cx="114300" cy="1143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6791249" y="4419295"/>
            <a:ext cx="5171846" cy="790956"/>
          </a:xfrm>
          <a:prstGeom prst="roundRect">
            <a:avLst>
              <a:gd name="adj" fmla="val 557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6877202" y="4515307"/>
            <a:ext cx="7626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Month 3</a:t>
            </a:r>
            <a:endParaRPr lang="en-US" sz="1200" dirty="0"/>
          </a:p>
        </p:txBody>
      </p:sp>
      <p:sp>
        <p:nvSpPr>
          <p:cNvPr id="62" name="Shape 55"/>
          <p:cNvSpPr/>
          <p:nvPr/>
        </p:nvSpPr>
        <p:spPr>
          <a:xfrm>
            <a:off x="11186770" y="4505249"/>
            <a:ext cx="694944" cy="181051"/>
          </a:xfrm>
          <a:prstGeom prst="roundRect">
            <a:avLst>
              <a:gd name="adj" fmla="val 53163"/>
            </a:avLst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11234318" y="4524451"/>
            <a:ext cx="676656" cy="124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ter" charset="0"/>
                <a:ea typeface="Jetter" charset="0"/>
                <a:cs typeface="Jetter" charset="0"/>
              </a:rPr>
              <a:t>FULL VALUE</a:t>
            </a:r>
            <a:endParaRPr lang="en-US" sz="800" dirty="0"/>
          </a:p>
        </p:txBody>
      </p:sp>
      <p:sp>
        <p:nvSpPr>
          <p:cNvPr id="64" name="Text 57"/>
          <p:cNvSpPr txBox="1"/>
          <p:nvPr/>
        </p:nvSpPr>
        <p:spPr>
          <a:xfrm>
            <a:off x="6877202" y="4753051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价值充分兑现</a:t>
            </a:r>
            <a:endParaRPr lang="en-US" sz="1000" dirty="0"/>
          </a:p>
        </p:txBody>
      </p:sp>
      <p:sp>
        <p:nvSpPr>
          <p:cNvPr id="65" name="Text 58"/>
          <p:cNvSpPr txBox="1"/>
          <p:nvPr/>
        </p:nvSpPr>
        <p:spPr>
          <a:xfrm>
            <a:off x="6877202" y="4953305"/>
            <a:ext cx="21534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涨幅超15%，完成滞后消化，价值兑现。</a:t>
            </a:r>
            <a:endParaRPr lang="en-US" sz="900" dirty="0"/>
          </a:p>
        </p:txBody>
      </p:sp>
      <p:sp>
        <p:nvSpPr>
          <p:cNvPr id="66" name="Text 59"/>
          <p:cNvSpPr txBox="1"/>
          <p:nvPr/>
        </p:nvSpPr>
        <p:spPr>
          <a:xfrm>
            <a:off x="314554" y="1304849"/>
            <a:ext cx="24963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CASE: 2025 POLICY STIMULUS</a:t>
            </a:r>
            <a:endParaRPr lang="en-US" sz="1200" dirty="0"/>
          </a:p>
        </p:txBody>
      </p:sp>
      <p:sp>
        <p:nvSpPr>
          <p:cNvPr id="67" name="Text 60"/>
          <p:cNvSpPr txBox="1"/>
          <p:nvPr/>
        </p:nvSpPr>
        <p:spPr>
          <a:xfrm>
            <a:off x="6534302" y="1304849"/>
            <a:ext cx="185806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CASE: EARNINGS BEAT</a:t>
            </a:r>
            <a:endParaRPr lang="en-US" sz="1200" dirty="0"/>
          </a:p>
        </p:txBody>
      </p:sp>
      <p:sp>
        <p:nvSpPr>
          <p:cNvPr id="68" name="Shape 61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69" name="Text 62"/>
          <p:cNvSpPr txBox="1"/>
          <p:nvPr/>
        </p:nvSpPr>
        <p:spPr>
          <a:xfrm>
            <a:off x="418795" y="138074"/>
            <a:ext cx="298643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09 // A-SHARE BEHAVIOR PATTERNS</a:t>
            </a:r>
            <a:endParaRPr lang="en-US" sz="1000" dirty="0"/>
          </a:p>
        </p:txBody>
      </p:sp>
      <p:sp>
        <p:nvSpPr>
          <p:cNvPr id="70" name="Text 63"/>
          <p:cNvSpPr txBox="1"/>
          <p:nvPr/>
        </p:nvSpPr>
        <p:spPr>
          <a:xfrm>
            <a:off x="10202875" y="138074"/>
            <a:ext cx="186263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CASE_ANALYSIS</a:t>
            </a:r>
            <a:endParaRPr lang="en-US" sz="1000" dirty="0"/>
          </a:p>
        </p:txBody>
      </p:sp>
      <p:sp>
        <p:nvSpPr>
          <p:cNvPr id="71" name="Shape 64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72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8600" y="6648602"/>
            <a:ext cx="114300" cy="114300"/>
          </a:xfrm>
          <a:prstGeom prst="rect">
            <a:avLst/>
          </a:prstGeom>
        </p:spPr>
      </p:pic>
      <p:sp>
        <p:nvSpPr>
          <p:cNvPr id="73" name="Text 65"/>
          <p:cNvSpPr txBox="1"/>
          <p:nvPr/>
        </p:nvSpPr>
        <p:spPr>
          <a:xfrm>
            <a:off x="381305" y="6633972"/>
            <a:ext cx="27624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BEHAVIORAL FINANCE: ANCHORING &amp; HERDING</a:t>
            </a:r>
            <a:endParaRPr lang="en-US" sz="900" dirty="0"/>
          </a:p>
        </p:txBody>
      </p:sp>
      <p:sp>
        <p:nvSpPr>
          <p:cNvPr id="74" name="Text 66"/>
          <p:cNvSpPr txBox="1"/>
          <p:nvPr/>
        </p:nvSpPr>
        <p:spPr>
          <a:xfrm>
            <a:off x="9837115" y="6633972"/>
            <a:ext cx="22201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MODEL: MARKET_REACTION_TIMELINE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sp>
        <p:nvSpPr>
          <p:cNvPr id="4" name="Shape 2"/>
          <p:cNvSpPr/>
          <p:nvPr/>
        </p:nvSpPr>
        <p:spPr>
          <a:xfrm>
            <a:off x="304495" y="3144622"/>
            <a:ext cx="3762756" cy="1162202"/>
          </a:xfrm>
          <a:prstGeom prst="roundRect">
            <a:avLst>
              <a:gd name="adj" fmla="val 2580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04495" y="761695"/>
            <a:ext cx="20098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PSYCHOLOGICAL FOUNDATION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04495" y="951890"/>
            <a:ext cx="3277210" cy="9244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乌合之众在A股 The Crowd: A Study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304495" y="2275942"/>
            <a:ext cx="3834079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勒庞在《乌合之众》中提出：当个体融入群体时，其行为和思维方式会发生根本性转变。A股作为典型的散户市场，是观察这些群体特征的完美实验室。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66344" y="3307385"/>
            <a:ext cx="9811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&gt; KEY CONCEPT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66344" y="3535985"/>
            <a:ext cx="3501238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5E7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"群体不善推理，却急于行动。他们不能被说服，只能被暗示。"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637130" y="3983126"/>
            <a:ext cx="1353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— Gustave Le Bon, 1895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4495" y="4459529"/>
            <a:ext cx="3762756" cy="1790395"/>
          </a:xfrm>
          <a:prstGeom prst="roundRect">
            <a:avLst>
              <a:gd name="adj" fmla="val 1087"/>
            </a:avLst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8854" y="4545482"/>
            <a:ext cx="20098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FIG.10.1: PSYCHOLOGY MAPPING</a:t>
            </a:r>
            <a:endParaRPr lang="en-US" sz="9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rcRect t="-10" b="-10"/>
          <a:stretch>
            <a:fillRect/>
          </a:stretch>
        </p:blipFill>
        <p:spPr>
          <a:xfrm>
            <a:off x="314554" y="4468673"/>
            <a:ext cx="3743554" cy="177210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369003" y="761695"/>
            <a:ext cx="7524598" cy="1266444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33404" y="714146"/>
            <a:ext cx="896112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01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4369003" y="2171700"/>
            <a:ext cx="7524598" cy="1266444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33404" y="2123237"/>
            <a:ext cx="896112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02</a:t>
            </a:r>
            <a:endParaRPr lang="en-US" sz="3600" dirty="0"/>
          </a:p>
        </p:txBody>
      </p:sp>
      <p:sp>
        <p:nvSpPr>
          <p:cNvPr id="18" name="Shape 15"/>
          <p:cNvSpPr/>
          <p:nvPr/>
        </p:nvSpPr>
        <p:spPr>
          <a:xfrm>
            <a:off x="4369003" y="3580790"/>
            <a:ext cx="7524598" cy="1266444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233404" y="3533242"/>
            <a:ext cx="896112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03</a:t>
            </a:r>
            <a:endParaRPr lang="en-US" sz="3600" dirty="0"/>
          </a:p>
        </p:txBody>
      </p:sp>
      <p:sp>
        <p:nvSpPr>
          <p:cNvPr id="20" name="Shape 17"/>
          <p:cNvSpPr/>
          <p:nvPr/>
        </p:nvSpPr>
        <p:spPr>
          <a:xfrm>
            <a:off x="4369003" y="4990795"/>
            <a:ext cx="7524598" cy="1266444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233404" y="4943246"/>
            <a:ext cx="896112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04</a:t>
            </a:r>
            <a:endParaRPr lang="en-US" sz="3600" dirty="0"/>
          </a:p>
        </p:txBody>
      </p:sp>
      <p:sp>
        <p:nvSpPr>
          <p:cNvPr id="22" name="Shape 19"/>
          <p:cNvSpPr/>
          <p:nvPr/>
        </p:nvSpPr>
        <p:spPr>
          <a:xfrm>
            <a:off x="4559198" y="92354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92701" y="1057046"/>
            <a:ext cx="190195" cy="190195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169103" y="1490472"/>
            <a:ext cx="647395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169103" y="942746"/>
            <a:ext cx="297728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智力下降 Intellectual Decline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5169103" y="1238098"/>
            <a:ext cx="45345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独立思考退场，集体判断失准。复杂的基本面分析被简化为"政策支持"或"别人都在买"。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5216652" y="1508760"/>
            <a:ext cx="6675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A股映射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5888736" y="1527962"/>
            <a:ext cx="23628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基本面分析失效，盲目追逐"概念"与"小作文"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559198" y="2333549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68926" y="2466137"/>
            <a:ext cx="237744" cy="190195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5169103" y="2899562"/>
            <a:ext cx="647395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169103" y="2351837"/>
            <a:ext cx="2805379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情绪化 Emotional Volatility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5169103" y="2647188"/>
            <a:ext cx="45537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情绪主导行为，理性荡然无存。利好带来过度亢奋，波动引发极端恐慌，缺乏中间状态。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5216652" y="2918765"/>
            <a:ext cx="6675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A股映射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5888736" y="2937967"/>
            <a:ext cx="2496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千股涨停与千股跌停交替，开户潮与销户潮并存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559198" y="3742639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68926" y="3876142"/>
            <a:ext cx="237744" cy="190195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5169103" y="4309567"/>
            <a:ext cx="647395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5169103" y="3761842"/>
            <a:ext cx="160568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从众 Conformity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5169103" y="4057193"/>
            <a:ext cx="43626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屈服群体压力，行为高度一致。"害怕踏空"(FOMO)与"担心被套"驱使资金同向流动。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5216652" y="4328770"/>
            <a:ext cx="6675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A股映射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5888736" y="4347972"/>
            <a:ext cx="25914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板块轮动中的"一哄而上"，连板妖股的"击鼓传花"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4559198" y="515264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92701" y="5286146"/>
            <a:ext cx="190195" cy="190195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5169103" y="5719572"/>
            <a:ext cx="647395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5169103" y="5171846"/>
            <a:ext cx="3767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责任感消解 Responsibility Dissolution</a:t>
            </a:r>
            <a:endParaRPr lang="en-US" sz="1300" dirty="0"/>
          </a:p>
        </p:txBody>
      </p:sp>
      <p:sp>
        <p:nvSpPr>
          <p:cNvPr id="47" name="Text 40"/>
          <p:cNvSpPr txBox="1"/>
          <p:nvPr/>
        </p:nvSpPr>
        <p:spPr>
          <a:xfrm>
            <a:off x="5169103" y="5467198"/>
            <a:ext cx="44293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"法不责众"心理导致冒险行为常态化。个体认为亏损由群体共同承担，风险底线降低。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5216652" y="5738774"/>
            <a:ext cx="6675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A股映射</a:t>
            </a:r>
            <a:endParaRPr lang="en-US" sz="1200" dirty="0"/>
          </a:p>
        </p:txBody>
      </p:sp>
      <p:sp>
        <p:nvSpPr>
          <p:cNvPr id="49" name="Text 42"/>
          <p:cNvSpPr txBox="1"/>
          <p:nvPr/>
        </p:nvSpPr>
        <p:spPr>
          <a:xfrm>
            <a:off x="5888736" y="5757977"/>
            <a:ext cx="2496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高杠杆押注题材股，无视估值泡沫，赌博式交易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51" name="Text 44"/>
          <p:cNvSpPr txBox="1"/>
          <p:nvPr/>
        </p:nvSpPr>
        <p:spPr>
          <a:xfrm>
            <a:off x="418795" y="138074"/>
            <a:ext cx="314827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10 // CROWD PSYCHOLOGY IN A-SHARE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10682935" y="138074"/>
            <a:ext cx="138623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MAPPING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54" name="Text 47"/>
          <p:cNvSpPr txBox="1"/>
          <p:nvPr/>
        </p:nvSpPr>
        <p:spPr>
          <a:xfrm>
            <a:off x="228600" y="6633972"/>
            <a:ext cx="29059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SOURCE: GUSTAVE LE BON, "THE CROWD", 1895</a:t>
            </a:r>
            <a:endParaRPr lang="en-US" sz="900" dirty="0"/>
          </a:p>
        </p:txBody>
      </p:sp>
      <p:sp>
        <p:nvSpPr>
          <p:cNvPr id="55" name="Text 48"/>
          <p:cNvSpPr txBox="1"/>
          <p:nvPr/>
        </p:nvSpPr>
        <p:spPr>
          <a:xfrm>
            <a:off x="10111435" y="6633972"/>
            <a:ext cx="19431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BEHAVIORAL FINANCE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495" y="761695"/>
            <a:ext cx="4733849" cy="5924398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3154" y="1571854"/>
            <a:ext cx="4257446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7" name="Shape 4"/>
          <p:cNvSpPr/>
          <p:nvPr/>
        </p:nvSpPr>
        <p:spPr>
          <a:xfrm>
            <a:off x="543154" y="2498141"/>
            <a:ext cx="4257446" cy="972007"/>
          </a:xfrm>
          <a:prstGeom prst="roundRect">
            <a:avLst>
              <a:gd name="adj" fmla="val 3689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3154" y="3926434"/>
            <a:ext cx="4257446" cy="761695"/>
          </a:xfrm>
          <a:prstGeom prst="rect">
            <a:avLst/>
          </a:prstGeom>
          <a:solidFill>
            <a:srgbClr val="1E293B">
              <a:alpha val="4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543154" y="3926434"/>
            <a:ext cx="28346" cy="761695"/>
          </a:xfrm>
          <a:prstGeom prst="rect">
            <a:avLst/>
          </a:prstGeom>
          <a:solidFill>
            <a:srgbClr val="64748B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/>
          <a:srcRect l="-1911" r="-1911"/>
          <a:stretch>
            <a:fillRect/>
          </a:stretch>
        </p:blipFill>
        <p:spPr>
          <a:xfrm>
            <a:off x="4550054" y="4079138"/>
            <a:ext cx="133502" cy="1143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3154" y="4803343"/>
            <a:ext cx="4257446" cy="761695"/>
          </a:xfrm>
          <a:prstGeom prst="rect">
            <a:avLst/>
          </a:prstGeom>
          <a:solidFill>
            <a:srgbClr val="FF6B35">
              <a:alpha val="10000"/>
            </a:srgbClr>
          </a:solidFill>
        </p:spPr>
      </p:sp>
      <p:sp>
        <p:nvSpPr>
          <p:cNvPr id="12" name="Shape 8"/>
          <p:cNvSpPr/>
          <p:nvPr/>
        </p:nvSpPr>
        <p:spPr>
          <a:xfrm>
            <a:off x="543154" y="4803343"/>
            <a:ext cx="28346" cy="761695"/>
          </a:xfrm>
          <a:prstGeom prst="rect">
            <a:avLst/>
          </a:prstGeom>
          <a:solidFill>
            <a:srgbClr val="FF6B35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4578401" y="4955134"/>
            <a:ext cx="105156" cy="1143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43154" y="5679338"/>
            <a:ext cx="4257446" cy="761695"/>
          </a:xfrm>
          <a:prstGeom prst="rect">
            <a:avLst/>
          </a:prstGeom>
          <a:solidFill>
            <a:srgbClr val="1E293B">
              <a:alpha val="40000"/>
            </a:srgbClr>
          </a:solidFill>
        </p:spPr>
      </p:sp>
      <p:sp>
        <p:nvSpPr>
          <p:cNvPr id="15" name="Shape 10"/>
          <p:cNvSpPr/>
          <p:nvPr/>
        </p:nvSpPr>
        <p:spPr>
          <a:xfrm>
            <a:off x="543154" y="5679338"/>
            <a:ext cx="28346" cy="761695"/>
          </a:xfrm>
          <a:prstGeom prst="rect">
            <a:avLst/>
          </a:prstGeom>
          <a:solidFill>
            <a:srgbClr val="64748B"/>
          </a:solidFill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68342" y="5832043"/>
            <a:ext cx="114300" cy="1143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04495" y="6908292"/>
            <a:ext cx="4733849" cy="1047902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43154" y="1000354"/>
            <a:ext cx="12097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CORE MECHANISM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543154" y="1171346"/>
            <a:ext cx="22293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认知函数与参与函数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543154" y="1742846"/>
            <a:ext cx="4301338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市场参与者的偏见（认知）会改变市场基本面（现实），而改变后的现实又反过来强化或修正偏见。这种双向反馈导致市场永远处于非均衡状态。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880921" y="2659990"/>
            <a:ext cx="16669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SOROS REFLEXIVITY MODEL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066190" y="2907792"/>
            <a:ext cx="957377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y = f(x)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249070" y="3155594"/>
            <a:ext cx="5532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认知函数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2612441" y="2974543"/>
            <a:ext cx="267005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6B35"/>
                </a:solidFill>
                <a:latin typeface="Jetter" charset="0"/>
                <a:ea typeface="Jetter" charset="0"/>
                <a:cs typeface="Jetter" charset="0"/>
              </a:rPr>
              <a:t>⇄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3450031" y="2907792"/>
            <a:ext cx="957377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x = Φ(y)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3632911" y="3155594"/>
            <a:ext cx="5532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参与函数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2049170" y="3535985"/>
            <a:ext cx="13341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y: 主观观点 / x: 客观情境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" y="4050792"/>
            <a:ext cx="175747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01. 认知函数 (Passive)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" y="4260190"/>
            <a:ext cx="39822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投资者试图理解市场。但由于信息不对称和认知偏差，这种理解永远是有缺陷的(Biased)。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" y="4926787"/>
            <a:ext cx="168158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02. 参与函数 (Active)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85800" y="5136185"/>
            <a:ext cx="4077310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投资者基于有缺陷的理解采取行动（买入/卖出），这些行动实际上改变了市场的基本面。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685800" y="5802782"/>
            <a:ext cx="109087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03. 动态非均衡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685800" y="6013094"/>
            <a:ext cx="4086454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现实与认知互相追逐，导致价格长期偏离"内在价值"，泡沫与崩盘是常态而非异常。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466344" y="7070141"/>
            <a:ext cx="13240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Feedback Loop Type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050792" y="7070141"/>
            <a:ext cx="9144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Market State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466344" y="7450531"/>
            <a:ext cx="4410151" cy="38405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37" name="Text 31"/>
          <p:cNvSpPr txBox="1"/>
          <p:nvPr/>
        </p:nvSpPr>
        <p:spPr>
          <a:xfrm>
            <a:off x="466344" y="7564831"/>
            <a:ext cx="15343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Negative (Correcting)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2258568" y="7564831"/>
            <a:ext cx="8485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Equilibrium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3364992" y="7564831"/>
            <a:ext cx="16002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Positive (Reinforcing)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4155034" y="7260336"/>
            <a:ext cx="114300" cy="114300"/>
          </a:xfrm>
          <a:prstGeom prst="ellipse">
            <a:avLst/>
          </a:prstGeom>
          <a:solidFill>
            <a:srgbClr val="FF6B35"/>
          </a:solidFill>
          <a:effectLst>
            <a:outerShdw blurRad="101600" dist="12700" dir="16200000" algn="bl" rotWithShape="0">
              <a:srgbClr val="FF6B35">
                <a:alpha val="100000"/>
              </a:srgbClr>
            </a:outerShdw>
          </a:effectLst>
        </p:spPr>
      </p:sp>
      <p:sp>
        <p:nvSpPr>
          <p:cNvPr id="41" name="Text 35"/>
          <p:cNvSpPr txBox="1"/>
          <p:nvPr/>
        </p:nvSpPr>
        <p:spPr>
          <a:xfrm>
            <a:off x="3903574" y="7115861"/>
            <a:ext cx="7050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/>
                </a:solidFill>
                <a:latin typeface="Jetter" charset="0"/>
                <a:ea typeface="Jetter" charset="0"/>
                <a:cs typeface="Jetter" charset="0"/>
              </a:rPr>
              <a:t>BOOM/BUST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5264201" y="761695"/>
            <a:ext cx="6629400" cy="54864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4"/>
          <a:srcRect t="-5" b="-5"/>
          <a:stretch>
            <a:fillRect/>
          </a:stretch>
        </p:blipFill>
        <p:spPr>
          <a:xfrm>
            <a:off x="5426050" y="923544"/>
            <a:ext cx="6295644" cy="5162702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10833811" y="5743346"/>
            <a:ext cx="9811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SYSTEM OUTPUT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9934956" y="5896051"/>
            <a:ext cx="18909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6B3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MARKET IS ALWAYS WRONG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5426050" y="923544"/>
            <a:ext cx="28392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FIG.11.1: REFLEXIVITY LOOP VISUALIZATION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5426050" y="1076249"/>
            <a:ext cx="10341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反身性闭环示意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49" name="Text 42"/>
          <p:cNvSpPr txBox="1"/>
          <p:nvPr/>
        </p:nvSpPr>
        <p:spPr>
          <a:xfrm>
            <a:off x="418795" y="138074"/>
            <a:ext cx="242498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11 // REFLEXIVITY THEORY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10362895" y="138074"/>
            <a:ext cx="170078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LOOP_ACTIVE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5"/>
          <a:srcRect l="-2571" r="-2571"/>
          <a:stretch>
            <a:fillRect/>
          </a:stretch>
        </p:blipFill>
        <p:spPr>
          <a:xfrm>
            <a:off x="228600" y="6648602"/>
            <a:ext cx="105156" cy="114300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371246" y="6633972"/>
            <a:ext cx="22677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世界不是由规律决定，而是由偏见互动生成</a:t>
            </a:r>
            <a:endParaRPr lang="en-US" sz="900" dirty="0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6"/>
          <a:srcRect t="-80" b="-80"/>
          <a:stretch>
            <a:fillRect/>
          </a:stretch>
        </p:blipFill>
        <p:spPr>
          <a:xfrm>
            <a:off x="2695651" y="6648602"/>
            <a:ext cx="142646" cy="114300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2876702" y="6633972"/>
            <a:ext cx="9144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GEORGE SOROS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10042855" y="6633972"/>
            <a:ext cx="20098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MODE: DYNAMIC_DISEQUILIBRIUM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34833" y="972007"/>
            <a:ext cx="3857854" cy="323698"/>
          </a:xfrm>
          <a:prstGeom prst="roundRect">
            <a:avLst>
              <a:gd name="adj" fmla="val 33234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96682" y="1095451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</p:spPr>
      </p:sp>
      <p:sp>
        <p:nvSpPr>
          <p:cNvPr id="7" name="Shape 4"/>
          <p:cNvSpPr/>
          <p:nvPr/>
        </p:nvSpPr>
        <p:spPr>
          <a:xfrm>
            <a:off x="9325051" y="1128370"/>
            <a:ext cx="304495" cy="9144"/>
          </a:xfrm>
          <a:prstGeom prst="rect">
            <a:avLst/>
          </a:prstGeom>
          <a:solidFill>
            <a:srgbClr val="4B5563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rcRect t="-180" b="-180"/>
          <a:stretch>
            <a:fillRect/>
          </a:stretch>
        </p:blipFill>
        <p:spPr>
          <a:xfrm>
            <a:off x="9429293" y="1057046"/>
            <a:ext cx="95098" cy="1527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782251" y="1095451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F59E0B"/>
          </a:solidFill>
        </p:spPr>
      </p:sp>
      <p:sp>
        <p:nvSpPr>
          <p:cNvPr id="10" name="Shape 6"/>
          <p:cNvSpPr/>
          <p:nvPr/>
        </p:nvSpPr>
        <p:spPr>
          <a:xfrm>
            <a:off x="10635386" y="1128370"/>
            <a:ext cx="304495" cy="9144"/>
          </a:xfrm>
          <a:prstGeom prst="rect">
            <a:avLst/>
          </a:prstGeom>
          <a:solidFill>
            <a:srgbClr val="4B5563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/>
          <a:srcRect t="-180" b="-180"/>
          <a:stretch>
            <a:fillRect/>
          </a:stretch>
        </p:blipFill>
        <p:spPr>
          <a:xfrm>
            <a:off x="10740542" y="1057046"/>
            <a:ext cx="95098" cy="15270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1092586" y="1095451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EF4444"/>
          </a:solidFill>
        </p:spPr>
      </p:sp>
      <p:sp>
        <p:nvSpPr>
          <p:cNvPr id="13" name="Shape 8"/>
          <p:cNvSpPr/>
          <p:nvPr/>
        </p:nvSpPr>
        <p:spPr>
          <a:xfrm>
            <a:off x="304495" y="6238951"/>
            <a:ext cx="1158270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456725" y="6420002"/>
            <a:ext cx="114300" cy="1143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04495" y="761695"/>
            <a:ext cx="20098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SOROS REFLEXIVITY THEORY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304495" y="914400"/>
            <a:ext cx="4786884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非均衡性与路径依赖：从理论到现实</a:t>
            </a:r>
            <a:endParaRPr lang="en-US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8349386" y="1057046"/>
            <a:ext cx="9144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PERTURBATION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9934042" y="1057046"/>
            <a:ext cx="6382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FEEDBACK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1245291" y="1057046"/>
            <a:ext cx="5715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LOCK-IN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304495" y="6400800"/>
            <a:ext cx="41632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REFLECTION: 系统一旦进入特定路径，"效率"或"技术优越性"不再是决定因素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9646920" y="6400800"/>
            <a:ext cx="23344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KEY INSIGHT: 历史的重量 &gt; 完美的模型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04495" y="1600200"/>
            <a:ext cx="3715207" cy="4410151"/>
          </a:xfrm>
          <a:prstGeom prst="roundRect">
            <a:avLst>
              <a:gd name="adj" fmla="val 50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14554" y="2486254"/>
            <a:ext cx="3696005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4" name="Shape 18"/>
          <p:cNvSpPr/>
          <p:nvPr/>
        </p:nvSpPr>
        <p:spPr>
          <a:xfrm>
            <a:off x="314554" y="2467051"/>
            <a:ext cx="381305" cy="2834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5" name="Text 19"/>
          <p:cNvSpPr txBox="1"/>
          <p:nvPr/>
        </p:nvSpPr>
        <p:spPr>
          <a:xfrm>
            <a:off x="504749" y="1790395"/>
            <a:ext cx="905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理论核心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3065983" y="1800454"/>
            <a:ext cx="752551" cy="219456"/>
          </a:xfrm>
          <a:prstGeom prst="roundRect">
            <a:avLst>
              <a:gd name="adj" fmla="val 36232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3151937" y="1837944"/>
            <a:ext cx="66111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B82F6"/>
                </a:solidFill>
                <a:latin typeface="Jetter" charset="0"/>
                <a:ea typeface="Jetter" charset="0"/>
                <a:cs typeface="Jetter" charset="0"/>
              </a:rPr>
              <a:t>FRAMEWORK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504749" y="2143354"/>
            <a:ext cx="15343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NO STATIC EQUILIBRIUM</a:t>
            </a:r>
            <a:endParaRPr lang="en-US" sz="9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3154" y="2743200"/>
            <a:ext cx="152705" cy="15270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47649" y="2686507"/>
            <a:ext cx="9144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CORE CONCEPT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847649" y="2838298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非均衡是常态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847649" y="3057754"/>
            <a:ext cx="29434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市场从不会停在"正确"位置，而是由偏见与行动不断重塑</a:t>
            </a:r>
            <a:endParaRPr lang="en-US" sz="9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3154" y="3429000"/>
            <a:ext cx="152705" cy="152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47649" y="3372307"/>
            <a:ext cx="7050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MECHANISM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847649" y="3524098"/>
            <a:ext cx="18818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路径依赖 (Path Dependence)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847649" y="3743554"/>
            <a:ext cx="24195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初始的微小扰动 + 正反馈循环 -&gt; 锁定最终状态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504749" y="5238598"/>
            <a:ext cx="3314700" cy="571500"/>
          </a:xfrm>
          <a:prstGeom prst="rect">
            <a:avLst/>
          </a:prstGeom>
          <a:solidFill>
            <a:srgbClr val="0F172A">
              <a:alpha val="60000"/>
            </a:srgbClr>
          </a:solidFill>
        </p:spPr>
      </p:sp>
      <p:sp>
        <p:nvSpPr>
          <p:cNvPr id="38" name="Shape 30"/>
          <p:cNvSpPr/>
          <p:nvPr/>
        </p:nvSpPr>
        <p:spPr>
          <a:xfrm>
            <a:off x="504749" y="5238598"/>
            <a:ext cx="19202" cy="571500"/>
          </a:xfrm>
          <a:prstGeom prst="rect">
            <a:avLst/>
          </a:prstGeom>
          <a:solidFill>
            <a:srgbClr val="3B82F6"/>
          </a:solidFill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5"/>
          <a:srcRect l="-133" r="-133"/>
          <a:stretch>
            <a:fillRect/>
          </a:stretch>
        </p:blipFill>
        <p:spPr>
          <a:xfrm>
            <a:off x="619049" y="5352898"/>
            <a:ext cx="85954" cy="11430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80898" y="5324551"/>
            <a:ext cx="8293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619049" y="5524805"/>
            <a:ext cx="27578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不要问"价值多少"，而要问"共识能维持多久"</a:t>
            </a:r>
            <a:endParaRPr lang="en-US" sz="10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/>
          <a:stretch>
            <a:fillRect/>
          </a:stretch>
        </p:blipFill>
        <p:spPr>
          <a:xfrm>
            <a:off x="3241548" y="5238598"/>
            <a:ext cx="571500" cy="5715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4241902" y="1600200"/>
            <a:ext cx="3715207" cy="4410151"/>
          </a:xfrm>
          <a:prstGeom prst="roundRect">
            <a:avLst>
              <a:gd name="adj" fmla="val 50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4251046" y="2486254"/>
            <a:ext cx="3696005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45" name="Shape 35"/>
          <p:cNvSpPr/>
          <p:nvPr/>
        </p:nvSpPr>
        <p:spPr>
          <a:xfrm>
            <a:off x="4251046" y="2467051"/>
            <a:ext cx="381305" cy="2834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6" name="Text 36"/>
          <p:cNvSpPr txBox="1"/>
          <p:nvPr/>
        </p:nvSpPr>
        <p:spPr>
          <a:xfrm>
            <a:off x="4442155" y="1790395"/>
            <a:ext cx="10954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中国房地产</a:t>
            </a:r>
            <a:endParaRPr lang="en-US" sz="1500" dirty="0"/>
          </a:p>
        </p:txBody>
      </p:sp>
      <p:sp>
        <p:nvSpPr>
          <p:cNvPr id="47" name="Shape 37"/>
          <p:cNvSpPr/>
          <p:nvPr/>
        </p:nvSpPr>
        <p:spPr>
          <a:xfrm>
            <a:off x="6939382" y="1800454"/>
            <a:ext cx="819302" cy="219456"/>
          </a:xfrm>
          <a:prstGeom prst="roundRect">
            <a:avLst>
              <a:gd name="adj" fmla="val 36232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7024421" y="1837944"/>
            <a:ext cx="72786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Jetter" charset="0"/>
                <a:ea typeface="Jetter" charset="0"/>
                <a:cs typeface="Jetter" charset="0"/>
              </a:rPr>
              <a:t>MACRO CASE</a:t>
            </a:r>
            <a:endParaRPr lang="en-US" sz="800" dirty="0"/>
          </a:p>
        </p:txBody>
      </p:sp>
      <p:sp>
        <p:nvSpPr>
          <p:cNvPr id="49" name="Text 39"/>
          <p:cNvSpPr txBox="1"/>
          <p:nvPr/>
        </p:nvSpPr>
        <p:spPr>
          <a:xfrm>
            <a:off x="4442155" y="2143354"/>
            <a:ext cx="10479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FISCAL LOCK-IN</a:t>
            </a:r>
            <a:endParaRPr lang="en-US" sz="900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479646" y="2743200"/>
            <a:ext cx="152705" cy="152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4785055" y="2686507"/>
            <a:ext cx="13908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INITIAL DISTURBANCE</a:t>
            </a:r>
            <a:endParaRPr lang="en-US" sz="900" dirty="0"/>
          </a:p>
        </p:txBody>
      </p:sp>
      <p:sp>
        <p:nvSpPr>
          <p:cNvPr id="52" name="Text 41"/>
          <p:cNvSpPr txBox="1"/>
          <p:nvPr/>
        </p:nvSpPr>
        <p:spPr>
          <a:xfrm>
            <a:off x="4785055" y="2838298"/>
            <a:ext cx="15389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1994分税制 &amp; 1998房改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4785055" y="3057754"/>
            <a:ext cx="19623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地方财权事权不匹配 -&gt; 土地财政创新</a:t>
            </a:r>
            <a:endParaRPr lang="en-US" sz="900" dirty="0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479646" y="3429000"/>
            <a:ext cx="152705" cy="152705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4785055" y="3372307"/>
            <a:ext cx="9811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FEEDBACK LOOP</a:t>
            </a:r>
            <a:endParaRPr lang="en-US" sz="900" dirty="0"/>
          </a:p>
        </p:txBody>
      </p:sp>
      <p:sp>
        <p:nvSpPr>
          <p:cNvPr id="56" name="Text 44"/>
          <p:cNvSpPr txBox="1"/>
          <p:nvPr/>
        </p:nvSpPr>
        <p:spPr>
          <a:xfrm>
            <a:off x="4785055" y="3524098"/>
            <a:ext cx="20720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卖地收入 -&gt; 基建投入 -&gt; 房价上涨</a:t>
            </a:r>
            <a:endParaRPr lang="en-US" sz="1000" dirty="0"/>
          </a:p>
        </p:txBody>
      </p:sp>
      <p:sp>
        <p:nvSpPr>
          <p:cNvPr id="57" name="Text 45"/>
          <p:cNvSpPr txBox="1"/>
          <p:nvPr/>
        </p:nvSpPr>
        <p:spPr>
          <a:xfrm>
            <a:off x="4785055" y="3743554"/>
            <a:ext cx="1353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地价与信贷扩张相互强化</a:t>
            </a:r>
            <a:endParaRPr lang="en-US" sz="900" dirty="0"/>
          </a:p>
        </p:txBody>
      </p:sp>
      <p:sp>
        <p:nvSpPr>
          <p:cNvPr id="58" name="Shape 46"/>
          <p:cNvSpPr/>
          <p:nvPr/>
        </p:nvSpPr>
        <p:spPr>
          <a:xfrm>
            <a:off x="4442155" y="5238598"/>
            <a:ext cx="3314700" cy="571500"/>
          </a:xfrm>
          <a:prstGeom prst="rect">
            <a:avLst/>
          </a:prstGeom>
          <a:solidFill>
            <a:srgbClr val="0F172A">
              <a:alpha val="60000"/>
            </a:srgbClr>
          </a:solidFill>
        </p:spPr>
      </p:sp>
      <p:sp>
        <p:nvSpPr>
          <p:cNvPr id="59" name="Shape 47"/>
          <p:cNvSpPr/>
          <p:nvPr/>
        </p:nvSpPr>
        <p:spPr>
          <a:xfrm>
            <a:off x="4442155" y="5238598"/>
            <a:ext cx="19202" cy="57150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9"/>
          <a:srcRect l="-2571" r="-2571"/>
          <a:stretch>
            <a:fillRect/>
          </a:stretch>
        </p:blipFill>
        <p:spPr>
          <a:xfrm>
            <a:off x="4556455" y="5352898"/>
            <a:ext cx="105156" cy="114300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4737506" y="5324551"/>
            <a:ext cx="10195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SYSTEM LOCK-IN</a:t>
            </a:r>
            <a:endParaRPr lang="en-US" sz="900" dirty="0"/>
          </a:p>
        </p:txBody>
      </p:sp>
      <p:sp>
        <p:nvSpPr>
          <p:cNvPr id="62" name="Text 49"/>
          <p:cNvSpPr txBox="1"/>
          <p:nvPr/>
        </p:nvSpPr>
        <p:spPr>
          <a:xfrm>
            <a:off x="4556455" y="5524805"/>
            <a:ext cx="2900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财政、金融、居民财富深度捆绑，转型成本极高</a:t>
            </a:r>
            <a:endParaRPr lang="en-US" sz="1000" dirty="0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10">
            <a:alphaModFix amt="10000"/>
          </a:blip>
          <a:srcRect/>
          <a:stretch>
            <a:fillRect/>
          </a:stretch>
        </p:blipFill>
        <p:spPr>
          <a:xfrm>
            <a:off x="6987845" y="5048402"/>
            <a:ext cx="761695" cy="761695"/>
          </a:xfrm>
          <a:prstGeom prst="rect">
            <a:avLst/>
          </a:prstGeom>
        </p:spPr>
      </p:pic>
      <p:sp>
        <p:nvSpPr>
          <p:cNvPr id="64" name="Shape 50"/>
          <p:cNvSpPr/>
          <p:nvPr/>
        </p:nvSpPr>
        <p:spPr>
          <a:xfrm>
            <a:off x="8178394" y="1600200"/>
            <a:ext cx="3715207" cy="4410151"/>
          </a:xfrm>
          <a:prstGeom prst="roundRect">
            <a:avLst>
              <a:gd name="adj" fmla="val 50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5" name="Shape 51"/>
          <p:cNvSpPr/>
          <p:nvPr/>
        </p:nvSpPr>
        <p:spPr>
          <a:xfrm>
            <a:off x="8188452" y="2486254"/>
            <a:ext cx="3696005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6" name="Shape 52"/>
          <p:cNvSpPr/>
          <p:nvPr/>
        </p:nvSpPr>
        <p:spPr>
          <a:xfrm>
            <a:off x="8188452" y="2467051"/>
            <a:ext cx="381305" cy="2834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7" name="Text 53"/>
          <p:cNvSpPr txBox="1"/>
          <p:nvPr/>
        </p:nvSpPr>
        <p:spPr>
          <a:xfrm>
            <a:off x="8378647" y="1790395"/>
            <a:ext cx="1267358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比特币 (BTC)</a:t>
            </a:r>
            <a:endParaRPr lang="en-US" sz="1500" dirty="0"/>
          </a:p>
        </p:txBody>
      </p:sp>
      <p:sp>
        <p:nvSpPr>
          <p:cNvPr id="68" name="Shape 54"/>
          <p:cNvSpPr/>
          <p:nvPr/>
        </p:nvSpPr>
        <p:spPr>
          <a:xfrm>
            <a:off x="10812780" y="1800454"/>
            <a:ext cx="875995" cy="219456"/>
          </a:xfrm>
          <a:prstGeom prst="roundRect">
            <a:avLst>
              <a:gd name="adj" fmla="val 36232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55"/>
          <p:cNvSpPr txBox="1"/>
          <p:nvPr/>
        </p:nvSpPr>
        <p:spPr>
          <a:xfrm>
            <a:off x="10897819" y="1837944"/>
            <a:ext cx="78547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Jetter" charset="0"/>
                <a:ea typeface="Jetter" charset="0"/>
                <a:cs typeface="Jetter" charset="0"/>
              </a:rPr>
              <a:t>CRYPTO CASE</a:t>
            </a:r>
            <a:endParaRPr lang="en-US" sz="800" dirty="0"/>
          </a:p>
        </p:txBody>
      </p:sp>
      <p:sp>
        <p:nvSpPr>
          <p:cNvPr id="70" name="Text 56"/>
          <p:cNvSpPr txBox="1"/>
          <p:nvPr/>
        </p:nvSpPr>
        <p:spPr>
          <a:xfrm>
            <a:off x="8378647" y="2143354"/>
            <a:ext cx="12573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NARRATIVE LOCK-IN</a:t>
            </a:r>
            <a:endParaRPr lang="en-US" sz="900" dirty="0"/>
          </a:p>
        </p:txBody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1"/>
          <a:srcRect t="-100" b="-100"/>
          <a:stretch>
            <a:fillRect/>
          </a:stretch>
        </p:blipFill>
        <p:spPr>
          <a:xfrm>
            <a:off x="8436254" y="2743200"/>
            <a:ext cx="114300" cy="152705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8721547" y="2686507"/>
            <a:ext cx="13908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INITIAL DISTURBANCE</a:t>
            </a:r>
            <a:endParaRPr lang="en-US" sz="900" dirty="0"/>
          </a:p>
        </p:txBody>
      </p:sp>
      <p:sp>
        <p:nvSpPr>
          <p:cNvPr id="73" name="Text 58"/>
          <p:cNvSpPr txBox="1"/>
          <p:nvPr/>
        </p:nvSpPr>
        <p:spPr>
          <a:xfrm>
            <a:off x="8721547" y="2838298"/>
            <a:ext cx="12051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2009年白皮书发布</a:t>
            </a:r>
            <a:endParaRPr lang="en-US" sz="1000" dirty="0"/>
          </a:p>
        </p:txBody>
      </p:sp>
      <p:sp>
        <p:nvSpPr>
          <p:cNvPr id="74" name="Text 59"/>
          <p:cNvSpPr txBox="1"/>
          <p:nvPr/>
        </p:nvSpPr>
        <p:spPr>
          <a:xfrm>
            <a:off x="8721547" y="3057754"/>
            <a:ext cx="20290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由于先发优势，确立"数字稀缺性"标准</a:t>
            </a:r>
            <a:endParaRPr lang="en-US" sz="900" dirty="0"/>
          </a:p>
        </p:txBody>
      </p:sp>
      <p:pic>
        <p:nvPicPr>
          <p:cNvPr id="75" name="Image 13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417052" y="3429000"/>
            <a:ext cx="152705" cy="152705"/>
          </a:xfrm>
          <a:prstGeom prst="rect">
            <a:avLst/>
          </a:prstGeom>
        </p:spPr>
      </p:pic>
      <p:sp>
        <p:nvSpPr>
          <p:cNvPr id="76" name="Text 60"/>
          <p:cNvSpPr txBox="1"/>
          <p:nvPr/>
        </p:nvSpPr>
        <p:spPr>
          <a:xfrm>
            <a:off x="8721547" y="3372307"/>
            <a:ext cx="9811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FEEDBACK LOOP</a:t>
            </a:r>
            <a:endParaRPr lang="en-US" sz="900" dirty="0"/>
          </a:p>
        </p:txBody>
      </p:sp>
      <p:sp>
        <p:nvSpPr>
          <p:cNvPr id="77" name="Text 61"/>
          <p:cNvSpPr txBox="1"/>
          <p:nvPr/>
        </p:nvSpPr>
        <p:spPr>
          <a:xfrm>
            <a:off x="8721547" y="3524098"/>
            <a:ext cx="18909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"数字黄金"叙事 -&gt; 流动性涌入</a:t>
            </a:r>
            <a:endParaRPr lang="en-US" sz="1000" dirty="0"/>
          </a:p>
        </p:txBody>
      </p:sp>
      <p:sp>
        <p:nvSpPr>
          <p:cNvPr id="78" name="Text 62"/>
          <p:cNvSpPr txBox="1"/>
          <p:nvPr/>
        </p:nvSpPr>
        <p:spPr>
          <a:xfrm>
            <a:off x="8721547" y="3743554"/>
            <a:ext cx="18480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价格上涨验证共识 -&gt; 吸引机构入场</a:t>
            </a:r>
            <a:endParaRPr lang="en-US" sz="900" dirty="0"/>
          </a:p>
        </p:txBody>
      </p:sp>
      <p:sp>
        <p:nvSpPr>
          <p:cNvPr id="79" name="Shape 63"/>
          <p:cNvSpPr/>
          <p:nvPr/>
        </p:nvSpPr>
        <p:spPr>
          <a:xfrm>
            <a:off x="8378647" y="5048402"/>
            <a:ext cx="3314700" cy="761695"/>
          </a:xfrm>
          <a:prstGeom prst="rect">
            <a:avLst/>
          </a:prstGeom>
          <a:solidFill>
            <a:srgbClr val="0F172A">
              <a:alpha val="60000"/>
            </a:srgbClr>
          </a:solidFill>
        </p:spPr>
      </p:sp>
      <p:sp>
        <p:nvSpPr>
          <p:cNvPr id="80" name="Shape 64"/>
          <p:cNvSpPr/>
          <p:nvPr/>
        </p:nvSpPr>
        <p:spPr>
          <a:xfrm>
            <a:off x="8378647" y="5048402"/>
            <a:ext cx="19202" cy="761695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81" name="Image 14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492947" y="5162702"/>
            <a:ext cx="114300" cy="114300"/>
          </a:xfrm>
          <a:prstGeom prst="rect">
            <a:avLst/>
          </a:prstGeom>
        </p:spPr>
      </p:pic>
      <p:sp>
        <p:nvSpPr>
          <p:cNvPr id="82" name="Text 65"/>
          <p:cNvSpPr txBox="1"/>
          <p:nvPr/>
        </p:nvSpPr>
        <p:spPr>
          <a:xfrm>
            <a:off x="8683142" y="5134356"/>
            <a:ext cx="6574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OUTCOME</a:t>
            </a:r>
            <a:endParaRPr lang="en-US" sz="900" dirty="0"/>
          </a:p>
        </p:txBody>
      </p:sp>
      <p:sp>
        <p:nvSpPr>
          <p:cNvPr id="83" name="Text 66"/>
          <p:cNvSpPr txBox="1"/>
          <p:nvPr/>
        </p:nvSpPr>
        <p:spPr>
          <a:xfrm>
            <a:off x="8492947" y="5333695"/>
            <a:ext cx="3139135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尽管技术非最优，但因网络效应与ETF背书锁定主导地位</a:t>
            </a:r>
            <a:endParaRPr lang="en-US" sz="1000" dirty="0"/>
          </a:p>
        </p:txBody>
      </p:sp>
      <p:pic>
        <p:nvPicPr>
          <p:cNvPr id="84" name="Image 15" descr="preencoded.png"/>
          <p:cNvPicPr>
            <a:picLocks noChangeAspect="1"/>
          </p:cNvPicPr>
          <p:nvPr/>
        </p:nvPicPr>
        <p:blipFill>
          <a:blip r:embed="rId14">
            <a:alphaModFix amt="10000"/>
          </a:blip>
          <a:srcRect/>
          <a:stretch>
            <a:fillRect/>
          </a:stretch>
        </p:blipFill>
        <p:spPr>
          <a:xfrm>
            <a:off x="10735056" y="4858207"/>
            <a:ext cx="952805" cy="952805"/>
          </a:xfrm>
          <a:prstGeom prst="rect">
            <a:avLst/>
          </a:prstGeom>
        </p:spPr>
      </p:pic>
      <p:sp>
        <p:nvSpPr>
          <p:cNvPr id="85" name="Shape 67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86" name="Text 68"/>
          <p:cNvSpPr txBox="1"/>
          <p:nvPr/>
        </p:nvSpPr>
        <p:spPr>
          <a:xfrm>
            <a:off x="418795" y="138074"/>
            <a:ext cx="362468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12 // NON-EQUILIBRIUM &amp; PATH DEPENDENCE</a:t>
            </a:r>
            <a:endParaRPr lang="en-US" sz="1000" dirty="0"/>
          </a:p>
        </p:txBody>
      </p:sp>
      <p:sp>
        <p:nvSpPr>
          <p:cNvPr id="87" name="Text 69"/>
          <p:cNvSpPr txBox="1"/>
          <p:nvPr/>
        </p:nvSpPr>
        <p:spPr>
          <a:xfrm>
            <a:off x="10202875" y="138074"/>
            <a:ext cx="186263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CASE_ANALYSIS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495" y="5148072"/>
            <a:ext cx="3781044" cy="1104595"/>
          </a:xfrm>
          <a:prstGeom prst="roundRect">
            <a:avLst>
              <a:gd name="adj" fmla="val 570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15054" y="4419295"/>
            <a:ext cx="3676802" cy="18288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15307" y="4619549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F2937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rcRect t="-180" b="-180"/>
          <a:stretch>
            <a:fillRect/>
          </a:stretch>
        </p:blipFill>
        <p:spPr>
          <a:xfrm>
            <a:off x="4572000" y="4695444"/>
            <a:ext cx="190195" cy="1527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15307" y="5706770"/>
            <a:ext cx="3276295" cy="38405"/>
          </a:xfrm>
          <a:prstGeom prst="roundRect">
            <a:avLst>
              <a:gd name="adj" fmla="val 2380940"/>
            </a:avLst>
          </a:prstGeom>
          <a:solidFill>
            <a:srgbClr val="1F2937"/>
          </a:solidFill>
        </p:spPr>
      </p:sp>
      <p:sp>
        <p:nvSpPr>
          <p:cNvPr id="10" name="Shape 6"/>
          <p:cNvSpPr/>
          <p:nvPr/>
        </p:nvSpPr>
        <p:spPr>
          <a:xfrm>
            <a:off x="8214970" y="4419295"/>
            <a:ext cx="3676802" cy="18288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415223" y="4619549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F2937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rcRect t="-43" b="-43"/>
          <a:stretch>
            <a:fillRect/>
          </a:stretch>
        </p:blipFill>
        <p:spPr>
          <a:xfrm>
            <a:off x="8501177" y="4695444"/>
            <a:ext cx="133502" cy="1527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415223" y="5645506"/>
            <a:ext cx="38405" cy="38405"/>
          </a:xfrm>
          <a:prstGeom prst="roundRect">
            <a:avLst>
              <a:gd name="adj" fmla="val 2380940"/>
            </a:avLst>
          </a:prstGeom>
          <a:solidFill>
            <a:srgbClr val="7F1D1D"/>
          </a:solidFill>
        </p:spPr>
      </p:sp>
      <p:sp>
        <p:nvSpPr>
          <p:cNvPr id="14" name="Shape 9"/>
          <p:cNvSpPr/>
          <p:nvPr/>
        </p:nvSpPr>
        <p:spPr>
          <a:xfrm>
            <a:off x="8488375" y="5645506"/>
            <a:ext cx="38405" cy="38405"/>
          </a:xfrm>
          <a:prstGeom prst="roundRect">
            <a:avLst>
              <a:gd name="adj" fmla="val 2380940"/>
            </a:avLst>
          </a:prstGeom>
          <a:solidFill>
            <a:srgbClr val="991B1B"/>
          </a:solidFill>
        </p:spPr>
      </p:sp>
      <p:sp>
        <p:nvSpPr>
          <p:cNvPr id="15" name="Shape 10"/>
          <p:cNvSpPr/>
          <p:nvPr/>
        </p:nvSpPr>
        <p:spPr>
          <a:xfrm>
            <a:off x="8560613" y="5645506"/>
            <a:ext cx="38405" cy="38405"/>
          </a:xfrm>
          <a:prstGeom prst="roundRect">
            <a:avLst>
              <a:gd name="adj" fmla="val 2380940"/>
            </a:avLst>
          </a:prstGeom>
          <a:solidFill>
            <a:srgbClr val="B91C1C"/>
          </a:solidFill>
        </p:spPr>
      </p:sp>
      <p:sp>
        <p:nvSpPr>
          <p:cNvPr id="16" name="Shape 11"/>
          <p:cNvSpPr/>
          <p:nvPr/>
        </p:nvSpPr>
        <p:spPr>
          <a:xfrm>
            <a:off x="8633765" y="5645506"/>
            <a:ext cx="38405" cy="38405"/>
          </a:xfrm>
          <a:prstGeom prst="roundRect">
            <a:avLst>
              <a:gd name="adj" fmla="val 2380940"/>
            </a:avLst>
          </a:prstGeom>
          <a:solidFill>
            <a:srgbClr val="DC2626"/>
          </a:solidFill>
        </p:spPr>
      </p:sp>
      <p:sp>
        <p:nvSpPr>
          <p:cNvPr id="17" name="Shape 12"/>
          <p:cNvSpPr/>
          <p:nvPr/>
        </p:nvSpPr>
        <p:spPr>
          <a:xfrm>
            <a:off x="8706002" y="5645506"/>
            <a:ext cx="2980944" cy="38405"/>
          </a:xfrm>
          <a:prstGeom prst="roundRect">
            <a:avLst>
              <a:gd name="adj" fmla="val 2380940"/>
            </a:avLst>
          </a:prstGeom>
          <a:solidFill>
            <a:srgbClr val="EF4444"/>
          </a:solidFill>
        </p:spPr>
      </p:sp>
      <p:sp>
        <p:nvSpPr>
          <p:cNvPr id="18" name="Text 13"/>
          <p:cNvSpPr txBox="1"/>
          <p:nvPr/>
        </p:nvSpPr>
        <p:spPr>
          <a:xfrm>
            <a:off x="304495" y="761695"/>
            <a:ext cx="15343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REFLEXIVITY PHASES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304495" y="933602"/>
            <a:ext cx="22293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波动率的非线性演化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66344" y="5319979"/>
            <a:ext cx="138623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Jetter" charset="0"/>
                <a:ea typeface="Jetter" charset="0"/>
                <a:cs typeface="Jetter" charset="0"/>
              </a:rPr>
              <a:t>&lt;CORE_MECHANISM&gt;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66344" y="5567782"/>
            <a:ext cx="10479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Strong Consensus</a:t>
            </a:r>
            <a:endParaRPr lang="en-US" sz="9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rcRect l="-133" r="-133"/>
          <a:stretch>
            <a:fillRect/>
          </a:stretch>
        </p:blipFill>
        <p:spPr>
          <a:xfrm>
            <a:off x="901598" y="5767121"/>
            <a:ext cx="85954" cy="1143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16306" y="5924398"/>
            <a:ext cx="7434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Leverage Up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rcRect l="-133" r="-133"/>
          <a:stretch>
            <a:fillRect/>
          </a:stretch>
        </p:blipFill>
        <p:spPr>
          <a:xfrm>
            <a:off x="2086661" y="5726887"/>
            <a:ext cx="171907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2970886" y="5567782"/>
            <a:ext cx="10003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Consensus Break</a:t>
            </a:r>
            <a:endParaRPr lang="en-US" sz="9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rcRect l="-133" r="-133"/>
          <a:stretch>
            <a:fillRect/>
          </a:stretch>
        </p:blipFill>
        <p:spPr>
          <a:xfrm>
            <a:off x="3381451" y="5767121"/>
            <a:ext cx="85954" cy="1143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924251" y="5924398"/>
            <a:ext cx="10863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Forced Liquidation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4934102" y="4677156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低波动的陷阱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4515307" y="5046574"/>
            <a:ext cx="3296412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在趋势强化期，低波动率并非意味着“安全”，而是意味着脆弱性的积累。此时杠杆率通常最高，对反向信息的敏感度被压缩到极致。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5775350" y="5829300"/>
            <a:ext cx="21342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RISK ACCUMULATION: 80%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8834018" y="4677156"/>
            <a:ext cx="10341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非线性爆发特征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8415223" y="5108753"/>
            <a:ext cx="3296412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反身性破裂时，波动率不会线性上升，而是呈现指数级跳升。这是认知分裂与强制平仓（Liquidation）共振的结果。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9858146" y="5829300"/>
            <a:ext cx="195315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SPEED: INSTANTANEOUS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304495" y="1485900"/>
            <a:ext cx="3781044" cy="1647749"/>
          </a:xfrm>
          <a:prstGeom prst="roundRect">
            <a:avLst>
              <a:gd name="adj" fmla="val 256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838298" y="1495044"/>
            <a:ext cx="1238098" cy="219456"/>
          </a:xfrm>
          <a:prstGeom prst="rect">
            <a:avLst/>
          </a:prstGeom>
          <a:solidFill>
            <a:srgbClr val="064E3B"/>
          </a:solidFill>
        </p:spPr>
      </p:sp>
      <p:sp>
        <p:nvSpPr>
          <p:cNvPr id="36" name="Text 28"/>
          <p:cNvSpPr txBox="1"/>
          <p:nvPr/>
        </p:nvSpPr>
        <p:spPr>
          <a:xfrm>
            <a:off x="2915107" y="1543507"/>
            <a:ext cx="1162202" cy="124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EE7B7"/>
                </a:solidFill>
                <a:latin typeface="Jetter" charset="0"/>
                <a:ea typeface="Jetter" charset="0"/>
                <a:cs typeface="Jetter" charset="0"/>
              </a:rPr>
              <a:t>PHASE 01: STABILITY</a:t>
            </a:r>
            <a:endParaRPr lang="en-US" sz="8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5"/>
          <a:srcRect l="-33" r="-33"/>
          <a:stretch>
            <a:fillRect/>
          </a:stretch>
        </p:blipFill>
        <p:spPr>
          <a:xfrm>
            <a:off x="466344" y="1705356"/>
            <a:ext cx="171907" cy="15270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14146" y="1657807"/>
            <a:ext cx="9866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趋势强化期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466344" y="1990649"/>
            <a:ext cx="20766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2023 Q1 - 2024 Q2 (Pre-Crash)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466344" y="2229307"/>
            <a:ext cx="7050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ter" charset="0"/>
                <a:ea typeface="Jetter" charset="0"/>
                <a:cs typeface="Jetter" charset="0"/>
              </a:rPr>
              <a:t>CONSENSUS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466344" y="2400300"/>
            <a:ext cx="12198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EXTREME HIGH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2233879" y="2229307"/>
            <a:ext cx="7818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ter" charset="0"/>
                <a:ea typeface="Jetter" charset="0"/>
                <a:cs typeface="Jetter" charset="0"/>
              </a:rPr>
              <a:t>VOLATILITY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2233879" y="2400300"/>
            <a:ext cx="103875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COMPRESSED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466344" y="2695651"/>
            <a:ext cx="3457346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45" name="Text 36"/>
          <p:cNvSpPr txBox="1"/>
          <p:nvPr/>
        </p:nvSpPr>
        <p:spPr>
          <a:xfrm>
            <a:off x="466344" y="2771546"/>
            <a:ext cx="3505810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"越涨越信"：共识凝聚导致行为高度一致（买入/持有），波动率非线性收敛。 低波动是脆弱平衡的伪装。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304495" y="3317443"/>
            <a:ext cx="3781044" cy="1647749"/>
          </a:xfrm>
          <a:prstGeom prst="roundRect">
            <a:avLst>
              <a:gd name="adj" fmla="val 256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2952598" y="3326587"/>
            <a:ext cx="1123798" cy="219456"/>
          </a:xfrm>
          <a:prstGeom prst="rect">
            <a:avLst/>
          </a:prstGeom>
          <a:solidFill>
            <a:srgbClr val="7F1D1D"/>
          </a:solidFill>
        </p:spPr>
      </p:sp>
      <p:sp>
        <p:nvSpPr>
          <p:cNvPr id="48" name="Text 39"/>
          <p:cNvSpPr txBox="1"/>
          <p:nvPr/>
        </p:nvSpPr>
        <p:spPr>
          <a:xfrm>
            <a:off x="3029407" y="3374136"/>
            <a:ext cx="1047902" cy="124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CA5A5"/>
                </a:solidFill>
                <a:latin typeface="Jetter" charset="0"/>
                <a:ea typeface="Jetter" charset="0"/>
                <a:cs typeface="Jetter" charset="0"/>
              </a:rPr>
              <a:t>PHASE 02: RUPTURE</a:t>
            </a:r>
            <a:endParaRPr lang="en-US" sz="80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6"/>
          <a:srcRect t="-43" b="-43"/>
          <a:stretch>
            <a:fillRect/>
          </a:stretch>
        </p:blipFill>
        <p:spPr>
          <a:xfrm>
            <a:off x="466344" y="3535985"/>
            <a:ext cx="133502" cy="152705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676656" y="3488436"/>
            <a:ext cx="9866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临界破裂期</a:t>
            </a:r>
            <a:endParaRPr lang="en-US" sz="1300" dirty="0"/>
          </a:p>
        </p:txBody>
      </p:sp>
      <p:sp>
        <p:nvSpPr>
          <p:cNvPr id="51" name="Text 41"/>
          <p:cNvSpPr txBox="1"/>
          <p:nvPr/>
        </p:nvSpPr>
        <p:spPr>
          <a:xfrm>
            <a:off x="466344" y="3822192"/>
            <a:ext cx="13240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2024.06 (The Turn)</a:t>
            </a:r>
            <a:endParaRPr lang="en-US" sz="900" dirty="0"/>
          </a:p>
        </p:txBody>
      </p:sp>
      <p:sp>
        <p:nvSpPr>
          <p:cNvPr id="52" name="Text 42"/>
          <p:cNvSpPr txBox="1"/>
          <p:nvPr/>
        </p:nvSpPr>
        <p:spPr>
          <a:xfrm>
            <a:off x="466344" y="4059936"/>
            <a:ext cx="7050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ter" charset="0"/>
                <a:ea typeface="Jetter" charset="0"/>
                <a:cs typeface="Jetter" charset="0"/>
              </a:rPr>
              <a:t>COGNITION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466344" y="4231843"/>
            <a:ext cx="58155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SPLIT</a:t>
            </a:r>
            <a:endParaRPr lang="en-US" sz="1200" dirty="0"/>
          </a:p>
        </p:txBody>
      </p:sp>
      <p:sp>
        <p:nvSpPr>
          <p:cNvPr id="54" name="Text 44"/>
          <p:cNvSpPr txBox="1"/>
          <p:nvPr/>
        </p:nvSpPr>
        <p:spPr>
          <a:xfrm>
            <a:off x="2233879" y="4059936"/>
            <a:ext cx="7818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ter" charset="0"/>
                <a:ea typeface="Jetter" charset="0"/>
                <a:cs typeface="Jetter" charset="0"/>
              </a:rPr>
              <a:t>VOLATILITY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2233879" y="4231843"/>
            <a:ext cx="94366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EXPLOSIVE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466344" y="4527194"/>
            <a:ext cx="3457346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57" name="Text 47"/>
          <p:cNvSpPr txBox="1"/>
          <p:nvPr/>
        </p:nvSpPr>
        <p:spPr>
          <a:xfrm>
            <a:off x="466344" y="4603090"/>
            <a:ext cx="3543300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微小指引不及预期打破共识，杠杆链条引发踩踏，波动率呈现 断崖式飙升。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4315054" y="761695"/>
            <a:ext cx="7572146" cy="34290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4476902" y="923544"/>
            <a:ext cx="35250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FIG.13.1: PRICE VS. IMPLIED VOLATILITY (SIMULATED)</a:t>
            </a:r>
            <a:endParaRPr lang="en-US" sz="900" dirty="0"/>
          </a:p>
        </p:txBody>
      </p:sp>
      <p:sp>
        <p:nvSpPr>
          <p:cNvPr id="60" name="Text 50"/>
          <p:cNvSpPr txBox="1"/>
          <p:nvPr/>
        </p:nvSpPr>
        <p:spPr>
          <a:xfrm>
            <a:off x="4476902" y="1076249"/>
            <a:ext cx="18342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英伟达股价与波动率背离分析</a:t>
            </a:r>
            <a:endParaRPr lang="en-US" sz="1000" dirty="0"/>
          </a:p>
        </p:txBody>
      </p:sp>
      <p:sp>
        <p:nvSpPr>
          <p:cNvPr id="61" name="Text 51"/>
          <p:cNvSpPr txBox="1"/>
          <p:nvPr/>
        </p:nvSpPr>
        <p:spPr>
          <a:xfrm>
            <a:off x="10468051" y="923544"/>
            <a:ext cx="4389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Price</a:t>
            </a:r>
            <a:endParaRPr lang="en-US" sz="900" dirty="0"/>
          </a:p>
        </p:txBody>
      </p:sp>
      <p:sp>
        <p:nvSpPr>
          <p:cNvPr id="62" name="Shape 52"/>
          <p:cNvSpPr/>
          <p:nvPr/>
        </p:nvSpPr>
        <p:spPr>
          <a:xfrm>
            <a:off x="10925251" y="961949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</p:spPr>
      </p:sp>
      <p:sp>
        <p:nvSpPr>
          <p:cNvPr id="63" name="Text 53"/>
          <p:cNvSpPr txBox="1"/>
          <p:nvPr/>
        </p:nvSpPr>
        <p:spPr>
          <a:xfrm>
            <a:off x="11039551" y="923544"/>
            <a:ext cx="7818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Volatility</a:t>
            </a:r>
            <a:endParaRPr lang="en-US" sz="900" dirty="0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7"/>
          <a:srcRect t="-9" b="-9"/>
          <a:stretch>
            <a:fillRect/>
          </a:stretch>
        </p:blipFill>
        <p:spPr>
          <a:xfrm>
            <a:off x="4476902" y="1343254"/>
            <a:ext cx="7248449" cy="2686507"/>
          </a:xfrm>
          <a:prstGeom prst="rect">
            <a:avLst/>
          </a:prstGeom>
        </p:spPr>
      </p:pic>
      <p:sp>
        <p:nvSpPr>
          <p:cNvPr id="65" name="Shape 54"/>
          <p:cNvSpPr/>
          <p:nvPr/>
        </p:nvSpPr>
        <p:spPr>
          <a:xfrm>
            <a:off x="6289243" y="3323844"/>
            <a:ext cx="1561795" cy="323698"/>
          </a:xfrm>
          <a:prstGeom prst="roundRect">
            <a:avLst>
              <a:gd name="adj" fmla="val 33234"/>
            </a:avLst>
          </a:prstGeom>
          <a:noFill/>
          <a:ln w="12700">
            <a:solidFill>
              <a:srgbClr val="10B981"/>
            </a:solidFill>
            <a:prstDash val="solid"/>
          </a:ln>
        </p:spPr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374282" y="3419856"/>
            <a:ext cx="152705" cy="152705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6565392" y="3372307"/>
            <a:ext cx="13149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EE7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Vol Compression</a:t>
            </a:r>
            <a:endParaRPr lang="en-US" sz="1200" dirty="0"/>
          </a:p>
        </p:txBody>
      </p:sp>
      <p:sp>
        <p:nvSpPr>
          <p:cNvPr id="68" name="Shape 56"/>
          <p:cNvSpPr/>
          <p:nvPr/>
        </p:nvSpPr>
        <p:spPr>
          <a:xfrm>
            <a:off x="8609076" y="1723644"/>
            <a:ext cx="1304849" cy="323698"/>
          </a:xfrm>
          <a:prstGeom prst="roundRect">
            <a:avLst>
              <a:gd name="adj" fmla="val 33234"/>
            </a:avLst>
          </a:prstGeom>
          <a:noFill/>
          <a:ln w="12700">
            <a:solidFill>
              <a:srgbClr val="EF4444"/>
            </a:solidFill>
            <a:prstDash val="solid"/>
          </a:ln>
        </p:spPr>
      </p:sp>
      <p:pic>
        <p:nvPicPr>
          <p:cNvPr id="69" name="Image 10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8694115" y="1819656"/>
            <a:ext cx="152705" cy="152705"/>
          </a:xfrm>
          <a:prstGeom prst="rect">
            <a:avLst/>
          </a:prstGeom>
        </p:spPr>
      </p:pic>
      <p:sp>
        <p:nvSpPr>
          <p:cNvPr id="70" name="Text 57"/>
          <p:cNvSpPr txBox="1"/>
          <p:nvPr/>
        </p:nvSpPr>
        <p:spPr>
          <a:xfrm>
            <a:off x="8885225" y="1772107"/>
            <a:ext cx="10579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Vol Explosion</a:t>
            </a:r>
            <a:endParaRPr lang="en-US" sz="1200" dirty="0"/>
          </a:p>
        </p:txBody>
      </p:sp>
      <p:sp>
        <p:nvSpPr>
          <p:cNvPr id="71" name="Shape 58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72" name="Text 59"/>
          <p:cNvSpPr txBox="1"/>
          <p:nvPr/>
        </p:nvSpPr>
        <p:spPr>
          <a:xfrm>
            <a:off x="418795" y="138074"/>
            <a:ext cx="378653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13 // VOLATILITY NON-LINEARITY: NVDA CASE</a:t>
            </a:r>
            <a:endParaRPr lang="en-US" sz="1000" dirty="0"/>
          </a:p>
        </p:txBody>
      </p:sp>
      <p:sp>
        <p:nvSpPr>
          <p:cNvPr id="73" name="Text 60"/>
          <p:cNvSpPr txBox="1"/>
          <p:nvPr/>
        </p:nvSpPr>
        <p:spPr>
          <a:xfrm>
            <a:off x="10123322" y="138074"/>
            <a:ext cx="194858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CRITICAL_ALERT</a:t>
            </a:r>
            <a:endParaRPr lang="en-US" sz="1000" dirty="0"/>
          </a:p>
        </p:txBody>
      </p:sp>
      <p:sp>
        <p:nvSpPr>
          <p:cNvPr id="74" name="Shape 61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75" name="Image 11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>
            <a:fillRect/>
          </a:stretch>
        </p:blipFill>
        <p:spPr>
          <a:xfrm>
            <a:off x="228600" y="6648602"/>
            <a:ext cx="105156" cy="114300"/>
          </a:xfrm>
          <a:prstGeom prst="rect">
            <a:avLst/>
          </a:prstGeom>
        </p:spPr>
      </p:pic>
      <p:sp>
        <p:nvSpPr>
          <p:cNvPr id="76" name="Text 62"/>
          <p:cNvSpPr txBox="1"/>
          <p:nvPr/>
        </p:nvSpPr>
        <p:spPr>
          <a:xfrm>
            <a:off x="371246" y="6633972"/>
            <a:ext cx="24195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SOURCE: BLOOMBERG / CBOE / FACTSET</a:t>
            </a:r>
            <a:endParaRPr lang="en-US" sz="900" dirty="0"/>
          </a:p>
        </p:txBody>
      </p:sp>
      <p:sp>
        <p:nvSpPr>
          <p:cNvPr id="77" name="Text 63"/>
          <p:cNvSpPr txBox="1"/>
          <p:nvPr/>
        </p:nvSpPr>
        <p:spPr>
          <a:xfrm>
            <a:off x="9837115" y="6633972"/>
            <a:ext cx="22201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MODEL: REFLEXIVITY_VOL_CYCLE_V2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495" y="761695"/>
            <a:ext cx="4733849" cy="54864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3154" y="1571854"/>
            <a:ext cx="4257446" cy="9144"/>
          </a:xfrm>
          <a:prstGeom prst="rect">
            <a:avLst/>
          </a:prstGeom>
          <a:solidFill>
            <a:srgbClr val="374151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543154" y="2424074"/>
            <a:ext cx="152705" cy="1335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1754" y="2395728"/>
            <a:ext cx="24816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Jetter" charset="0"/>
                <a:ea typeface="Jetter" charset="0"/>
                <a:cs typeface="Jetter" charset="0"/>
              </a:rPr>
              <a:t>PHASE 1: 正向强化 (The Buildup)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/>
          <a:srcRect l="-1507" r="-1507"/>
          <a:stretch>
            <a:fillRect/>
          </a:stretch>
        </p:blipFill>
        <p:spPr>
          <a:xfrm>
            <a:off x="543154" y="3834079"/>
            <a:ext cx="171907" cy="1335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90956" y="3804818"/>
            <a:ext cx="28821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Jetter" charset="0"/>
                <a:ea typeface="Jetter" charset="0"/>
                <a:cs typeface="Jetter" charset="0"/>
              </a:rPr>
              <a:t>PHASE 2: 负向破裂 (The Death Spiral)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543154" y="5214823"/>
            <a:ext cx="4257446" cy="552298"/>
          </a:xfrm>
          <a:prstGeom prst="roundRect">
            <a:avLst>
              <a:gd name="adj" fmla="val 11418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rcRect l="-2571" r="-2571"/>
          <a:stretch>
            <a:fillRect/>
          </a:stretch>
        </p:blipFill>
        <p:spPr>
          <a:xfrm>
            <a:off x="666598" y="5376672"/>
            <a:ext cx="105156" cy="1143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3154" y="1000354"/>
            <a:ext cx="8101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MECHANISM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543154" y="1171346"/>
            <a:ext cx="24579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信念的物理载体：杠杆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543154" y="1742846"/>
            <a:ext cx="4234586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杠杆不仅仅是融资工具，它是市场参与者将"未来确定性"信念转化为资金押注的物理载体。它极大地压缩了市场反身性循环的时间。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847649" y="5329123"/>
            <a:ext cx="3848710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CRITICAL INSIGHT: 风险在于速度。没有杠杆时，循环需数月；有杠杆时，循环被压缩至数天甚至数小时。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43154" y="2661818"/>
            <a:ext cx="19202" cy="381305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8" name="Shape 12"/>
          <p:cNvSpPr/>
          <p:nvPr/>
        </p:nvSpPr>
        <p:spPr>
          <a:xfrm>
            <a:off x="495605" y="2661818"/>
            <a:ext cx="75895" cy="75895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9" name="Text 13"/>
          <p:cNvSpPr txBox="1"/>
          <p:nvPr/>
        </p:nvSpPr>
        <p:spPr>
          <a:xfrm>
            <a:off x="714146" y="2652674"/>
            <a:ext cx="10287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01: 认知放大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714146" y="2852928"/>
            <a:ext cx="27578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低成本资金将"轻度看好"放大为"重仓押注"。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3154" y="3195828"/>
            <a:ext cx="19202" cy="381305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2" name="Shape 16"/>
          <p:cNvSpPr/>
          <p:nvPr/>
        </p:nvSpPr>
        <p:spPr>
          <a:xfrm>
            <a:off x="495605" y="3195828"/>
            <a:ext cx="75895" cy="75895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17"/>
          <p:cNvSpPr txBox="1"/>
          <p:nvPr/>
        </p:nvSpPr>
        <p:spPr>
          <a:xfrm>
            <a:off x="714146" y="3185770"/>
            <a:ext cx="10287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02: 估值推升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714146" y="3386023"/>
            <a:ext cx="31674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大量杠杆资金入场，推高资产价格，验证乐观信念。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3154" y="4071823"/>
            <a:ext cx="19202" cy="381305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6" name="Shape 20"/>
          <p:cNvSpPr/>
          <p:nvPr/>
        </p:nvSpPr>
        <p:spPr>
          <a:xfrm>
            <a:off x="495605" y="4071823"/>
            <a:ext cx="75895" cy="75895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27" name="Text 21"/>
          <p:cNvSpPr txBox="1"/>
          <p:nvPr/>
        </p:nvSpPr>
        <p:spPr>
          <a:xfrm>
            <a:off x="714146" y="4062679"/>
            <a:ext cx="10287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01: 触发平仓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714146" y="4262018"/>
            <a:ext cx="3186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价格下跌触发保证金预警 (Margin Call)，被动卖出。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3154" y="4604918"/>
            <a:ext cx="19202" cy="381305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0" name="Shape 24"/>
          <p:cNvSpPr/>
          <p:nvPr/>
        </p:nvSpPr>
        <p:spPr>
          <a:xfrm>
            <a:off x="495605" y="4604918"/>
            <a:ext cx="75895" cy="75895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31" name="Text 25"/>
          <p:cNvSpPr txBox="1"/>
          <p:nvPr/>
        </p:nvSpPr>
        <p:spPr>
          <a:xfrm>
            <a:off x="714146" y="4595774"/>
            <a:ext cx="11430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02: 流动性枯竭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714146" y="4796028"/>
            <a:ext cx="34344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集中抛售导致有价无市，加速下跌，引发更大规模爆仓。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264201" y="761695"/>
            <a:ext cx="6629400" cy="54864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4"/>
          <a:srcRect t="-5" b="-5"/>
          <a:stretch>
            <a:fillRect/>
          </a:stretch>
        </p:blipFill>
        <p:spPr>
          <a:xfrm>
            <a:off x="5426050" y="923544"/>
            <a:ext cx="6295644" cy="516270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090404" y="5495544"/>
            <a:ext cx="1638605" cy="590702"/>
          </a:xfrm>
          <a:prstGeom prst="roundRect">
            <a:avLst>
              <a:gd name="adj" fmla="val 9987"/>
            </a:avLst>
          </a:prstGeom>
          <a:solidFill>
            <a:srgbClr val="111827">
              <a:alpha val="8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214762" y="5658307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0B981"/>
          </a:solidFill>
        </p:spPr>
      </p:sp>
      <p:sp>
        <p:nvSpPr>
          <p:cNvPr id="37" name="Text 30"/>
          <p:cNvSpPr txBox="1"/>
          <p:nvPr/>
        </p:nvSpPr>
        <p:spPr>
          <a:xfrm>
            <a:off x="10366553" y="5619902"/>
            <a:ext cx="10479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Expansion Loop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10214762" y="584850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EF4444"/>
          </a:solidFill>
        </p:spPr>
      </p:sp>
      <p:sp>
        <p:nvSpPr>
          <p:cNvPr id="39" name="Text 32"/>
          <p:cNvSpPr txBox="1"/>
          <p:nvPr/>
        </p:nvSpPr>
        <p:spPr>
          <a:xfrm>
            <a:off x="10366553" y="5810098"/>
            <a:ext cx="13240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Liquidation Spiral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5426050" y="923544"/>
            <a:ext cx="24195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FIG.14.1: LIQUIDATION SPIRAL MODEL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5426050" y="1076249"/>
            <a:ext cx="13002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杠杆反馈循环可视化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43" name="Text 36"/>
          <p:cNvSpPr txBox="1"/>
          <p:nvPr/>
        </p:nvSpPr>
        <p:spPr>
          <a:xfrm>
            <a:off x="418795" y="138074"/>
            <a:ext cx="242498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14 // LEVERAGE MECHANISM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10202875" y="138074"/>
            <a:ext cx="186263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CRITICAL LOOP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5"/>
          <a:srcRect l="-1911" r="-1911"/>
          <a:stretch>
            <a:fillRect/>
          </a:stretch>
        </p:blipFill>
        <p:spPr>
          <a:xfrm>
            <a:off x="228600" y="6648602"/>
            <a:ext cx="133502" cy="114300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400507" y="6633972"/>
            <a:ext cx="9811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SYSTEMIC RISK</a:t>
            </a:r>
            <a:endParaRPr lang="en-US" sz="9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6"/>
          <a:srcRect l="-2571" r="-2571"/>
          <a:stretch>
            <a:fillRect/>
          </a:stretch>
        </p:blipFill>
        <p:spPr>
          <a:xfrm>
            <a:off x="1443838" y="6648602"/>
            <a:ext cx="105156" cy="1143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1587398" y="6633972"/>
            <a:ext cx="12573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VELOCITY OF MONEY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10042855" y="6633972"/>
            <a:ext cx="20098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MODULE: REFLEXIVITY_LEVERAGE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sp>
        <p:nvSpPr>
          <p:cNvPr id="4" name="Shape 2"/>
          <p:cNvSpPr/>
          <p:nvPr/>
        </p:nvSpPr>
        <p:spPr>
          <a:xfrm>
            <a:off x="304495" y="3362249"/>
            <a:ext cx="3762756" cy="1200607"/>
          </a:xfrm>
          <a:prstGeom prst="roundRect">
            <a:avLst>
              <a:gd name="adj" fmla="val 2418"/>
            </a:avLst>
          </a:prstGeom>
          <a:solidFill>
            <a:srgbClr val="111827">
              <a:alpha val="6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6344" y="3791102"/>
            <a:ext cx="190561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推高估值溢价 (Valuation Premium)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66344" y="4019702"/>
            <a:ext cx="177210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杠杆回潮 (Leverage Resurgence)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66344" y="4248302"/>
            <a:ext cx="191475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"政策兜底"路径依赖 (Moral Hazard)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371746" y="761695"/>
            <a:ext cx="3529584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延缓危机的三条路径 (Delay Mechanism)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71746" y="2848356"/>
            <a:ext cx="424373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难以根除的三大难题 (Root Causes Unresolved)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1746" y="3228746"/>
            <a:ext cx="7515454" cy="3019349"/>
          </a:xfrm>
          <a:prstGeom prst="roundRect">
            <a:avLst>
              <a:gd name="adj" fmla="val 382"/>
            </a:avLst>
          </a:prstGeom>
          <a:solidFill>
            <a:srgbClr val="111827">
              <a:alpha val="3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4239158"/>
            <a:ext cx="7114946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12" name="Shape 10"/>
          <p:cNvSpPr/>
          <p:nvPr/>
        </p:nvSpPr>
        <p:spPr>
          <a:xfrm>
            <a:off x="4572000" y="3429000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rcRect l="-33" r="-33"/>
          <a:stretch>
            <a:fillRect/>
          </a:stretch>
        </p:blipFill>
        <p:spPr>
          <a:xfrm>
            <a:off x="4677156" y="3543300"/>
            <a:ext cx="171907" cy="15270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0" y="5204765"/>
            <a:ext cx="7114946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15" name="Shape 12"/>
          <p:cNvSpPr/>
          <p:nvPr/>
        </p:nvSpPr>
        <p:spPr>
          <a:xfrm>
            <a:off x="4572000" y="4394606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 l="-33" r="-33"/>
          <a:stretch>
            <a:fillRect/>
          </a:stretch>
        </p:blipFill>
        <p:spPr>
          <a:xfrm>
            <a:off x="4677156" y="4508906"/>
            <a:ext cx="171907" cy="15270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72000" y="5359298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86300" y="5473598"/>
            <a:ext cx="15270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04495" y="761695"/>
            <a:ext cx="12957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SYSTEM RESPONSE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304495" y="952805"/>
            <a:ext cx="2772461" cy="9244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外部干预 Policy Intervention</a:t>
            </a:r>
            <a:endParaRPr lang="en-US" sz="2700" dirty="0"/>
          </a:p>
        </p:txBody>
      </p:sp>
      <p:sp>
        <p:nvSpPr>
          <p:cNvPr id="21" name="Text 16"/>
          <p:cNvSpPr txBox="1"/>
          <p:nvPr/>
        </p:nvSpPr>
        <p:spPr>
          <a:xfrm>
            <a:off x="304495" y="2276856"/>
            <a:ext cx="3834079" cy="848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外部干预通过注入流动性或改变预期，可以暂时切断"平仓→下跌"的负反馈链条，延缓危机的爆发。但如果不能解决核心的"认知-现实脱节"，干预往往只是推迟了风险，甚至在更长期积聚更大的泡沫。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6344" y="3550615"/>
            <a:ext cx="133502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76656" y="3534156"/>
            <a:ext cx="76718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核心副作用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105095" y="3429000"/>
            <a:ext cx="20720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盈利落地难题 Profit Realization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105095" y="3648456"/>
            <a:ext cx="60771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政策无法替代企业经营。如果资产本身无法产生预期的现金流（如AI企业的真实利润），估值泡沫终将面临基本面引力。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5105095" y="4394606"/>
            <a:ext cx="23289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商业化困境 Commercialization Gap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105095" y="4613148"/>
            <a:ext cx="5239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技术并不等于商业成功。流动性泛滥可能掩盖商业模式的缺陷，但无法解决产品没人买单的现实问题。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5105095" y="5359298"/>
            <a:ext cx="18342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使用场景缺失 Use Case Void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5105095" y="5578754"/>
            <a:ext cx="59152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缺乏真实需求支撑。如加密货币若始终缺乏实际支付场景，仅靠共识维持价值，这种"脱节"始终是达摩克利斯之剑。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04495" y="4714646"/>
            <a:ext cx="3762756" cy="1533449"/>
          </a:xfrm>
          <a:prstGeom prst="roundRect">
            <a:avLst>
              <a:gd name="adj" fmla="val 1481"/>
            </a:avLst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28854" y="4800600"/>
            <a:ext cx="20766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FIG.15.1: INTERVENTION EFFECT</a:t>
            </a:r>
            <a:endParaRPr lang="en-US" sz="9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rcRect t="-2" b="-2"/>
          <a:stretch>
            <a:fillRect/>
          </a:stretch>
        </p:blipFill>
        <p:spPr>
          <a:xfrm>
            <a:off x="314554" y="4724705"/>
            <a:ext cx="3743554" cy="1505102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4371746" y="1143000"/>
            <a:ext cx="2409444" cy="1514246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5939028" y="961949"/>
            <a:ext cx="1191463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>
                    <a:alpha val="10000"/>
                  </a:srgbClr>
                </a:solidFill>
                <a:latin typeface="Jetter" charset="0"/>
                <a:ea typeface="Jetter" charset="0"/>
                <a:cs typeface="Jetter" charset="0"/>
              </a:rPr>
              <a:t>01</a:t>
            </a:r>
            <a:endParaRPr lang="en-US" sz="4800" dirty="0"/>
          </a:p>
        </p:txBody>
      </p:sp>
      <p:sp>
        <p:nvSpPr>
          <p:cNvPr id="35" name="Shape 28"/>
          <p:cNvSpPr/>
          <p:nvPr/>
        </p:nvSpPr>
        <p:spPr>
          <a:xfrm>
            <a:off x="6927494" y="1143000"/>
            <a:ext cx="2409444" cy="1514246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494776" y="961949"/>
            <a:ext cx="1191463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>
                    <a:alpha val="10000"/>
                  </a:srgbClr>
                </a:solidFill>
                <a:latin typeface="Jetter" charset="0"/>
                <a:ea typeface="Jetter" charset="0"/>
                <a:cs typeface="Jetter" charset="0"/>
              </a:rPr>
              <a:t>02</a:t>
            </a:r>
            <a:endParaRPr lang="en-US" sz="4800" dirty="0"/>
          </a:p>
        </p:txBody>
      </p:sp>
      <p:sp>
        <p:nvSpPr>
          <p:cNvPr id="37" name="Shape 30"/>
          <p:cNvSpPr/>
          <p:nvPr/>
        </p:nvSpPr>
        <p:spPr>
          <a:xfrm>
            <a:off x="9483242" y="1143000"/>
            <a:ext cx="2409444" cy="1514246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11050524" y="961949"/>
            <a:ext cx="1191463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>
                    <a:alpha val="10000"/>
                  </a:srgbClr>
                </a:solidFill>
                <a:latin typeface="Jetter" charset="0"/>
                <a:ea typeface="Jetter" charset="0"/>
                <a:cs typeface="Jetter" charset="0"/>
              </a:rPr>
              <a:t>03</a:t>
            </a:r>
            <a:endParaRPr lang="en-US" sz="48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62856" y="1304849"/>
            <a:ext cx="142646" cy="19019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4562856" y="1633118"/>
            <a:ext cx="886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注入流动性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4562856" y="1947672"/>
            <a:ext cx="2039112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缓解平仓链条压力。当杠杆资金面临爆仓时，提供低成本资金防止被动卖出，切断负反馈。</a:t>
            </a:r>
            <a:endParaRPr lang="en-US" sz="9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118604" y="1304849"/>
            <a:ext cx="190195" cy="19019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118604" y="1633118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预期引导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7118604" y="1947672"/>
            <a:ext cx="2039112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修复市场信心。通过官方表态重塑认知，让投资者重新审视资产价值，减缓恐慌性抛售。</a:t>
            </a:r>
            <a:endParaRPr lang="en-US" sz="9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8"/>
          <a:srcRect l="-1282" r="-1282"/>
          <a:stretch>
            <a:fillRect/>
          </a:stretch>
        </p:blipFill>
        <p:spPr>
          <a:xfrm>
            <a:off x="9674352" y="1304849"/>
            <a:ext cx="219456" cy="190195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9674352" y="1633118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直接资金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9674352" y="1947672"/>
            <a:ext cx="2039112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吸收市场抛压。如"国家队"直接入场买入，填补买卖缺口，避免流动性枯竭导致的非理性下跌。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49" name="Text 39"/>
          <p:cNvSpPr txBox="1"/>
          <p:nvPr/>
        </p:nvSpPr>
        <p:spPr>
          <a:xfrm>
            <a:off x="418795" y="138074"/>
            <a:ext cx="266273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15 // EXTERNAL INTERVENTION</a:t>
            </a:r>
            <a:endParaRPr lang="en-US" sz="1000" dirty="0"/>
          </a:p>
        </p:txBody>
      </p:sp>
      <p:sp>
        <p:nvSpPr>
          <p:cNvPr id="50" name="Text 40"/>
          <p:cNvSpPr txBox="1"/>
          <p:nvPr/>
        </p:nvSpPr>
        <p:spPr>
          <a:xfrm>
            <a:off x="10682935" y="138074"/>
            <a:ext cx="138623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WARNING</a:t>
            </a:r>
            <a:endParaRPr lang="en-US" sz="1000" dirty="0"/>
          </a:p>
        </p:txBody>
      </p:sp>
      <p:sp>
        <p:nvSpPr>
          <p:cNvPr id="51" name="Shape 41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52" name="Text 42"/>
          <p:cNvSpPr txBox="1"/>
          <p:nvPr/>
        </p:nvSpPr>
        <p:spPr>
          <a:xfrm>
            <a:off x="228600" y="6633972"/>
            <a:ext cx="26289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CONCEPT: MARKET INTERVENTION DYNAMICS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10111435" y="6633972"/>
            <a:ext cx="19431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MARKET UNDERSTANDING SERIES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495" y="1524305"/>
            <a:ext cx="4733849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6" name="Shape 3"/>
          <p:cNvSpPr/>
          <p:nvPr/>
        </p:nvSpPr>
        <p:spPr>
          <a:xfrm>
            <a:off x="304495" y="5048402"/>
            <a:ext cx="4733849" cy="1200607"/>
          </a:xfrm>
          <a:prstGeom prst="roundRect">
            <a:avLst>
              <a:gd name="adj" fmla="val 2418"/>
            </a:avLst>
          </a:prstGeom>
          <a:solidFill>
            <a:srgbClr val="1F2937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6344" y="5477256"/>
            <a:ext cx="21534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●融资余额未创新高而股价新高（背离）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66344" y="5705856"/>
            <a:ext cx="14100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●连板高度压缩至4板以内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66344" y="5934456"/>
            <a:ext cx="170535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●龙头股跌破10日均线确认退潮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262372" y="761695"/>
            <a:ext cx="9144" cy="5486400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11" name="Text 8"/>
          <p:cNvSpPr txBox="1"/>
          <p:nvPr/>
        </p:nvSpPr>
        <p:spPr>
          <a:xfrm>
            <a:off x="304495" y="761695"/>
            <a:ext cx="8961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CASE STUDY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4495" y="1000354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09905" y="933602"/>
            <a:ext cx="20007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商业航天情绪周期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04495" y="1295705"/>
            <a:ext cx="21534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TIMEFRAME: NOV 2025 - JAN 2026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6344" y="5245913"/>
            <a:ext cx="133502" cy="1335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" y="5210251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交易警示信号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04495" y="1686154"/>
            <a:ext cx="4733849" cy="3209544"/>
          </a:xfrm>
          <a:prstGeom prst="roundRect">
            <a:avLst>
              <a:gd name="adj" fmla="val 33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rcRect t="-3" b="-3"/>
          <a:stretch>
            <a:fillRect/>
          </a:stretch>
        </p:blipFill>
        <p:spPr>
          <a:xfrm>
            <a:off x="390449" y="1772107"/>
            <a:ext cx="4552798" cy="3038551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500116" y="857707"/>
            <a:ext cx="19202" cy="5296205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0" name="Shape 14"/>
          <p:cNvSpPr/>
          <p:nvPr/>
        </p:nvSpPr>
        <p:spPr>
          <a:xfrm>
            <a:off x="5642762" y="819302"/>
            <a:ext cx="114300" cy="1143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995721" y="761695"/>
            <a:ext cx="5820156" cy="1181405"/>
          </a:xfrm>
          <a:prstGeom prst="roundRect">
            <a:avLst>
              <a:gd name="adj" fmla="val 249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119165" y="886054"/>
            <a:ext cx="11247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NOV 15 - NOV 30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0591495" y="886054"/>
            <a:ext cx="1104595" cy="209398"/>
          </a:xfrm>
          <a:prstGeom prst="roundRect">
            <a:avLst>
              <a:gd name="adj" fmla="val 39698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0658246" y="914400"/>
            <a:ext cx="10479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Jetter" charset="0"/>
                <a:ea typeface="Jetter" charset="0"/>
                <a:cs typeface="Jetter" charset="0"/>
              </a:rPr>
              <a:t>STAGE 1: LAUNCH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6119165" y="1130198"/>
            <a:ext cx="14959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启动期：新叙事落地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119165" y="1434694"/>
            <a:ext cx="12481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TRIGGER EVENT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6119165" y="1653235"/>
            <a:ext cx="18672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商业航天司成立 + 3年行动计划发布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8941003" y="1434694"/>
            <a:ext cx="13908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MARKET FEATURE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941003" y="1653235"/>
            <a:ext cx="21534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低位修复，龙头五连板试错，成交量低位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642762" y="2187245"/>
            <a:ext cx="114300" cy="11430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995721" y="2129638"/>
            <a:ext cx="5820156" cy="1181405"/>
          </a:xfrm>
          <a:prstGeom prst="roundRect">
            <a:avLst>
              <a:gd name="adj" fmla="val 249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119165" y="2253996"/>
            <a:ext cx="11247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DEC 01 - DEC 15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10206533" y="2253996"/>
            <a:ext cx="1485900" cy="209398"/>
          </a:xfrm>
          <a:prstGeom prst="roundRect">
            <a:avLst>
              <a:gd name="adj" fmla="val 39698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0273284" y="2282342"/>
            <a:ext cx="14292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  <a:latin typeface="Jetter" charset="0"/>
                <a:ea typeface="Jetter" charset="0"/>
                <a:cs typeface="Jetter" charset="0"/>
              </a:rPr>
              <a:t>STAGE 2: ACCELERATION</a:t>
            </a:r>
            <a:endParaRPr lang="en-US" sz="800" dirty="0"/>
          </a:p>
        </p:txBody>
      </p:sp>
      <p:sp>
        <p:nvSpPr>
          <p:cNvPr id="35" name="Text 29"/>
          <p:cNvSpPr txBox="1"/>
          <p:nvPr/>
        </p:nvSpPr>
        <p:spPr>
          <a:xfrm>
            <a:off x="6119165" y="2497226"/>
            <a:ext cx="13432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加速期：信念验证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6119165" y="2802636"/>
            <a:ext cx="800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CATALYST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6119165" y="3021178"/>
            <a:ext cx="18864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200亿基金到位 + 卫星招标清单发布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8941003" y="2802636"/>
            <a:ext cx="11530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CAPITAL FLOW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8941003" y="3021178"/>
            <a:ext cx="21909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机构/北向建仓，量能阶梯放大，趋势稳健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5642762" y="3555187"/>
            <a:ext cx="114300" cy="11430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5995721" y="3497580"/>
            <a:ext cx="5820156" cy="1181405"/>
          </a:xfrm>
          <a:prstGeom prst="roundRect">
            <a:avLst>
              <a:gd name="adj" fmla="val 249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119165" y="3621938"/>
            <a:ext cx="11247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DEC 16 - DEC 22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10591495" y="3621938"/>
            <a:ext cx="1104595" cy="209398"/>
          </a:xfrm>
          <a:prstGeom prst="roundRect">
            <a:avLst>
              <a:gd name="adj" fmla="val 39698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10658246" y="3650285"/>
            <a:ext cx="10479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Jetter" charset="0"/>
                <a:ea typeface="Jetter" charset="0"/>
                <a:cs typeface="Jetter" charset="0"/>
              </a:rPr>
              <a:t>STAGE 3: FRENZY</a:t>
            </a:r>
            <a:endParaRPr lang="en-US" sz="800" dirty="0"/>
          </a:p>
        </p:txBody>
      </p:sp>
      <p:sp>
        <p:nvSpPr>
          <p:cNvPr id="45" name="Text 39"/>
          <p:cNvSpPr txBox="1"/>
          <p:nvPr/>
        </p:nvSpPr>
        <p:spPr>
          <a:xfrm>
            <a:off x="6119165" y="3865169"/>
            <a:ext cx="16669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狂热期："这次不一样"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6119165" y="4170578"/>
            <a:ext cx="9628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SENTIMENT</a:t>
            </a:r>
            <a:endParaRPr lang="en-US" sz="1200" dirty="0"/>
          </a:p>
        </p:txBody>
      </p:sp>
      <p:sp>
        <p:nvSpPr>
          <p:cNvPr id="47" name="Text 41"/>
          <p:cNvSpPr txBox="1"/>
          <p:nvPr/>
        </p:nvSpPr>
        <p:spPr>
          <a:xfrm>
            <a:off x="6119165" y="4389120"/>
            <a:ext cx="22576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"太空算力无天花板"共识达成，连板潮爆发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8941003" y="4170578"/>
            <a:ext cx="12673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RISK INDICATOR</a:t>
            </a:r>
            <a:endParaRPr 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8941003" y="4389120"/>
            <a:ext cx="21534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杠杆激增，融资买入额创峰值，散户追高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5642762" y="4923130"/>
            <a:ext cx="114300" cy="114300"/>
          </a:xfrm>
          <a:prstGeom prst="ellipse">
            <a:avLst/>
          </a:prstGeom>
          <a:solidFill>
            <a:srgbClr val="EAB308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5995721" y="4865522"/>
            <a:ext cx="5820156" cy="1181405"/>
          </a:xfrm>
          <a:prstGeom prst="roundRect">
            <a:avLst>
              <a:gd name="adj" fmla="val 249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6119165" y="4989881"/>
            <a:ext cx="11247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DEC 23 - DEC 26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10078517" y="4989881"/>
            <a:ext cx="1609344" cy="209398"/>
          </a:xfrm>
          <a:prstGeom prst="roundRect">
            <a:avLst>
              <a:gd name="adj" fmla="val 39698"/>
            </a:avLst>
          </a:prstGeom>
          <a:solidFill>
            <a:srgbClr val="EAB308">
              <a:alpha val="2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10145268" y="5018227"/>
            <a:ext cx="15526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AB308"/>
                </a:solidFill>
                <a:latin typeface="Jetter" charset="0"/>
                <a:ea typeface="Jetter" charset="0"/>
                <a:cs typeface="Jetter" charset="0"/>
              </a:rPr>
              <a:t>STAGE 4: CRITICAL POINT</a:t>
            </a:r>
            <a:endParaRPr lang="en-US" sz="800" dirty="0"/>
          </a:p>
        </p:txBody>
      </p:sp>
      <p:sp>
        <p:nvSpPr>
          <p:cNvPr id="55" name="Text 49"/>
          <p:cNvSpPr txBox="1"/>
          <p:nvPr/>
        </p:nvSpPr>
        <p:spPr>
          <a:xfrm>
            <a:off x="6119165" y="5233111"/>
            <a:ext cx="16486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临界点：现实无法支撑</a:t>
            </a:r>
            <a:endParaRPr lang="en-US" sz="1200" dirty="0"/>
          </a:p>
        </p:txBody>
      </p:sp>
      <p:sp>
        <p:nvSpPr>
          <p:cNvPr id="56" name="Text 50"/>
          <p:cNvSpPr txBox="1"/>
          <p:nvPr/>
        </p:nvSpPr>
        <p:spPr>
          <a:xfrm>
            <a:off x="6119165" y="5538521"/>
            <a:ext cx="6483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SIGNAL</a:t>
            </a:r>
            <a:endParaRPr lang="en-US" sz="1200" dirty="0"/>
          </a:p>
        </p:txBody>
      </p:sp>
      <p:sp>
        <p:nvSpPr>
          <p:cNvPr id="57" name="Text 51"/>
          <p:cNvSpPr txBox="1"/>
          <p:nvPr/>
        </p:nvSpPr>
        <p:spPr>
          <a:xfrm>
            <a:off x="6119165" y="5757062"/>
            <a:ext cx="22677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主力拉高出货，融资余额背离（价涨量缩）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8941003" y="5538521"/>
            <a:ext cx="6574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RESULT</a:t>
            </a:r>
            <a:endParaRPr lang="en-US" sz="1200" dirty="0"/>
          </a:p>
        </p:txBody>
      </p:sp>
      <p:sp>
        <p:nvSpPr>
          <p:cNvPr id="59" name="Text 53"/>
          <p:cNvSpPr txBox="1"/>
          <p:nvPr/>
        </p:nvSpPr>
        <p:spPr>
          <a:xfrm>
            <a:off x="8941003" y="5757062"/>
            <a:ext cx="17337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接盘不足，随时转入衰退/退潮期</a:t>
            </a:r>
            <a:endParaRPr lang="en-US" sz="900" dirty="0"/>
          </a:p>
        </p:txBody>
      </p:sp>
      <p:sp>
        <p:nvSpPr>
          <p:cNvPr id="60" name="Shape 54"/>
          <p:cNvSpPr/>
          <p:nvPr/>
        </p:nvSpPr>
        <p:spPr>
          <a:xfrm>
            <a:off x="3651199" y="184800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EF4444"/>
          </a:solidFill>
        </p:spPr>
      </p:sp>
      <p:sp>
        <p:nvSpPr>
          <p:cNvPr id="61" name="Text 55"/>
          <p:cNvSpPr txBox="1"/>
          <p:nvPr/>
        </p:nvSpPr>
        <p:spPr>
          <a:xfrm>
            <a:off x="3765499" y="1772107"/>
            <a:ext cx="4764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Price</a:t>
            </a:r>
            <a:endParaRPr lang="en-US" sz="1200" dirty="0"/>
          </a:p>
        </p:txBody>
      </p:sp>
      <p:sp>
        <p:nvSpPr>
          <p:cNvPr id="62" name="Shape 56"/>
          <p:cNvSpPr/>
          <p:nvPr/>
        </p:nvSpPr>
        <p:spPr>
          <a:xfrm>
            <a:off x="4197096" y="184800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</p:spPr>
      </p:sp>
      <p:sp>
        <p:nvSpPr>
          <p:cNvPr id="63" name="Text 57"/>
          <p:cNvSpPr txBox="1"/>
          <p:nvPr/>
        </p:nvSpPr>
        <p:spPr>
          <a:xfrm>
            <a:off x="4311396" y="1772107"/>
            <a:ext cx="7525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Leverage</a:t>
            </a:r>
            <a:endParaRPr lang="en-US" sz="1200" dirty="0"/>
          </a:p>
        </p:txBody>
      </p:sp>
      <p:sp>
        <p:nvSpPr>
          <p:cNvPr id="64" name="Text 58"/>
          <p:cNvSpPr txBox="1"/>
          <p:nvPr/>
        </p:nvSpPr>
        <p:spPr>
          <a:xfrm>
            <a:off x="390449" y="1809598"/>
            <a:ext cx="19431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PRICE &amp; LEVERAGE DIVERGENCE</a:t>
            </a:r>
            <a:endParaRPr lang="en-US" sz="900" dirty="0"/>
          </a:p>
        </p:txBody>
      </p:sp>
      <p:sp>
        <p:nvSpPr>
          <p:cNvPr id="65" name="Shape 59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66" name="Text 60"/>
          <p:cNvSpPr txBox="1"/>
          <p:nvPr/>
        </p:nvSpPr>
        <p:spPr>
          <a:xfrm>
            <a:off x="418795" y="138074"/>
            <a:ext cx="290047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16 // SENTIMENT CYCLE ANALYSIS</a:t>
            </a:r>
            <a:endParaRPr lang="en-US" sz="1000" dirty="0"/>
          </a:p>
        </p:txBody>
      </p:sp>
      <p:sp>
        <p:nvSpPr>
          <p:cNvPr id="67" name="Text 61"/>
          <p:cNvSpPr txBox="1"/>
          <p:nvPr/>
        </p:nvSpPr>
        <p:spPr>
          <a:xfrm>
            <a:off x="9562795" y="138074"/>
            <a:ext cx="250088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CASE_COMMERCIAL_SPACE</a:t>
            </a:r>
            <a:endParaRPr lang="en-US" sz="1000" dirty="0"/>
          </a:p>
        </p:txBody>
      </p:sp>
      <p:sp>
        <p:nvSpPr>
          <p:cNvPr id="68" name="Shape 62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69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28600" y="6648602"/>
            <a:ext cx="114300" cy="114300"/>
          </a:xfrm>
          <a:prstGeom prst="rect">
            <a:avLst/>
          </a:prstGeom>
        </p:spPr>
      </p:pic>
      <p:sp>
        <p:nvSpPr>
          <p:cNvPr id="70" name="Text 63"/>
          <p:cNvSpPr txBox="1"/>
          <p:nvPr/>
        </p:nvSpPr>
        <p:spPr>
          <a:xfrm>
            <a:off x="381305" y="6633972"/>
            <a:ext cx="26289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REFLEXIVITY IN ACTION: FEEDBACK LOOPS</a:t>
            </a:r>
            <a:endParaRPr lang="en-US" sz="900" dirty="0"/>
          </a:p>
        </p:txBody>
      </p:sp>
      <p:sp>
        <p:nvSpPr>
          <p:cNvPr id="71" name="Text 64"/>
          <p:cNvSpPr txBox="1"/>
          <p:nvPr/>
        </p:nvSpPr>
        <p:spPr>
          <a:xfrm>
            <a:off x="10111435" y="6633972"/>
            <a:ext cx="19431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STATUS: MONITORING_REVERSAL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sp>
        <p:nvSpPr>
          <p:cNvPr id="4" name="Text 2"/>
          <p:cNvSpPr txBox="1"/>
          <p:nvPr/>
        </p:nvSpPr>
        <p:spPr>
          <a:xfrm>
            <a:off x="304495" y="761695"/>
            <a:ext cx="12097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MACRO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04495" y="952805"/>
            <a:ext cx="3924605" cy="9244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AI产业反身性透镜 2026 Verification Point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304495" y="2276856"/>
            <a:ext cx="3796589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2025-2030年的AI变革并非线性技术演进，而是"认知-行动-现实"的动态耦合。2026年将是关键分水岭，验证"叙事"能否转化为"真实ROI"，决定正向循环持续还是泡沫破裂。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4495" y="3221431"/>
            <a:ext cx="3762756" cy="3029407"/>
          </a:xfrm>
          <a:prstGeom prst="roundRect">
            <a:avLst>
              <a:gd name="adj" fmla="val 380"/>
            </a:avLst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8854" y="3307385"/>
            <a:ext cx="23527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FIG.17.1: VALUATION GAP &amp; REALITY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 l="-7" r="-7"/>
          <a:stretch>
            <a:fillRect/>
          </a:stretch>
        </p:blipFill>
        <p:spPr>
          <a:xfrm>
            <a:off x="314554" y="3231490"/>
            <a:ext cx="3743554" cy="300014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71746" y="883310"/>
            <a:ext cx="7515454" cy="16002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050524" y="854964"/>
            <a:ext cx="1191463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01</a:t>
            </a:r>
            <a:endParaRPr lang="en-US" sz="4800" dirty="0"/>
          </a:p>
        </p:txBody>
      </p:sp>
      <p:sp>
        <p:nvSpPr>
          <p:cNvPr id="12" name="Shape 9"/>
          <p:cNvSpPr/>
          <p:nvPr/>
        </p:nvSpPr>
        <p:spPr>
          <a:xfrm>
            <a:off x="4371746" y="2707538"/>
            <a:ext cx="7515454" cy="16002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050524" y="2679192"/>
            <a:ext cx="1191463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02</a:t>
            </a:r>
            <a:endParaRPr lang="en-US" sz="4800" dirty="0"/>
          </a:p>
        </p:txBody>
      </p:sp>
      <p:sp>
        <p:nvSpPr>
          <p:cNvPr id="14" name="Shape 11"/>
          <p:cNvSpPr/>
          <p:nvPr/>
        </p:nvSpPr>
        <p:spPr>
          <a:xfrm>
            <a:off x="4371746" y="4531766"/>
            <a:ext cx="7515454" cy="16002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050524" y="4502506"/>
            <a:ext cx="1191463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03</a:t>
            </a:r>
            <a:endParaRPr lang="en-US" sz="4800" dirty="0"/>
          </a:p>
        </p:txBody>
      </p:sp>
      <p:sp>
        <p:nvSpPr>
          <p:cNvPr id="16" name="Shape 13"/>
          <p:cNvSpPr/>
          <p:nvPr/>
        </p:nvSpPr>
        <p:spPr>
          <a:xfrm>
            <a:off x="4638751" y="1121969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72254" y="1254557"/>
            <a:ext cx="190195" cy="19019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286146" y="2012594"/>
            <a:ext cx="11905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</p:spPr>
      </p:sp>
      <p:sp>
        <p:nvSpPr>
          <p:cNvPr id="19" name="Text 15"/>
          <p:cNvSpPr txBox="1"/>
          <p:nvPr/>
        </p:nvSpPr>
        <p:spPr>
          <a:xfrm>
            <a:off x="5286146" y="1131113"/>
            <a:ext cx="364845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上游：算力狂欢 Compute Stage Hype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286146" y="1474013"/>
            <a:ext cx="6434633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当前处于强共识驱动的正向反馈阶段：股价上涨验证信念，吸引杠杆资金，波动率被极致压缩。市场将"未来需求"提前定价，估值包含巨大的反身性溢价。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362956" y="2050085"/>
            <a:ext cx="11247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Consensus: High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6620256" y="2050085"/>
            <a:ext cx="16002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Volatility: Compressed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638751" y="2945282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72254" y="3078785"/>
            <a:ext cx="190195" cy="190195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286146" y="3835908"/>
            <a:ext cx="1257300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</p:spPr>
      </p:sp>
      <p:sp>
        <p:nvSpPr>
          <p:cNvPr id="26" name="Text 21"/>
          <p:cNvSpPr txBox="1"/>
          <p:nvPr/>
        </p:nvSpPr>
        <p:spPr>
          <a:xfrm>
            <a:off x="5286146" y="2955341"/>
            <a:ext cx="4295851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中下游：应用验证 Application Checkpoint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286146" y="3298241"/>
            <a:ext cx="5949086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2026年是生死线。市场锚点将从"军备竞赛"转向"利润改善"。若AI无法在B端/C端证明真实ROI，"叙事"与"现实"的裂痕将引发戴维斯双杀；若验证成功，将开启新一轮长牛。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5362956" y="3874313"/>
            <a:ext cx="11914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Anchor: Real ROI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688836" y="3874313"/>
            <a:ext cx="16669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Risk: Davis Double Play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638751" y="476951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72254" y="4903013"/>
            <a:ext cx="190195" cy="190195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286146" y="5660136"/>
            <a:ext cx="1666951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</p:spPr>
      </p:sp>
      <p:sp>
        <p:nvSpPr>
          <p:cNvPr id="33" name="Text 27"/>
          <p:cNvSpPr txBox="1"/>
          <p:nvPr/>
        </p:nvSpPr>
        <p:spPr>
          <a:xfrm>
            <a:off x="5286146" y="4779569"/>
            <a:ext cx="4067251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宏观：制度与利率 Macro &amp; Institutions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5286146" y="5122469"/>
            <a:ext cx="6348679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制度重构（数据确权、AI税）正在塑造新现实。利率曲线是终极仪表盘：长端反映对AI生产力的信念，短端反映政策干预。曲线形态将揭示反身性循环是强化还是破裂。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5362956" y="5698541"/>
            <a:ext cx="16002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Indicator: Yield Curve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7100316" y="5698541"/>
            <a:ext cx="14676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Key: Policy Response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38" name="Text 32"/>
          <p:cNvSpPr txBox="1"/>
          <p:nvPr/>
        </p:nvSpPr>
        <p:spPr>
          <a:xfrm>
            <a:off x="418795" y="138074"/>
            <a:ext cx="250088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17 // AI REFLEXIVITY LENS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9722815" y="138074"/>
            <a:ext cx="234817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CRITICAL MONITORING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41" name="Text 35"/>
          <p:cNvSpPr txBox="1"/>
          <p:nvPr/>
        </p:nvSpPr>
        <p:spPr>
          <a:xfrm>
            <a:off x="228600" y="6633972"/>
            <a:ext cx="32488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SOURCE: REFLEXIVITY THEORY APPLIED TO AI CYCLE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10111435" y="6633972"/>
            <a:ext cx="19431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MARKET UNDERSTANDING SERIES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495" y="1333195"/>
            <a:ext cx="5639105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6" name="Shape 3"/>
          <p:cNvSpPr/>
          <p:nvPr/>
        </p:nvSpPr>
        <p:spPr>
          <a:xfrm>
            <a:off x="6244438" y="761695"/>
            <a:ext cx="9144" cy="5486400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7" name="Shape 4"/>
          <p:cNvSpPr/>
          <p:nvPr/>
        </p:nvSpPr>
        <p:spPr>
          <a:xfrm>
            <a:off x="6558077" y="1333195"/>
            <a:ext cx="5333695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8" name="Shape 5"/>
          <p:cNvSpPr/>
          <p:nvPr/>
        </p:nvSpPr>
        <p:spPr>
          <a:xfrm>
            <a:off x="6558077" y="1495044"/>
            <a:ext cx="5333695" cy="1429207"/>
          </a:xfrm>
          <a:prstGeom prst="roundRect">
            <a:avLst>
              <a:gd name="adj" fmla="val 1706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58077" y="3076956"/>
            <a:ext cx="5333695" cy="1429207"/>
          </a:xfrm>
          <a:prstGeom prst="roundRect">
            <a:avLst>
              <a:gd name="adj" fmla="val 1706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4495" y="761695"/>
            <a:ext cx="113385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KEY TAKEAWAYS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304495" y="933602"/>
            <a:ext cx="20007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五大核心投资启示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558077" y="761695"/>
            <a:ext cx="8101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ter" charset="0"/>
                <a:ea typeface="Jetter" charset="0"/>
                <a:cs typeface="Jetter" charset="0"/>
              </a:rPr>
              <a:t>EXECUTION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558077" y="933602"/>
            <a:ext cx="15435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实战行动清单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1"/>
          <a:srcRect t="-1100" b="-1100"/>
          <a:stretch>
            <a:fillRect/>
          </a:stretch>
        </p:blipFill>
        <p:spPr>
          <a:xfrm>
            <a:off x="6758330" y="1721815"/>
            <a:ext cx="114300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48526" y="1705356"/>
            <a:ext cx="162488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PORTFOLIO CHECKLIST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2"/>
          <a:srcRect l="-1507" r="-1507"/>
          <a:stretch>
            <a:fillRect/>
          </a:stretch>
        </p:blipFill>
        <p:spPr>
          <a:xfrm>
            <a:off x="6758330" y="3302813"/>
            <a:ext cx="171907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06133" y="3286354"/>
            <a:ext cx="154807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MONITORING SIGNALS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04495" y="1495044"/>
            <a:ext cx="5562295" cy="961949"/>
          </a:xfrm>
          <a:prstGeom prst="roundRect">
            <a:avLst>
              <a:gd name="adj" fmla="val 376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6344" y="1657807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rcRect t="-842" b="-842"/>
          <a:stretch>
            <a:fillRect/>
          </a:stretch>
        </p:blipFill>
        <p:spPr>
          <a:xfrm>
            <a:off x="562356" y="1762049"/>
            <a:ext cx="190195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00354" y="1657807"/>
            <a:ext cx="11914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先Beta后Alpha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2152498" y="1684325"/>
            <a:ext cx="562356" cy="181051"/>
          </a:xfrm>
          <a:prstGeom prst="roundRect">
            <a:avLst>
              <a:gd name="adj" fmla="val 53163"/>
            </a:avLst>
          </a:prstGeom>
          <a:solidFill>
            <a:srgbClr val="1E293B"/>
          </a:solidFill>
        </p:spPr>
      </p:sp>
      <p:sp>
        <p:nvSpPr>
          <p:cNvPr id="23" name="Text 17"/>
          <p:cNvSpPr txBox="1"/>
          <p:nvPr/>
        </p:nvSpPr>
        <p:spPr>
          <a:xfrm>
            <a:off x="2209190" y="1702613"/>
            <a:ext cx="523951" cy="124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ter" charset="0"/>
                <a:ea typeface="Jetter" charset="0"/>
                <a:cs typeface="Jetter" charset="0"/>
              </a:rPr>
              <a:t>STRATEGY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1000354" y="1914754"/>
            <a:ext cx="4739335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在有效市场（如美股）优先选择低成本指数基金，拿稳Beta；在无效市场（如A股）深耕研究或做波段，争取Alpha。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04495" y="2566721"/>
            <a:ext cx="5562295" cy="961949"/>
          </a:xfrm>
          <a:prstGeom prst="roundRect">
            <a:avLst>
              <a:gd name="adj" fmla="val 376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6344" y="2728570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rcRect t="-842" b="-842"/>
          <a:stretch>
            <a:fillRect/>
          </a:stretch>
        </p:blipFill>
        <p:spPr>
          <a:xfrm>
            <a:off x="562356" y="2833726"/>
            <a:ext cx="190195" cy="17190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00354" y="2728570"/>
            <a:ext cx="10387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分散看相关性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1990649" y="2756002"/>
            <a:ext cx="342900" cy="181051"/>
          </a:xfrm>
          <a:prstGeom prst="roundRect">
            <a:avLst>
              <a:gd name="adj" fmla="val 53163"/>
            </a:avLst>
          </a:prstGeom>
          <a:solidFill>
            <a:srgbClr val="1E293B"/>
          </a:solidFill>
        </p:spPr>
      </p:sp>
      <p:sp>
        <p:nvSpPr>
          <p:cNvPr id="30" name="Text 23"/>
          <p:cNvSpPr txBox="1"/>
          <p:nvPr/>
        </p:nvSpPr>
        <p:spPr>
          <a:xfrm>
            <a:off x="2048256" y="2774290"/>
            <a:ext cx="305410" cy="124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ter" charset="0"/>
                <a:ea typeface="Jetter" charset="0"/>
                <a:cs typeface="Jetter" charset="0"/>
              </a:rPr>
              <a:t>RISK</a:t>
            </a:r>
            <a:endParaRPr lang="en-US" sz="800" dirty="0"/>
          </a:p>
        </p:txBody>
      </p:sp>
      <p:sp>
        <p:nvSpPr>
          <p:cNvPr id="31" name="Text 24"/>
          <p:cNvSpPr txBox="1"/>
          <p:nvPr/>
        </p:nvSpPr>
        <p:spPr>
          <a:xfrm>
            <a:off x="1000354" y="2986430"/>
            <a:ext cx="4567428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分散的关键不是持有数量，而是资产间的低相关或负相关。不要持有"一荣俱荣、一损俱损"的一篮子同类资产。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04495" y="3638398"/>
            <a:ext cx="5562295" cy="961949"/>
          </a:xfrm>
          <a:prstGeom prst="roundRect">
            <a:avLst>
              <a:gd name="adj" fmla="val 376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66344" y="3800246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5"/>
          <a:srcRect t="-842" b="-842"/>
          <a:stretch>
            <a:fillRect/>
          </a:stretch>
        </p:blipFill>
        <p:spPr>
          <a:xfrm>
            <a:off x="562356" y="3905402"/>
            <a:ext cx="190195" cy="171907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00354" y="3800246"/>
            <a:ext cx="11914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识别反身性阶段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2143354" y="3826764"/>
            <a:ext cx="390449" cy="181051"/>
          </a:xfrm>
          <a:prstGeom prst="roundRect">
            <a:avLst>
              <a:gd name="adj" fmla="val 53163"/>
            </a:avLst>
          </a:prstGeom>
          <a:solidFill>
            <a:srgbClr val="1E293B"/>
          </a:solidFill>
        </p:spPr>
      </p:sp>
      <p:sp>
        <p:nvSpPr>
          <p:cNvPr id="37" name="Text 29"/>
          <p:cNvSpPr txBox="1"/>
          <p:nvPr/>
        </p:nvSpPr>
        <p:spPr>
          <a:xfrm>
            <a:off x="2200046" y="3845966"/>
            <a:ext cx="352958" cy="124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ter" charset="0"/>
                <a:ea typeface="Jetter" charset="0"/>
                <a:cs typeface="Jetter" charset="0"/>
              </a:rPr>
              <a:t>CYCLE</a:t>
            </a:r>
            <a:endParaRPr lang="en-US" sz="800" dirty="0"/>
          </a:p>
        </p:txBody>
      </p:sp>
      <p:sp>
        <p:nvSpPr>
          <p:cNvPr id="38" name="Text 30"/>
          <p:cNvSpPr txBox="1"/>
          <p:nvPr/>
        </p:nvSpPr>
        <p:spPr>
          <a:xfrm>
            <a:off x="1000354" y="4058107"/>
            <a:ext cx="4710989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低波动率不等于安全，往往是暴风雨前的宁静。警惕"强共识+高杠杆"的组合，那是反身性破裂的前兆。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304495" y="4710074"/>
            <a:ext cx="5562295" cy="961949"/>
          </a:xfrm>
          <a:prstGeom prst="roundRect">
            <a:avLst>
              <a:gd name="adj" fmla="val 376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66344" y="4871923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6"/>
          <a:srcRect l="-1064" r="-1064"/>
          <a:stretch>
            <a:fillRect/>
          </a:stretch>
        </p:blipFill>
        <p:spPr>
          <a:xfrm>
            <a:off x="547726" y="4977079"/>
            <a:ext cx="219456" cy="171907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000354" y="4871923"/>
            <a:ext cx="11914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利用情绪做节奏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2143354" y="4898441"/>
            <a:ext cx="448056" cy="181051"/>
          </a:xfrm>
          <a:prstGeom prst="roundRect">
            <a:avLst>
              <a:gd name="adj" fmla="val 53163"/>
            </a:avLst>
          </a:prstGeom>
          <a:solidFill>
            <a:srgbClr val="1E293B"/>
          </a:solidFill>
        </p:spPr>
      </p:sp>
      <p:sp>
        <p:nvSpPr>
          <p:cNvPr id="44" name="Text 35"/>
          <p:cNvSpPr txBox="1"/>
          <p:nvPr/>
        </p:nvSpPr>
        <p:spPr>
          <a:xfrm>
            <a:off x="2200046" y="4917643"/>
            <a:ext cx="409651" cy="124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ter" charset="0"/>
                <a:ea typeface="Jetter" charset="0"/>
                <a:cs typeface="Jetter" charset="0"/>
              </a:rPr>
              <a:t>TIMING</a:t>
            </a:r>
            <a:endParaRPr lang="en-US" sz="800" dirty="0"/>
          </a:p>
        </p:txBody>
      </p:sp>
      <p:sp>
        <p:nvSpPr>
          <p:cNvPr id="45" name="Text 36"/>
          <p:cNvSpPr txBox="1"/>
          <p:nvPr/>
        </p:nvSpPr>
        <p:spPr>
          <a:xfrm>
            <a:off x="1000354" y="5128870"/>
            <a:ext cx="4796028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对"过度反应"（政策/题材）做逆向交易，逢高减磅；对"反应不足"（财报/宏观）做跟随交易，耐心持有。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304495" y="5781751"/>
            <a:ext cx="5562295" cy="961949"/>
          </a:xfrm>
          <a:prstGeom prst="roundRect">
            <a:avLst>
              <a:gd name="adj" fmla="val 376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466344" y="5943600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71500" y="6048756"/>
            <a:ext cx="171907" cy="171907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000354" y="5943600"/>
            <a:ext cx="10387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风险管理为先</a:t>
            </a:r>
            <a:endParaRPr lang="en-US" sz="1200" dirty="0"/>
          </a:p>
        </p:txBody>
      </p:sp>
      <p:sp>
        <p:nvSpPr>
          <p:cNvPr id="50" name="Shape 40"/>
          <p:cNvSpPr/>
          <p:nvPr/>
        </p:nvSpPr>
        <p:spPr>
          <a:xfrm>
            <a:off x="1990649" y="5970118"/>
            <a:ext cx="504749" cy="181051"/>
          </a:xfrm>
          <a:prstGeom prst="roundRect">
            <a:avLst>
              <a:gd name="adj" fmla="val 53163"/>
            </a:avLst>
          </a:prstGeom>
          <a:solidFill>
            <a:srgbClr val="1E293B"/>
          </a:solidFill>
        </p:spPr>
      </p:sp>
      <p:sp>
        <p:nvSpPr>
          <p:cNvPr id="51" name="Text 41"/>
          <p:cNvSpPr txBox="1"/>
          <p:nvPr/>
        </p:nvSpPr>
        <p:spPr>
          <a:xfrm>
            <a:off x="2048256" y="5989320"/>
            <a:ext cx="467258" cy="124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ter" charset="0"/>
                <a:ea typeface="Jetter" charset="0"/>
                <a:cs typeface="Jetter" charset="0"/>
              </a:rPr>
              <a:t>DEFENSE</a:t>
            </a:r>
            <a:endParaRPr lang="en-US" sz="800" dirty="0"/>
          </a:p>
        </p:txBody>
      </p:sp>
      <p:sp>
        <p:nvSpPr>
          <p:cNvPr id="52" name="Text 42"/>
          <p:cNvSpPr txBox="1"/>
          <p:nvPr/>
        </p:nvSpPr>
        <p:spPr>
          <a:xfrm>
            <a:off x="1000354" y="6200546"/>
            <a:ext cx="4767682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不仅看收益预期，更要设想"如果错了怎么办"。制定仓位控制、杠杆限制和流动性预案。</a:t>
            </a:r>
            <a:endParaRPr lang="en-US" sz="1000" dirty="0"/>
          </a:p>
        </p:txBody>
      </p:sp>
      <p:sp>
        <p:nvSpPr>
          <p:cNvPr id="53" name="Text 43"/>
          <p:cNvSpPr txBox="1"/>
          <p:nvPr/>
        </p:nvSpPr>
        <p:spPr>
          <a:xfrm>
            <a:off x="6948526" y="2000707"/>
            <a:ext cx="2900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检查持仓资产的相关性矩阵，剔除高度重叠标的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6948526" y="2266798"/>
            <a:ext cx="29105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评估当前杠杆水平，确保能承受20%的极端回撤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6948526" y="2533802"/>
            <a:ext cx="29105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区分"核心配置"(Beta)与"卫星投机"(Alpha)仓位</a:t>
            </a:r>
            <a:endParaRPr lang="en-US" sz="1000" dirty="0"/>
          </a:p>
        </p:txBody>
      </p:sp>
      <p:sp>
        <p:nvSpPr>
          <p:cNvPr id="56" name="Text 46"/>
          <p:cNvSpPr txBox="1"/>
          <p:nvPr/>
        </p:nvSpPr>
        <p:spPr>
          <a:xfrm>
            <a:off x="6948526" y="3581705"/>
            <a:ext cx="25008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关注波动率异动：低波动突升是离场信号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6948526" y="3847795"/>
            <a:ext cx="27678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监控融资余额变化：背离（价涨量缩）即预警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6948526" y="4114800"/>
            <a:ext cx="30339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警惕一致性预期：当所有人都看好时，寻找反转点</a:t>
            </a:r>
            <a:endParaRPr lang="en-US" sz="1000" dirty="0"/>
          </a:p>
        </p:txBody>
      </p:sp>
      <p:sp>
        <p:nvSpPr>
          <p:cNvPr id="59" name="Shape 49"/>
          <p:cNvSpPr/>
          <p:nvPr/>
        </p:nvSpPr>
        <p:spPr>
          <a:xfrm>
            <a:off x="6558077" y="5257800"/>
            <a:ext cx="5333695" cy="990295"/>
          </a:xfrm>
          <a:prstGeom prst="roundRect">
            <a:avLst>
              <a:gd name="adj" fmla="val 3551"/>
            </a:avLst>
          </a:prstGeom>
          <a:solidFill>
            <a:srgbClr val="FF6B35">
              <a:alpha val="10000"/>
            </a:srgbClr>
          </a:solidFill>
        </p:spPr>
      </p:sp>
      <p:sp>
        <p:nvSpPr>
          <p:cNvPr id="60" name="Shape 50"/>
          <p:cNvSpPr/>
          <p:nvPr/>
        </p:nvSpPr>
        <p:spPr>
          <a:xfrm>
            <a:off x="6558077" y="5257800"/>
            <a:ext cx="38405" cy="990295"/>
          </a:xfrm>
          <a:prstGeom prst="rect">
            <a:avLst/>
          </a:prstGeom>
          <a:solidFill>
            <a:srgbClr val="FF6B35"/>
          </a:solidFill>
        </p:spPr>
      </p:sp>
      <p:pic>
        <p:nvPicPr>
          <p:cNvPr id="61" name="Image 8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rcRect l="-743" r="-743"/>
          <a:stretch>
            <a:fillRect/>
          </a:stretch>
        </p:blipFill>
        <p:spPr>
          <a:xfrm>
            <a:off x="11430000" y="5333695"/>
            <a:ext cx="304495" cy="342900"/>
          </a:xfrm>
          <a:prstGeom prst="rect">
            <a:avLst/>
          </a:prstGeom>
        </p:spPr>
      </p:pic>
      <p:sp>
        <p:nvSpPr>
          <p:cNvPr id="62" name="Text 51"/>
          <p:cNvSpPr txBox="1"/>
          <p:nvPr/>
        </p:nvSpPr>
        <p:spPr>
          <a:xfrm>
            <a:off x="6786677" y="5447995"/>
            <a:ext cx="4967935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"理解反身性的人，不会试图预测未来，而是准备应对多种可能性。重要的不是你对还是错，而是对的时候赚多少、错的时候亏多少。"</a:t>
            </a:r>
            <a:endParaRPr lang="en-US" sz="1000" dirty="0"/>
          </a:p>
        </p:txBody>
      </p:sp>
      <p:sp>
        <p:nvSpPr>
          <p:cNvPr id="63" name="Text 52"/>
          <p:cNvSpPr txBox="1"/>
          <p:nvPr/>
        </p:nvSpPr>
        <p:spPr>
          <a:xfrm>
            <a:off x="10736885" y="5905195"/>
            <a:ext cx="10479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— GEORGE SOROS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0" y="448056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65" name="Text 54"/>
          <p:cNvSpPr txBox="1"/>
          <p:nvPr/>
        </p:nvSpPr>
        <p:spPr>
          <a:xfrm>
            <a:off x="418795" y="138074"/>
            <a:ext cx="290047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ter" charset="0"/>
                <a:ea typeface="Jetter" charset="0"/>
                <a:cs typeface="Jetter" charset="0"/>
              </a:rPr>
              <a:t>PAGE 18 // CONCLUSION &amp; ACTION PLAN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10042855" y="138074"/>
            <a:ext cx="202448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_STATUS: EXECUTION_READY</a:t>
            </a:r>
            <a:endParaRPr lang="en-US" sz="1000" dirty="0"/>
          </a:p>
        </p:txBody>
      </p:sp>
      <p:sp>
        <p:nvSpPr>
          <p:cNvPr id="67" name="Shape 56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68" name="Text 57"/>
          <p:cNvSpPr txBox="1"/>
          <p:nvPr/>
        </p:nvSpPr>
        <p:spPr>
          <a:xfrm>
            <a:off x="228600" y="6633972"/>
            <a:ext cx="10479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Jetter" charset="0"/>
                <a:ea typeface="Jetter" charset="0"/>
                <a:cs typeface="Jetter" charset="0"/>
              </a:rPr>
              <a:t>END OF SESSION</a:t>
            </a:r>
            <a:endParaRPr lang="en-US" sz="900" dirty="0"/>
          </a:p>
        </p:txBody>
      </p:sp>
      <p:sp>
        <p:nvSpPr>
          <p:cNvPr id="69" name="Text 58"/>
          <p:cNvSpPr txBox="1"/>
          <p:nvPr/>
        </p:nvSpPr>
        <p:spPr>
          <a:xfrm>
            <a:off x="10317175" y="6633972"/>
            <a:ext cx="17337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ter" charset="0"/>
                <a:ea typeface="Jetter" charset="0"/>
                <a:cs typeface="Jetter" charset="0"/>
              </a:rPr>
              <a:t>SYSTEM: DISCONNECTING...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10735</Words>
  <Application>WPS 演示</Application>
  <PresentationFormat>On-screen Show (16:9)</PresentationFormat>
  <Paragraphs>1096</Paragraphs>
  <Slides>17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JetBrains Mono</vt:lpstr>
      <vt:lpstr>Segoe Print</vt:lpstr>
      <vt:lpstr>JetBrains Mono</vt:lpstr>
      <vt:lpstr>JetBrains Mono</vt:lpstr>
      <vt:lpstr>Noto Sans SC</vt:lpstr>
      <vt:lpstr>Noto Sans SC</vt:lpstr>
      <vt:lpstr>MingLiU-ExtB</vt:lpstr>
      <vt:lpstr>Calibri</vt:lpstr>
      <vt:lpstr>微软雅黑</vt:lpstr>
      <vt:lpstr>Arial Unicode MS</vt:lpstr>
      <vt:lpstr>等线</vt:lpstr>
      <vt:lpstr>Jetter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Han</cp:lastModifiedBy>
  <cp:revision>2</cp:revision>
  <dcterms:created xsi:type="dcterms:W3CDTF">2025-12-26T16:24:00Z</dcterms:created>
  <dcterms:modified xsi:type="dcterms:W3CDTF">2025-12-26T18:21:11Z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4C7E160B7D7F4366BC38EAE46D0AD589_12</vt:lpwstr>
  </property>
</Properties>
</file>