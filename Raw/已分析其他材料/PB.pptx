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3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image" Target="../media/image16.png"/><Relationship Id="rId5" Type="http://schemas.openxmlformats.org/officeDocument/2006/relationships/image" Target="../media/image32.png"/><Relationship Id="rId4" Type="http://schemas.openxmlformats.org/officeDocument/2006/relationships/image" Target="../media/image13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7.png"/><Relationship Id="rId10" Type="http://schemas.openxmlformats.org/officeDocument/2006/relationships/image" Target="../media/image36.png"/><Relationship Id="rId1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1.png"/><Relationship Id="rId2" Type="http://schemas.openxmlformats.org/officeDocument/2006/relationships/image" Target="../media/image39.png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49.png"/><Relationship Id="rId12" Type="http://schemas.openxmlformats.org/officeDocument/2006/relationships/image" Target="../media/image48.png"/><Relationship Id="rId11" Type="http://schemas.openxmlformats.org/officeDocument/2006/relationships/image" Target="../media/image47.png"/><Relationship Id="rId10" Type="http://schemas.openxmlformats.org/officeDocument/2006/relationships/image" Target="../media/image46.png"/><Relationship Id="rId1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png"/><Relationship Id="rId8" Type="http://schemas.openxmlformats.org/officeDocument/2006/relationships/image" Target="../media/image55.png"/><Relationship Id="rId7" Type="http://schemas.openxmlformats.org/officeDocument/2006/relationships/image" Target="../media/image54.png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13.png"/><Relationship Id="rId3" Type="http://schemas.openxmlformats.org/officeDocument/2006/relationships/image" Target="../media/image51.png"/><Relationship Id="rId2" Type="http://schemas.openxmlformats.org/officeDocument/2006/relationships/image" Target="../media/image31.png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58.png"/><Relationship Id="rId10" Type="http://schemas.openxmlformats.org/officeDocument/2006/relationships/image" Target="../media/image57.png"/><Relationship Id="rId1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png"/><Relationship Id="rId8" Type="http://schemas.openxmlformats.org/officeDocument/2006/relationships/image" Target="../media/image61.png"/><Relationship Id="rId7" Type="http://schemas.openxmlformats.org/officeDocument/2006/relationships/image" Target="../media/image60.png"/><Relationship Id="rId6" Type="http://schemas.openxmlformats.org/officeDocument/2006/relationships/image" Target="../media/image59.png"/><Relationship Id="rId5" Type="http://schemas.openxmlformats.org/officeDocument/2006/relationships/image" Target="../media/image52.png"/><Relationship Id="rId4" Type="http://schemas.openxmlformats.org/officeDocument/2006/relationships/image" Target="../media/image13.png"/><Relationship Id="rId3" Type="http://schemas.openxmlformats.org/officeDocument/2006/relationships/image" Target="../media/image51.png"/><Relationship Id="rId2" Type="http://schemas.openxmlformats.org/officeDocument/2006/relationships/image" Target="../media/image31.pn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63.png"/><Relationship Id="rId10" Type="http://schemas.openxmlformats.org/officeDocument/2006/relationships/image" Target="../media/image54.png"/><Relationship Id="rId1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png"/><Relationship Id="rId8" Type="http://schemas.openxmlformats.org/officeDocument/2006/relationships/image" Target="../media/image65.png"/><Relationship Id="rId7" Type="http://schemas.openxmlformats.org/officeDocument/2006/relationships/image" Target="../media/image64.png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13.png"/><Relationship Id="rId3" Type="http://schemas.openxmlformats.org/officeDocument/2006/relationships/image" Target="../media/image51.png"/><Relationship Id="rId2" Type="http://schemas.openxmlformats.org/officeDocument/2006/relationships/image" Target="../media/image31.png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58.png"/><Relationship Id="rId12" Type="http://schemas.openxmlformats.org/officeDocument/2006/relationships/image" Target="../media/image69.png"/><Relationship Id="rId11" Type="http://schemas.openxmlformats.org/officeDocument/2006/relationships/image" Target="../media/image68.png"/><Relationship Id="rId10" Type="http://schemas.openxmlformats.org/officeDocument/2006/relationships/image" Target="../media/image67.png"/><Relationship Id="rId1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72.png"/><Relationship Id="rId7" Type="http://schemas.openxmlformats.org/officeDocument/2006/relationships/image" Target="../media/image71.png"/><Relationship Id="rId6" Type="http://schemas.openxmlformats.org/officeDocument/2006/relationships/image" Target="../media/image70.png"/><Relationship Id="rId5" Type="http://schemas.openxmlformats.org/officeDocument/2006/relationships/image" Target="../media/image52.png"/><Relationship Id="rId4" Type="http://schemas.openxmlformats.org/officeDocument/2006/relationships/image" Target="../media/image13.png"/><Relationship Id="rId3" Type="http://schemas.openxmlformats.org/officeDocument/2006/relationships/image" Target="../media/image51.png"/><Relationship Id="rId2" Type="http://schemas.openxmlformats.org/officeDocument/2006/relationships/image" Target="../media/image31.pn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3.png"/><Relationship Id="rId1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55.png"/><Relationship Id="rId7" Type="http://schemas.openxmlformats.org/officeDocument/2006/relationships/image" Target="../media/image75.png"/><Relationship Id="rId6" Type="http://schemas.openxmlformats.org/officeDocument/2006/relationships/image" Target="../media/image74.png"/><Relationship Id="rId5" Type="http://schemas.openxmlformats.org/officeDocument/2006/relationships/image" Target="../media/image52.png"/><Relationship Id="rId4" Type="http://schemas.openxmlformats.org/officeDocument/2006/relationships/image" Target="../media/image13.png"/><Relationship Id="rId3" Type="http://schemas.openxmlformats.org/officeDocument/2006/relationships/image" Target="../media/image51.png"/><Relationship Id="rId2" Type="http://schemas.openxmlformats.org/officeDocument/2006/relationships/image" Target="../media/image31.png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6.png"/><Relationship Id="rId1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png"/><Relationship Id="rId8" Type="http://schemas.openxmlformats.org/officeDocument/2006/relationships/image" Target="../media/image80.png"/><Relationship Id="rId7" Type="http://schemas.openxmlformats.org/officeDocument/2006/relationships/image" Target="../media/image79.png"/><Relationship Id="rId6" Type="http://schemas.openxmlformats.org/officeDocument/2006/relationships/image" Target="../media/image78.png"/><Relationship Id="rId5" Type="http://schemas.openxmlformats.org/officeDocument/2006/relationships/image" Target="../media/image52.png"/><Relationship Id="rId4" Type="http://schemas.openxmlformats.org/officeDocument/2006/relationships/image" Target="../media/image13.png"/><Relationship Id="rId3" Type="http://schemas.openxmlformats.org/officeDocument/2006/relationships/image" Target="../media/image11.png"/><Relationship Id="rId2" Type="http://schemas.openxmlformats.org/officeDocument/2006/relationships/image" Target="../media/image77.png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76.png"/><Relationship Id="rId10" Type="http://schemas.openxmlformats.org/officeDocument/2006/relationships/image" Target="../media/image72.png"/><Relationship Id="rId1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png"/><Relationship Id="rId8" Type="http://schemas.openxmlformats.org/officeDocument/2006/relationships/image" Target="../media/image87.png"/><Relationship Id="rId7" Type="http://schemas.openxmlformats.org/officeDocument/2006/relationships/image" Target="../media/image86.png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13.png"/><Relationship Id="rId3" Type="http://schemas.openxmlformats.org/officeDocument/2006/relationships/image" Target="../media/image31.png"/><Relationship Id="rId21" Type="http://schemas.openxmlformats.org/officeDocument/2006/relationships/notesSlide" Target="../notesSlides/notesSlide12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83.png"/><Relationship Id="rId19" Type="http://schemas.openxmlformats.org/officeDocument/2006/relationships/image" Target="../media/image98.png"/><Relationship Id="rId18" Type="http://schemas.openxmlformats.org/officeDocument/2006/relationships/image" Target="../media/image97.png"/><Relationship Id="rId17" Type="http://schemas.openxmlformats.org/officeDocument/2006/relationships/image" Target="../media/image96.png"/><Relationship Id="rId16" Type="http://schemas.openxmlformats.org/officeDocument/2006/relationships/image" Target="../media/image95.png"/><Relationship Id="rId15" Type="http://schemas.openxmlformats.org/officeDocument/2006/relationships/image" Target="../media/image94.png"/><Relationship Id="rId14" Type="http://schemas.openxmlformats.org/officeDocument/2006/relationships/image" Target="../media/image93.png"/><Relationship Id="rId13" Type="http://schemas.openxmlformats.org/officeDocument/2006/relationships/image" Target="../media/image92.png"/><Relationship Id="rId12" Type="http://schemas.openxmlformats.org/officeDocument/2006/relationships/image" Target="../media/image91.png"/><Relationship Id="rId11" Type="http://schemas.openxmlformats.org/officeDocument/2006/relationships/image" Target="../media/image90.png"/><Relationship Id="rId10" Type="http://schemas.openxmlformats.org/officeDocument/2006/relationships/image" Target="../media/image89.png"/><Relationship Id="rId1" Type="http://schemas.openxmlformats.org/officeDocument/2006/relationships/image" Target="../media/image8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png"/><Relationship Id="rId8" Type="http://schemas.openxmlformats.org/officeDocument/2006/relationships/image" Target="../media/image105.png"/><Relationship Id="rId7" Type="http://schemas.openxmlformats.org/officeDocument/2006/relationships/image" Target="../media/image104.png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3.png"/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6" Type="http://schemas.openxmlformats.org/officeDocument/2006/relationships/notesSlide" Target="../notesSlides/notesSlide13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11.png"/><Relationship Id="rId13" Type="http://schemas.openxmlformats.org/officeDocument/2006/relationships/image" Target="../media/image110.png"/><Relationship Id="rId12" Type="http://schemas.openxmlformats.org/officeDocument/2006/relationships/image" Target="../media/image109.png"/><Relationship Id="rId11" Type="http://schemas.openxmlformats.org/officeDocument/2006/relationships/image" Target="../media/image108.png"/><Relationship Id="rId10" Type="http://schemas.openxmlformats.org/officeDocument/2006/relationships/image" Target="../media/image107.png"/><Relationship Id="rId1" Type="http://schemas.openxmlformats.org/officeDocument/2006/relationships/image" Target="../media/image9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png"/><Relationship Id="rId8" Type="http://schemas.openxmlformats.org/officeDocument/2006/relationships/image" Target="../media/image116.png"/><Relationship Id="rId7" Type="http://schemas.openxmlformats.org/officeDocument/2006/relationships/image" Target="../media/image115.png"/><Relationship Id="rId6" Type="http://schemas.openxmlformats.org/officeDocument/2006/relationships/image" Target="../media/image114.png"/><Relationship Id="rId5" Type="http://schemas.openxmlformats.org/officeDocument/2006/relationships/image" Target="../media/image13.png"/><Relationship Id="rId4" Type="http://schemas.openxmlformats.org/officeDocument/2006/relationships/image" Target="../media/image113.png"/><Relationship Id="rId3" Type="http://schemas.openxmlformats.org/officeDocument/2006/relationships/image" Target="../media/image19.png"/><Relationship Id="rId2" Type="http://schemas.openxmlformats.org/officeDocument/2006/relationships/image" Target="../media/image31.png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20.png"/><Relationship Id="rId11" Type="http://schemas.openxmlformats.org/officeDocument/2006/relationships/image" Target="../media/image119.png"/><Relationship Id="rId10" Type="http://schemas.openxmlformats.org/officeDocument/2006/relationships/image" Target="../media/image118.png"/><Relationship Id="rId1" Type="http://schemas.openxmlformats.org/officeDocument/2006/relationships/image" Target="../media/image112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7.png"/><Relationship Id="rId8" Type="http://schemas.openxmlformats.org/officeDocument/2006/relationships/image" Target="../media/image126.png"/><Relationship Id="rId7" Type="http://schemas.openxmlformats.org/officeDocument/2006/relationships/image" Target="../media/image125.png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3.png"/><Relationship Id="rId3" Type="http://schemas.openxmlformats.org/officeDocument/2006/relationships/image" Target="../media/image122.png"/><Relationship Id="rId2" Type="http://schemas.openxmlformats.org/officeDocument/2006/relationships/image" Target="../media/image31.png"/><Relationship Id="rId15" Type="http://schemas.openxmlformats.org/officeDocument/2006/relationships/notesSlide" Target="../notesSlides/notesSlide15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31.png"/><Relationship Id="rId12" Type="http://schemas.openxmlformats.org/officeDocument/2006/relationships/image" Target="../media/image130.png"/><Relationship Id="rId11" Type="http://schemas.openxmlformats.org/officeDocument/2006/relationships/image" Target="../media/image129.png"/><Relationship Id="rId10" Type="http://schemas.openxmlformats.org/officeDocument/2006/relationships/image" Target="../media/image128.png"/><Relationship Id="rId1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904695" y="-952805"/>
            <a:ext cx="5715000" cy="5715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3" r="-3"/>
          <a:stretch>
            <a:fillRect/>
          </a:stretch>
        </p:blipFill>
        <p:spPr>
          <a:xfrm>
            <a:off x="7619695" y="2857500"/>
            <a:ext cx="5715000" cy="47621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 t="-401" b="-401"/>
          <a:stretch>
            <a:fillRect/>
          </a:stretch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952805" y="2381098"/>
            <a:ext cx="190195" cy="761695"/>
          </a:xfrm>
          <a:prstGeom prst="roundRect">
            <a:avLst>
              <a:gd name="adj" fmla="val 96154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1238098" y="1904695"/>
            <a:ext cx="190195" cy="1238098"/>
          </a:xfrm>
          <a:prstGeom prst="roundRect">
            <a:avLst>
              <a:gd name="adj" fmla="val 96154"/>
            </a:avLst>
          </a:prstGeom>
          <a:solidFill>
            <a:srgbClr val="3B82F6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524305" y="1429207"/>
            <a:ext cx="190195" cy="1714500"/>
          </a:xfrm>
          <a:prstGeom prst="roundRect">
            <a:avLst>
              <a:gd name="adj" fmla="val 96154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904695" y="3524098"/>
            <a:ext cx="4990795" cy="476402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11" name="Shape 6"/>
          <p:cNvSpPr/>
          <p:nvPr/>
        </p:nvSpPr>
        <p:spPr>
          <a:xfrm>
            <a:off x="1904695" y="3524098"/>
            <a:ext cx="38405" cy="47640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 l="-21" r="-21"/>
          <a:stretch>
            <a:fillRect/>
          </a:stretch>
        </p:blipFill>
        <p:spPr>
          <a:xfrm>
            <a:off x="1904695" y="4381805"/>
            <a:ext cx="6687007" cy="875995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t="-2100" b="-2100"/>
          <a:stretch>
            <a:fillRect/>
          </a:stretch>
        </p:blipFill>
        <p:spPr>
          <a:xfrm>
            <a:off x="3715207" y="4572000"/>
            <a:ext cx="9144" cy="476402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rcRect t="-2100" b="-2100"/>
          <a:stretch>
            <a:fillRect/>
          </a:stretch>
        </p:blipFill>
        <p:spPr>
          <a:xfrm>
            <a:off x="5524805" y="4572000"/>
            <a:ext cx="9144" cy="476402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0" y="6381598"/>
            <a:ext cx="12191695" cy="485546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16" name="Shape 8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9"/>
          <p:cNvSpPr txBox="1"/>
          <p:nvPr/>
        </p:nvSpPr>
        <p:spPr>
          <a:xfrm>
            <a:off x="1975104" y="1781251"/>
            <a:ext cx="14200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模块</a:t>
            </a:r>
            <a:r>
              <a:rPr lang="zh-CN" altLang="en-US" sz="1200" kern="0" spc="150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四</a:t>
            </a:r>
            <a:r>
              <a:rPr lang="en-US" sz="1200" kern="0" spc="150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· 完整版</a:t>
            </a:r>
            <a:endParaRPr lang="en-US" sz="1200" dirty="0"/>
          </a:p>
        </p:txBody>
      </p:sp>
      <p:sp>
        <p:nvSpPr>
          <p:cNvPr id="18" name="Text 10"/>
          <p:cNvSpPr txBox="1"/>
          <p:nvPr/>
        </p:nvSpPr>
        <p:spPr>
          <a:xfrm>
            <a:off x="1904695" y="2286000"/>
            <a:ext cx="9068105" cy="838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3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 资产估值法</a:t>
            </a:r>
            <a:endParaRPr lang="en-US" sz="6000" dirty="0"/>
          </a:p>
        </p:txBody>
      </p:sp>
      <p:sp>
        <p:nvSpPr>
          <p:cNvPr id="19" name="Text 11"/>
          <p:cNvSpPr txBox="1"/>
          <p:nvPr/>
        </p:nvSpPr>
        <p:spPr>
          <a:xfrm>
            <a:off x="2095805" y="3619195"/>
            <a:ext cx="4763110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资产型与周期型行业的核心估值工具</a:t>
            </a:r>
            <a:endParaRPr lang="en-US" sz="18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rcRect l="-1648" r="-1648"/>
          <a:stretch>
            <a:fillRect/>
          </a:stretch>
        </p:blipFill>
        <p:spPr>
          <a:xfrm>
            <a:off x="2124151" y="4671670"/>
            <a:ext cx="171907" cy="19019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2428646" y="4524451"/>
            <a:ext cx="123444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时间基准</a:t>
            </a:r>
            <a:endParaRPr lang="en-US" sz="1000" dirty="0"/>
          </a:p>
        </p:txBody>
      </p:sp>
      <p:sp>
        <p:nvSpPr>
          <p:cNvPr id="22" name="Text 13"/>
          <p:cNvSpPr txBox="1"/>
          <p:nvPr/>
        </p:nvSpPr>
        <p:spPr>
          <a:xfrm>
            <a:off x="2428646" y="4762195"/>
            <a:ext cx="12198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2025年</a:t>
            </a:r>
            <a:endParaRPr lang="en-US" sz="13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019702" y="4671670"/>
            <a:ext cx="190195" cy="190195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4334256" y="4524451"/>
            <a:ext cx="123444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量能基准</a:t>
            </a:r>
            <a:endParaRPr lang="en-US" sz="1000" dirty="0"/>
          </a:p>
        </p:txBody>
      </p:sp>
      <p:sp>
        <p:nvSpPr>
          <p:cNvPr id="25" name="Text 15"/>
          <p:cNvSpPr txBox="1"/>
          <p:nvPr/>
        </p:nvSpPr>
        <p:spPr>
          <a:xfrm>
            <a:off x="4334256" y="4762195"/>
            <a:ext cx="12198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2.5万亿</a:t>
            </a:r>
            <a:endParaRPr lang="en-US" sz="13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8"/>
          <a:srcRect l="-1282" r="-1282"/>
          <a:stretch>
            <a:fillRect/>
          </a:stretch>
        </p:blipFill>
        <p:spPr>
          <a:xfrm>
            <a:off x="5814670" y="4671670"/>
            <a:ext cx="219456" cy="190195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143854" y="4524451"/>
            <a:ext cx="123444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涵盖行业</a:t>
            </a:r>
            <a:endParaRPr lang="en-US" sz="1000" dirty="0"/>
          </a:p>
        </p:txBody>
      </p:sp>
      <p:sp>
        <p:nvSpPr>
          <p:cNvPr id="28" name="Text 17"/>
          <p:cNvSpPr txBox="1"/>
          <p:nvPr/>
        </p:nvSpPr>
        <p:spPr>
          <a:xfrm>
            <a:off x="6143854" y="4762195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银行 地产 保险 券商 钢铁 煤炭</a:t>
            </a:r>
            <a:endParaRPr lang="en-US" sz="12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714500" y="6569964"/>
            <a:ext cx="133502" cy="133502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952244" y="6534302"/>
            <a:ext cx="78108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特别声明：本课程所涉及个股、行业及数据仅用于教学方法演示，不构成任何投资建议。投资有风险，入市需谨慎。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952805" y="-952805"/>
            <a:ext cx="3810305" cy="38103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72500" y="3810305"/>
            <a:ext cx="4762195" cy="47621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 t="-401" b="-401"/>
          <a:stretch>
            <a:fillRect/>
          </a:stretch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>
            <a:fillRect/>
          </a:stretch>
        </p:blipFill>
        <p:spPr>
          <a:xfrm>
            <a:off x="761695" y="1095451"/>
            <a:ext cx="10668305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761695" y="1524305"/>
            <a:ext cx="5352898" cy="4591202"/>
          </a:xfrm>
          <a:prstGeom prst="roundRect">
            <a:avLst>
              <a:gd name="adj" fmla="val 661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1143000" y="2381098"/>
            <a:ext cx="4610405" cy="476402"/>
          </a:xfrm>
          <a:prstGeom prst="roundRect">
            <a:avLst>
              <a:gd name="adj" fmla="val 30710"/>
            </a:avLst>
          </a:prstGeom>
          <a:solidFill>
            <a:srgbClr val="3B82F6">
              <a:alpha val="15000"/>
            </a:srgbClr>
          </a:solidFill>
        </p:spPr>
      </p:sp>
      <p:sp>
        <p:nvSpPr>
          <p:cNvPr id="10" name="Shape 4"/>
          <p:cNvSpPr/>
          <p:nvPr/>
        </p:nvSpPr>
        <p:spPr>
          <a:xfrm>
            <a:off x="1143000" y="2381098"/>
            <a:ext cx="38405" cy="476402"/>
          </a:xfrm>
          <a:prstGeom prst="roundRect">
            <a:avLst>
              <a:gd name="adj" fmla="val 38095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6476695" y="1524305"/>
            <a:ext cx="4990795" cy="2952598"/>
          </a:xfrm>
          <a:prstGeom prst="roundRect">
            <a:avLst>
              <a:gd name="adj" fmla="val 799"/>
            </a:avLst>
          </a:prstGeom>
          <a:solidFill>
            <a:srgbClr val="1E293B">
              <a:alpha val="40000"/>
            </a:srgbClr>
          </a:solidFill>
        </p:spPr>
      </p:sp>
      <p:sp>
        <p:nvSpPr>
          <p:cNvPr id="12" name="Shape 6"/>
          <p:cNvSpPr/>
          <p:nvPr/>
        </p:nvSpPr>
        <p:spPr>
          <a:xfrm>
            <a:off x="6476695" y="1524305"/>
            <a:ext cx="38405" cy="2952598"/>
          </a:xfrm>
          <a:prstGeom prst="roundRect">
            <a:avLst>
              <a:gd name="adj" fmla="val 61444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762902" y="2286000"/>
            <a:ext cx="4401007" cy="875995"/>
          </a:xfrm>
          <a:prstGeom prst="roundRect">
            <a:avLst>
              <a:gd name="adj" fmla="val 13615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6762902" y="3333902"/>
            <a:ext cx="4401007" cy="875995"/>
          </a:xfrm>
          <a:prstGeom prst="roundRect">
            <a:avLst>
              <a:gd name="adj" fmla="val 13615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6476695" y="4762195"/>
            <a:ext cx="4972507" cy="1352398"/>
          </a:xfrm>
          <a:prstGeom prst="roundRect">
            <a:avLst>
              <a:gd name="adj" fmla="val 5714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761695" y="476402"/>
            <a:ext cx="7925105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1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 / PB 是什么——资产定价的底层逻辑</a:t>
            </a:r>
            <a:endParaRPr lang="en-US" sz="27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43000" y="2024482"/>
            <a:ext cx="200254" cy="2670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19402" y="1904695"/>
            <a:ext cx="4114800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 (Price to Book) 市净率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1285646" y="2495398"/>
            <a:ext cx="4497019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 = 股价 ÷ 每股净资产 = 总市值 ÷ 净资产总额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3047695"/>
            <a:ext cx="4648810" cy="5532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直觉理解：</a:t>
            </a: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 告诉你，市场愿意为这家公司的账面资产，支付多少倍的价格。</a:t>
            </a:r>
            <a:endParaRPr lang="en-US" sz="13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43000" y="3929177"/>
            <a:ext cx="267005" cy="26700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619402" y="3810305"/>
            <a:ext cx="4191610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估值倍数的直观含义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1143000" y="4286707"/>
            <a:ext cx="4648810" cy="1133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 = 1.0</a:t>
            </a: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花1块钱，买走1块钱净资产 </a:t>
            </a:r>
            <a:r>
              <a:rPr lang="en-US" sz="13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(等价)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 = 0.5</a:t>
            </a: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花1块钱，买走2块钱净资产 </a:t>
            </a:r>
            <a:r>
              <a:rPr lang="en-US" sz="13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(五折)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 = 2.0</a:t>
            </a: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花2块钱，仅买走1块钱净资产 </a:t>
            </a:r>
            <a:r>
              <a:rPr lang="en-US" sz="13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(溢价)</a:t>
            </a:r>
            <a:endParaRPr lang="en-US" sz="13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762902" y="1861718"/>
            <a:ext cx="142646" cy="19019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095744" y="1790395"/>
            <a:ext cx="4000500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核心认知：何时必须看 PB？</a:t>
            </a:r>
            <a:endParaRPr lang="en-US" sz="1500" dirty="0"/>
          </a:p>
        </p:txBody>
      </p:sp>
      <p:sp>
        <p:nvSpPr>
          <p:cNvPr id="26" name="Text 17"/>
          <p:cNvSpPr txBox="1"/>
          <p:nvPr/>
        </p:nvSpPr>
        <p:spPr>
          <a:xfrm>
            <a:off x="6953098" y="2381098"/>
            <a:ext cx="4077310" cy="7342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当一家公司的盈利被</a:t>
            </a:r>
            <a:r>
              <a:rPr lang="en-US" sz="12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外部因素</a:t>
            </a: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（如拨备计提、投资浮盈亏、结转周期、商品价格极值）严重扭曲时，当期利润不再代表真实价值。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6953098" y="3429000"/>
            <a:ext cx="4077310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此时，</a:t>
            </a:r>
            <a:r>
              <a:rPr lang="en-US" sz="12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资产本身才是企业真实价值的载体</a:t>
            </a: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。盈利只是资产利用率的结果，必须用PB进行定价，PE在此刻完全失效。</a:t>
            </a:r>
            <a:endParaRPr lang="en-US" sz="12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762902" y="5052974"/>
            <a:ext cx="237744" cy="19019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095744" y="4972507"/>
            <a:ext cx="4000500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六大适用行业范畴</a:t>
            </a:r>
            <a:endParaRPr lang="en-US" sz="1500" dirty="0"/>
          </a:p>
        </p:txBody>
      </p:sp>
      <p:sp>
        <p:nvSpPr>
          <p:cNvPr id="30" name="Text 20"/>
          <p:cNvSpPr txBox="1"/>
          <p:nvPr/>
        </p:nvSpPr>
        <p:spPr>
          <a:xfrm>
            <a:off x="6762902" y="5429707"/>
            <a:ext cx="4648810" cy="8293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涵盖合计占A股</a:t>
            </a:r>
            <a:r>
              <a:rPr lang="en-US" sz="12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1/3以上市值</a:t>
            </a: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的资产型与周期型行业：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金融资产类：</a:t>
            </a: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保险</a:t>
            </a: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券商</a:t>
            </a: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实物资产类：</a:t>
            </a: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地产</a:t>
            </a: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钢铁</a:t>
            </a: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煤炭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t="-401" b="-401"/>
          <a:stretch>
            <a:fillRect/>
          </a:stretch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952805" y="-952805"/>
            <a:ext cx="4762195" cy="47621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72500" y="2857500"/>
            <a:ext cx="5715000" cy="57150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>
            <a:fillRect/>
          </a:stretch>
        </p:blipFill>
        <p:spPr>
          <a:xfrm>
            <a:off x="761695" y="1095451"/>
            <a:ext cx="10668305" cy="9144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>
            <a:fillRect/>
          </a:stretch>
        </p:blipFill>
        <p:spPr>
          <a:xfrm>
            <a:off x="761695" y="1714500"/>
            <a:ext cx="10705795" cy="1561795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rcRect t="-10" b="-10"/>
          <a:stretch>
            <a:fillRect/>
          </a:stretch>
        </p:blipFill>
        <p:spPr>
          <a:xfrm>
            <a:off x="761695" y="1714500"/>
            <a:ext cx="2857500" cy="1524305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7"/>
          <a:srcRect t="-400" b="-400"/>
          <a:stretch>
            <a:fillRect/>
          </a:stretch>
        </p:blipFill>
        <p:spPr>
          <a:xfrm>
            <a:off x="3619195" y="2428646"/>
            <a:ext cx="2286000" cy="38405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8"/>
          <a:srcRect l="-400" r="-400"/>
          <a:stretch>
            <a:fillRect/>
          </a:stretch>
        </p:blipFill>
        <p:spPr>
          <a:xfrm>
            <a:off x="6476695" y="1904695"/>
            <a:ext cx="19202" cy="1143000"/>
          </a:xfrm>
          <a:prstGeom prst="rect">
            <a:avLst/>
          </a:prstGeom>
        </p:spPr>
      </p:pic>
      <p:sp>
        <p:nvSpPr>
          <p:cNvPr id="12" name="Shape 2"/>
          <p:cNvSpPr/>
          <p:nvPr/>
        </p:nvSpPr>
        <p:spPr>
          <a:xfrm>
            <a:off x="761695" y="4095598"/>
            <a:ext cx="3353105" cy="2495398"/>
          </a:xfrm>
          <a:prstGeom prst="roundRect">
            <a:avLst>
              <a:gd name="adj" fmla="val 2238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9"/>
          <a:srcRect l="-2" r="-2"/>
          <a:stretch>
            <a:fillRect/>
          </a:stretch>
        </p:blipFill>
        <p:spPr>
          <a:xfrm>
            <a:off x="761695" y="4095598"/>
            <a:ext cx="3333902" cy="571500"/>
          </a:xfrm>
          <a:prstGeom prst="rect">
            <a:avLst/>
          </a:prstGeom>
        </p:spPr>
      </p:pic>
      <p:sp>
        <p:nvSpPr>
          <p:cNvPr id="14" name="Shape 3"/>
          <p:cNvSpPr/>
          <p:nvPr/>
        </p:nvSpPr>
        <p:spPr>
          <a:xfrm>
            <a:off x="4429354" y="4095598"/>
            <a:ext cx="3353105" cy="2495398"/>
          </a:xfrm>
          <a:prstGeom prst="roundRect">
            <a:avLst>
              <a:gd name="adj" fmla="val 2238"/>
            </a:avLst>
          </a:prstGeom>
          <a:solidFill>
            <a:srgbClr val="F59E0B">
              <a:alpha val="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10"/>
          <a:srcRect l="-2" r="-2"/>
          <a:stretch>
            <a:fillRect/>
          </a:stretch>
        </p:blipFill>
        <p:spPr>
          <a:xfrm>
            <a:off x="4429354" y="4095598"/>
            <a:ext cx="3333902" cy="571500"/>
          </a:xfrm>
          <a:prstGeom prst="rect">
            <a:avLst/>
          </a:prstGeom>
        </p:spPr>
      </p:pic>
      <p:sp>
        <p:nvSpPr>
          <p:cNvPr id="16" name="Shape 4"/>
          <p:cNvSpPr/>
          <p:nvPr/>
        </p:nvSpPr>
        <p:spPr>
          <a:xfrm>
            <a:off x="8096098" y="4095598"/>
            <a:ext cx="3353105" cy="2495398"/>
          </a:xfrm>
          <a:prstGeom prst="roundRect">
            <a:avLst>
              <a:gd name="adj" fmla="val 2238"/>
            </a:avLst>
          </a:prstGeom>
          <a:solidFill>
            <a:srgbClr val="EF4444">
              <a:alpha val="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1"/>
          <a:srcRect l="-2" r="-2"/>
          <a:stretch>
            <a:fillRect/>
          </a:stretch>
        </p:blipFill>
        <p:spPr>
          <a:xfrm>
            <a:off x="8096098" y="4095598"/>
            <a:ext cx="3333902" cy="571500"/>
          </a:xfrm>
          <a:prstGeom prst="rect">
            <a:avLst/>
          </a:prstGeom>
        </p:spPr>
      </p:pic>
      <p:sp>
        <p:nvSpPr>
          <p:cNvPr id="18" name="Text 5"/>
          <p:cNvSpPr txBox="1"/>
          <p:nvPr/>
        </p:nvSpPr>
        <p:spPr>
          <a:xfrm>
            <a:off x="761695" y="476402"/>
            <a:ext cx="7925105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1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PB背后的数学：ROE才是定价核心</a:t>
            </a:r>
            <a:endParaRPr lang="en-US" sz="2700" dirty="0"/>
          </a:p>
        </p:txBody>
      </p:sp>
      <p:sp>
        <p:nvSpPr>
          <p:cNvPr id="19" name="Text 6"/>
          <p:cNvSpPr txBox="1"/>
          <p:nvPr/>
        </p:nvSpPr>
        <p:spPr>
          <a:xfrm>
            <a:off x="761695" y="1238098"/>
            <a:ext cx="1078260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 / PB与ROE的核心数学关系解析</a:t>
            </a:r>
            <a:endParaRPr lang="en-US" sz="1200" dirty="0"/>
          </a:p>
        </p:txBody>
      </p:sp>
      <p:sp>
        <p:nvSpPr>
          <p:cNvPr id="20" name="Text 7"/>
          <p:cNvSpPr txBox="1"/>
          <p:nvPr/>
        </p:nvSpPr>
        <p:spPr>
          <a:xfrm>
            <a:off x="1100938" y="2238451"/>
            <a:ext cx="217993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合理 PB =</a:t>
            </a:r>
            <a:endParaRPr lang="en-US" sz="2400" dirty="0"/>
          </a:p>
        </p:txBody>
      </p:sp>
      <p:sp>
        <p:nvSpPr>
          <p:cNvPr id="21" name="Text 8"/>
          <p:cNvSpPr txBox="1"/>
          <p:nvPr/>
        </p:nvSpPr>
        <p:spPr>
          <a:xfrm>
            <a:off x="3653028" y="1952244"/>
            <a:ext cx="2218334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kern="0" spc="150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(ROE - g)</a:t>
            </a:r>
            <a:endParaRPr lang="en-US" sz="2700" dirty="0"/>
          </a:p>
        </p:txBody>
      </p:sp>
      <p:sp>
        <p:nvSpPr>
          <p:cNvPr id="22" name="Text 9"/>
          <p:cNvSpPr txBox="1"/>
          <p:nvPr/>
        </p:nvSpPr>
        <p:spPr>
          <a:xfrm>
            <a:off x="3733495" y="2572207"/>
            <a:ext cx="2057400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kern="0" spc="150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(r - g)</a:t>
            </a:r>
            <a:endParaRPr lang="en-US" sz="2700" dirty="0"/>
          </a:p>
        </p:txBody>
      </p:sp>
      <p:sp>
        <p:nvSpPr>
          <p:cNvPr id="23" name="Text 10"/>
          <p:cNvSpPr txBox="1"/>
          <p:nvPr/>
        </p:nvSpPr>
        <p:spPr>
          <a:xfrm>
            <a:off x="6858000" y="1904695"/>
            <a:ext cx="4381805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ROE :</a:t>
            </a:r>
            <a:r>
              <a:rPr lang="en-US" sz="13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净资产收益率 (用自有资本赚回的比例)</a:t>
            </a:r>
            <a:endParaRPr lang="en-US" sz="1300" dirty="0"/>
          </a:p>
        </p:txBody>
      </p:sp>
      <p:sp>
        <p:nvSpPr>
          <p:cNvPr id="24" name="Text 11"/>
          <p:cNvSpPr txBox="1"/>
          <p:nvPr/>
        </p:nvSpPr>
        <p:spPr>
          <a:xfrm>
            <a:off x="6858000" y="2333549"/>
            <a:ext cx="4381805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 :</a:t>
            </a: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成长率 (未来盈利的成长速度)</a:t>
            </a:r>
            <a:endParaRPr lang="en-US" sz="1300" dirty="0"/>
          </a:p>
        </p:txBody>
      </p:sp>
      <p:sp>
        <p:nvSpPr>
          <p:cNvPr id="25" name="Text 12"/>
          <p:cNvSpPr txBox="1"/>
          <p:nvPr/>
        </p:nvSpPr>
        <p:spPr>
          <a:xfrm>
            <a:off x="6858000" y="2762402"/>
            <a:ext cx="4381805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 :</a:t>
            </a:r>
            <a:r>
              <a:rPr lang="en-US" sz="13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资本成本 (投资者要求的回报率/无风险利率)</a:t>
            </a:r>
            <a:endParaRPr lang="en-US" sz="1300" dirty="0"/>
          </a:p>
        </p:txBody>
      </p:sp>
      <p:sp>
        <p:nvSpPr>
          <p:cNvPr id="26" name="Shape 13"/>
          <p:cNvSpPr/>
          <p:nvPr/>
        </p:nvSpPr>
        <p:spPr>
          <a:xfrm>
            <a:off x="761695" y="3619195"/>
            <a:ext cx="38405" cy="30449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7" name="Text 14"/>
          <p:cNvSpPr txBox="1"/>
          <p:nvPr/>
        </p:nvSpPr>
        <p:spPr>
          <a:xfrm>
            <a:off x="942746" y="3619195"/>
            <a:ext cx="10677449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公式推导出的三大核心逻辑</a:t>
            </a:r>
            <a:endParaRPr lang="en-US" sz="160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2"/>
          <a:srcRect t="-45" b="-45"/>
          <a:stretch>
            <a:fillRect/>
          </a:stretch>
        </p:blipFill>
        <p:spPr>
          <a:xfrm>
            <a:off x="952805" y="4304995"/>
            <a:ext cx="256946" cy="228600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1333195" y="4238244"/>
            <a:ext cx="2762402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推论一：盈利能力主导</a:t>
            </a:r>
            <a:endParaRPr lang="en-US" sz="1500" dirty="0"/>
          </a:p>
        </p:txBody>
      </p:sp>
      <p:sp>
        <p:nvSpPr>
          <p:cNvPr id="30" name="Shape 16"/>
          <p:cNvSpPr/>
          <p:nvPr/>
        </p:nvSpPr>
        <p:spPr>
          <a:xfrm>
            <a:off x="952805" y="4858207"/>
            <a:ext cx="2952598" cy="428854"/>
          </a:xfrm>
          <a:prstGeom prst="roundRect">
            <a:avLst>
              <a:gd name="adj" fmla="val 37906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17"/>
          <p:cNvSpPr txBox="1"/>
          <p:nvPr/>
        </p:nvSpPr>
        <p:spPr>
          <a:xfrm>
            <a:off x="909828" y="4858207"/>
            <a:ext cx="3038551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50800" rIns="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ROE ↑ ⇒ 合理 PB ↑</a:t>
            </a:r>
            <a:endParaRPr lang="en-US" sz="1800" dirty="0"/>
          </a:p>
        </p:txBody>
      </p:sp>
      <p:sp>
        <p:nvSpPr>
          <p:cNvPr id="32" name="Text 18"/>
          <p:cNvSpPr txBox="1"/>
          <p:nvPr/>
        </p:nvSpPr>
        <p:spPr>
          <a:xfrm>
            <a:off x="952805" y="5429707"/>
            <a:ext cx="3029407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ROE越高，合理PB越高。这就是为什么招商银行的PB长期高于工商银行——招行资产盈利能力更强，市场给予的溢价自然更高。</a:t>
            </a:r>
            <a:endParaRPr lang="en-US" sz="11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4619549" y="4304995"/>
            <a:ext cx="228600" cy="228600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5000854" y="4238244"/>
            <a:ext cx="2762402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推论二：宏观利率敏感</a:t>
            </a:r>
            <a:endParaRPr lang="en-US" sz="1500" dirty="0"/>
          </a:p>
        </p:txBody>
      </p:sp>
      <p:sp>
        <p:nvSpPr>
          <p:cNvPr id="35" name="Shape 20"/>
          <p:cNvSpPr/>
          <p:nvPr/>
        </p:nvSpPr>
        <p:spPr>
          <a:xfrm>
            <a:off x="4619549" y="4858207"/>
            <a:ext cx="2952598" cy="428854"/>
          </a:xfrm>
          <a:prstGeom prst="roundRect">
            <a:avLst>
              <a:gd name="adj" fmla="val 37906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1"/>
          <p:cNvSpPr txBox="1"/>
          <p:nvPr/>
        </p:nvSpPr>
        <p:spPr>
          <a:xfrm>
            <a:off x="4576572" y="4858207"/>
            <a:ext cx="3038551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50800" rIns="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利率 ↓ (r↓) ⇒ PB中枢 ↑</a:t>
            </a:r>
            <a:endParaRPr lang="en-US" sz="1800" dirty="0"/>
          </a:p>
        </p:txBody>
      </p:sp>
      <p:sp>
        <p:nvSpPr>
          <p:cNvPr id="37" name="Text 22"/>
          <p:cNvSpPr txBox="1"/>
          <p:nvPr/>
        </p:nvSpPr>
        <p:spPr>
          <a:xfrm>
            <a:off x="4619549" y="5429707"/>
            <a:ext cx="3029407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央行引导利率下行，无风险利率走低(r变小)，分母变小，资产类行业的合理PB中枢整体上移。这是2025年银行股普涨的底层逻辑。</a:t>
            </a:r>
            <a:endParaRPr lang="en-US" sz="1100" dirty="0"/>
          </a:p>
        </p:txBody>
      </p:sp>
      <p:sp>
        <p:nvSpPr>
          <p:cNvPr id="38" name="Text 23"/>
          <p:cNvSpPr txBox="1"/>
          <p:nvPr/>
        </p:nvSpPr>
        <p:spPr>
          <a:xfrm>
            <a:off x="8667598" y="4238244"/>
            <a:ext cx="2762402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推论三：行业预期折价</a:t>
            </a:r>
            <a:endParaRPr lang="en-US" sz="1500" dirty="0"/>
          </a:p>
        </p:txBody>
      </p:sp>
      <p:sp>
        <p:nvSpPr>
          <p:cNvPr id="39" name="Shape 24"/>
          <p:cNvSpPr/>
          <p:nvPr/>
        </p:nvSpPr>
        <p:spPr>
          <a:xfrm>
            <a:off x="8287207" y="4858207"/>
            <a:ext cx="2952598" cy="428854"/>
          </a:xfrm>
          <a:prstGeom prst="roundRect">
            <a:avLst>
              <a:gd name="adj" fmla="val 37906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5"/>
          <p:cNvSpPr txBox="1"/>
          <p:nvPr/>
        </p:nvSpPr>
        <p:spPr>
          <a:xfrm>
            <a:off x="8244230" y="4858207"/>
            <a:ext cx="3038551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50800" rIns="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增速预期 g ↓ ⇒ PB 压缩</a:t>
            </a:r>
            <a:endParaRPr lang="en-US" sz="1800" dirty="0"/>
          </a:p>
        </p:txBody>
      </p:sp>
      <p:sp>
        <p:nvSpPr>
          <p:cNvPr id="41" name="Text 26"/>
          <p:cNvSpPr txBox="1"/>
          <p:nvPr/>
        </p:nvSpPr>
        <p:spPr>
          <a:xfrm>
            <a:off x="8287207" y="5429707"/>
            <a:ext cx="3029407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如果市场预期行业未来增速g下行甚至为负，合理PB会系统性压缩。地产行业大面积破净，就是市场在为极低的增速预期定价。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t="-401" b="-401"/>
          <a:stretch>
            <a:fillRect/>
          </a:stretch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19695" y="-1429207"/>
            <a:ext cx="5715000" cy="5715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952805" y="2857500"/>
            <a:ext cx="4762195" cy="476219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>
            <a:fillRect/>
          </a:stretch>
        </p:blipFill>
        <p:spPr>
          <a:xfrm>
            <a:off x="761695" y="1095451"/>
            <a:ext cx="10668305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761695" y="1714500"/>
            <a:ext cx="3924605" cy="4019702"/>
          </a:xfrm>
          <a:prstGeom prst="roundRect">
            <a:avLst>
              <a:gd name="adj" fmla="val 905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35" r="-35"/>
          <a:stretch>
            <a:fillRect/>
          </a:stretch>
        </p:blipFill>
        <p:spPr>
          <a:xfrm>
            <a:off x="761695" y="1714500"/>
            <a:ext cx="3905402" cy="580644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4953305" y="1714500"/>
            <a:ext cx="6476695" cy="381305"/>
          </a:xfrm>
          <a:prstGeom prst="roundRect">
            <a:avLst>
              <a:gd name="adj" fmla="val 47962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4953305" y="2190902"/>
            <a:ext cx="6515100" cy="761695"/>
          </a:xfrm>
          <a:prstGeom prst="roundRect">
            <a:avLst>
              <a:gd name="adj" fmla="val 12005"/>
            </a:avLst>
          </a:prstGeom>
          <a:solidFill>
            <a:srgbClr val="0F172A">
              <a:alpha val="40000"/>
            </a:srgbClr>
          </a:solidFill>
        </p:spPr>
      </p:sp>
      <p:sp>
        <p:nvSpPr>
          <p:cNvPr id="12" name="Shape 5"/>
          <p:cNvSpPr/>
          <p:nvPr/>
        </p:nvSpPr>
        <p:spPr>
          <a:xfrm>
            <a:off x="4953305" y="2190902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4953305" y="3047695"/>
            <a:ext cx="6515100" cy="761695"/>
          </a:xfrm>
          <a:prstGeom prst="roundRect">
            <a:avLst>
              <a:gd name="adj" fmla="val 12005"/>
            </a:avLst>
          </a:prstGeom>
          <a:solidFill>
            <a:srgbClr val="0F172A">
              <a:alpha val="40000"/>
            </a:srgbClr>
          </a:solidFill>
        </p:spPr>
      </p:sp>
      <p:sp>
        <p:nvSpPr>
          <p:cNvPr id="14" name="Shape 7"/>
          <p:cNvSpPr/>
          <p:nvPr/>
        </p:nvSpPr>
        <p:spPr>
          <a:xfrm>
            <a:off x="4953305" y="3047695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4953305" y="3905402"/>
            <a:ext cx="6515100" cy="761695"/>
          </a:xfrm>
          <a:prstGeom prst="roundRect">
            <a:avLst>
              <a:gd name="adj" fmla="val 12005"/>
            </a:avLst>
          </a:prstGeom>
          <a:solidFill>
            <a:srgbClr val="0F172A">
              <a:alpha val="40000"/>
            </a:srgbClr>
          </a:solidFill>
        </p:spPr>
      </p:sp>
      <p:sp>
        <p:nvSpPr>
          <p:cNvPr id="16" name="Shape 9"/>
          <p:cNvSpPr/>
          <p:nvPr/>
        </p:nvSpPr>
        <p:spPr>
          <a:xfrm>
            <a:off x="4953305" y="3905402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4953305" y="4762195"/>
            <a:ext cx="6524244" cy="972007"/>
          </a:xfrm>
          <a:prstGeom prst="roundRect">
            <a:avLst>
              <a:gd name="adj" fmla="val 7378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4953305" y="4762195"/>
            <a:ext cx="38405" cy="972007"/>
          </a:xfrm>
          <a:prstGeom prst="roundRect">
            <a:avLst>
              <a:gd name="adj" fmla="val 18674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4953305" y="4762195"/>
            <a:ext cx="1904695" cy="952805"/>
          </a:xfrm>
          <a:prstGeom prst="rect">
            <a:avLst/>
          </a:prstGeom>
          <a:solidFill>
            <a:srgbClr val="F59E0B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761695" y="5905195"/>
            <a:ext cx="10705795" cy="666598"/>
          </a:xfrm>
          <a:prstGeom prst="roundRect">
            <a:avLst>
              <a:gd name="adj" fmla="val 23516"/>
            </a:avLst>
          </a:prstGeom>
          <a:solidFill>
            <a:srgbClr val="10B981">
              <a:alpha val="10000"/>
            </a:srgbClr>
          </a:solidFill>
        </p:spPr>
      </p:sp>
      <p:sp>
        <p:nvSpPr>
          <p:cNvPr id="21" name="Shape 14"/>
          <p:cNvSpPr/>
          <p:nvPr/>
        </p:nvSpPr>
        <p:spPr>
          <a:xfrm>
            <a:off x="761695" y="5905195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761695" y="476402"/>
            <a:ext cx="7925105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1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量能视角：2.5万亿基准下的PB重估</a:t>
            </a:r>
            <a:endParaRPr lang="en-US" sz="27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1238098"/>
            <a:ext cx="10858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 / 市场流动性（成交量）对资产类行业估值的系统性影响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1285646" y="1857146"/>
            <a:ext cx="3287268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量能与定价的底层逻辑</a:t>
            </a:r>
            <a:endParaRPr lang="en-US" sz="15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47902" y="1910182"/>
            <a:ext cx="142646" cy="190195"/>
          </a:xfrm>
          <a:prstGeom prst="rect">
            <a:avLst/>
          </a:prstGeom>
        </p:spPr>
      </p:pic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rcRect l="-1282" r="-1282"/>
          <a:stretch>
            <a:fillRect/>
          </a:stretch>
        </p:blipFill>
        <p:spPr>
          <a:xfrm>
            <a:off x="1047902" y="2624328"/>
            <a:ext cx="219456" cy="19019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380744" y="2553005"/>
            <a:ext cx="3191256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流动性决定溢价</a:t>
            </a:r>
            <a:endParaRPr lang="en-US" sz="1300" dirty="0"/>
          </a:p>
        </p:txBody>
      </p:sp>
      <p:sp>
        <p:nvSpPr>
          <p:cNvPr id="28" name="Text 19"/>
          <p:cNvSpPr txBox="1"/>
          <p:nvPr/>
        </p:nvSpPr>
        <p:spPr>
          <a:xfrm>
            <a:off x="1380744" y="2857500"/>
            <a:ext cx="3076956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 定价依然由市场供需决定。流动性充裕时，资金愿意给资产更高的溢价；收缩时，优质资产也会系统性杀估值。</a:t>
            </a:r>
            <a:endParaRPr lang="en-US" sz="10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47902" y="3719779"/>
            <a:ext cx="190195" cy="19019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380744" y="3648456"/>
            <a:ext cx="3191256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2025年量能新基准</a:t>
            </a:r>
            <a:endParaRPr lang="en-US" sz="1300" dirty="0"/>
          </a:p>
        </p:txBody>
      </p:sp>
      <p:sp>
        <p:nvSpPr>
          <p:cNvPr id="31" name="Text 21"/>
          <p:cNvSpPr txBox="1"/>
          <p:nvPr/>
        </p:nvSpPr>
        <p:spPr>
          <a:xfrm>
            <a:off x="1380744" y="3952951"/>
            <a:ext cx="3076956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2025年A股总成交额首破400万亿。本课程设定 </a:t>
            </a: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2.5万亿</a:t>
            </a: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为宽松流动性的核心基准线。</a:t>
            </a:r>
            <a:endParaRPr lang="en-US" sz="10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047902" y="4815230"/>
            <a:ext cx="190195" cy="19019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1380744" y="4743907"/>
            <a:ext cx="3191256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实战先决条件</a:t>
            </a:r>
            <a:endParaRPr lang="en-US" sz="1300" dirty="0"/>
          </a:p>
        </p:txBody>
      </p:sp>
      <p:sp>
        <p:nvSpPr>
          <p:cNvPr id="34" name="Text 23"/>
          <p:cNvSpPr txBox="1"/>
          <p:nvPr/>
        </p:nvSpPr>
        <p:spPr>
          <a:xfrm>
            <a:off x="1380744" y="5048402"/>
            <a:ext cx="3076956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把量能作为“外部校准器”。在谈论PB历史分位是高是低之前，必须先看当前市场量能处于哪个档位。</a:t>
            </a:r>
            <a:endParaRPr lang="en-US" sz="1000" dirty="0"/>
          </a:p>
        </p:txBody>
      </p:sp>
      <p:sp>
        <p:nvSpPr>
          <p:cNvPr id="35" name="Text 24"/>
          <p:cNvSpPr txBox="1"/>
          <p:nvPr/>
        </p:nvSpPr>
        <p:spPr>
          <a:xfrm>
            <a:off x="5143500" y="1809598"/>
            <a:ext cx="205740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量能水平 (日均成交额)</a:t>
            </a:r>
            <a:endParaRPr lang="en-US" sz="1000" dirty="0"/>
          </a:p>
        </p:txBody>
      </p:sp>
      <p:sp>
        <p:nvSpPr>
          <p:cNvPr id="36" name="Text 25"/>
          <p:cNvSpPr txBox="1"/>
          <p:nvPr/>
        </p:nvSpPr>
        <p:spPr>
          <a:xfrm>
            <a:off x="7239305" y="1809598"/>
            <a:ext cx="419161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对资产类行业PB的影响与实战含义</a:t>
            </a:r>
            <a:endParaRPr lang="en-US" sz="1000" dirty="0"/>
          </a:p>
        </p:txBody>
      </p:sp>
      <p:sp>
        <p:nvSpPr>
          <p:cNvPr id="37" name="Text 26"/>
          <p:cNvSpPr txBox="1"/>
          <p:nvPr/>
        </p:nvSpPr>
        <p:spPr>
          <a:xfrm>
            <a:off x="5143500" y="2428646"/>
            <a:ext cx="1981505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F444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 1.5 万亿</a:t>
            </a:r>
            <a:endParaRPr lang="en-US" sz="1600" dirty="0"/>
          </a:p>
        </p:txBody>
      </p:sp>
      <p:sp>
        <p:nvSpPr>
          <p:cNvPr id="38" name="Text 27"/>
          <p:cNvSpPr txBox="1"/>
          <p:nvPr/>
        </p:nvSpPr>
        <p:spPr>
          <a:xfrm>
            <a:off x="7239305" y="2333549"/>
            <a:ext cx="407731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流动性显著收缩，资产折价压力极大。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低PB不代表见底</a:t>
            </a: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，应以继续观望为主。</a:t>
            </a:r>
            <a:endParaRPr lang="en-US" sz="1100" dirty="0"/>
          </a:p>
        </p:txBody>
      </p:sp>
      <p:sp>
        <p:nvSpPr>
          <p:cNvPr id="39" name="Text 28"/>
          <p:cNvSpPr txBox="1"/>
          <p:nvPr/>
        </p:nvSpPr>
        <p:spPr>
          <a:xfrm>
            <a:off x="5143500" y="3286354"/>
            <a:ext cx="1981505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BD5E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1.5 - 2.0 万亿</a:t>
            </a:r>
            <a:endParaRPr lang="en-US" sz="1500" dirty="0"/>
          </a:p>
        </p:txBody>
      </p:sp>
      <p:sp>
        <p:nvSpPr>
          <p:cNvPr id="40" name="Text 29"/>
          <p:cNvSpPr txBox="1"/>
          <p:nvPr/>
        </p:nvSpPr>
        <p:spPr>
          <a:xfrm>
            <a:off x="7239305" y="3191256"/>
            <a:ext cx="407731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正常运行区间。历史中枢PB指标恢复适用，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按该行业</a:t>
            </a:r>
            <a:r>
              <a:rPr lang="en-US" sz="11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历史均值PB</a:t>
            </a: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判断合理估值区间。</a:t>
            </a:r>
            <a:endParaRPr lang="en-US" sz="1100" dirty="0"/>
          </a:p>
        </p:txBody>
      </p:sp>
      <p:sp>
        <p:nvSpPr>
          <p:cNvPr id="41" name="Text 30"/>
          <p:cNvSpPr txBox="1"/>
          <p:nvPr/>
        </p:nvSpPr>
        <p:spPr>
          <a:xfrm>
            <a:off x="5143500" y="4143146"/>
            <a:ext cx="1981505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A5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2.0 - 2.5 万亿</a:t>
            </a:r>
            <a:endParaRPr lang="en-US" sz="1500" dirty="0"/>
          </a:p>
        </p:txBody>
      </p:sp>
      <p:sp>
        <p:nvSpPr>
          <p:cNvPr id="42" name="Text 31"/>
          <p:cNvSpPr txBox="1"/>
          <p:nvPr/>
        </p:nvSpPr>
        <p:spPr>
          <a:xfrm>
            <a:off x="7239305" y="4048049"/>
            <a:ext cx="407731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流动性明显改善，资产估值进入修复期。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</a:t>
            </a:r>
            <a:r>
              <a:rPr lang="en-US" sz="1100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接近历史中枢</a:t>
            </a: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时，即可积极关注并介入。</a:t>
            </a:r>
            <a:endParaRPr lang="en-US" sz="1100" dirty="0"/>
          </a:p>
        </p:txBody>
      </p:sp>
      <p:sp>
        <p:nvSpPr>
          <p:cNvPr id="43" name="Text 32"/>
          <p:cNvSpPr txBox="1"/>
          <p:nvPr/>
        </p:nvSpPr>
        <p:spPr>
          <a:xfrm>
            <a:off x="5143500" y="5000854"/>
            <a:ext cx="1981505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≥ 2.5 万亿</a:t>
            </a:r>
            <a:endParaRPr lang="en-US" sz="1800" dirty="0"/>
          </a:p>
        </p:txBody>
      </p:sp>
      <p:sp>
        <p:nvSpPr>
          <p:cNvPr id="44" name="Text 33"/>
          <p:cNvSpPr txBox="1"/>
          <p:nvPr/>
        </p:nvSpPr>
        <p:spPr>
          <a:xfrm>
            <a:off x="5333695" y="5391302"/>
            <a:ext cx="1867205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FCD3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当前宽松基准</a:t>
            </a:r>
            <a:endParaRPr lang="en-US" sz="9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0"/>
          <a:srcRect l="-4980" r="-4980"/>
          <a:stretch>
            <a:fillRect/>
          </a:stretch>
        </p:blipFill>
        <p:spPr>
          <a:xfrm>
            <a:off x="5143500" y="5426050"/>
            <a:ext cx="152705" cy="123444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7239305" y="4953305"/>
            <a:ext cx="407731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流动性进入宽裕状态，资产估值溢价整体向上平移。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底部支撑极强，</a:t>
            </a:r>
            <a:r>
              <a:rPr lang="en-US" sz="11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PB低于历史均值</a:t>
            </a:r>
            <a:r>
              <a:rPr lang="en-US" sz="1100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即可被视为积极布局信号。</a:t>
            </a:r>
            <a:endParaRPr lang="en-US" sz="110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1"/>
          <a:srcRect l="-1648" r="-1648"/>
          <a:stretch>
            <a:fillRect/>
          </a:stretch>
        </p:blipFill>
        <p:spPr>
          <a:xfrm>
            <a:off x="1000354" y="6176772"/>
            <a:ext cx="171907" cy="190195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1333195" y="6001207"/>
            <a:ext cx="998250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关键实战结论：</a:t>
            </a:r>
            <a:r>
              <a:rPr lang="en-US" sz="1200" kern="0" spc="38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在2.5万亿基准下，历史底部PB的实际支撑力会大幅增强。但若量能萎缩至1.5万亿以下，就算PB看起来极低也不要轻易“抄底”，流动性不足导致的资产折价可以持续非常久。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t="-401" b="-401"/>
          <a:stretch>
            <a:fillRect/>
          </a:stretch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429207" y="-1429207"/>
            <a:ext cx="5715000" cy="5715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96098" y="3333902"/>
            <a:ext cx="4762195" cy="476219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t="-360" b="-360"/>
          <a:stretch>
            <a:fillRect/>
          </a:stretch>
        </p:blipFill>
        <p:spPr>
          <a:xfrm>
            <a:off x="571500" y="571500"/>
            <a:ext cx="381305" cy="19202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/>
          <a:srcRect l="-360" r="-360"/>
          <a:stretch>
            <a:fillRect/>
          </a:stretch>
        </p:blipFill>
        <p:spPr>
          <a:xfrm>
            <a:off x="571500" y="571500"/>
            <a:ext cx="19202" cy="381305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4"/>
          <a:srcRect t="-360" b="-360"/>
          <a:stretch>
            <a:fillRect/>
          </a:stretch>
        </p:blipFill>
        <p:spPr>
          <a:xfrm>
            <a:off x="11239805" y="6267298"/>
            <a:ext cx="381305" cy="19202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5"/>
          <a:srcRect l="-360" r="-360"/>
          <a:stretch>
            <a:fillRect/>
          </a:stretch>
        </p:blipFill>
        <p:spPr>
          <a:xfrm>
            <a:off x="11601907" y="5905195"/>
            <a:ext cx="19202" cy="381305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6"/>
          <a:srcRect t="-384" b="-384"/>
          <a:stretch>
            <a:fillRect/>
          </a:stretch>
        </p:blipFill>
        <p:spPr>
          <a:xfrm>
            <a:off x="5619902" y="3333902"/>
            <a:ext cx="952805" cy="38405"/>
          </a:xfrm>
          <a:prstGeom prst="rect">
            <a:avLst/>
          </a:prstGeom>
        </p:spPr>
      </p:pic>
      <p:sp>
        <p:nvSpPr>
          <p:cNvPr id="12" name="Shape 2"/>
          <p:cNvSpPr/>
          <p:nvPr/>
        </p:nvSpPr>
        <p:spPr>
          <a:xfrm>
            <a:off x="2190902" y="4190695"/>
            <a:ext cx="1162202" cy="457200"/>
          </a:xfrm>
          <a:prstGeom prst="roundRect">
            <a:avLst>
              <a:gd name="adj" fmla="val 50000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3" name="Shape 3"/>
          <p:cNvSpPr/>
          <p:nvPr/>
        </p:nvSpPr>
        <p:spPr>
          <a:xfrm>
            <a:off x="3524098" y="4190695"/>
            <a:ext cx="1162202" cy="457200"/>
          </a:xfrm>
          <a:prstGeom prst="roundRect">
            <a:avLst>
              <a:gd name="adj" fmla="val 50000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4" name="Shape 4"/>
          <p:cNvSpPr/>
          <p:nvPr/>
        </p:nvSpPr>
        <p:spPr>
          <a:xfrm>
            <a:off x="4858207" y="4190695"/>
            <a:ext cx="1162202" cy="457200"/>
          </a:xfrm>
          <a:prstGeom prst="roundRect">
            <a:avLst>
              <a:gd name="adj" fmla="val 50000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5" name="Shape 5"/>
          <p:cNvSpPr/>
          <p:nvPr/>
        </p:nvSpPr>
        <p:spPr>
          <a:xfrm>
            <a:off x="6191402" y="4190695"/>
            <a:ext cx="1162202" cy="457200"/>
          </a:xfrm>
          <a:prstGeom prst="roundRect">
            <a:avLst>
              <a:gd name="adj" fmla="val 50000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6" name="Shape 6"/>
          <p:cNvSpPr/>
          <p:nvPr/>
        </p:nvSpPr>
        <p:spPr>
          <a:xfrm>
            <a:off x="7524598" y="4190695"/>
            <a:ext cx="1162202" cy="457200"/>
          </a:xfrm>
          <a:prstGeom prst="roundRect">
            <a:avLst>
              <a:gd name="adj" fmla="val 50000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7" name="Shape 7"/>
          <p:cNvSpPr/>
          <p:nvPr/>
        </p:nvSpPr>
        <p:spPr>
          <a:xfrm>
            <a:off x="8858707" y="4190695"/>
            <a:ext cx="1162202" cy="457200"/>
          </a:xfrm>
          <a:prstGeom prst="roundRect">
            <a:avLst>
              <a:gd name="adj" fmla="val 50000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8" name="Shape 8"/>
          <p:cNvSpPr/>
          <p:nvPr/>
        </p:nvSpPr>
        <p:spPr>
          <a:xfrm>
            <a:off x="3238805" y="5143500"/>
            <a:ext cx="5734202" cy="457200"/>
          </a:xfrm>
          <a:prstGeom prst="roundRect">
            <a:avLst>
              <a:gd name="adj" fmla="val 191667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19" name="Text 9"/>
          <p:cNvSpPr txBox="1"/>
          <p:nvPr/>
        </p:nvSpPr>
        <p:spPr>
          <a:xfrm>
            <a:off x="-95098" y="1143000"/>
            <a:ext cx="12382805" cy="1334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0" b="1" kern="0" spc="-375" dirty="0">
                <a:solidFill>
                  <a:srgbClr val="8B5CF6">
                    <a:alpha val="8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</a:t>
            </a:r>
            <a:endParaRPr lang="en-US" sz="10500" dirty="0"/>
          </a:p>
        </p:txBody>
      </p:sp>
      <p:sp>
        <p:nvSpPr>
          <p:cNvPr id="20" name="Text 10"/>
          <p:cNvSpPr txBox="1"/>
          <p:nvPr/>
        </p:nvSpPr>
        <p:spPr>
          <a:xfrm>
            <a:off x="-152705" y="2381098"/>
            <a:ext cx="12497105" cy="7717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4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六大行业 PB 区间详解</a:t>
            </a:r>
            <a:endParaRPr lang="en-US" sz="4200" dirty="0"/>
          </a:p>
        </p:txBody>
      </p:sp>
      <p:sp>
        <p:nvSpPr>
          <p:cNvPr id="21" name="Text 11"/>
          <p:cNvSpPr txBox="1"/>
          <p:nvPr/>
        </p:nvSpPr>
        <p:spPr>
          <a:xfrm>
            <a:off x="-95098" y="3619195"/>
            <a:ext cx="12382805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15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接下来逐一拆解：</a:t>
            </a:r>
            <a:endParaRPr lang="en-US" sz="15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333549" y="4374490"/>
            <a:ext cx="171907" cy="171907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2581351" y="4304995"/>
            <a:ext cx="6483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银 行</a:t>
            </a:r>
            <a:endParaRPr lang="en-US" sz="13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8"/>
          <a:srcRect l="-1064" r="-1064"/>
          <a:stretch>
            <a:fillRect/>
          </a:stretch>
        </p:blipFill>
        <p:spPr>
          <a:xfrm>
            <a:off x="3666744" y="4374490"/>
            <a:ext cx="219456" cy="171907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3914546" y="4304995"/>
            <a:ext cx="6483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地 产</a:t>
            </a:r>
            <a:endParaRPr lang="en-US" sz="13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9"/>
          <a:srcRect t="-842" b="-842"/>
          <a:stretch>
            <a:fillRect/>
          </a:stretch>
        </p:blipFill>
        <p:spPr>
          <a:xfrm>
            <a:off x="5000854" y="4374490"/>
            <a:ext cx="190195" cy="171907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5248656" y="4304995"/>
            <a:ext cx="6483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 险</a:t>
            </a:r>
            <a:endParaRPr lang="en-US" sz="130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334049" y="4374490"/>
            <a:ext cx="171907" cy="171907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6581851" y="4304995"/>
            <a:ext cx="6483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券 商</a:t>
            </a:r>
            <a:endParaRPr lang="en-US" sz="13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1"/>
          <a:srcRect t="-842" b="-842"/>
          <a:stretch>
            <a:fillRect/>
          </a:stretch>
        </p:blipFill>
        <p:spPr>
          <a:xfrm>
            <a:off x="7667244" y="4374490"/>
            <a:ext cx="190195" cy="171907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7915046" y="4304995"/>
            <a:ext cx="6483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钢 铁</a:t>
            </a:r>
            <a:endParaRPr lang="en-US" sz="1300" dirty="0"/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12"/>
          <a:srcRect l="-1773" r="-1773"/>
          <a:stretch>
            <a:fillRect/>
          </a:stretch>
        </p:blipFill>
        <p:spPr>
          <a:xfrm>
            <a:off x="9001354" y="4374490"/>
            <a:ext cx="133502" cy="171907"/>
          </a:xfrm>
          <a:prstGeom prst="rect">
            <a:avLst/>
          </a:prstGeom>
        </p:spPr>
      </p:pic>
      <p:sp>
        <p:nvSpPr>
          <p:cNvPr id="33" name="Text 17"/>
          <p:cNvSpPr txBox="1"/>
          <p:nvPr/>
        </p:nvSpPr>
        <p:spPr>
          <a:xfrm>
            <a:off x="9249156" y="4304995"/>
            <a:ext cx="6483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煤 炭</a:t>
            </a:r>
            <a:endParaRPr lang="en-US" sz="1300" dirty="0"/>
          </a:p>
        </p:txBody>
      </p:sp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3429000" y="5324551"/>
            <a:ext cx="152705" cy="152705"/>
          </a:xfrm>
          <a:prstGeom prst="rect">
            <a:avLst/>
          </a:prstGeom>
        </p:spPr>
      </p:pic>
      <p:sp>
        <p:nvSpPr>
          <p:cNvPr id="35" name="Text 18"/>
          <p:cNvSpPr txBox="1"/>
          <p:nvPr/>
        </p:nvSpPr>
        <p:spPr>
          <a:xfrm>
            <a:off x="3715207" y="5248656"/>
            <a:ext cx="54297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核心维度：</a:t>
            </a:r>
            <a:r>
              <a:rPr lang="en-US" sz="1200" b="1" kern="0" spc="75" dirty="0">
                <a:solidFill>
                  <a:srgbClr val="A78B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合理PB区间</a:t>
            </a:r>
            <a:r>
              <a:rPr lang="en-US" sz="1200" kern="0" spc="75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|</a:t>
            </a:r>
            <a:r>
              <a:rPr lang="en-US" sz="1200" b="1" kern="0" spc="75" dirty="0">
                <a:solidFill>
                  <a:srgbClr val="A78B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关键指标</a:t>
            </a:r>
            <a:r>
              <a:rPr lang="en-US" sz="1200" kern="0" spc="75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|</a:t>
            </a:r>
            <a:r>
              <a:rPr lang="en-US" sz="1200" b="1" kern="0" spc="75" dirty="0">
                <a:solidFill>
                  <a:srgbClr val="A78B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操作参考与常见陷阱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t="-401" b="-401"/>
          <a:stretch>
            <a:fillRect/>
          </a:stretch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429207" y="3810305"/>
            <a:ext cx="4762195" cy="47621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72500" y="-952805"/>
            <a:ext cx="4762195" cy="476219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>
            <a:fillRect/>
          </a:stretch>
        </p:blipFill>
        <p:spPr>
          <a:xfrm>
            <a:off x="761695" y="1095451"/>
            <a:ext cx="10668305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761695" y="1714500"/>
            <a:ext cx="6096305" cy="418795"/>
          </a:xfrm>
          <a:prstGeom prst="roundRect">
            <a:avLst>
              <a:gd name="adj" fmla="val 59547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761695" y="2229307"/>
            <a:ext cx="6133795" cy="571500"/>
          </a:xfrm>
          <a:prstGeom prst="roundRect">
            <a:avLst>
              <a:gd name="adj" fmla="val 21333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10" name="Shape 4"/>
          <p:cNvSpPr/>
          <p:nvPr/>
        </p:nvSpPr>
        <p:spPr>
          <a:xfrm>
            <a:off x="761695" y="2229307"/>
            <a:ext cx="38405" cy="571500"/>
          </a:xfrm>
          <a:prstGeom prst="roundRect">
            <a:avLst>
              <a:gd name="adj" fmla="val 317459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761695" y="2895905"/>
            <a:ext cx="6133795" cy="571500"/>
          </a:xfrm>
          <a:prstGeom prst="roundRect">
            <a:avLst>
              <a:gd name="adj" fmla="val 21333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12" name="Shape 6"/>
          <p:cNvSpPr/>
          <p:nvPr/>
        </p:nvSpPr>
        <p:spPr>
          <a:xfrm>
            <a:off x="761695" y="2895905"/>
            <a:ext cx="38405" cy="571500"/>
          </a:xfrm>
          <a:prstGeom prst="roundRect">
            <a:avLst>
              <a:gd name="adj" fmla="val 31745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761695" y="3562502"/>
            <a:ext cx="6143854" cy="743407"/>
          </a:xfrm>
          <a:prstGeom prst="roundRect">
            <a:avLst>
              <a:gd name="adj" fmla="val 12616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61695" y="3562502"/>
            <a:ext cx="38405" cy="743407"/>
          </a:xfrm>
          <a:prstGeom prst="roundRect">
            <a:avLst>
              <a:gd name="adj" fmla="val 24419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761695" y="3562502"/>
            <a:ext cx="1429207" cy="724205"/>
          </a:xfrm>
          <a:prstGeom prst="rect">
            <a:avLst/>
          </a:prstGeom>
          <a:solidFill>
            <a:srgbClr val="F59E0B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61695" y="4381805"/>
            <a:ext cx="6133795" cy="571500"/>
          </a:xfrm>
          <a:prstGeom prst="roundRect">
            <a:avLst>
              <a:gd name="adj" fmla="val 21333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17" name="Shape 11"/>
          <p:cNvSpPr/>
          <p:nvPr/>
        </p:nvSpPr>
        <p:spPr>
          <a:xfrm>
            <a:off x="761695" y="4381805"/>
            <a:ext cx="38405" cy="571500"/>
          </a:xfrm>
          <a:prstGeom prst="roundRect">
            <a:avLst>
              <a:gd name="adj" fmla="val 317459"/>
            </a:avLst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61695" y="5048402"/>
            <a:ext cx="6133795" cy="571500"/>
          </a:xfrm>
          <a:prstGeom prst="roundRect">
            <a:avLst>
              <a:gd name="adj" fmla="val 21333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19" name="Shape 13"/>
          <p:cNvSpPr/>
          <p:nvPr/>
        </p:nvSpPr>
        <p:spPr>
          <a:xfrm>
            <a:off x="761695" y="5048402"/>
            <a:ext cx="38405" cy="571500"/>
          </a:xfrm>
          <a:prstGeom prst="roundRect">
            <a:avLst>
              <a:gd name="adj" fmla="val 317459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239305" y="1714500"/>
            <a:ext cx="4209898" cy="2400300"/>
          </a:xfrm>
          <a:prstGeom prst="roundRect">
            <a:avLst>
              <a:gd name="adj" fmla="val 2419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 t="-30" b="-30"/>
          <a:stretch>
            <a:fillRect/>
          </a:stretch>
        </p:blipFill>
        <p:spPr>
          <a:xfrm>
            <a:off x="7239305" y="1714500"/>
            <a:ext cx="4190695" cy="42885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7239305" y="4286707"/>
            <a:ext cx="4209898" cy="972007"/>
          </a:xfrm>
          <a:prstGeom prst="roundRect">
            <a:avLst>
              <a:gd name="adj" fmla="val 14757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239305" y="5429707"/>
            <a:ext cx="4229100" cy="857707"/>
          </a:xfrm>
          <a:prstGeom prst="roundRect">
            <a:avLst>
              <a:gd name="adj" fmla="val 14215"/>
            </a:avLst>
          </a:prstGeom>
          <a:solidFill>
            <a:srgbClr val="F59E0B">
              <a:alpha val="10000"/>
            </a:srgbClr>
          </a:solidFill>
        </p:spPr>
      </p:sp>
      <p:sp>
        <p:nvSpPr>
          <p:cNvPr id="24" name="Shape 17"/>
          <p:cNvSpPr/>
          <p:nvPr/>
        </p:nvSpPr>
        <p:spPr>
          <a:xfrm>
            <a:off x="7239305" y="5429707"/>
            <a:ext cx="38405" cy="857707"/>
          </a:xfrm>
          <a:prstGeom prst="roundRect">
            <a:avLst>
              <a:gd name="adj" fmla="val 31745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61695" y="476402"/>
            <a:ext cx="7925105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1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银行：PB与高股息的甜蜜区间</a:t>
            </a:r>
            <a:endParaRPr lang="en-US" sz="27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1238098"/>
            <a:ext cx="10858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 / 六大行业PB区间详解 · 纯粹的PB加股息率逻辑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914400" y="1828800"/>
            <a:ext cx="12198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 区间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2286000" y="1828800"/>
            <a:ext cx="226314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市场含义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0" y="1828800"/>
            <a:ext cx="226314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操作参考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914400" y="2419502"/>
            <a:ext cx="12198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低于 0.5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2286000" y="2324405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市场认为资产质量存在严重隐患，账面净资产不可信。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0" y="2324405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观望，需重点验证不良率是否继续恶化。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914400" y="3086100"/>
            <a:ext cx="121981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0.5 - 0.6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2286000" y="2991002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折价幅度大，属于历史低位区域的左侧区间。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4572000" y="2991002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★ 关注区域，逢低配置（确认基本面无虞）。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914400" y="3752698"/>
            <a:ext cx="121981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0.6 - 0.8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907085" y="4009644"/>
            <a:ext cx="123444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核心甜蜜区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2286000" y="3696005"/>
            <a:ext cx="2171700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A股银行长期合理区间，2.5万亿基准下估值中枢。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0" y="3696005"/>
            <a:ext cx="2171700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正常配置。</a:t>
            </a: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高股息策略</a:t>
            </a: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极佳适用区间。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914400" y="4572000"/>
            <a:ext cx="121981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D5E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0.8 - 1.0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2286000" y="4476902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估值略偏高，仅有优质银行的资产盈利能力能支撑。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4572000" y="4476902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优选 </a:t>
            </a: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ROE持续提升</a:t>
            </a: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的标的（如招行）。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914400" y="5238598"/>
            <a:ext cx="12198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超过 1.0</a:t>
            </a:r>
            <a:endParaRPr lang="en-US" sz="1300" dirty="0"/>
          </a:p>
        </p:txBody>
      </p:sp>
      <p:sp>
        <p:nvSpPr>
          <p:cNvPr id="44" name="Text 37"/>
          <p:cNvSpPr txBox="1"/>
          <p:nvPr/>
        </p:nvSpPr>
        <p:spPr>
          <a:xfrm>
            <a:off x="2286000" y="5143500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溢价明显，市场估值可能已透支未来预期。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4572000" y="5143500"/>
            <a:ext cx="226314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降低仓位，等待回调机会。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761695" y="5762549"/>
            <a:ext cx="628650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*2025年数据参考：工行 0.76倍，建行 0.73倍。农业银行因险资举牌达 1.1倍（唯一超过1的国有大行）。</a:t>
            </a:r>
            <a:endParaRPr lang="en-US" sz="900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429500" y="1879092"/>
            <a:ext cx="171907" cy="171907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7715707" y="1828800"/>
            <a:ext cx="30486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必须紧盯的三大核心指标</a:t>
            </a:r>
            <a:endParaRPr lang="en-US" sz="12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429500" y="2381098"/>
            <a:ext cx="152705" cy="15270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7715707" y="2314346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不良贷款率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7715707" y="2572207"/>
            <a:ext cx="371520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25年整体约</a:t>
            </a:r>
            <a:r>
              <a:rPr lang="en-US" sz="10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1.16%</a:t>
            </a: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。不良率上行是资产受损的最强警报。</a:t>
            </a:r>
            <a:endParaRPr lang="en-US" sz="1000" dirty="0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429500" y="3000146"/>
            <a:ext cx="152705" cy="152705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7715707" y="2933395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拨备覆盖率</a:t>
            </a:r>
            <a:endParaRPr lang="en-US" sz="1200" dirty="0"/>
          </a:p>
        </p:txBody>
      </p:sp>
      <p:sp>
        <p:nvSpPr>
          <p:cNvPr id="54" name="Text 44"/>
          <p:cNvSpPr txBox="1"/>
          <p:nvPr/>
        </p:nvSpPr>
        <p:spPr>
          <a:xfrm>
            <a:off x="7715707" y="3191256"/>
            <a:ext cx="36009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25年均值</a:t>
            </a:r>
            <a:r>
              <a:rPr lang="en-US" sz="10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约288%</a:t>
            </a: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。覆盖率越高，计提越充分，安全边际越高。</a:t>
            </a:r>
            <a:endParaRPr lang="en-US" sz="1000" dirty="0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9"/>
          <a:srcRect l="-33" r="-33"/>
          <a:stretch>
            <a:fillRect/>
          </a:stretch>
        </p:blipFill>
        <p:spPr>
          <a:xfrm>
            <a:off x="7429500" y="3619195"/>
            <a:ext cx="171907" cy="152705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7715707" y="3552444"/>
            <a:ext cx="3639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ROE 走势</a:t>
            </a:r>
            <a:endParaRPr lang="en-US" sz="1200" dirty="0"/>
          </a:p>
        </p:txBody>
      </p:sp>
      <p:sp>
        <p:nvSpPr>
          <p:cNvPr id="57" name="Text 46"/>
          <p:cNvSpPr txBox="1"/>
          <p:nvPr/>
        </p:nvSpPr>
        <p:spPr>
          <a:xfrm>
            <a:off x="7715707" y="3810305"/>
            <a:ext cx="36009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盈利的核心。ROE持续提升的银行（如招行），理应享有高PB。</a:t>
            </a:r>
            <a:endParaRPr lang="en-US" sz="1000" dirty="0"/>
          </a:p>
        </p:txBody>
      </p:sp>
      <p:pic>
        <p:nvPicPr>
          <p:cNvPr id="58" name="Image 9" descr="preencoded.png"/>
          <p:cNvPicPr>
            <a:picLocks noChangeAspect="1"/>
          </p:cNvPicPr>
          <p:nvPr/>
        </p:nvPicPr>
        <p:blipFill>
          <a:blip r:embed="rId10"/>
          <a:srcRect l="-33" r="-33"/>
          <a:stretch>
            <a:fillRect/>
          </a:stretch>
        </p:blipFill>
        <p:spPr>
          <a:xfrm>
            <a:off x="7429500" y="4476902"/>
            <a:ext cx="171907" cy="152705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7715707" y="4410151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2025年银行股行情的三重本质驱动</a:t>
            </a:r>
            <a:endParaRPr lang="en-US" sz="1200" dirty="0"/>
          </a:p>
        </p:txBody>
      </p:sp>
      <p:sp>
        <p:nvSpPr>
          <p:cNvPr id="60" name="Text 48"/>
          <p:cNvSpPr txBox="1"/>
          <p:nvPr/>
        </p:nvSpPr>
        <p:spPr>
          <a:xfrm>
            <a:off x="7391095" y="4714646"/>
            <a:ext cx="3886200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高股息</a:t>
            </a: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+ </a:t>
            </a:r>
            <a:r>
              <a:rPr lang="en-US" sz="1100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险资大举增配</a:t>
            </a: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+ </a:t>
            </a:r>
            <a:r>
              <a:rPr lang="en-US" sz="1100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宏观利率下行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(估值抬升来源于此，而非利润暴增的PE逻辑)</a:t>
            </a:r>
            <a:endParaRPr lang="en-US" sz="1100" dirty="0"/>
          </a:p>
        </p:txBody>
      </p:sp>
      <p:pic>
        <p:nvPicPr>
          <p:cNvPr id="61" name="Image 10" descr="preencoded.png"/>
          <p:cNvPicPr>
            <a:picLocks noChangeAspect="1"/>
          </p:cNvPicPr>
          <p:nvPr/>
        </p:nvPicPr>
        <p:blipFill>
          <a:blip r:embed="rId11"/>
          <a:srcRect t="-43" b="-43"/>
          <a:stretch>
            <a:fillRect/>
          </a:stretch>
        </p:blipFill>
        <p:spPr>
          <a:xfrm>
            <a:off x="7429500" y="5619902"/>
            <a:ext cx="133502" cy="152705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7715707" y="5553151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实战估值口诀</a:t>
            </a:r>
            <a:endParaRPr lang="en-US" sz="1200" dirty="0"/>
          </a:p>
        </p:txBody>
      </p:sp>
      <p:sp>
        <p:nvSpPr>
          <p:cNvPr id="63" name="Text 50"/>
          <p:cNvSpPr txBox="1"/>
          <p:nvPr/>
        </p:nvSpPr>
        <p:spPr>
          <a:xfrm>
            <a:off x="7429500" y="5857646"/>
            <a:ext cx="38862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PB在 0.6~0.8，配合高股息率 5%以上，是机构增配的甜蜜区。低于0.5先查资质排雷，超过1.0警惕估值透支。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t="-401" b="-401"/>
          <a:stretch>
            <a:fillRect/>
          </a:stretch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429207" y="3810305"/>
            <a:ext cx="4762195" cy="47621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72500" y="-952805"/>
            <a:ext cx="4762195" cy="476219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>
            <a:fillRect/>
          </a:stretch>
        </p:blipFill>
        <p:spPr>
          <a:xfrm>
            <a:off x="761695" y="1095451"/>
            <a:ext cx="10668305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761695" y="1714500"/>
            <a:ext cx="6096305" cy="418795"/>
          </a:xfrm>
          <a:prstGeom prst="roundRect">
            <a:avLst>
              <a:gd name="adj" fmla="val 59547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761695" y="2229307"/>
            <a:ext cx="6133795" cy="629107"/>
          </a:xfrm>
          <a:prstGeom prst="roundRect">
            <a:avLst>
              <a:gd name="adj" fmla="val 17618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10" name="Shape 4"/>
          <p:cNvSpPr/>
          <p:nvPr/>
        </p:nvSpPr>
        <p:spPr>
          <a:xfrm>
            <a:off x="761695" y="2229307"/>
            <a:ext cx="38405" cy="629107"/>
          </a:xfrm>
          <a:prstGeom prst="roundRect">
            <a:avLst>
              <a:gd name="adj" fmla="val 288599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761695" y="2952598"/>
            <a:ext cx="6143854" cy="838505"/>
          </a:xfrm>
          <a:prstGeom prst="roundRect">
            <a:avLst>
              <a:gd name="adj" fmla="val 9914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761695" y="2952598"/>
            <a:ext cx="38405" cy="838505"/>
          </a:xfrm>
          <a:prstGeom prst="roundRect">
            <a:avLst>
              <a:gd name="adj" fmla="val 21644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761695" y="2952598"/>
            <a:ext cx="1429207" cy="819302"/>
          </a:xfrm>
          <a:prstGeom prst="rect">
            <a:avLst/>
          </a:prstGeom>
          <a:solidFill>
            <a:srgbClr val="F59E0B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61695" y="3866998"/>
            <a:ext cx="6133795" cy="629107"/>
          </a:xfrm>
          <a:prstGeom prst="roundRect">
            <a:avLst>
              <a:gd name="adj" fmla="val 17618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15" name="Shape 9"/>
          <p:cNvSpPr/>
          <p:nvPr/>
        </p:nvSpPr>
        <p:spPr>
          <a:xfrm>
            <a:off x="761695" y="3866998"/>
            <a:ext cx="38405" cy="629107"/>
          </a:xfrm>
          <a:prstGeom prst="roundRect">
            <a:avLst>
              <a:gd name="adj" fmla="val 28859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61695" y="4591202"/>
            <a:ext cx="6133795" cy="629107"/>
          </a:xfrm>
          <a:prstGeom prst="roundRect">
            <a:avLst>
              <a:gd name="adj" fmla="val 17618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17" name="Shape 11"/>
          <p:cNvSpPr/>
          <p:nvPr/>
        </p:nvSpPr>
        <p:spPr>
          <a:xfrm>
            <a:off x="761695" y="4591202"/>
            <a:ext cx="38405" cy="629107"/>
          </a:xfrm>
          <a:prstGeom prst="roundRect">
            <a:avLst>
              <a:gd name="adj" fmla="val 288599"/>
            </a:avLst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239305" y="1714500"/>
            <a:ext cx="4209898" cy="2305202"/>
          </a:xfrm>
          <a:prstGeom prst="roundRect">
            <a:avLst>
              <a:gd name="adj" fmla="val 262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 t="-30" b="-30"/>
          <a:stretch>
            <a:fillRect/>
          </a:stretch>
        </p:blipFill>
        <p:spPr>
          <a:xfrm>
            <a:off x="7239305" y="1714500"/>
            <a:ext cx="4190695" cy="42885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239305" y="4143146"/>
            <a:ext cx="4209898" cy="1019556"/>
          </a:xfrm>
          <a:prstGeom prst="roundRect">
            <a:avLst>
              <a:gd name="adj" fmla="val 13411"/>
            </a:avLst>
          </a:prstGeom>
          <a:solidFill>
            <a:srgbClr val="EF4444">
              <a:alpha val="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7239305" y="5286146"/>
            <a:ext cx="4229100" cy="1000354"/>
          </a:xfrm>
          <a:prstGeom prst="roundRect">
            <a:avLst>
              <a:gd name="adj" fmla="val 10447"/>
            </a:avLst>
          </a:prstGeom>
          <a:solidFill>
            <a:srgbClr val="3B82F6">
              <a:alpha val="10000"/>
            </a:srgbClr>
          </a:solidFill>
        </p:spPr>
      </p:sp>
      <p:sp>
        <p:nvSpPr>
          <p:cNvPr id="22" name="Shape 15"/>
          <p:cNvSpPr/>
          <p:nvPr/>
        </p:nvSpPr>
        <p:spPr>
          <a:xfrm>
            <a:off x="7239305" y="5286146"/>
            <a:ext cx="38405" cy="1000354"/>
          </a:xfrm>
          <a:prstGeom prst="roundRect">
            <a:avLst>
              <a:gd name="adj" fmla="val 272107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61695" y="476402"/>
            <a:ext cx="7925105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1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地产：低PB不等于安全边际</a:t>
            </a:r>
            <a:endParaRPr lang="en-US" sz="270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1238098"/>
            <a:ext cx="10858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 / 六大行业PB区间详解 · 净资产大面积折价背后的清算担忧与长期需求萎缩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914400" y="1828800"/>
            <a:ext cx="12198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 区间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2286000" y="1828800"/>
            <a:ext cx="226314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市场含义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1828800"/>
            <a:ext cx="217993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2025 代表案例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914400" y="2447849"/>
            <a:ext cx="12198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低于 0.4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2286000" y="2352751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存在大量减值预期，市场认为清算价值远低于账面，</a:t>
            </a:r>
            <a:r>
              <a:rPr lang="en-US" sz="1000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资产严重受损</a:t>
            </a: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0" y="2352751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万科A (&lt;0.4)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绿地控股、金地集团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914400" y="3191256"/>
            <a:ext cx="121981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0.4 - 0.6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07085" y="3448202"/>
            <a:ext cx="123444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重点关注区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2286000" y="3105302"/>
            <a:ext cx="2171700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深度折价，悲观预期已被较为充分反映。</a:t>
            </a: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优质央国企</a:t>
            </a: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在此区间具备潜在安全边际。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4572000" y="3200400"/>
            <a:ext cx="2171700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保利发展</a:t>
            </a:r>
            <a:endParaRPr lang="en-US" sz="10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(部分时段)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914400" y="4086454"/>
            <a:ext cx="121981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0.6 - 1.0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2286000" y="3991356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合理折价区间，市场整体偏谨慎，通常为区域龙头或国企属性。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4572000" y="3991356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招商蛇口 (0.89)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华发股份 (0.73)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914400" y="4809744"/>
            <a:ext cx="12198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D5E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超过 1.0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2286000" y="4714646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出现溢价。说明市场对该企业的生存能力与市占率提升相对乐观。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4572000" y="4714646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极少数强国资背书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或特殊土储优势标的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761695" y="5381244"/>
            <a:ext cx="61722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*注：2025年初 A股108只地产股超半数破净。万科每股净资产约16.4元，股价跌至5元附近，PB仅0.32倍；但市场不仅是在给净资产打3折，更是在给其有息负债和长期去化压力定价。</a:t>
            </a:r>
            <a:endParaRPr lang="en-US" sz="9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429500" y="1879092"/>
            <a:ext cx="171907" cy="171907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7715707" y="1828800"/>
            <a:ext cx="30486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排雷必学：地产估值“三看”框架</a:t>
            </a:r>
            <a:endParaRPr lang="en-US" sz="12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7"/>
          <a:srcRect t="-100" b="-100"/>
          <a:stretch>
            <a:fillRect/>
          </a:stretch>
        </p:blipFill>
        <p:spPr>
          <a:xfrm>
            <a:off x="7429500" y="2381098"/>
            <a:ext cx="114300" cy="152705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7715707" y="2314346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一看 有息负债规模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7715707" y="2553005"/>
            <a:ext cx="36009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高负债民营房企的账面净资产，在清算时极易</a:t>
            </a:r>
            <a:r>
              <a:rPr lang="en-US" sz="1000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被债务吞噬</a:t>
            </a: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，导致账面数字失真。</a:t>
            </a:r>
            <a:endParaRPr lang="en-US" sz="10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8"/>
          <a:srcRect l="-33" r="-33"/>
          <a:stretch>
            <a:fillRect/>
          </a:stretch>
        </p:blipFill>
        <p:spPr>
          <a:xfrm>
            <a:off x="7429500" y="3000146"/>
            <a:ext cx="171907" cy="152705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7715707" y="2933395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二看 土储质量与分布</a:t>
            </a:r>
            <a:endParaRPr lang="en-US" sz="1200" dirty="0"/>
          </a:p>
        </p:txBody>
      </p:sp>
      <p:sp>
        <p:nvSpPr>
          <p:cNvPr id="49" name="Text 39"/>
          <p:cNvSpPr txBox="1"/>
          <p:nvPr/>
        </p:nvSpPr>
        <p:spPr>
          <a:xfrm>
            <a:off x="7715707" y="3172054"/>
            <a:ext cx="36009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一二线城市优质土储变现能力强、折价风险小。同样PB=0.5，土储位置不同，估值完全不同。</a:t>
            </a:r>
            <a:endParaRPr lang="en-US" sz="1000" dirty="0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7429500" y="3619195"/>
            <a:ext cx="152705" cy="152705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7715707" y="3552444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三看 是否有国资背书</a:t>
            </a:r>
            <a:endParaRPr lang="en-US" sz="1200" dirty="0"/>
          </a:p>
        </p:txBody>
      </p:sp>
      <p:sp>
        <p:nvSpPr>
          <p:cNvPr id="52" name="Text 41"/>
          <p:cNvSpPr txBox="1"/>
          <p:nvPr/>
        </p:nvSpPr>
        <p:spPr>
          <a:xfrm>
            <a:off x="7715707" y="3791102"/>
            <a:ext cx="36009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保利、招商蛇口等央国企融资成本低、生存能力强，其PB折价往往隐含中长期修复空间。</a:t>
            </a:r>
            <a:endParaRPr lang="en-US" sz="1000" dirty="0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429500" y="4334256"/>
            <a:ext cx="152705" cy="152705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7715707" y="4267505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2025年 行业现状预警</a:t>
            </a:r>
            <a:endParaRPr lang="en-US" sz="1200" dirty="0"/>
          </a:p>
        </p:txBody>
      </p:sp>
      <p:sp>
        <p:nvSpPr>
          <p:cNvPr id="55" name="Text 43"/>
          <p:cNvSpPr txBox="1"/>
          <p:nvPr/>
        </p:nvSpPr>
        <p:spPr>
          <a:xfrm>
            <a:off x="7429500" y="4552798"/>
            <a:ext cx="3886200" cy="600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千亿房企仅剩4家，集中度加速向央国企靠拢。万科预计亏损450亿，绿地预亏超百亿。这并非简单的周期低谷，而是</a:t>
            </a:r>
            <a:r>
              <a:rPr lang="en-US" sz="9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行业结构的剧烈重塑</a:t>
            </a: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900" dirty="0"/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7429500" y="5477256"/>
            <a:ext cx="152705" cy="152705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7715707" y="5410505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地产PB 操作结论</a:t>
            </a:r>
            <a:endParaRPr lang="en-US" sz="1200" dirty="0"/>
          </a:p>
        </p:txBody>
      </p:sp>
      <p:sp>
        <p:nvSpPr>
          <p:cNvPr id="58" name="Text 45"/>
          <p:cNvSpPr txBox="1"/>
          <p:nvPr/>
        </p:nvSpPr>
        <p:spPr>
          <a:xfrm>
            <a:off x="7429500" y="5715000"/>
            <a:ext cx="3886200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PB在 </a:t>
            </a:r>
            <a:r>
              <a:rPr lang="en-US" sz="10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0.5~0.6</a:t>
            </a:r>
            <a:r>
              <a:rPr lang="en-US" sz="1000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的央国企龙头，在行业触底信号确认后可关注；</a:t>
            </a:r>
            <a:r>
              <a:rPr lang="en-US" sz="10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民营房企 PB&lt;0.4</a:t>
            </a:r>
            <a:r>
              <a:rPr lang="en-US" sz="1000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必须先排查系统性风险，绝对不能单纯以“折价”为由盲目抄底买入。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t="-401" b="-401"/>
          <a:stretch>
            <a:fillRect/>
          </a:stretch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429207" y="3810305"/>
            <a:ext cx="4762195" cy="47621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72500" y="-952805"/>
            <a:ext cx="4762195" cy="476219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>
            <a:fillRect/>
          </a:stretch>
        </p:blipFill>
        <p:spPr>
          <a:xfrm>
            <a:off x="761695" y="1095451"/>
            <a:ext cx="10668305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761695" y="1714500"/>
            <a:ext cx="6096305" cy="418795"/>
          </a:xfrm>
          <a:prstGeom prst="roundRect">
            <a:avLst>
              <a:gd name="adj" fmla="val 59547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761695" y="2229307"/>
            <a:ext cx="6133795" cy="666598"/>
          </a:xfrm>
          <a:prstGeom prst="roundRect">
            <a:avLst>
              <a:gd name="adj" fmla="val 15677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10" name="Shape 4"/>
          <p:cNvSpPr/>
          <p:nvPr/>
        </p:nvSpPr>
        <p:spPr>
          <a:xfrm>
            <a:off x="761695" y="2229307"/>
            <a:ext cx="38405" cy="666598"/>
          </a:xfrm>
          <a:prstGeom prst="roundRect">
            <a:avLst>
              <a:gd name="adj" fmla="val 272107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761695" y="3086100"/>
            <a:ext cx="6143854" cy="780898"/>
          </a:xfrm>
          <a:prstGeom prst="roundRect">
            <a:avLst>
              <a:gd name="adj" fmla="val 11424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761695" y="3086100"/>
            <a:ext cx="38405" cy="780898"/>
          </a:xfrm>
          <a:prstGeom prst="roundRect">
            <a:avLst>
              <a:gd name="adj" fmla="val 232287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761695" y="3086100"/>
            <a:ext cx="1429207" cy="761695"/>
          </a:xfrm>
          <a:prstGeom prst="rect">
            <a:avLst/>
          </a:prstGeom>
          <a:solidFill>
            <a:srgbClr val="F59E0B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61695" y="4038905"/>
            <a:ext cx="6133795" cy="666598"/>
          </a:xfrm>
          <a:prstGeom prst="roundRect">
            <a:avLst>
              <a:gd name="adj" fmla="val 15677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15" name="Shape 9"/>
          <p:cNvSpPr/>
          <p:nvPr/>
        </p:nvSpPr>
        <p:spPr>
          <a:xfrm>
            <a:off x="761695" y="4038905"/>
            <a:ext cx="38405" cy="666598"/>
          </a:xfrm>
          <a:prstGeom prst="roundRect">
            <a:avLst>
              <a:gd name="adj" fmla="val 272107"/>
            </a:avLst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61695" y="4895698"/>
            <a:ext cx="6133795" cy="666598"/>
          </a:xfrm>
          <a:prstGeom prst="roundRect">
            <a:avLst>
              <a:gd name="adj" fmla="val 15677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17" name="Shape 11"/>
          <p:cNvSpPr/>
          <p:nvPr/>
        </p:nvSpPr>
        <p:spPr>
          <a:xfrm>
            <a:off x="761695" y="4895698"/>
            <a:ext cx="38405" cy="666598"/>
          </a:xfrm>
          <a:prstGeom prst="roundRect">
            <a:avLst>
              <a:gd name="adj" fmla="val 272107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239305" y="1714500"/>
            <a:ext cx="4209898" cy="1733702"/>
          </a:xfrm>
          <a:prstGeom prst="roundRect">
            <a:avLst>
              <a:gd name="adj" fmla="val 463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 t="-30" b="-30"/>
          <a:stretch>
            <a:fillRect/>
          </a:stretch>
        </p:blipFill>
        <p:spPr>
          <a:xfrm>
            <a:off x="7239305" y="1714500"/>
            <a:ext cx="4190695" cy="42885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239305" y="3619195"/>
            <a:ext cx="4209898" cy="1638605"/>
          </a:xfrm>
          <a:prstGeom prst="roundRect">
            <a:avLst>
              <a:gd name="adj" fmla="val 5191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7239305" y="5429707"/>
            <a:ext cx="4229100" cy="952805"/>
          </a:xfrm>
          <a:prstGeom prst="roundRect">
            <a:avLst>
              <a:gd name="adj" fmla="val 11516"/>
            </a:avLst>
          </a:prstGeom>
          <a:solidFill>
            <a:srgbClr val="F59E0B">
              <a:alpha val="10000"/>
            </a:srgbClr>
          </a:solidFill>
        </p:spPr>
      </p:sp>
      <p:sp>
        <p:nvSpPr>
          <p:cNvPr id="22" name="Shape 15"/>
          <p:cNvSpPr/>
          <p:nvPr/>
        </p:nvSpPr>
        <p:spPr>
          <a:xfrm>
            <a:off x="7239305" y="5429707"/>
            <a:ext cx="38405" cy="952805"/>
          </a:xfrm>
          <a:prstGeom prst="roundRect">
            <a:avLst>
              <a:gd name="adj" fmla="val 285713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61695" y="476402"/>
            <a:ext cx="7925105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1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保险：PB对利率高度敏感，优先看P/EV</a:t>
            </a:r>
            <a:endParaRPr lang="en-US" sz="270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1238098"/>
            <a:ext cx="10858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 / 六大行业PB区间详解 · 利率敏感性与内含价值(EV)驱动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914400" y="1828800"/>
            <a:ext cx="12198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 区间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2286000" y="1828800"/>
            <a:ext cx="226314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市场含义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1828800"/>
            <a:ext cx="226314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操作参考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914400" y="2467051"/>
            <a:ext cx="12198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低于 0.8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2286000" y="2371954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市场极度悲观，通常对应宏观无风险利率处于低位。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0" y="2371954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★ 深度折价，中长期极佳的左侧布局区间。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914400" y="3276295"/>
            <a:ext cx="121981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0.8 - 1.2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07085" y="3534156"/>
            <a:ext cx="123444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合理中枢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2286000" y="3238805"/>
            <a:ext cx="2171700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估值合理，反映正常的投资收益预期与保费增长。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4572000" y="3238805"/>
            <a:ext cx="2171700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正常配置，赚取</a:t>
            </a: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EV自然增长</a:t>
            </a: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的长期红利。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914400" y="4276649"/>
            <a:ext cx="121981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D5E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1.2 - 1.5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2286000" y="4181551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估值略微偏高，需强劲的权益市场超额收益来支撑。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4572000" y="4181551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停止加仓，持有观望权益资产浮盈情况。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914400" y="5134356"/>
            <a:ext cx="12198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超过 1.5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2286000" y="5038344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明显溢价，情绪可能过于亢奋，估值已被透支。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4572000" y="5038344"/>
            <a:ext cx="226314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逢高降低仓位，等待估值回调。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761695" y="5762549"/>
            <a:ext cx="6172200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*2026年初参考：中国平安 1.27倍，中国太保 1.52倍。险资增配权益市场带来浮盈，部分对冲了利率走低的利差收窄压力。</a:t>
            </a:r>
            <a:endParaRPr lang="en-US" sz="9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429500" y="1879092"/>
            <a:ext cx="171907" cy="171907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7715707" y="1828800"/>
            <a:ext cx="30486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优先看P/EV：核心价值指标</a:t>
            </a:r>
            <a:endParaRPr lang="en-US" sz="12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7"/>
          <a:srcRect t="-100" b="-100"/>
          <a:stretch>
            <a:fillRect/>
          </a:stretch>
        </p:blipFill>
        <p:spPr>
          <a:xfrm>
            <a:off x="7429500" y="2381098"/>
            <a:ext cx="114300" cy="152705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7715707" y="2314346"/>
            <a:ext cx="3639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新单保费增速 (NBV)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7715707" y="2572207"/>
            <a:ext cx="371520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反映保险公司市场开拓能力与未来利润的增量来源。</a:t>
            </a:r>
            <a:endParaRPr lang="en-US" sz="10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429500" y="3000146"/>
            <a:ext cx="152705" cy="152705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7715707" y="2933395"/>
            <a:ext cx="3639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内含价值 (EV) 增速</a:t>
            </a:r>
            <a:endParaRPr lang="en-US" sz="1200" dirty="0"/>
          </a:p>
        </p:txBody>
      </p:sp>
      <p:sp>
        <p:nvSpPr>
          <p:cNvPr id="49" name="Text 39"/>
          <p:cNvSpPr txBox="1"/>
          <p:nvPr/>
        </p:nvSpPr>
        <p:spPr>
          <a:xfrm>
            <a:off x="7715707" y="3191256"/>
            <a:ext cx="371520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长期价值的真正锚。有条件应直接用 </a:t>
            </a:r>
            <a:r>
              <a:rPr lang="en-US" sz="10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P/EV</a:t>
            </a: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替代 PB 判断。</a:t>
            </a:r>
            <a:endParaRPr lang="en-US" sz="1000" dirty="0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9"/>
          <a:srcRect t="-180" b="-180"/>
          <a:stretch>
            <a:fillRect/>
          </a:stretch>
        </p:blipFill>
        <p:spPr>
          <a:xfrm>
            <a:off x="7429500" y="3810305"/>
            <a:ext cx="190195" cy="152705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7715707" y="3743554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宏观联动：PB与利率的强博弈</a:t>
            </a:r>
            <a:endParaRPr lang="en-US" sz="1200" dirty="0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0"/>
          <a:srcRect l="-837" r="-837"/>
          <a:stretch>
            <a:fillRect/>
          </a:stretch>
        </p:blipFill>
        <p:spPr>
          <a:xfrm>
            <a:off x="7429500" y="4178808"/>
            <a:ext cx="152705" cy="133502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7715707" y="4123944"/>
            <a:ext cx="371520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利率上行</a:t>
            </a: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→ 投资收益率提升，EV增加 → PB 提升</a:t>
            </a:r>
            <a:endParaRPr lang="en-US" sz="1000" dirty="0"/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1"/>
          <a:srcRect l="-837" r="-837"/>
          <a:stretch>
            <a:fillRect/>
          </a:stretch>
        </p:blipFill>
        <p:spPr>
          <a:xfrm>
            <a:off x="7429500" y="4560113"/>
            <a:ext cx="152705" cy="133502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7715707" y="4505249"/>
            <a:ext cx="371520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利率下行</a:t>
            </a: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→ 再投资收益走低，利差收窄 → PB 承压</a:t>
            </a:r>
            <a:endParaRPr lang="en-US" sz="1000" dirty="0"/>
          </a:p>
        </p:txBody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7429500" y="4941418"/>
            <a:ext cx="133502" cy="133502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7715707" y="4886554"/>
            <a:ext cx="371520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权益大涨</a:t>
            </a: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→ 浮盈改善利润与净资产 → PB 短期提振</a:t>
            </a:r>
            <a:endParaRPr lang="en-US" sz="1000" dirty="0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13"/>
          <a:srcRect t="-43" b="-43"/>
          <a:stretch>
            <a:fillRect/>
          </a:stretch>
        </p:blipFill>
        <p:spPr>
          <a:xfrm>
            <a:off x="7429500" y="5619902"/>
            <a:ext cx="133502" cy="152705"/>
          </a:xfrm>
          <a:prstGeom prst="rect">
            <a:avLst/>
          </a:prstGeom>
        </p:spPr>
      </p:pic>
      <p:sp>
        <p:nvSpPr>
          <p:cNvPr id="59" name="Text 44"/>
          <p:cNvSpPr txBox="1"/>
          <p:nvPr/>
        </p:nvSpPr>
        <p:spPr>
          <a:xfrm>
            <a:off x="7715707" y="5553151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保险估值核心论断</a:t>
            </a:r>
            <a:endParaRPr lang="en-US" sz="1200" dirty="0"/>
          </a:p>
        </p:txBody>
      </p:sp>
      <p:sp>
        <p:nvSpPr>
          <p:cNvPr id="60" name="Text 45"/>
          <p:cNvSpPr txBox="1"/>
          <p:nvPr/>
        </p:nvSpPr>
        <p:spPr>
          <a:xfrm>
            <a:off x="7429500" y="5857646"/>
            <a:ext cx="3886200" cy="600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PB跟着利率走，利率下行时PB承压是正常现象，不要误判为低估。内含价值（EV）是更准的估值锚，优先看P/EV，其次看PB。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t="-401" b="-401"/>
          <a:stretch>
            <a:fillRect/>
          </a:stretch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429207" y="3810305"/>
            <a:ext cx="4762195" cy="47621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72500" y="-952805"/>
            <a:ext cx="4762195" cy="476219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>
            <a:fillRect/>
          </a:stretch>
        </p:blipFill>
        <p:spPr>
          <a:xfrm>
            <a:off x="761695" y="1095451"/>
            <a:ext cx="10668305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761695" y="1714500"/>
            <a:ext cx="6096305" cy="418795"/>
          </a:xfrm>
          <a:prstGeom prst="roundRect">
            <a:avLst>
              <a:gd name="adj" fmla="val 59547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761695" y="2229307"/>
            <a:ext cx="6133795" cy="571500"/>
          </a:xfrm>
          <a:prstGeom prst="roundRect">
            <a:avLst>
              <a:gd name="adj" fmla="val 21333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10" name="Shape 4"/>
          <p:cNvSpPr/>
          <p:nvPr/>
        </p:nvSpPr>
        <p:spPr>
          <a:xfrm>
            <a:off x="761695" y="2229307"/>
            <a:ext cx="38405" cy="571500"/>
          </a:xfrm>
          <a:prstGeom prst="roundRect">
            <a:avLst>
              <a:gd name="adj" fmla="val 317459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761695" y="2895905"/>
            <a:ext cx="6143854" cy="743407"/>
          </a:xfrm>
          <a:prstGeom prst="roundRect">
            <a:avLst>
              <a:gd name="adj" fmla="val 12616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761695" y="2895905"/>
            <a:ext cx="38405" cy="743407"/>
          </a:xfrm>
          <a:prstGeom prst="roundRect">
            <a:avLst>
              <a:gd name="adj" fmla="val 24419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761695" y="2895905"/>
            <a:ext cx="1714500" cy="724205"/>
          </a:xfrm>
          <a:prstGeom prst="rect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61695" y="3715207"/>
            <a:ext cx="6133795" cy="571500"/>
          </a:xfrm>
          <a:prstGeom prst="roundRect">
            <a:avLst>
              <a:gd name="adj" fmla="val 21333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15" name="Shape 9"/>
          <p:cNvSpPr/>
          <p:nvPr/>
        </p:nvSpPr>
        <p:spPr>
          <a:xfrm>
            <a:off x="761695" y="3715207"/>
            <a:ext cx="38405" cy="571500"/>
          </a:xfrm>
          <a:prstGeom prst="roundRect">
            <a:avLst>
              <a:gd name="adj" fmla="val 31745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61695" y="4381805"/>
            <a:ext cx="6133795" cy="571500"/>
          </a:xfrm>
          <a:prstGeom prst="roundRect">
            <a:avLst>
              <a:gd name="adj" fmla="val 21333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17" name="Shape 11"/>
          <p:cNvSpPr/>
          <p:nvPr/>
        </p:nvSpPr>
        <p:spPr>
          <a:xfrm>
            <a:off x="761695" y="4381805"/>
            <a:ext cx="38405" cy="571500"/>
          </a:xfrm>
          <a:prstGeom prst="roundRect">
            <a:avLst>
              <a:gd name="adj" fmla="val 317459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61695" y="5143500"/>
            <a:ext cx="6115507" cy="780898"/>
          </a:xfrm>
          <a:prstGeom prst="roundRect">
            <a:avLst>
              <a:gd name="adj" fmla="val 1713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239305" y="1714500"/>
            <a:ext cx="4209898" cy="2305202"/>
          </a:xfrm>
          <a:prstGeom prst="roundRect">
            <a:avLst>
              <a:gd name="adj" fmla="val 262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 t="-30" b="-30"/>
          <a:stretch>
            <a:fillRect/>
          </a:stretch>
        </p:blipFill>
        <p:spPr>
          <a:xfrm>
            <a:off x="7239305" y="1714500"/>
            <a:ext cx="4190695" cy="42885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239305" y="4095598"/>
            <a:ext cx="4209898" cy="1162202"/>
          </a:xfrm>
          <a:prstGeom prst="roundRect">
            <a:avLst>
              <a:gd name="adj" fmla="val 10318"/>
            </a:avLst>
          </a:prstGeom>
          <a:solidFill>
            <a:srgbClr val="EF4444">
              <a:alpha val="5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7239305" y="5333695"/>
            <a:ext cx="4229100" cy="952805"/>
          </a:xfrm>
          <a:prstGeom prst="roundRect">
            <a:avLst>
              <a:gd name="adj" fmla="val 11516"/>
            </a:avLst>
          </a:prstGeom>
          <a:solidFill>
            <a:srgbClr val="10B981">
              <a:alpha val="10000"/>
            </a:srgbClr>
          </a:solidFill>
        </p:spPr>
      </p:sp>
      <p:sp>
        <p:nvSpPr>
          <p:cNvPr id="23" name="Shape 16"/>
          <p:cNvSpPr/>
          <p:nvPr/>
        </p:nvSpPr>
        <p:spPr>
          <a:xfrm>
            <a:off x="7239305" y="5333695"/>
            <a:ext cx="38405" cy="952805"/>
          </a:xfrm>
          <a:prstGeom prst="roundRect">
            <a:avLst>
              <a:gd name="adj" fmla="val 285713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761695" y="476402"/>
            <a:ext cx="7925105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1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券商：量能是先行指标，PB为确认工具</a:t>
            </a:r>
            <a:endParaRPr lang="en-US" sz="2700" dirty="0"/>
          </a:p>
        </p:txBody>
      </p:sp>
      <p:sp>
        <p:nvSpPr>
          <p:cNvPr id="25" name="Text 18"/>
          <p:cNvSpPr txBox="1"/>
          <p:nvPr/>
        </p:nvSpPr>
        <p:spPr>
          <a:xfrm>
            <a:off x="761695" y="1238098"/>
            <a:ext cx="10858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 / 六大行业PB区间详解 · 唯一与市场成交量直接挂钩的金融子行业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952805" y="1828800"/>
            <a:ext cx="144018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市场量能环境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2667305" y="1828800"/>
            <a:ext cx="185166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成交量特征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1828800"/>
            <a:ext cx="217993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合理 PB 区间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952805" y="2419502"/>
            <a:ext cx="14401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熊市、震荡期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2667305" y="2419502"/>
            <a:ext cx="17913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日成交 &lt; 1 万亿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4572000" y="2400300"/>
            <a:ext cx="21799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1.0 - 1.5 倍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952805" y="3047695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温和牛市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2805" y="3314700"/>
            <a:ext cx="160020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(2025年均值状态)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2667305" y="3143707"/>
            <a:ext cx="17913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1.5 - 2.5 万亿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4572000" y="3124505"/>
            <a:ext cx="2179930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A5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1.5 - 2.5 倍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952805" y="3905402"/>
            <a:ext cx="14401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热烈牛市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2667305" y="3905402"/>
            <a:ext cx="17913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2.5 - 3.0 万亿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4572000" y="3886200"/>
            <a:ext cx="21799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2.0 - 3.0 倍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52805" y="4572000"/>
            <a:ext cx="14401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极度亢奋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2667305" y="4572000"/>
            <a:ext cx="17913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日成交 &gt; 3 万亿</a:t>
            </a:r>
            <a:endParaRPr lang="en-US" sz="1100" dirty="0"/>
          </a:p>
        </p:txBody>
      </p:sp>
      <p:sp>
        <p:nvSpPr>
          <p:cNvPr id="41" name="Text 34"/>
          <p:cNvSpPr txBox="1"/>
          <p:nvPr/>
        </p:nvSpPr>
        <p:spPr>
          <a:xfrm>
            <a:off x="4572000" y="4496105"/>
            <a:ext cx="21799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3.0 倍以上</a:t>
            </a:r>
            <a:endParaRPr lang="en-US" sz="1300" dirty="0"/>
          </a:p>
        </p:txBody>
      </p:sp>
      <p:sp>
        <p:nvSpPr>
          <p:cNvPr id="42" name="Text 35"/>
          <p:cNvSpPr txBox="1"/>
          <p:nvPr/>
        </p:nvSpPr>
        <p:spPr>
          <a:xfrm>
            <a:off x="4572000" y="4762195"/>
            <a:ext cx="226314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(注意泡沫风险，准备撤退)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952805" y="5286146"/>
            <a:ext cx="590611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🔍 2025年真实复盘数据对比：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952805" y="5499202"/>
            <a:ext cx="579181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日均成交1.72万亿（历史最高），中信证券等单季盈利创新高。但券商ETF的PB仅为</a:t>
            </a:r>
            <a:r>
              <a:rPr lang="en-US" sz="9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1.58倍</a:t>
            </a: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（历史近10年48%分位），市场给出的是“业绩兑现”而非“情绪泡沫”，仍有合理配置空间。</a:t>
            </a:r>
            <a:endParaRPr lang="en-US" sz="900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429500" y="1879092"/>
            <a:ext cx="171907" cy="171907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7715707" y="1828800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业务利润与量能的极度挂钩</a:t>
            </a:r>
            <a:endParaRPr lang="en-US" sz="1200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7"/>
          <a:srcRect t="-180" b="-180"/>
          <a:stretch>
            <a:fillRect/>
          </a:stretch>
        </p:blipFill>
        <p:spPr>
          <a:xfrm>
            <a:off x="7429500" y="2352751"/>
            <a:ext cx="190195" cy="152705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7715707" y="2286000"/>
            <a:ext cx="371520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经纪与两融业务</a:t>
            </a:r>
            <a:endParaRPr lang="en-US" sz="1100" dirty="0"/>
          </a:p>
        </p:txBody>
      </p:sp>
      <p:sp>
        <p:nvSpPr>
          <p:cNvPr id="49" name="Text 40"/>
          <p:cNvSpPr txBox="1"/>
          <p:nvPr/>
        </p:nvSpPr>
        <p:spPr>
          <a:xfrm>
            <a:off x="7715707" y="2523744"/>
            <a:ext cx="3715207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成交放大⇒经纪收入暴增，两融规模扩大，利润起飞。</a:t>
            </a:r>
            <a:endParaRPr lang="en-US" sz="9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8"/>
          <a:srcRect l="-33" r="-33"/>
          <a:stretch>
            <a:fillRect/>
          </a:stretch>
        </p:blipFill>
        <p:spPr>
          <a:xfrm>
            <a:off x="7429500" y="2924251"/>
            <a:ext cx="171907" cy="152705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7715707" y="2857500"/>
            <a:ext cx="371520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自营投资业务</a:t>
            </a:r>
            <a:endParaRPr lang="en-US" sz="1100" dirty="0"/>
          </a:p>
        </p:txBody>
      </p:sp>
      <p:sp>
        <p:nvSpPr>
          <p:cNvPr id="52" name="Text 42"/>
          <p:cNvSpPr txBox="1"/>
          <p:nvPr/>
        </p:nvSpPr>
        <p:spPr>
          <a:xfrm>
            <a:off x="7715707" y="3095244"/>
            <a:ext cx="3715207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市场行情好转⇒权益投资浮盈大幅提升，反之则浮亏吞噬净利。</a:t>
            </a:r>
            <a:endParaRPr lang="en-US" sz="900" dirty="0"/>
          </a:p>
        </p:txBody>
      </p:sp>
      <p:sp>
        <p:nvSpPr>
          <p:cNvPr id="53" name="Shape 43"/>
          <p:cNvSpPr/>
          <p:nvPr/>
        </p:nvSpPr>
        <p:spPr>
          <a:xfrm>
            <a:off x="7429500" y="3476549"/>
            <a:ext cx="3810305" cy="485546"/>
          </a:xfrm>
          <a:prstGeom prst="roundRect">
            <a:avLst>
              <a:gd name="adj" fmla="val 29541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7429500" y="3476549"/>
            <a:ext cx="3886200" cy="4864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93C5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结论：券商股没有长期稳定的增速(g)，只有随行情剧烈波动的周期弹性。合理PB中枢随着市场量能的膨胀而漂移。</a:t>
            </a:r>
            <a:endParaRPr lang="en-US" sz="900" dirty="0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7429500" y="4286707"/>
            <a:ext cx="152705" cy="152705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7715707" y="4219956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PE在券商股中的极度欺骗性</a:t>
            </a:r>
            <a:endParaRPr lang="en-US" sz="1200" dirty="0"/>
          </a:p>
        </p:txBody>
      </p:sp>
      <p:sp>
        <p:nvSpPr>
          <p:cNvPr id="57" name="Text 46"/>
          <p:cNvSpPr txBox="1"/>
          <p:nvPr/>
        </p:nvSpPr>
        <p:spPr>
          <a:xfrm>
            <a:off x="7429500" y="4524451"/>
            <a:ext cx="3886200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牛市顶点时利润爆炸，</a:t>
            </a:r>
            <a:r>
              <a:rPr lang="en-US" sz="10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PE显得极低</a:t>
            </a: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（看似便宜），实则是周期顶部；熊市底部时利润崩塌，</a:t>
            </a:r>
            <a:r>
              <a:rPr lang="en-US" sz="10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PE显得极高甚至为负</a:t>
            </a: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（看似昂贵），实则是布局良机。必须用PB衡量。</a:t>
            </a:r>
            <a:endParaRPr lang="en-US" sz="1000" dirty="0"/>
          </a:p>
        </p:txBody>
      </p:sp>
      <p:pic>
        <p:nvPicPr>
          <p:cNvPr id="58" name="Image 9" descr="preencoded.png"/>
          <p:cNvPicPr>
            <a:picLocks noChangeAspect="1"/>
          </p:cNvPicPr>
          <p:nvPr/>
        </p:nvPicPr>
        <p:blipFill>
          <a:blip r:embed="rId10"/>
          <a:srcRect t="-100" b="-100"/>
          <a:stretch>
            <a:fillRect/>
          </a:stretch>
        </p:blipFill>
        <p:spPr>
          <a:xfrm>
            <a:off x="7429500" y="5524805"/>
            <a:ext cx="114300" cy="152705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7715707" y="5458054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券商实战操作公式</a:t>
            </a:r>
            <a:endParaRPr lang="en-US" sz="1200" dirty="0"/>
          </a:p>
        </p:txBody>
      </p:sp>
      <p:sp>
        <p:nvSpPr>
          <p:cNvPr id="60" name="Text 48"/>
          <p:cNvSpPr txBox="1"/>
          <p:nvPr/>
        </p:nvSpPr>
        <p:spPr>
          <a:xfrm>
            <a:off x="7429500" y="5762549"/>
            <a:ext cx="3886200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✅ </a:t>
            </a:r>
            <a:r>
              <a:rPr lang="en-US" sz="1000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最佳介入</a:t>
            </a:r>
            <a:r>
              <a:rPr lang="en-US" sz="1000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＝ 量能趋势向上 ➕ PB处历史低分位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❌ </a:t>
            </a:r>
            <a:r>
              <a:rPr lang="en-US" sz="1000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坚决减仓</a:t>
            </a:r>
            <a:r>
              <a:rPr lang="en-US" sz="1000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＝ 量能趋势向下 ➕ PB处对应高位区间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t="-401" b="-401"/>
          <a:stretch>
            <a:fillRect/>
          </a:stretch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429207" y="3810305"/>
            <a:ext cx="4762195" cy="47621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72500" y="-952805"/>
            <a:ext cx="4762195" cy="476219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>
            <a:fillRect/>
          </a:stretch>
        </p:blipFill>
        <p:spPr>
          <a:xfrm>
            <a:off x="761695" y="1095451"/>
            <a:ext cx="10668305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761695" y="1714500"/>
            <a:ext cx="6096305" cy="418795"/>
          </a:xfrm>
          <a:prstGeom prst="roundRect">
            <a:avLst>
              <a:gd name="adj" fmla="val 59547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761695" y="2229307"/>
            <a:ext cx="6133795" cy="761695"/>
          </a:xfrm>
          <a:prstGeom prst="roundRect">
            <a:avLst>
              <a:gd name="adj" fmla="val 12005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10" name="Shape 4"/>
          <p:cNvSpPr/>
          <p:nvPr/>
        </p:nvSpPr>
        <p:spPr>
          <a:xfrm>
            <a:off x="761695" y="2229307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761695" y="3086100"/>
            <a:ext cx="6133795" cy="761695"/>
          </a:xfrm>
          <a:prstGeom prst="roundRect">
            <a:avLst>
              <a:gd name="adj" fmla="val 12005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12" name="Shape 6"/>
          <p:cNvSpPr/>
          <p:nvPr/>
        </p:nvSpPr>
        <p:spPr>
          <a:xfrm>
            <a:off x="761695" y="3086100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761695" y="3943807"/>
            <a:ext cx="6143854" cy="838505"/>
          </a:xfrm>
          <a:prstGeom prst="roundRect">
            <a:avLst>
              <a:gd name="adj" fmla="val 9914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61695" y="3943807"/>
            <a:ext cx="38405" cy="838505"/>
          </a:xfrm>
          <a:prstGeom prst="roundRect">
            <a:avLst>
              <a:gd name="adj" fmla="val 216449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761695" y="3943807"/>
            <a:ext cx="1429207" cy="819302"/>
          </a:xfrm>
          <a:prstGeom prst="rect">
            <a:avLst/>
          </a:prstGeom>
          <a:solidFill>
            <a:srgbClr val="EF444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239305" y="1714500"/>
            <a:ext cx="4209898" cy="2115007"/>
          </a:xfrm>
          <a:prstGeom prst="roundRect">
            <a:avLst>
              <a:gd name="adj" fmla="val 311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0" b="-30"/>
          <a:stretch>
            <a:fillRect/>
          </a:stretch>
        </p:blipFill>
        <p:spPr>
          <a:xfrm>
            <a:off x="7239305" y="1714500"/>
            <a:ext cx="4190695" cy="42885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7239305" y="4000500"/>
            <a:ext cx="4209898" cy="972007"/>
          </a:xfrm>
          <a:prstGeom prst="roundRect">
            <a:avLst>
              <a:gd name="adj" fmla="val 14757"/>
            </a:avLst>
          </a:prstGeom>
          <a:solidFill>
            <a:srgbClr val="EF4444">
              <a:alpha val="5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7239305" y="5143500"/>
            <a:ext cx="4229100" cy="1143000"/>
          </a:xfrm>
          <a:prstGeom prst="roundRect">
            <a:avLst>
              <a:gd name="adj" fmla="val 8000"/>
            </a:avLst>
          </a:prstGeom>
          <a:solidFill>
            <a:srgbClr val="10B981">
              <a:alpha val="10000"/>
            </a:srgbClr>
          </a:solidFill>
        </p:spPr>
      </p:sp>
      <p:sp>
        <p:nvSpPr>
          <p:cNvPr id="20" name="Shape 13"/>
          <p:cNvSpPr/>
          <p:nvPr/>
        </p:nvSpPr>
        <p:spPr>
          <a:xfrm>
            <a:off x="7239305" y="5143500"/>
            <a:ext cx="38405" cy="1143000"/>
          </a:xfrm>
          <a:prstGeom prst="roundRect">
            <a:avLst>
              <a:gd name="adj" fmla="val 238094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61695" y="476402"/>
            <a:ext cx="7925105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1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钢铁：周期高位的低PE陷阱</a:t>
            </a:r>
            <a:endParaRPr lang="en-US" sz="270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1238098"/>
            <a:ext cx="10858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 / 六大行业PB区间详解 · 强周期股的逆向估值法则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914400" y="1828800"/>
            <a:ext cx="12198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 区间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2286000" y="1828800"/>
            <a:ext cx="226314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市场含义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4572000" y="1828800"/>
            <a:ext cx="226314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操作判断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914400" y="2419502"/>
            <a:ext cx="12198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低于 0.8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907085" y="2704795"/>
            <a:ext cx="123444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亏损出清期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2286000" y="2361895"/>
            <a:ext cx="2171700" cy="600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行业景气低谷，商品价格可能跌破成本线，利润极低甚至全行业大面积亏损。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0" y="2361895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★ 关注买入区域。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逆向布局，等待周期反转转机。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914400" y="3276295"/>
            <a:ext cx="121981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D5E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0.8 - 1.5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907085" y="3504895"/>
            <a:ext cx="123444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景气修复期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2286000" y="3219602"/>
            <a:ext cx="2171700" cy="600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合理估值区间，供需相对平衡，行业处于正常运行状态，利润逐步恢复。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0" y="3219602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正常配置。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持有等待景气度继续上行。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914400" y="4095598"/>
            <a:ext cx="1219810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高于 1.5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907085" y="4410151"/>
            <a:ext cx="123444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且 PE极低时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2286000" y="4076395"/>
            <a:ext cx="2171700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超级景气期，商品价格大涨，利润处于极高水平，市场形成“永远牛”错觉。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4572000" y="4076395"/>
            <a:ext cx="2171700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这是景气顶部的组合信号。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坚决减仓警惕</a:t>
            </a:r>
            <a:r>
              <a:rPr lang="en-US" sz="10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周期见顶。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761695" y="4953305"/>
            <a:ext cx="6172200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*反直觉现象警示：</a:t>
            </a:r>
            <a:endParaRPr lang="en-US" sz="10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当钢铁企业利润极高时（如21-22年），由于分母利润极大，PE显得极低（如仅5倍）。此时表面估值“极度便宜”，盲目追入往往会买在周期绝对高点。</a:t>
            </a:r>
            <a:endParaRPr lang="en-US" sz="10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429500" y="1879092"/>
            <a:ext cx="171907" cy="171907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7715707" y="1828800"/>
            <a:ext cx="30486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强周期股的核心逆向认知</a:t>
            </a:r>
            <a:endParaRPr lang="en-US" sz="120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7"/>
          <a:srcRect l="-33" r="-33"/>
          <a:stretch>
            <a:fillRect/>
          </a:stretch>
        </p:blipFill>
        <p:spPr>
          <a:xfrm>
            <a:off x="7429500" y="2381098"/>
            <a:ext cx="171907" cy="152705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715707" y="2314346"/>
            <a:ext cx="371520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利润越高，感觉越便宜 → 越危险</a:t>
            </a:r>
            <a:endParaRPr lang="en-US" sz="1100" dirty="0"/>
          </a:p>
        </p:txBody>
      </p:sp>
      <p:sp>
        <p:nvSpPr>
          <p:cNvPr id="43" name="Text 34"/>
          <p:cNvSpPr txBox="1"/>
          <p:nvPr/>
        </p:nvSpPr>
        <p:spPr>
          <a:xfrm>
            <a:off x="7715707" y="2553005"/>
            <a:ext cx="3600907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当PE降至几倍的极低水平时，往往意味着商品价格和企业利润已到达无法持续的景气度巅峰。</a:t>
            </a:r>
            <a:endParaRPr lang="en-US" sz="9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429500" y="3143707"/>
            <a:ext cx="152705" cy="152705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7715707" y="3076956"/>
            <a:ext cx="371520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利润越差，感觉越贵 → 越安全</a:t>
            </a:r>
            <a:endParaRPr lang="en-US" sz="1100" dirty="0"/>
          </a:p>
        </p:txBody>
      </p:sp>
      <p:sp>
        <p:nvSpPr>
          <p:cNvPr id="46" name="Text 36"/>
          <p:cNvSpPr txBox="1"/>
          <p:nvPr/>
        </p:nvSpPr>
        <p:spPr>
          <a:xfrm>
            <a:off x="7715707" y="3314700"/>
            <a:ext cx="3600907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行业大面积亏损导致PE极高或失效，但只要资产尚未永久损毁，</a:t>
            </a:r>
            <a:r>
              <a:rPr lang="en-US" sz="9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大幅破净的PB</a:t>
            </a: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提供了最坚实大底。</a:t>
            </a:r>
            <a:endParaRPr lang="en-US" sz="90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7429500" y="4190695"/>
            <a:ext cx="152705" cy="152705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7715707" y="4123944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警惕周期顶部的组合陷阱</a:t>
            </a:r>
            <a:endParaRPr lang="en-US" sz="1200" dirty="0"/>
          </a:p>
        </p:txBody>
      </p:sp>
      <p:sp>
        <p:nvSpPr>
          <p:cNvPr id="49" name="Text 38"/>
          <p:cNvSpPr txBox="1"/>
          <p:nvPr/>
        </p:nvSpPr>
        <p:spPr>
          <a:xfrm>
            <a:off x="7391095" y="4429354"/>
            <a:ext cx="38862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当期利润暴增导致 PE 分母极大（表象便宜）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+ </a:t>
            </a:r>
            <a:r>
              <a:rPr lang="en-US" sz="1000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高利润推高净资产使 PB 阶段回落</a:t>
            </a: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= </a:t>
            </a:r>
            <a:r>
              <a:rPr lang="en-US" sz="10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逃顶信号</a:t>
            </a:r>
            <a:endParaRPr lang="en-US" sz="1000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0"/>
          <a:srcRect t="-43" b="-43"/>
          <a:stretch>
            <a:fillRect/>
          </a:stretch>
        </p:blipFill>
        <p:spPr>
          <a:xfrm>
            <a:off x="7429500" y="5333695"/>
            <a:ext cx="133502" cy="152705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7715707" y="5266944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实战逆向操作口诀</a:t>
            </a:r>
            <a:endParaRPr lang="en-US" sz="1200" dirty="0"/>
          </a:p>
        </p:txBody>
      </p:sp>
      <p:sp>
        <p:nvSpPr>
          <p:cNvPr id="52" name="Text 40"/>
          <p:cNvSpPr txBox="1"/>
          <p:nvPr/>
        </p:nvSpPr>
        <p:spPr>
          <a:xfrm>
            <a:off x="7429500" y="5572354"/>
            <a:ext cx="3886200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在PB极低、行业景气低谷亏损时（如低于0.8），克服恐惧逆向买入；在PB走高、PE极低、市场情绪亢奋时（如超1.5），克服贪婪坚决离场。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t="-401" b="-401"/>
          <a:stretch>
            <a:fillRect/>
          </a:stretch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429207" y="3810305"/>
            <a:ext cx="4762195" cy="47621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72500" y="-952805"/>
            <a:ext cx="4762195" cy="476219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>
            <a:fillRect/>
          </a:stretch>
        </p:blipFill>
        <p:spPr>
          <a:xfrm>
            <a:off x="761695" y="1095451"/>
            <a:ext cx="10668305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761695" y="1714500"/>
            <a:ext cx="6096305" cy="418795"/>
          </a:xfrm>
          <a:prstGeom prst="roundRect">
            <a:avLst>
              <a:gd name="adj" fmla="val 59547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761695" y="2229307"/>
            <a:ext cx="6143854" cy="685800"/>
          </a:xfrm>
          <a:prstGeom prst="roundRect">
            <a:avLst>
              <a:gd name="adj" fmla="val 14815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761695" y="2229307"/>
            <a:ext cx="38405" cy="685800"/>
          </a:xfrm>
          <a:prstGeom prst="roundRect">
            <a:avLst>
              <a:gd name="adj" fmla="val 264549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761695" y="2229307"/>
            <a:ext cx="1429207" cy="666598"/>
          </a:xfrm>
          <a:prstGeom prst="rect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761695" y="3086100"/>
            <a:ext cx="6133795" cy="666598"/>
          </a:xfrm>
          <a:prstGeom prst="roundRect">
            <a:avLst>
              <a:gd name="adj" fmla="val 15677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13" name="Shape 7"/>
          <p:cNvSpPr/>
          <p:nvPr/>
        </p:nvSpPr>
        <p:spPr>
          <a:xfrm>
            <a:off x="761695" y="3086100"/>
            <a:ext cx="38405" cy="666598"/>
          </a:xfrm>
          <a:prstGeom prst="roundRect">
            <a:avLst>
              <a:gd name="adj" fmla="val 272107"/>
            </a:avLst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61695" y="3943807"/>
            <a:ext cx="6133795" cy="666598"/>
          </a:xfrm>
          <a:prstGeom prst="roundRect">
            <a:avLst>
              <a:gd name="adj" fmla="val 15677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15" name="Shape 9"/>
          <p:cNvSpPr/>
          <p:nvPr/>
        </p:nvSpPr>
        <p:spPr>
          <a:xfrm>
            <a:off x="761695" y="3943807"/>
            <a:ext cx="38405" cy="666598"/>
          </a:xfrm>
          <a:prstGeom prst="roundRect">
            <a:avLst>
              <a:gd name="adj" fmla="val 272107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61695" y="4800600"/>
            <a:ext cx="6133795" cy="666598"/>
          </a:xfrm>
          <a:prstGeom prst="roundRect">
            <a:avLst>
              <a:gd name="adj" fmla="val 15677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17" name="Shape 11"/>
          <p:cNvSpPr/>
          <p:nvPr/>
        </p:nvSpPr>
        <p:spPr>
          <a:xfrm>
            <a:off x="761695" y="4800600"/>
            <a:ext cx="38405" cy="666598"/>
          </a:xfrm>
          <a:prstGeom prst="roundRect">
            <a:avLst>
              <a:gd name="adj" fmla="val 272107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239305" y="1714500"/>
            <a:ext cx="4209898" cy="2400300"/>
          </a:xfrm>
          <a:prstGeom prst="roundRect">
            <a:avLst>
              <a:gd name="adj" fmla="val 2419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 t="-30" b="-30"/>
          <a:stretch>
            <a:fillRect/>
          </a:stretch>
        </p:blipFill>
        <p:spPr>
          <a:xfrm>
            <a:off x="7239305" y="1714500"/>
            <a:ext cx="4190695" cy="42885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239305" y="4286707"/>
            <a:ext cx="4209898" cy="972007"/>
          </a:xfrm>
          <a:prstGeom prst="roundRect">
            <a:avLst>
              <a:gd name="adj" fmla="val 14757"/>
            </a:avLst>
          </a:prstGeom>
          <a:solidFill>
            <a:srgbClr val="F59E0B">
              <a:alpha val="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7239305" y="5429707"/>
            <a:ext cx="4229100" cy="952805"/>
          </a:xfrm>
          <a:prstGeom prst="roundRect">
            <a:avLst>
              <a:gd name="adj" fmla="val 11516"/>
            </a:avLst>
          </a:prstGeom>
          <a:solidFill>
            <a:srgbClr val="10B981">
              <a:alpha val="10000"/>
            </a:srgbClr>
          </a:solidFill>
        </p:spPr>
      </p:sp>
      <p:sp>
        <p:nvSpPr>
          <p:cNvPr id="22" name="Shape 15"/>
          <p:cNvSpPr/>
          <p:nvPr/>
        </p:nvSpPr>
        <p:spPr>
          <a:xfrm>
            <a:off x="7239305" y="5429707"/>
            <a:ext cx="38405" cy="952805"/>
          </a:xfrm>
          <a:prstGeom prst="roundRect">
            <a:avLst>
              <a:gd name="adj" fmla="val 285713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61695" y="476402"/>
            <a:ext cx="7925105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1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煤炭：高分红强化PB底部支撑</a:t>
            </a:r>
            <a:endParaRPr lang="en-US" sz="270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1238098"/>
            <a:ext cx="10858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 / 六大行业PB区间详解 · 强周期叠加高红利的特殊资产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914400" y="1828800"/>
            <a:ext cx="12198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 区间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2286000" y="1828800"/>
            <a:ext cx="226314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市场含义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1828800"/>
            <a:ext cx="226314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操作参考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914400" y="2371954"/>
            <a:ext cx="121981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 0.8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907085" y="2628900"/>
            <a:ext cx="123444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重点关注区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2286000" y="2371954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市场预期煤价下行，周期接近底部，行业情绪整体悲观。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4572000" y="2371954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★ 关注布局区间。在确认分红政策稳定前提下逆向建仓。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914400" y="3323844"/>
            <a:ext cx="121981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0.8 - 1.5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2286000" y="3228746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合理估值区间，行业处于正常运行状态，盈利相对平稳。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4572000" y="3228746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正常配置。适合高股息策略长期持有。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914400" y="4181551"/>
            <a:ext cx="121981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1.5 - 2.0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2286000" y="4086454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景气高位，煤价强劲，高利润预期正逐步在业绩中兑现。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4572000" y="4086454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保持警惕，不再加仓，可考虑逐步兑现部分利润。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914400" y="5038344"/>
            <a:ext cx="121981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 2.0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2286000" y="4943246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情绪顶部，极度亢奋。此时盈利处于巅峰，PE往往极低。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4572000" y="4943246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减仓离场，周期见顶回落概率极大。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761695" y="5667451"/>
            <a:ext cx="6172200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*案例参考：中国神华、陕西煤业等头部龙头，在周期底部依托稳定的高股息政策，能够吸引险资长线驻守，维持相对较高的PB中枢。</a:t>
            </a:r>
            <a:endParaRPr lang="en-US" sz="9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429500" y="1879092"/>
            <a:ext cx="171907" cy="171907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7715707" y="1828800"/>
            <a:ext cx="30486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煤炭行业核心观察维度</a:t>
            </a:r>
            <a:endParaRPr lang="en-US" sz="12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7"/>
          <a:srcRect l="-33" r="-33"/>
          <a:stretch>
            <a:fillRect/>
          </a:stretch>
        </p:blipFill>
        <p:spPr>
          <a:xfrm>
            <a:off x="7429500" y="2381098"/>
            <a:ext cx="171907" cy="152705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7715707" y="2314346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高比例分红政策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7715707" y="2572207"/>
            <a:ext cx="36009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头部龙头通常具备高分红承诺，为股价提供</a:t>
            </a:r>
            <a:r>
              <a:rPr lang="en-US" sz="10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坚实的底部支撑</a:t>
            </a: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10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429500" y="3000146"/>
            <a:ext cx="152705" cy="152705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7715707" y="2933395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长线资金偏好</a:t>
            </a:r>
            <a:endParaRPr lang="en-US" sz="1200" dirty="0"/>
          </a:p>
        </p:txBody>
      </p:sp>
      <p:sp>
        <p:nvSpPr>
          <p:cNvPr id="49" name="Text 39"/>
          <p:cNvSpPr txBox="1"/>
          <p:nvPr/>
        </p:nvSpPr>
        <p:spPr>
          <a:xfrm>
            <a:off x="7715707" y="3191256"/>
            <a:ext cx="36009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稳定的股息率吸引险资等长线资金持续配置，展现显著</a:t>
            </a:r>
            <a:r>
              <a:rPr lang="en-US" sz="10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红利防御属性</a:t>
            </a: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1000" dirty="0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9"/>
          <a:srcRect t="-43" b="-43"/>
          <a:stretch>
            <a:fillRect/>
          </a:stretch>
        </p:blipFill>
        <p:spPr>
          <a:xfrm>
            <a:off x="7429500" y="3619195"/>
            <a:ext cx="133502" cy="152705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7715707" y="3552444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强周期本质</a:t>
            </a:r>
            <a:endParaRPr lang="en-US" sz="1200" dirty="0"/>
          </a:p>
        </p:txBody>
      </p:sp>
      <p:sp>
        <p:nvSpPr>
          <p:cNvPr id="52" name="Text 41"/>
          <p:cNvSpPr txBox="1"/>
          <p:nvPr/>
        </p:nvSpPr>
        <p:spPr>
          <a:xfrm>
            <a:off x="7715707" y="3810305"/>
            <a:ext cx="36009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虽有高股息护体，盈利仍由</a:t>
            </a:r>
            <a:r>
              <a:rPr lang="en-US" sz="10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煤价周期</a:t>
            </a: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主导，不可忽视景气波动风险。</a:t>
            </a:r>
            <a:endParaRPr lang="en-US" sz="1000" dirty="0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0"/>
          <a:srcRect l="-33" r="-33"/>
          <a:stretch>
            <a:fillRect/>
          </a:stretch>
        </p:blipFill>
        <p:spPr>
          <a:xfrm>
            <a:off x="7429500" y="4476902"/>
            <a:ext cx="171907" cy="152705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7715707" y="4410151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2025年行业状态与估值分化</a:t>
            </a:r>
            <a:endParaRPr lang="en-US" sz="1200" dirty="0"/>
          </a:p>
        </p:txBody>
      </p:sp>
      <p:sp>
        <p:nvSpPr>
          <p:cNvPr id="55" name="Text 43"/>
          <p:cNvSpPr txBox="1"/>
          <p:nvPr/>
        </p:nvSpPr>
        <p:spPr>
          <a:xfrm>
            <a:off x="7391095" y="4714646"/>
            <a:ext cx="3886200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周期承压</a:t>
            </a: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+ </a:t>
            </a:r>
            <a:r>
              <a:rPr lang="en-US" sz="1100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高红利防御</a:t>
            </a: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+ </a:t>
            </a:r>
            <a:r>
              <a:rPr lang="en-US" sz="1100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险资增配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(高股息龙头跌幅受限，估值托底效应明显)</a:t>
            </a:r>
            <a:endParaRPr lang="en-US" sz="1100" dirty="0"/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11"/>
          <a:srcRect t="-43" b="-43"/>
          <a:stretch>
            <a:fillRect/>
          </a:stretch>
        </p:blipFill>
        <p:spPr>
          <a:xfrm>
            <a:off x="7429500" y="5619902"/>
            <a:ext cx="133502" cy="152705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7715707" y="5553151"/>
            <a:ext cx="37152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中长线配置的三大先决条件</a:t>
            </a:r>
            <a:endParaRPr lang="en-US" sz="1200" dirty="0"/>
          </a:p>
        </p:txBody>
      </p:sp>
      <p:sp>
        <p:nvSpPr>
          <p:cNvPr id="58" name="Text 45"/>
          <p:cNvSpPr txBox="1"/>
          <p:nvPr/>
        </p:nvSpPr>
        <p:spPr>
          <a:xfrm>
            <a:off x="7429500" y="5857646"/>
            <a:ext cx="38862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①周期底部PB低于1 ；②股息率超过5% ；③分红政策稳定。这三个条件</a:t>
            </a: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必须同时满足</a:t>
            </a:r>
            <a:r>
              <a:rPr lang="en-US" sz="1000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，才是中线良机。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t="-401" b="-401"/>
          <a:stretch>
            <a:fillRect/>
          </a:stretch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429207" y="1429207"/>
            <a:ext cx="4762195" cy="47621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72500" y="3810305"/>
            <a:ext cx="4762195" cy="476219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>
            <a:fillRect/>
          </a:stretch>
        </p:blipFill>
        <p:spPr>
          <a:xfrm>
            <a:off x="761695" y="1095451"/>
            <a:ext cx="10668305" cy="9144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/>
          <a:srcRect t="-398" b="-398"/>
          <a:stretch>
            <a:fillRect/>
          </a:stretch>
        </p:blipFill>
        <p:spPr>
          <a:xfrm>
            <a:off x="1904695" y="2190902"/>
            <a:ext cx="8382305" cy="19202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761695" y="4667098"/>
            <a:ext cx="10705795" cy="1733702"/>
          </a:xfrm>
          <a:prstGeom prst="roundRect">
            <a:avLst>
              <a:gd name="adj" fmla="val 463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71500" y="1904695"/>
            <a:ext cx="2495398" cy="2495398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7"/>
          <a:srcRect l="-13" r="-13"/>
          <a:stretch>
            <a:fillRect/>
          </a:stretch>
        </p:blipFill>
        <p:spPr>
          <a:xfrm>
            <a:off x="571500" y="1904695"/>
            <a:ext cx="2476195" cy="599846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8"/>
          <a:srcRect l="-6" r="-6"/>
          <a:stretch>
            <a:fillRect/>
          </a:stretch>
        </p:blipFill>
        <p:spPr>
          <a:xfrm>
            <a:off x="3562502" y="1904695"/>
            <a:ext cx="2305202" cy="2495398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9"/>
          <a:srcRect l="-19" r="-19"/>
          <a:stretch>
            <a:fillRect/>
          </a:stretch>
        </p:blipFill>
        <p:spPr>
          <a:xfrm>
            <a:off x="3562502" y="1904695"/>
            <a:ext cx="2286000" cy="599846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8"/>
          <a:srcRect l="-6" r="-6"/>
          <a:stretch>
            <a:fillRect/>
          </a:stretch>
        </p:blipFill>
        <p:spPr>
          <a:xfrm>
            <a:off x="6362395" y="1904695"/>
            <a:ext cx="2305202" cy="2495398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0"/>
          <a:srcRect l="-19" r="-19"/>
          <a:stretch>
            <a:fillRect/>
          </a:stretch>
        </p:blipFill>
        <p:spPr>
          <a:xfrm>
            <a:off x="6362395" y="1904695"/>
            <a:ext cx="2286000" cy="599846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8"/>
          <a:srcRect l="-6" r="-6"/>
          <a:stretch>
            <a:fillRect/>
          </a:stretch>
        </p:blipFill>
        <p:spPr>
          <a:xfrm>
            <a:off x="9163202" y="1904695"/>
            <a:ext cx="2305202" cy="2495398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1"/>
          <a:srcRect l="-19" r="-19"/>
          <a:stretch>
            <a:fillRect/>
          </a:stretch>
        </p:blipFill>
        <p:spPr>
          <a:xfrm>
            <a:off x="9163202" y="1904695"/>
            <a:ext cx="2286000" cy="599846"/>
          </a:xfrm>
          <a:prstGeom prst="rect">
            <a:avLst/>
          </a:prstGeom>
        </p:spPr>
      </p:pic>
      <p:sp>
        <p:nvSpPr>
          <p:cNvPr id="18" name="Shape 3"/>
          <p:cNvSpPr/>
          <p:nvPr/>
        </p:nvSpPr>
        <p:spPr>
          <a:xfrm>
            <a:off x="1047902" y="5238598"/>
            <a:ext cx="5000854" cy="933602"/>
          </a:xfrm>
          <a:prstGeom prst="roundRect">
            <a:avLst>
              <a:gd name="adj" fmla="val 11993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9" name="Shape 4"/>
          <p:cNvSpPr/>
          <p:nvPr/>
        </p:nvSpPr>
        <p:spPr>
          <a:xfrm>
            <a:off x="1047902" y="5238598"/>
            <a:ext cx="38405" cy="933602"/>
          </a:xfrm>
          <a:prstGeom prst="roundRect">
            <a:avLst>
              <a:gd name="adj" fmla="val 291544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0" name="Shape 5"/>
          <p:cNvSpPr/>
          <p:nvPr/>
        </p:nvSpPr>
        <p:spPr>
          <a:xfrm>
            <a:off x="6191402" y="5238598"/>
            <a:ext cx="5000854" cy="933602"/>
          </a:xfrm>
          <a:prstGeom prst="roundRect">
            <a:avLst>
              <a:gd name="adj" fmla="val 11993"/>
            </a:avLst>
          </a:prstGeom>
          <a:solidFill>
            <a:srgbClr val="EF4444">
              <a:alpha val="5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21" name="Shape 6"/>
          <p:cNvSpPr/>
          <p:nvPr/>
        </p:nvSpPr>
        <p:spPr>
          <a:xfrm>
            <a:off x="6191402" y="5238598"/>
            <a:ext cx="38405" cy="933602"/>
          </a:xfrm>
          <a:prstGeom prst="roundRect">
            <a:avLst>
              <a:gd name="adj" fmla="val 291544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2" name="Text 7"/>
          <p:cNvSpPr txBox="1"/>
          <p:nvPr/>
        </p:nvSpPr>
        <p:spPr>
          <a:xfrm>
            <a:off x="761695" y="476402"/>
            <a:ext cx="7925105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1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PB四步判断框架：实战闭环</a:t>
            </a:r>
            <a:endParaRPr lang="en-US" sz="2700" dirty="0"/>
          </a:p>
        </p:txBody>
      </p:sp>
      <p:sp>
        <p:nvSpPr>
          <p:cNvPr id="23" name="Text 8"/>
          <p:cNvSpPr txBox="1"/>
          <p:nvPr/>
        </p:nvSpPr>
        <p:spPr>
          <a:xfrm>
            <a:off x="761695" y="1238098"/>
            <a:ext cx="10858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05 / 构建从确认行业、判断周期、对照历史到验证ROE的系统性逻辑推演</a:t>
            </a:r>
            <a:endParaRPr lang="en-US" sz="1200" dirty="0"/>
          </a:p>
        </p:txBody>
      </p:sp>
      <p:sp>
        <p:nvSpPr>
          <p:cNvPr id="24" name="Text 9"/>
          <p:cNvSpPr txBox="1"/>
          <p:nvPr/>
        </p:nvSpPr>
        <p:spPr>
          <a:xfrm>
            <a:off x="714146" y="2018995"/>
            <a:ext cx="648310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B82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endParaRPr lang="en-US" sz="2400" dirty="0"/>
          </a:p>
        </p:txBody>
      </p:sp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2"/>
          <a:srcRect t="-45" b="-45"/>
          <a:stretch>
            <a:fillRect/>
          </a:stretch>
        </p:blipFill>
        <p:spPr>
          <a:xfrm>
            <a:off x="2619756" y="2143354"/>
            <a:ext cx="256946" cy="228600"/>
          </a:xfrm>
          <a:prstGeom prst="rect">
            <a:avLst/>
          </a:prstGeom>
        </p:spPr>
      </p:pic>
      <p:sp>
        <p:nvSpPr>
          <p:cNvPr id="26" name="Text 10"/>
          <p:cNvSpPr txBox="1"/>
          <p:nvPr/>
        </p:nvSpPr>
        <p:spPr>
          <a:xfrm>
            <a:off x="761695" y="2667305"/>
            <a:ext cx="2179930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1 确认行业</a:t>
            </a:r>
            <a:endParaRPr lang="en-US" sz="1500" dirty="0"/>
          </a:p>
        </p:txBody>
      </p:sp>
      <p:sp>
        <p:nvSpPr>
          <p:cNvPr id="27" name="Text 11"/>
          <p:cNvSpPr txBox="1"/>
          <p:nvPr/>
        </p:nvSpPr>
        <p:spPr>
          <a:xfrm>
            <a:off x="761695" y="3095244"/>
            <a:ext cx="2171700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判断是否为资产驱动型或强周期型行业？</a:t>
            </a:r>
            <a:endParaRPr lang="en-US" sz="1000" dirty="0"/>
          </a:p>
        </p:txBody>
      </p:sp>
      <p:sp>
        <p:nvSpPr>
          <p:cNvPr id="28" name="Text 12"/>
          <p:cNvSpPr txBox="1"/>
          <p:nvPr/>
        </p:nvSpPr>
        <p:spPr>
          <a:xfrm>
            <a:off x="761695" y="3598164"/>
            <a:ext cx="21717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仅限银行、地产、保险、券商、钢铁、煤炭等。</a:t>
            </a:r>
            <a:endParaRPr lang="en-US" sz="900" dirty="0"/>
          </a:p>
        </p:txBody>
      </p:sp>
      <p:sp>
        <p:nvSpPr>
          <p:cNvPr id="29" name="Text 13"/>
          <p:cNvSpPr txBox="1"/>
          <p:nvPr/>
        </p:nvSpPr>
        <p:spPr>
          <a:xfrm>
            <a:off x="761695" y="4051706"/>
            <a:ext cx="226314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*科技成长股切勿套用PB</a:t>
            </a:r>
            <a:endParaRPr lang="en-US" sz="900" dirty="0"/>
          </a:p>
        </p:txBody>
      </p:sp>
      <p:pic>
        <p:nvPicPr>
          <p:cNvPr id="30" name="Image 14" descr="preencoded.png"/>
          <p:cNvPicPr>
            <a:picLocks noChangeAspect="1"/>
          </p:cNvPicPr>
          <p:nvPr/>
        </p:nvPicPr>
        <p:blipFill>
          <a:blip r:embed="rId13"/>
          <a:srcRect l="-1507" r="-1507"/>
          <a:stretch>
            <a:fillRect/>
          </a:stretch>
        </p:blipFill>
        <p:spPr>
          <a:xfrm>
            <a:off x="3200400" y="3023921"/>
            <a:ext cx="171907" cy="267005"/>
          </a:xfrm>
          <a:prstGeom prst="rect">
            <a:avLst/>
          </a:prstGeom>
        </p:spPr>
      </p:pic>
      <p:sp>
        <p:nvSpPr>
          <p:cNvPr id="31" name="Text 14"/>
          <p:cNvSpPr txBox="1"/>
          <p:nvPr/>
        </p:nvSpPr>
        <p:spPr>
          <a:xfrm>
            <a:off x="3705149" y="2018995"/>
            <a:ext cx="648310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59E0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endParaRPr lang="en-US" sz="2400" dirty="0"/>
          </a:p>
        </p:txBody>
      </p:sp>
      <p:pic>
        <p:nvPicPr>
          <p:cNvPr id="32" name="Image 15" descr="preencoded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5419649" y="2143354"/>
            <a:ext cx="228600" cy="228600"/>
          </a:xfrm>
          <a:prstGeom prst="rect">
            <a:avLst/>
          </a:prstGeom>
        </p:spPr>
      </p:pic>
      <p:sp>
        <p:nvSpPr>
          <p:cNvPr id="33" name="Text 15"/>
          <p:cNvSpPr txBox="1"/>
          <p:nvPr/>
        </p:nvSpPr>
        <p:spPr>
          <a:xfrm>
            <a:off x="3752698" y="2667305"/>
            <a:ext cx="1981505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2 判断周期</a:t>
            </a:r>
            <a:endParaRPr lang="en-US" sz="1500" dirty="0"/>
          </a:p>
        </p:txBody>
      </p:sp>
      <p:sp>
        <p:nvSpPr>
          <p:cNvPr id="34" name="Text 16"/>
          <p:cNvSpPr txBox="1"/>
          <p:nvPr/>
        </p:nvSpPr>
        <p:spPr>
          <a:xfrm>
            <a:off x="3752698" y="3095244"/>
            <a:ext cx="1981505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结合产业链核心数据判断当前所处的景气阶段。</a:t>
            </a:r>
            <a:endParaRPr lang="en-US" sz="1000" dirty="0"/>
          </a:p>
        </p:txBody>
      </p:sp>
      <p:sp>
        <p:nvSpPr>
          <p:cNvPr id="35" name="Text 17"/>
          <p:cNvSpPr txBox="1"/>
          <p:nvPr/>
        </p:nvSpPr>
        <p:spPr>
          <a:xfrm>
            <a:off x="3752698" y="3598164"/>
            <a:ext cx="1981505" cy="600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上行/高位/下行/底部？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重点观察：供需指标、库存变化、CAPEX与量能。</a:t>
            </a:r>
            <a:endParaRPr lang="en-US" sz="900" dirty="0"/>
          </a:p>
        </p:txBody>
      </p:sp>
      <p:pic>
        <p:nvPicPr>
          <p:cNvPr id="36" name="Image 16" descr="preencoded.png"/>
          <p:cNvPicPr>
            <a:picLocks noChangeAspect="1"/>
          </p:cNvPicPr>
          <p:nvPr/>
        </p:nvPicPr>
        <p:blipFill>
          <a:blip r:embed="rId13"/>
          <a:srcRect l="-1507" r="-1507"/>
          <a:stretch>
            <a:fillRect/>
          </a:stretch>
        </p:blipFill>
        <p:spPr>
          <a:xfrm>
            <a:off x="6001207" y="3023921"/>
            <a:ext cx="171907" cy="267005"/>
          </a:xfrm>
          <a:prstGeom prst="rect">
            <a:avLst/>
          </a:prstGeom>
        </p:spPr>
      </p:pic>
      <p:sp>
        <p:nvSpPr>
          <p:cNvPr id="37" name="Text 18"/>
          <p:cNvSpPr txBox="1"/>
          <p:nvPr/>
        </p:nvSpPr>
        <p:spPr>
          <a:xfrm>
            <a:off x="6505956" y="2018995"/>
            <a:ext cx="648310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8B5C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endParaRPr lang="en-US" sz="2400" dirty="0"/>
          </a:p>
        </p:txBody>
      </p:sp>
      <p:pic>
        <p:nvPicPr>
          <p:cNvPr id="38" name="Image 17" descr="preencoded.png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8220456" y="2143354"/>
            <a:ext cx="228600" cy="228600"/>
          </a:xfrm>
          <a:prstGeom prst="rect">
            <a:avLst/>
          </a:prstGeom>
        </p:spPr>
      </p:pic>
      <p:sp>
        <p:nvSpPr>
          <p:cNvPr id="39" name="Text 19"/>
          <p:cNvSpPr txBox="1"/>
          <p:nvPr/>
        </p:nvSpPr>
        <p:spPr>
          <a:xfrm>
            <a:off x="6553505" y="2667305"/>
            <a:ext cx="1981505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3 历史分位</a:t>
            </a:r>
            <a:endParaRPr lang="en-US" sz="1500" dirty="0"/>
          </a:p>
        </p:txBody>
      </p:sp>
      <p:sp>
        <p:nvSpPr>
          <p:cNvPr id="40" name="Text 20"/>
          <p:cNvSpPr txBox="1"/>
          <p:nvPr/>
        </p:nvSpPr>
        <p:spPr>
          <a:xfrm>
            <a:off x="6553505" y="3095244"/>
            <a:ext cx="1981505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将当前PB与该行业历史均值和极值点作对比。</a:t>
            </a:r>
            <a:endParaRPr lang="en-US" sz="1000" dirty="0"/>
          </a:p>
        </p:txBody>
      </p:sp>
      <p:sp>
        <p:nvSpPr>
          <p:cNvPr id="41" name="Text 21"/>
          <p:cNvSpPr txBox="1"/>
          <p:nvPr/>
        </p:nvSpPr>
        <p:spPr>
          <a:xfrm>
            <a:off x="6553505" y="3598164"/>
            <a:ext cx="1981505" cy="600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拉长至5-10年周期。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C4B5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低分位仅是触发关注信号，绝非直接买入理由。</a:t>
            </a:r>
            <a:endParaRPr lang="en-US" sz="900" dirty="0"/>
          </a:p>
        </p:txBody>
      </p:sp>
      <p:pic>
        <p:nvPicPr>
          <p:cNvPr id="42" name="Image 18" descr="preencoded.png"/>
          <p:cNvPicPr>
            <a:picLocks noChangeAspect="1"/>
          </p:cNvPicPr>
          <p:nvPr/>
        </p:nvPicPr>
        <p:blipFill>
          <a:blip r:embed="rId13"/>
          <a:srcRect l="-1507" r="-1507"/>
          <a:stretch>
            <a:fillRect/>
          </a:stretch>
        </p:blipFill>
        <p:spPr>
          <a:xfrm>
            <a:off x="8801100" y="3023921"/>
            <a:ext cx="171907" cy="267005"/>
          </a:xfrm>
          <a:prstGeom prst="rect">
            <a:avLst/>
          </a:prstGeom>
        </p:spPr>
      </p:pic>
      <p:sp>
        <p:nvSpPr>
          <p:cNvPr id="43" name="Text 22"/>
          <p:cNvSpPr txBox="1"/>
          <p:nvPr/>
        </p:nvSpPr>
        <p:spPr>
          <a:xfrm>
            <a:off x="9305849" y="2018995"/>
            <a:ext cx="648310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C489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</a:t>
            </a:r>
            <a:endParaRPr lang="en-US" sz="2400" dirty="0"/>
          </a:p>
        </p:txBody>
      </p:sp>
      <p:pic>
        <p:nvPicPr>
          <p:cNvPr id="44" name="Image 19" descr="preencoded.png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11020349" y="2143354"/>
            <a:ext cx="228600" cy="228600"/>
          </a:xfrm>
          <a:prstGeom prst="rect">
            <a:avLst/>
          </a:prstGeom>
        </p:spPr>
      </p:pic>
      <p:sp>
        <p:nvSpPr>
          <p:cNvPr id="45" name="Text 23"/>
          <p:cNvSpPr txBox="1"/>
          <p:nvPr/>
        </p:nvSpPr>
        <p:spPr>
          <a:xfrm>
            <a:off x="9353398" y="2667305"/>
            <a:ext cx="1981505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4 验证ROE</a:t>
            </a:r>
            <a:endParaRPr lang="en-US" sz="1500" dirty="0"/>
          </a:p>
        </p:txBody>
      </p:sp>
      <p:sp>
        <p:nvSpPr>
          <p:cNvPr id="46" name="Text 24"/>
          <p:cNvSpPr txBox="1"/>
          <p:nvPr/>
        </p:nvSpPr>
        <p:spPr>
          <a:xfrm>
            <a:off x="9353398" y="3095244"/>
            <a:ext cx="1981505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确认资产折价的本质原因，排除致命价值陷阱。</a:t>
            </a:r>
            <a:endParaRPr lang="en-US" sz="1000" dirty="0"/>
          </a:p>
        </p:txBody>
      </p:sp>
      <p:sp>
        <p:nvSpPr>
          <p:cNvPr id="47" name="Text 25"/>
          <p:cNvSpPr txBox="1"/>
          <p:nvPr/>
        </p:nvSpPr>
        <p:spPr>
          <a:xfrm>
            <a:off x="9353398" y="3598164"/>
            <a:ext cx="1981505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核心两问：ROE是周期回落还是崩塌？行业是波动还是结构衰退？</a:t>
            </a:r>
            <a:endParaRPr lang="en-US" sz="900" dirty="0"/>
          </a:p>
        </p:txBody>
      </p:sp>
      <p:pic>
        <p:nvPicPr>
          <p:cNvPr id="48" name="Image 20" descr="preencoded.png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1047902" y="4926787"/>
            <a:ext cx="171907" cy="171907"/>
          </a:xfrm>
          <a:prstGeom prst="rect">
            <a:avLst/>
          </a:prstGeom>
        </p:spPr>
      </p:pic>
      <p:sp>
        <p:nvSpPr>
          <p:cNvPr id="49" name="Text 26"/>
          <p:cNvSpPr txBox="1"/>
          <p:nvPr/>
        </p:nvSpPr>
        <p:spPr>
          <a:xfrm>
            <a:off x="1333195" y="4858207"/>
            <a:ext cx="30486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终极判断标准 (实战操作指南)</a:t>
            </a:r>
            <a:endParaRPr lang="en-US" sz="1300" dirty="0"/>
          </a:p>
        </p:txBody>
      </p:sp>
      <p:pic>
        <p:nvPicPr>
          <p:cNvPr id="50" name="Image 21" descr="preencoded.png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1238098" y="5648249"/>
            <a:ext cx="228600" cy="228600"/>
          </a:xfrm>
          <a:prstGeom prst="rect">
            <a:avLst/>
          </a:prstGeom>
        </p:spPr>
      </p:pic>
      <p:sp>
        <p:nvSpPr>
          <p:cNvPr id="51" name="Text 27"/>
          <p:cNvSpPr txBox="1"/>
          <p:nvPr/>
        </p:nvSpPr>
        <p:spPr>
          <a:xfrm>
            <a:off x="1619402" y="5381244"/>
            <a:ext cx="43059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 PB + ROE 未崩 + 非结构衰退 =</a:t>
            </a:r>
            <a:endParaRPr lang="en-US" sz="1300" dirty="0"/>
          </a:p>
        </p:txBody>
      </p:sp>
      <p:sp>
        <p:nvSpPr>
          <p:cNvPr id="52" name="Text 28"/>
          <p:cNvSpPr txBox="1"/>
          <p:nvPr/>
        </p:nvSpPr>
        <p:spPr>
          <a:xfrm>
            <a:off x="1619402" y="5667451"/>
            <a:ext cx="4452214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中长期布局区间 </a:t>
            </a:r>
            <a:r>
              <a:rPr lang="en-US" sz="9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(资产仍有价值，待周期回暖)</a:t>
            </a:r>
            <a:endParaRPr lang="en-US" sz="1600" dirty="0"/>
          </a:p>
        </p:txBody>
      </p:sp>
      <p:pic>
        <p:nvPicPr>
          <p:cNvPr id="53" name="Image 22" descr="preencoded.png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6381598" y="5648249"/>
            <a:ext cx="228600" cy="228600"/>
          </a:xfrm>
          <a:prstGeom prst="rect">
            <a:avLst/>
          </a:prstGeom>
        </p:spPr>
      </p:pic>
      <p:sp>
        <p:nvSpPr>
          <p:cNvPr id="54" name="Text 29"/>
          <p:cNvSpPr txBox="1"/>
          <p:nvPr/>
        </p:nvSpPr>
        <p:spPr>
          <a:xfrm>
            <a:off x="6762902" y="5381244"/>
            <a:ext cx="43059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 PB + ROE 崩塌 + 结构性衰退 =</a:t>
            </a:r>
            <a:endParaRPr lang="en-US" sz="1300" dirty="0"/>
          </a:p>
        </p:txBody>
      </p:sp>
      <p:sp>
        <p:nvSpPr>
          <p:cNvPr id="55" name="Text 30"/>
          <p:cNvSpPr txBox="1"/>
          <p:nvPr/>
        </p:nvSpPr>
        <p:spPr>
          <a:xfrm>
            <a:off x="6762902" y="5667451"/>
            <a:ext cx="4711903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坚决规避的价值陷阱 </a:t>
            </a:r>
            <a:r>
              <a:rPr lang="en-US" sz="9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(需求不可逆萎缩，PB续跌)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t="-401" b="-401"/>
          <a:stretch>
            <a:fillRect/>
          </a:stretch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429207" y="-1429207"/>
            <a:ext cx="5715000" cy="5715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19695" y="3810305"/>
            <a:ext cx="5715000" cy="57150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>
            <a:fillRect/>
          </a:stretch>
        </p:blipFill>
        <p:spPr>
          <a:xfrm>
            <a:off x="761695" y="1095451"/>
            <a:ext cx="10668305" cy="9144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/>
          <a:srcRect l="-4" r="-4"/>
          <a:stretch>
            <a:fillRect/>
          </a:stretch>
        </p:blipFill>
        <p:spPr>
          <a:xfrm>
            <a:off x="571500" y="1714500"/>
            <a:ext cx="3448202" cy="4209898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rcRect l="-8" r="-8"/>
          <a:stretch>
            <a:fillRect/>
          </a:stretch>
        </p:blipFill>
        <p:spPr>
          <a:xfrm>
            <a:off x="571500" y="1714500"/>
            <a:ext cx="3429000" cy="504749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761695" y="2762402"/>
            <a:ext cx="3076956" cy="1238098"/>
          </a:xfrm>
          <a:prstGeom prst="roundRect">
            <a:avLst>
              <a:gd name="adj" fmla="val 4545"/>
            </a:avLst>
          </a:prstGeom>
          <a:solidFill>
            <a:srgbClr val="EF4444">
              <a:alpha val="5000"/>
            </a:srgbClr>
          </a:solidFill>
        </p:spPr>
      </p:sp>
      <p:sp>
        <p:nvSpPr>
          <p:cNvPr id="11" name="Shape 3"/>
          <p:cNvSpPr/>
          <p:nvPr/>
        </p:nvSpPr>
        <p:spPr>
          <a:xfrm>
            <a:off x="761695" y="2762402"/>
            <a:ext cx="28346" cy="1238098"/>
          </a:xfrm>
          <a:prstGeom prst="roundRect">
            <a:avLst>
              <a:gd name="adj" fmla="val 198514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2" name="Shape 4"/>
          <p:cNvSpPr/>
          <p:nvPr/>
        </p:nvSpPr>
        <p:spPr>
          <a:xfrm>
            <a:off x="761695" y="4524451"/>
            <a:ext cx="3076956" cy="1238098"/>
          </a:xfrm>
          <a:prstGeom prst="roundRect">
            <a:avLst>
              <a:gd name="adj" fmla="val 4545"/>
            </a:avLst>
          </a:prstGeom>
          <a:solidFill>
            <a:srgbClr val="10B981">
              <a:alpha val="5000"/>
            </a:srgbClr>
          </a:solidFill>
        </p:spPr>
      </p:sp>
      <p:sp>
        <p:nvSpPr>
          <p:cNvPr id="13" name="Shape 5"/>
          <p:cNvSpPr/>
          <p:nvPr/>
        </p:nvSpPr>
        <p:spPr>
          <a:xfrm>
            <a:off x="761695" y="4524451"/>
            <a:ext cx="28346" cy="1238098"/>
          </a:xfrm>
          <a:prstGeom prst="roundRect">
            <a:avLst>
              <a:gd name="adj" fmla="val 198514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5"/>
          <a:srcRect l="-4" r="-4"/>
          <a:stretch>
            <a:fillRect/>
          </a:stretch>
        </p:blipFill>
        <p:spPr>
          <a:xfrm>
            <a:off x="4381805" y="1714500"/>
            <a:ext cx="3448202" cy="4209898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7"/>
          <a:srcRect l="-8" r="-8"/>
          <a:stretch>
            <a:fillRect/>
          </a:stretch>
        </p:blipFill>
        <p:spPr>
          <a:xfrm>
            <a:off x="4381805" y="1714500"/>
            <a:ext cx="3429000" cy="504749"/>
          </a:xfrm>
          <a:prstGeom prst="rect">
            <a:avLst/>
          </a:prstGeom>
        </p:spPr>
      </p:pic>
      <p:sp>
        <p:nvSpPr>
          <p:cNvPr id="16" name="Shape 6"/>
          <p:cNvSpPr/>
          <p:nvPr/>
        </p:nvSpPr>
        <p:spPr>
          <a:xfrm>
            <a:off x="4572000" y="2762402"/>
            <a:ext cx="3076956" cy="1238098"/>
          </a:xfrm>
          <a:prstGeom prst="roundRect">
            <a:avLst>
              <a:gd name="adj" fmla="val 4545"/>
            </a:avLst>
          </a:prstGeom>
          <a:solidFill>
            <a:srgbClr val="F59E0B">
              <a:alpha val="5000"/>
            </a:srgbClr>
          </a:solidFill>
        </p:spPr>
      </p:sp>
      <p:sp>
        <p:nvSpPr>
          <p:cNvPr id="17" name="Shape 7"/>
          <p:cNvSpPr/>
          <p:nvPr/>
        </p:nvSpPr>
        <p:spPr>
          <a:xfrm>
            <a:off x="4572000" y="2762402"/>
            <a:ext cx="28346" cy="1238098"/>
          </a:xfrm>
          <a:prstGeom prst="roundRect">
            <a:avLst>
              <a:gd name="adj" fmla="val 198514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Shape 8"/>
          <p:cNvSpPr/>
          <p:nvPr/>
        </p:nvSpPr>
        <p:spPr>
          <a:xfrm>
            <a:off x="4572000" y="4524451"/>
            <a:ext cx="3076956" cy="1238098"/>
          </a:xfrm>
          <a:prstGeom prst="roundRect">
            <a:avLst>
              <a:gd name="adj" fmla="val 4545"/>
            </a:avLst>
          </a:prstGeom>
          <a:solidFill>
            <a:srgbClr val="10B981">
              <a:alpha val="5000"/>
            </a:srgbClr>
          </a:solidFill>
        </p:spPr>
      </p:sp>
      <p:sp>
        <p:nvSpPr>
          <p:cNvPr id="19" name="Shape 9"/>
          <p:cNvSpPr/>
          <p:nvPr/>
        </p:nvSpPr>
        <p:spPr>
          <a:xfrm>
            <a:off x="4572000" y="4524451"/>
            <a:ext cx="28346" cy="1238098"/>
          </a:xfrm>
          <a:prstGeom prst="roundRect">
            <a:avLst>
              <a:gd name="adj" fmla="val 198514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5"/>
          <a:srcRect l="-4" r="-4"/>
          <a:stretch>
            <a:fillRect/>
          </a:stretch>
        </p:blipFill>
        <p:spPr>
          <a:xfrm>
            <a:off x="8191195" y="1714500"/>
            <a:ext cx="3448202" cy="4209898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8"/>
          <a:srcRect l="-8" r="-8"/>
          <a:stretch>
            <a:fillRect/>
          </a:stretch>
        </p:blipFill>
        <p:spPr>
          <a:xfrm>
            <a:off x="8191195" y="1714500"/>
            <a:ext cx="3429000" cy="504749"/>
          </a:xfrm>
          <a:prstGeom prst="rect">
            <a:avLst/>
          </a:prstGeom>
        </p:spPr>
      </p:pic>
      <p:sp>
        <p:nvSpPr>
          <p:cNvPr id="22" name="Shape 10"/>
          <p:cNvSpPr/>
          <p:nvPr/>
        </p:nvSpPr>
        <p:spPr>
          <a:xfrm>
            <a:off x="8382305" y="2762402"/>
            <a:ext cx="3076956" cy="1238098"/>
          </a:xfrm>
          <a:prstGeom prst="roundRect">
            <a:avLst>
              <a:gd name="adj" fmla="val 4545"/>
            </a:avLst>
          </a:prstGeom>
          <a:solidFill>
            <a:srgbClr val="8B5CF6">
              <a:alpha val="5000"/>
            </a:srgbClr>
          </a:solidFill>
        </p:spPr>
      </p:sp>
      <p:sp>
        <p:nvSpPr>
          <p:cNvPr id="23" name="Shape 11"/>
          <p:cNvSpPr/>
          <p:nvPr/>
        </p:nvSpPr>
        <p:spPr>
          <a:xfrm>
            <a:off x="8382305" y="2762402"/>
            <a:ext cx="28346" cy="1238098"/>
          </a:xfrm>
          <a:prstGeom prst="roundRect">
            <a:avLst>
              <a:gd name="adj" fmla="val 198514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Shape 12"/>
          <p:cNvSpPr/>
          <p:nvPr/>
        </p:nvSpPr>
        <p:spPr>
          <a:xfrm>
            <a:off x="8382305" y="4524451"/>
            <a:ext cx="3076956" cy="1238098"/>
          </a:xfrm>
          <a:prstGeom prst="roundRect">
            <a:avLst>
              <a:gd name="adj" fmla="val 4545"/>
            </a:avLst>
          </a:prstGeom>
          <a:solidFill>
            <a:srgbClr val="10B981">
              <a:alpha val="5000"/>
            </a:srgbClr>
          </a:solidFill>
        </p:spPr>
      </p:sp>
      <p:sp>
        <p:nvSpPr>
          <p:cNvPr id="25" name="Shape 13"/>
          <p:cNvSpPr/>
          <p:nvPr/>
        </p:nvSpPr>
        <p:spPr>
          <a:xfrm>
            <a:off x="8382305" y="4524451"/>
            <a:ext cx="28346" cy="1238098"/>
          </a:xfrm>
          <a:prstGeom prst="roundRect">
            <a:avLst>
              <a:gd name="adj" fmla="val 198514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6" name="Shape 14"/>
          <p:cNvSpPr/>
          <p:nvPr/>
        </p:nvSpPr>
        <p:spPr>
          <a:xfrm>
            <a:off x="571500" y="6143854"/>
            <a:ext cx="11067898" cy="495605"/>
          </a:xfrm>
          <a:prstGeom prst="roundRect">
            <a:avLst>
              <a:gd name="adj" fmla="val 42577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7" name="Text 15"/>
          <p:cNvSpPr txBox="1"/>
          <p:nvPr/>
        </p:nvSpPr>
        <p:spPr>
          <a:xfrm>
            <a:off x="761695" y="476402"/>
            <a:ext cx="7925105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1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PB三大常见误区与避坑指南</a:t>
            </a:r>
            <a:endParaRPr lang="en-US" sz="2700" dirty="0"/>
          </a:p>
        </p:txBody>
      </p:sp>
      <p:sp>
        <p:nvSpPr>
          <p:cNvPr id="28" name="Text 16"/>
          <p:cNvSpPr txBox="1"/>
          <p:nvPr/>
        </p:nvSpPr>
        <p:spPr>
          <a:xfrm>
            <a:off x="761695" y="1238098"/>
            <a:ext cx="10858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06 / 规避致命陷阱：用对工具，比参数本身更重要</a:t>
            </a:r>
            <a:endParaRPr lang="en-US" sz="1200" dirty="0"/>
          </a:p>
        </p:txBody>
      </p:sp>
      <p:sp>
        <p:nvSpPr>
          <p:cNvPr id="29" name="Text 17"/>
          <p:cNvSpPr txBox="1"/>
          <p:nvPr/>
        </p:nvSpPr>
        <p:spPr>
          <a:xfrm>
            <a:off x="761695" y="1828800"/>
            <a:ext cx="102870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误区一</a:t>
            </a:r>
            <a:endParaRPr lang="en-US" sz="1300" dirty="0"/>
          </a:p>
        </p:txBody>
      </p:sp>
      <p:sp>
        <p:nvSpPr>
          <p:cNvPr id="30" name="Text 18"/>
          <p:cNvSpPr txBox="1"/>
          <p:nvPr/>
        </p:nvSpPr>
        <p:spPr>
          <a:xfrm>
            <a:off x="666598" y="2333549"/>
            <a:ext cx="3238805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PB低于1就是低估可以买</a:t>
            </a:r>
            <a:endParaRPr lang="en-US" sz="15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9"/>
          <a:srcRect t="-100" b="-100"/>
          <a:stretch>
            <a:fillRect/>
          </a:stretch>
        </p:blipFill>
        <p:spPr>
          <a:xfrm>
            <a:off x="905256" y="2952598"/>
            <a:ext cx="114300" cy="152705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1190549" y="2885846"/>
            <a:ext cx="266730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错误逻辑</a:t>
            </a:r>
            <a:endParaRPr lang="en-US" sz="1200" dirty="0"/>
          </a:p>
        </p:txBody>
      </p:sp>
      <p:sp>
        <p:nvSpPr>
          <p:cNvPr id="33" name="Text 20"/>
          <p:cNvSpPr txBox="1"/>
          <p:nvPr/>
        </p:nvSpPr>
        <p:spPr>
          <a:xfrm>
            <a:off x="905256" y="3191256"/>
            <a:ext cx="2839212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看到破净就觉得有安全边际，盲目抄底。忽略了账面净资产可能含有大量水分，或者债务极高面临严重减值风险。</a:t>
            </a:r>
            <a:endParaRPr lang="en-US" sz="100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2171700" y="4196182"/>
            <a:ext cx="142646" cy="190195"/>
          </a:xfrm>
          <a:prstGeom prst="rect">
            <a:avLst/>
          </a:prstGeom>
        </p:spPr>
      </p:pic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1"/>
          <a:srcRect t="-43" b="-43"/>
          <a:stretch>
            <a:fillRect/>
          </a:stretch>
        </p:blipFill>
        <p:spPr>
          <a:xfrm>
            <a:off x="905256" y="4714646"/>
            <a:ext cx="133502" cy="152705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1190549" y="4647895"/>
            <a:ext cx="266730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正确做法</a:t>
            </a:r>
            <a:endParaRPr lang="en-US" sz="1200" dirty="0"/>
          </a:p>
        </p:txBody>
      </p:sp>
      <p:sp>
        <p:nvSpPr>
          <p:cNvPr id="37" name="Text 22"/>
          <p:cNvSpPr txBox="1"/>
          <p:nvPr/>
        </p:nvSpPr>
        <p:spPr>
          <a:xfrm>
            <a:off x="905256" y="4953305"/>
            <a:ext cx="2839212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破净只是触发关注的信号。买入前必须先验证</a:t>
            </a: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净资产质量、债务情况和ROE趋势</a:t>
            </a: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，区分错杀与陷阱。</a:t>
            </a:r>
            <a:endParaRPr lang="en-US" sz="1000" dirty="0"/>
          </a:p>
        </p:txBody>
      </p:sp>
      <p:sp>
        <p:nvSpPr>
          <p:cNvPr id="38" name="Text 23"/>
          <p:cNvSpPr txBox="1"/>
          <p:nvPr/>
        </p:nvSpPr>
        <p:spPr>
          <a:xfrm>
            <a:off x="4572000" y="1828800"/>
            <a:ext cx="102870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误区二</a:t>
            </a:r>
            <a:endParaRPr lang="en-US" sz="1300" dirty="0"/>
          </a:p>
        </p:txBody>
      </p:sp>
      <p:sp>
        <p:nvSpPr>
          <p:cNvPr id="39" name="Text 24"/>
          <p:cNvSpPr txBox="1"/>
          <p:nvPr/>
        </p:nvSpPr>
        <p:spPr>
          <a:xfrm>
            <a:off x="4476902" y="2333549"/>
            <a:ext cx="3238805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只看PB绝对值高低</a:t>
            </a:r>
            <a:endParaRPr lang="en-US" sz="1500" dirty="0"/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12"/>
          <a:srcRect t="-100" b="-100"/>
          <a:stretch>
            <a:fillRect/>
          </a:stretch>
        </p:blipFill>
        <p:spPr>
          <a:xfrm>
            <a:off x="4714646" y="2952598"/>
            <a:ext cx="114300" cy="152705"/>
          </a:xfrm>
          <a:prstGeom prst="rect">
            <a:avLst/>
          </a:prstGeom>
        </p:spPr>
      </p:pic>
      <p:sp>
        <p:nvSpPr>
          <p:cNvPr id="41" name="Text 25"/>
          <p:cNvSpPr txBox="1"/>
          <p:nvPr/>
        </p:nvSpPr>
        <p:spPr>
          <a:xfrm>
            <a:off x="5000854" y="2885846"/>
            <a:ext cx="266730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错误逻辑</a:t>
            </a:r>
            <a:endParaRPr lang="en-US" sz="1200" dirty="0"/>
          </a:p>
        </p:txBody>
      </p:sp>
      <p:sp>
        <p:nvSpPr>
          <p:cNvPr id="42" name="Text 26"/>
          <p:cNvSpPr txBox="1"/>
          <p:nvPr/>
        </p:nvSpPr>
        <p:spPr>
          <a:xfrm>
            <a:off x="4714646" y="3191256"/>
            <a:ext cx="2839212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认为PB 0.8倍一定比 1.5倍便宜、安全。脱离行业所处的周期阶段去硬套绝对数字，如同刻舟求剑。</a:t>
            </a:r>
            <a:endParaRPr lang="en-US" sz="1000" dirty="0"/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982005" y="4196182"/>
            <a:ext cx="142646" cy="190195"/>
          </a:xfrm>
          <a:prstGeom prst="rect">
            <a:avLst/>
          </a:prstGeom>
        </p:spPr>
      </p:pic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11"/>
          <a:srcRect t="-43" b="-43"/>
          <a:stretch>
            <a:fillRect/>
          </a:stretch>
        </p:blipFill>
        <p:spPr>
          <a:xfrm>
            <a:off x="4714646" y="4714646"/>
            <a:ext cx="133502" cy="152705"/>
          </a:xfrm>
          <a:prstGeom prst="rect">
            <a:avLst/>
          </a:prstGeom>
        </p:spPr>
      </p:pic>
      <p:sp>
        <p:nvSpPr>
          <p:cNvPr id="45" name="Text 27"/>
          <p:cNvSpPr txBox="1"/>
          <p:nvPr/>
        </p:nvSpPr>
        <p:spPr>
          <a:xfrm>
            <a:off x="5000854" y="4647895"/>
            <a:ext cx="266730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正确做法</a:t>
            </a:r>
            <a:endParaRPr lang="en-US" sz="1200" dirty="0"/>
          </a:p>
        </p:txBody>
      </p:sp>
      <p:sp>
        <p:nvSpPr>
          <p:cNvPr id="46" name="Text 28"/>
          <p:cNvSpPr txBox="1"/>
          <p:nvPr/>
        </p:nvSpPr>
        <p:spPr>
          <a:xfrm>
            <a:off x="4714646" y="4953305"/>
            <a:ext cx="2839212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必须</a:t>
            </a: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结合行业周期位置</a:t>
            </a: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。景气下行期的0.8倍可能还会跌向0.5倍；而景气底部的0.8倍可能涨至1.5倍。</a:t>
            </a:r>
            <a:endParaRPr lang="en-US" sz="1000" dirty="0"/>
          </a:p>
        </p:txBody>
      </p:sp>
      <p:sp>
        <p:nvSpPr>
          <p:cNvPr id="47" name="Text 29"/>
          <p:cNvSpPr txBox="1"/>
          <p:nvPr/>
        </p:nvSpPr>
        <p:spPr>
          <a:xfrm>
            <a:off x="8382305" y="1828800"/>
            <a:ext cx="102870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8B5C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误区三</a:t>
            </a:r>
            <a:endParaRPr lang="en-US" sz="1300" dirty="0"/>
          </a:p>
        </p:txBody>
      </p:sp>
      <p:sp>
        <p:nvSpPr>
          <p:cNvPr id="48" name="Text 30"/>
          <p:cNvSpPr txBox="1"/>
          <p:nvPr/>
        </p:nvSpPr>
        <p:spPr>
          <a:xfrm>
            <a:off x="8287207" y="2333549"/>
            <a:ext cx="3238805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给科技股套用PB估值</a:t>
            </a:r>
            <a:endParaRPr lang="en-US" sz="1500" dirty="0"/>
          </a:p>
        </p:txBody>
      </p:sp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3"/>
          <a:srcRect t="-100" b="-100"/>
          <a:stretch>
            <a:fillRect/>
          </a:stretch>
        </p:blipFill>
        <p:spPr>
          <a:xfrm>
            <a:off x="8524951" y="2952598"/>
            <a:ext cx="114300" cy="152705"/>
          </a:xfrm>
          <a:prstGeom prst="rect">
            <a:avLst/>
          </a:prstGeom>
        </p:spPr>
      </p:pic>
      <p:sp>
        <p:nvSpPr>
          <p:cNvPr id="50" name="Text 31"/>
          <p:cNvSpPr txBox="1"/>
          <p:nvPr/>
        </p:nvSpPr>
        <p:spPr>
          <a:xfrm>
            <a:off x="8810244" y="2885846"/>
            <a:ext cx="266730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B5C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错误逻辑</a:t>
            </a:r>
            <a:endParaRPr lang="en-US" sz="1200" dirty="0"/>
          </a:p>
        </p:txBody>
      </p:sp>
      <p:sp>
        <p:nvSpPr>
          <p:cNvPr id="51" name="Text 32"/>
          <p:cNvSpPr txBox="1"/>
          <p:nvPr/>
        </p:nvSpPr>
        <p:spPr>
          <a:xfrm>
            <a:off x="8524951" y="3191256"/>
            <a:ext cx="2839212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用看重资产的方法去算寒武纪、中际旭创的PB，得出一个几十倍的数字，进而得出“科技股严重泡沫”的荒谬结论。</a:t>
            </a:r>
            <a:endParaRPr lang="en-US" sz="1000" dirty="0"/>
          </a:p>
        </p:txBody>
      </p:sp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9791395" y="4196182"/>
            <a:ext cx="142646" cy="190195"/>
          </a:xfrm>
          <a:prstGeom prst="rect">
            <a:avLst/>
          </a:prstGeom>
        </p:spPr>
      </p:pic>
      <p:pic>
        <p:nvPicPr>
          <p:cNvPr id="53" name="Image 18" descr="preencoded.png"/>
          <p:cNvPicPr>
            <a:picLocks noChangeAspect="1"/>
          </p:cNvPicPr>
          <p:nvPr/>
        </p:nvPicPr>
        <p:blipFill>
          <a:blip r:embed="rId11"/>
          <a:srcRect t="-43" b="-43"/>
          <a:stretch>
            <a:fillRect/>
          </a:stretch>
        </p:blipFill>
        <p:spPr>
          <a:xfrm>
            <a:off x="8524951" y="4714646"/>
            <a:ext cx="133502" cy="152705"/>
          </a:xfrm>
          <a:prstGeom prst="rect">
            <a:avLst/>
          </a:prstGeom>
        </p:spPr>
      </p:pic>
      <p:sp>
        <p:nvSpPr>
          <p:cNvPr id="54" name="Text 33"/>
          <p:cNvSpPr txBox="1"/>
          <p:nvPr/>
        </p:nvSpPr>
        <p:spPr>
          <a:xfrm>
            <a:off x="8810244" y="4647895"/>
            <a:ext cx="266730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正确做法</a:t>
            </a:r>
            <a:endParaRPr lang="en-US" sz="1200" dirty="0"/>
          </a:p>
        </p:txBody>
      </p:sp>
      <p:sp>
        <p:nvSpPr>
          <p:cNvPr id="55" name="Text 34"/>
          <p:cNvSpPr txBox="1"/>
          <p:nvPr/>
        </p:nvSpPr>
        <p:spPr>
          <a:xfrm>
            <a:off x="8524951" y="4953305"/>
            <a:ext cx="2839212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科技公司的核心是人才、专利和数据。科技股必须使用 </a:t>
            </a: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PE、PEG</a:t>
            </a: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，或者市销率(PS)、DCF，切勿套用PB。</a:t>
            </a:r>
            <a:endParaRPr lang="en-US" sz="1000" dirty="0"/>
          </a:p>
        </p:txBody>
      </p:sp>
      <p:pic>
        <p:nvPicPr>
          <p:cNvPr id="56" name="Image 19" descr="preencoded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809244" y="6338621"/>
            <a:ext cx="142646" cy="190195"/>
          </a:xfrm>
          <a:prstGeom prst="rect">
            <a:avLst/>
          </a:prstGeom>
        </p:spPr>
      </p:pic>
      <p:sp>
        <p:nvSpPr>
          <p:cNvPr id="57" name="Text 35"/>
          <p:cNvSpPr txBox="1"/>
          <p:nvPr/>
        </p:nvSpPr>
        <p:spPr>
          <a:xfrm>
            <a:off x="1143000" y="6267298"/>
            <a:ext cx="104781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核心结论：</a:t>
            </a:r>
            <a:r>
              <a:rPr lang="en-US" sz="1200" b="1" kern="0" spc="75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用错估值工具，比没有工具更危险。</a:t>
            </a:r>
            <a:r>
              <a:rPr lang="en-US" sz="1200" kern="0" spc="75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明确行业的资产驱动属性，是用好PB的绝对前提。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t="-401" b="-401"/>
          <a:stretch>
            <a:fillRect/>
          </a:stretch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805" y="-1429207"/>
            <a:ext cx="4762195" cy="47621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19695" y="2857500"/>
            <a:ext cx="5715000" cy="57150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-952805" y="4762195"/>
            <a:ext cx="3810305" cy="381030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/>
          <a:srcRect l="-2083" r="-2083"/>
          <a:stretch>
            <a:fillRect/>
          </a:stretch>
        </p:blipFill>
        <p:spPr>
          <a:xfrm>
            <a:off x="761695" y="1095451"/>
            <a:ext cx="10668305" cy="9144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761695" y="1714500"/>
            <a:ext cx="10668305" cy="418795"/>
          </a:xfrm>
          <a:prstGeom prst="roundRect">
            <a:avLst>
              <a:gd name="adj" fmla="val 59547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761695" y="2229307"/>
            <a:ext cx="10705795" cy="761695"/>
          </a:xfrm>
          <a:prstGeom prst="roundRect">
            <a:avLst>
              <a:gd name="adj" fmla="val 12005"/>
            </a:avLst>
          </a:prstGeom>
          <a:solidFill>
            <a:srgbClr val="0F172A">
              <a:alpha val="60000"/>
            </a:srgbClr>
          </a:solidFill>
        </p:spPr>
      </p:sp>
      <p:sp>
        <p:nvSpPr>
          <p:cNvPr id="11" name="Shape 4"/>
          <p:cNvSpPr/>
          <p:nvPr/>
        </p:nvSpPr>
        <p:spPr>
          <a:xfrm>
            <a:off x="761695" y="2229307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761695" y="3086100"/>
            <a:ext cx="10705795" cy="761695"/>
          </a:xfrm>
          <a:prstGeom prst="roundRect">
            <a:avLst>
              <a:gd name="adj" fmla="val 12005"/>
            </a:avLst>
          </a:prstGeom>
          <a:solidFill>
            <a:srgbClr val="0F172A">
              <a:alpha val="60000"/>
            </a:srgbClr>
          </a:solidFill>
        </p:spPr>
      </p:sp>
      <p:sp>
        <p:nvSpPr>
          <p:cNvPr id="13" name="Shape 6"/>
          <p:cNvSpPr/>
          <p:nvPr/>
        </p:nvSpPr>
        <p:spPr>
          <a:xfrm>
            <a:off x="761695" y="3086100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761695" y="3943807"/>
            <a:ext cx="10715854" cy="780898"/>
          </a:xfrm>
          <a:prstGeom prst="roundRect">
            <a:avLst>
              <a:gd name="adj" fmla="val 11424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761695" y="3943807"/>
            <a:ext cx="38405" cy="780898"/>
          </a:xfrm>
          <a:prstGeom prst="roundRect">
            <a:avLst>
              <a:gd name="adj" fmla="val 232287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761695" y="4953305"/>
            <a:ext cx="10687507" cy="1447495"/>
          </a:xfrm>
          <a:prstGeom prst="roundRect">
            <a:avLst>
              <a:gd name="adj" fmla="val 66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rcRect t="-22" b="-22"/>
          <a:stretch>
            <a:fillRect/>
          </a:stretch>
        </p:blipFill>
        <p:spPr>
          <a:xfrm>
            <a:off x="761695" y="4953305"/>
            <a:ext cx="3438144" cy="1429207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61695" y="476402"/>
            <a:ext cx="7925105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1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三讲总结：完整估值工具体系对照</a:t>
            </a:r>
            <a:endParaRPr lang="en-US" sz="2700" dirty="0"/>
          </a:p>
        </p:txBody>
      </p:sp>
      <p:sp>
        <p:nvSpPr>
          <p:cNvPr id="19" name="Text 11"/>
          <p:cNvSpPr txBox="1"/>
          <p:nvPr/>
        </p:nvSpPr>
        <p:spPr>
          <a:xfrm>
            <a:off x="761695" y="1238098"/>
            <a:ext cx="10858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07 / 明确行业属性，选对估值尺子，结合量能校准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891540" y="1828800"/>
            <a:ext cx="164592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估值工具</a:t>
            </a:r>
            <a:endParaRPr lang="en-US" sz="1100" dirty="0"/>
          </a:p>
        </p:txBody>
      </p:sp>
      <p:sp>
        <p:nvSpPr>
          <p:cNvPr id="21" name="Text 13"/>
          <p:cNvSpPr txBox="1"/>
          <p:nvPr/>
        </p:nvSpPr>
        <p:spPr>
          <a:xfrm>
            <a:off x="2667305" y="1828800"/>
            <a:ext cx="30486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适用行业</a:t>
            </a:r>
            <a:endParaRPr lang="en-US" sz="1100" dirty="0"/>
          </a:p>
        </p:txBody>
      </p:sp>
      <p:sp>
        <p:nvSpPr>
          <p:cNvPr id="22" name="Text 14"/>
          <p:cNvSpPr txBox="1"/>
          <p:nvPr/>
        </p:nvSpPr>
        <p:spPr>
          <a:xfrm>
            <a:off x="5715000" y="1828800"/>
            <a:ext cx="285750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核心指标</a:t>
            </a:r>
            <a:endParaRPr lang="en-US" sz="1100" dirty="0"/>
          </a:p>
        </p:txBody>
      </p:sp>
      <p:sp>
        <p:nvSpPr>
          <p:cNvPr id="23" name="Text 15"/>
          <p:cNvSpPr txBox="1"/>
          <p:nvPr/>
        </p:nvSpPr>
        <p:spPr>
          <a:xfrm>
            <a:off x="8572500" y="1828800"/>
            <a:ext cx="285750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5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本质逻辑</a:t>
            </a:r>
            <a:endParaRPr lang="en-US" sz="11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238098" y="2529230"/>
            <a:ext cx="333756" cy="26700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666951" y="2457907"/>
            <a:ext cx="886054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PE</a:t>
            </a:r>
            <a:endParaRPr lang="en-US" sz="1800" dirty="0"/>
          </a:p>
        </p:txBody>
      </p:sp>
      <p:sp>
        <p:nvSpPr>
          <p:cNvPr id="26" name="Text 17"/>
          <p:cNvSpPr txBox="1"/>
          <p:nvPr/>
        </p:nvSpPr>
        <p:spPr>
          <a:xfrm>
            <a:off x="2667305" y="2419502"/>
            <a:ext cx="304861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食品饮料、公用事业、稳定消费</a:t>
            </a:r>
            <a:endParaRPr lang="en-US" sz="1100" dirty="0"/>
          </a:p>
        </p:txBody>
      </p:sp>
      <p:sp>
        <p:nvSpPr>
          <p:cNvPr id="27" name="Text 18"/>
          <p:cNvSpPr txBox="1"/>
          <p:nvPr/>
        </p:nvSpPr>
        <p:spPr>
          <a:xfrm>
            <a:off x="2667305" y="2671877"/>
            <a:ext cx="304861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(盈利稳定，非强周期，无巨额资本开支)</a:t>
            </a:r>
            <a:endParaRPr lang="en-US" sz="900" dirty="0"/>
          </a:p>
        </p:txBody>
      </p:sp>
      <p:sp>
        <p:nvSpPr>
          <p:cNvPr id="28" name="Text 19"/>
          <p:cNvSpPr txBox="1"/>
          <p:nvPr/>
        </p:nvSpPr>
        <p:spPr>
          <a:xfrm>
            <a:off x="5715000" y="2419502"/>
            <a:ext cx="28575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合理PE上限区间</a:t>
            </a:r>
            <a:endParaRPr lang="en-US" sz="1100" dirty="0"/>
          </a:p>
        </p:txBody>
      </p:sp>
      <p:sp>
        <p:nvSpPr>
          <p:cNvPr id="29" name="Text 20"/>
          <p:cNvSpPr txBox="1"/>
          <p:nvPr/>
        </p:nvSpPr>
        <p:spPr>
          <a:xfrm>
            <a:off x="5715000" y="2671877"/>
            <a:ext cx="285750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历史估值分位对照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8572500" y="2419502"/>
            <a:ext cx="2743200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市场对企业</a:t>
            </a:r>
            <a:r>
              <a:rPr lang="en-US" sz="10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当期真实盈利</a:t>
            </a: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愿意支付的合理定价倍数。</a:t>
            </a:r>
            <a:endParaRPr lang="en-US" sz="10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238098" y="3386023"/>
            <a:ext cx="267005" cy="267005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666951" y="3314700"/>
            <a:ext cx="886054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B98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PEG</a:t>
            </a:r>
            <a:endParaRPr lang="en-US" sz="1800" dirty="0"/>
          </a:p>
        </p:txBody>
      </p:sp>
      <p:sp>
        <p:nvSpPr>
          <p:cNvPr id="33" name="Text 23"/>
          <p:cNvSpPr txBox="1"/>
          <p:nvPr/>
        </p:nvSpPr>
        <p:spPr>
          <a:xfrm>
            <a:off x="2667305" y="3276295"/>
            <a:ext cx="304861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科技、创新药、军工、锂电、AI</a:t>
            </a:r>
            <a:endParaRPr lang="en-US" sz="1100" dirty="0"/>
          </a:p>
        </p:txBody>
      </p:sp>
      <p:sp>
        <p:nvSpPr>
          <p:cNvPr id="34" name="Text 24"/>
          <p:cNvSpPr txBox="1"/>
          <p:nvPr/>
        </p:nvSpPr>
        <p:spPr>
          <a:xfrm>
            <a:off x="2667305" y="3528670"/>
            <a:ext cx="304861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(处在快速成长期，盈利增速&gt;20%)</a:t>
            </a:r>
            <a:endParaRPr lang="en-US" sz="900" dirty="0"/>
          </a:p>
        </p:txBody>
      </p:sp>
      <p:sp>
        <p:nvSpPr>
          <p:cNvPr id="35" name="Text 25"/>
          <p:cNvSpPr txBox="1"/>
          <p:nvPr/>
        </p:nvSpPr>
        <p:spPr>
          <a:xfrm>
            <a:off x="5715000" y="3276295"/>
            <a:ext cx="277429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 低于 1.2</a:t>
            </a:r>
            <a:endParaRPr lang="en-US" sz="1100" dirty="0"/>
          </a:p>
        </p:txBody>
      </p:sp>
      <p:sp>
        <p:nvSpPr>
          <p:cNvPr id="36" name="Text 26"/>
          <p:cNvSpPr txBox="1"/>
          <p:nvPr/>
        </p:nvSpPr>
        <p:spPr>
          <a:xfrm>
            <a:off x="5715000" y="3528670"/>
            <a:ext cx="285750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(2.5万亿宽松量能基准下)</a:t>
            </a:r>
            <a:endParaRPr lang="en-US" sz="900" dirty="0"/>
          </a:p>
        </p:txBody>
      </p:sp>
      <p:sp>
        <p:nvSpPr>
          <p:cNvPr id="37" name="Text 27"/>
          <p:cNvSpPr txBox="1"/>
          <p:nvPr/>
        </p:nvSpPr>
        <p:spPr>
          <a:xfrm>
            <a:off x="8572500" y="3276295"/>
            <a:ext cx="2743200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估值倍数与未来</a:t>
            </a:r>
            <a:r>
              <a:rPr lang="en-US" sz="10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业绩复合增速</a:t>
            </a: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相匹配下的成长溢价。</a:t>
            </a:r>
            <a:endParaRPr lang="en-US" sz="10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238098" y="4243730"/>
            <a:ext cx="267005" cy="267005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666951" y="4172407"/>
            <a:ext cx="886054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B5C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PB</a:t>
            </a:r>
            <a:endParaRPr lang="en-US" sz="1800" dirty="0"/>
          </a:p>
        </p:txBody>
      </p:sp>
      <p:sp>
        <p:nvSpPr>
          <p:cNvPr id="40" name="Text 29"/>
          <p:cNvSpPr txBox="1"/>
          <p:nvPr/>
        </p:nvSpPr>
        <p:spPr>
          <a:xfrm>
            <a:off x="2667305" y="4134002"/>
            <a:ext cx="304861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银行、地产、保险、券商、钢铁、煤炭</a:t>
            </a:r>
            <a:endParaRPr lang="en-US" sz="1100" dirty="0"/>
          </a:p>
        </p:txBody>
      </p:sp>
      <p:sp>
        <p:nvSpPr>
          <p:cNvPr id="41" name="Text 30"/>
          <p:cNvSpPr txBox="1"/>
          <p:nvPr/>
        </p:nvSpPr>
        <p:spPr>
          <a:xfrm>
            <a:off x="2667305" y="4386377"/>
            <a:ext cx="304861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4B5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(本讲核心：资产驱动或强周期型)</a:t>
            </a:r>
            <a:endParaRPr lang="en-US" sz="900" dirty="0"/>
          </a:p>
        </p:txBody>
      </p:sp>
      <p:sp>
        <p:nvSpPr>
          <p:cNvPr id="42" name="Text 31"/>
          <p:cNvSpPr txBox="1"/>
          <p:nvPr/>
        </p:nvSpPr>
        <p:spPr>
          <a:xfrm>
            <a:off x="5715000" y="4134002"/>
            <a:ext cx="277429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78B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 历史分位 + ROE</a:t>
            </a:r>
            <a:endParaRPr lang="en-US" sz="1100" dirty="0"/>
          </a:p>
        </p:txBody>
      </p:sp>
      <p:sp>
        <p:nvSpPr>
          <p:cNvPr id="43" name="Text 32"/>
          <p:cNvSpPr txBox="1"/>
          <p:nvPr/>
        </p:nvSpPr>
        <p:spPr>
          <a:xfrm>
            <a:off x="5715000" y="4386377"/>
            <a:ext cx="285750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需验证非结构性衰退</a:t>
            </a:r>
            <a:endParaRPr lang="en-US" sz="900" dirty="0"/>
          </a:p>
        </p:txBody>
      </p:sp>
      <p:sp>
        <p:nvSpPr>
          <p:cNvPr id="44" name="Text 33"/>
          <p:cNvSpPr txBox="1"/>
          <p:nvPr/>
        </p:nvSpPr>
        <p:spPr>
          <a:xfrm>
            <a:off x="8572500" y="4134002"/>
            <a:ext cx="2743200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当期利润失真，市场对</a:t>
            </a:r>
            <a:r>
              <a:rPr lang="en-US" sz="1000" b="1" dirty="0">
                <a:solidFill>
                  <a:srgbClr val="A78B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账面净资产质量</a:t>
            </a: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给出的折价或溢价程度。</a:t>
            </a:r>
            <a:endParaRPr lang="en-US" sz="10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0"/>
          <a:srcRect t="-45" b="-45"/>
          <a:stretch>
            <a:fillRect/>
          </a:stretch>
        </p:blipFill>
        <p:spPr>
          <a:xfrm>
            <a:off x="1047902" y="5210251"/>
            <a:ext cx="256946" cy="228600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1429207" y="5143500"/>
            <a:ext cx="2667305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量能：所有工具的外部校准器</a:t>
            </a:r>
            <a:endParaRPr lang="en-US" sz="1300" dirty="0"/>
          </a:p>
        </p:txBody>
      </p:sp>
      <p:sp>
        <p:nvSpPr>
          <p:cNvPr id="47" name="Text 35"/>
          <p:cNvSpPr txBox="1"/>
          <p:nvPr/>
        </p:nvSpPr>
        <p:spPr>
          <a:xfrm>
            <a:off x="1047902" y="5572354"/>
            <a:ext cx="2934310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</a:t>
            </a: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2.5万亿 </a:t>
            </a: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基准下，三套工具的合理区间整体上移。成交量是市场情绪的温度计，无量不谈估值。</a:t>
            </a:r>
            <a:endParaRPr lang="en-US" sz="100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4476902" y="5193792"/>
            <a:ext cx="171907" cy="171907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4762195" y="5124298"/>
            <a:ext cx="30486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完整估值体系实战记忆卡</a:t>
            </a:r>
            <a:endParaRPr lang="en-US" sz="1200" dirty="0"/>
          </a:p>
        </p:txBody>
      </p:sp>
      <p:sp>
        <p:nvSpPr>
          <p:cNvPr id="50" name="Shape 37"/>
          <p:cNvSpPr/>
          <p:nvPr/>
        </p:nvSpPr>
        <p:spPr>
          <a:xfrm>
            <a:off x="4476902" y="5572354"/>
            <a:ext cx="1257300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38"/>
          <p:cNvSpPr txBox="1"/>
          <p:nvPr/>
        </p:nvSpPr>
        <p:spPr>
          <a:xfrm>
            <a:off x="4427525" y="5667451"/>
            <a:ext cx="133776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第一步</a:t>
            </a:r>
            <a:endParaRPr lang="en-US" sz="900" dirty="0"/>
          </a:p>
        </p:txBody>
      </p:sp>
      <p:sp>
        <p:nvSpPr>
          <p:cNvPr id="52" name="Text 39"/>
          <p:cNvSpPr txBox="1"/>
          <p:nvPr/>
        </p:nvSpPr>
        <p:spPr>
          <a:xfrm>
            <a:off x="4427525" y="5867705"/>
            <a:ext cx="133776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确认行业类型</a:t>
            </a:r>
            <a:endParaRPr lang="en-US" sz="1000" dirty="0"/>
          </a:p>
        </p:txBody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12"/>
          <a:srcRect t="-180" b="-180"/>
          <a:stretch>
            <a:fillRect/>
          </a:stretch>
        </p:blipFill>
        <p:spPr>
          <a:xfrm>
            <a:off x="5810098" y="5810098"/>
            <a:ext cx="95098" cy="152705"/>
          </a:xfrm>
          <a:prstGeom prst="rect">
            <a:avLst/>
          </a:prstGeom>
        </p:spPr>
      </p:pic>
      <p:sp>
        <p:nvSpPr>
          <p:cNvPr id="54" name="Shape 40"/>
          <p:cNvSpPr/>
          <p:nvPr/>
        </p:nvSpPr>
        <p:spPr>
          <a:xfrm>
            <a:off x="6057900" y="5572354"/>
            <a:ext cx="1257300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5" name="Text 41"/>
          <p:cNvSpPr txBox="1"/>
          <p:nvPr/>
        </p:nvSpPr>
        <p:spPr>
          <a:xfrm>
            <a:off x="6008522" y="5667451"/>
            <a:ext cx="133776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第二步</a:t>
            </a:r>
            <a:endParaRPr lang="en-US" sz="900" dirty="0"/>
          </a:p>
        </p:txBody>
      </p:sp>
      <p:sp>
        <p:nvSpPr>
          <p:cNvPr id="56" name="Text 42"/>
          <p:cNvSpPr txBox="1"/>
          <p:nvPr/>
        </p:nvSpPr>
        <p:spPr>
          <a:xfrm>
            <a:off x="6008522" y="5867705"/>
            <a:ext cx="133776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选定对应工具</a:t>
            </a:r>
            <a:endParaRPr lang="en-US" sz="1000" dirty="0"/>
          </a:p>
        </p:txBody>
      </p:sp>
      <p:pic>
        <p:nvPicPr>
          <p:cNvPr id="57" name="Image 12" descr="preencoded.png"/>
          <p:cNvPicPr>
            <a:picLocks noChangeAspect="1"/>
          </p:cNvPicPr>
          <p:nvPr/>
        </p:nvPicPr>
        <p:blipFill>
          <a:blip r:embed="rId12"/>
          <a:srcRect t="-180" b="-180"/>
          <a:stretch>
            <a:fillRect/>
          </a:stretch>
        </p:blipFill>
        <p:spPr>
          <a:xfrm>
            <a:off x="7391095" y="5810098"/>
            <a:ext cx="95098" cy="152705"/>
          </a:xfrm>
          <a:prstGeom prst="rect">
            <a:avLst/>
          </a:prstGeom>
        </p:spPr>
      </p:pic>
      <p:sp>
        <p:nvSpPr>
          <p:cNvPr id="58" name="Shape 43"/>
          <p:cNvSpPr/>
          <p:nvPr/>
        </p:nvSpPr>
        <p:spPr>
          <a:xfrm>
            <a:off x="7638898" y="5572354"/>
            <a:ext cx="1257300" cy="590702"/>
          </a:xfrm>
          <a:prstGeom prst="roundRect">
            <a:avLst>
              <a:gd name="adj" fmla="val 19974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9" name="Text 44"/>
          <p:cNvSpPr txBox="1"/>
          <p:nvPr/>
        </p:nvSpPr>
        <p:spPr>
          <a:xfrm>
            <a:off x="7589520" y="5667451"/>
            <a:ext cx="133776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第三步</a:t>
            </a:r>
            <a:endParaRPr lang="en-US" sz="900" dirty="0"/>
          </a:p>
        </p:txBody>
      </p:sp>
      <p:sp>
        <p:nvSpPr>
          <p:cNvPr id="60" name="Text 45"/>
          <p:cNvSpPr txBox="1"/>
          <p:nvPr/>
        </p:nvSpPr>
        <p:spPr>
          <a:xfrm>
            <a:off x="7589520" y="5867705"/>
            <a:ext cx="133776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CD3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判断当前量能</a:t>
            </a:r>
            <a:endParaRPr lang="en-US" sz="1000" dirty="0"/>
          </a:p>
        </p:txBody>
      </p:sp>
      <p:pic>
        <p:nvPicPr>
          <p:cNvPr id="61" name="Image 13" descr="preencoded.png"/>
          <p:cNvPicPr>
            <a:picLocks noChangeAspect="1"/>
          </p:cNvPicPr>
          <p:nvPr/>
        </p:nvPicPr>
        <p:blipFill>
          <a:blip r:embed="rId12"/>
          <a:srcRect t="-180" b="-180"/>
          <a:stretch>
            <a:fillRect/>
          </a:stretch>
        </p:blipFill>
        <p:spPr>
          <a:xfrm>
            <a:off x="8973007" y="5810098"/>
            <a:ext cx="95098" cy="152705"/>
          </a:xfrm>
          <a:prstGeom prst="rect">
            <a:avLst/>
          </a:prstGeom>
        </p:spPr>
      </p:pic>
      <p:sp>
        <p:nvSpPr>
          <p:cNvPr id="62" name="Shape 46"/>
          <p:cNvSpPr/>
          <p:nvPr/>
        </p:nvSpPr>
        <p:spPr>
          <a:xfrm>
            <a:off x="9219895" y="5572354"/>
            <a:ext cx="1828800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3" name="Text 47"/>
          <p:cNvSpPr txBox="1"/>
          <p:nvPr/>
        </p:nvSpPr>
        <p:spPr>
          <a:xfrm>
            <a:off x="9147658" y="5667451"/>
            <a:ext cx="195498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第四步 &amp; 第五步</a:t>
            </a:r>
            <a:endParaRPr lang="en-US" sz="900" dirty="0"/>
          </a:p>
        </p:txBody>
      </p:sp>
      <p:sp>
        <p:nvSpPr>
          <p:cNvPr id="64" name="Text 48"/>
          <p:cNvSpPr txBox="1"/>
          <p:nvPr/>
        </p:nvSpPr>
        <p:spPr>
          <a:xfrm>
            <a:off x="9147658" y="5867705"/>
            <a:ext cx="195498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看分位判贵贱 + 执行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l="-79" r="-79"/>
          <a:stretch>
            <a:fillRect/>
          </a:stretch>
        </p:blipFill>
        <p:spPr>
          <a:xfrm>
            <a:off x="0" y="0"/>
            <a:ext cx="12191695" cy="4754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952805" y="3810305"/>
            <a:ext cx="4762195" cy="47621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72500" y="-952805"/>
            <a:ext cx="5715000" cy="57150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0001707" y="476402"/>
            <a:ext cx="2057400" cy="8668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150" dirty="0">
                <a:solidFill>
                  <a:srgbClr val="FFFFFF">
                    <a:alpha val="3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END.</a:t>
            </a:r>
            <a:endParaRPr lang="en-US" sz="60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>
            <a:fillRect/>
          </a:stretch>
        </p:blipFill>
        <p:spPr>
          <a:xfrm>
            <a:off x="761695" y="1190549"/>
            <a:ext cx="10668305" cy="9144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61695" y="1904695"/>
            <a:ext cx="5162702" cy="4019702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286500" y="1904695"/>
            <a:ext cx="5162702" cy="4019702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6"/>
          <a:srcRect t="-400" b="-400"/>
          <a:stretch>
            <a:fillRect/>
          </a:stretch>
        </p:blipFill>
        <p:spPr>
          <a:xfrm>
            <a:off x="761695" y="1904695"/>
            <a:ext cx="5143500" cy="38405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7"/>
          <a:srcRect l="-2083" r="-2083"/>
          <a:stretch>
            <a:fillRect/>
          </a:stretch>
        </p:blipFill>
        <p:spPr>
          <a:xfrm>
            <a:off x="1047902" y="2619756"/>
            <a:ext cx="4572000" cy="9144"/>
          </a:xfrm>
          <a:prstGeom prst="rect">
            <a:avLst/>
          </a:prstGeom>
        </p:spPr>
      </p:pic>
      <p:sp>
        <p:nvSpPr>
          <p:cNvPr id="14" name="Shape 4"/>
          <p:cNvSpPr/>
          <p:nvPr/>
        </p:nvSpPr>
        <p:spPr>
          <a:xfrm>
            <a:off x="1047902" y="4858207"/>
            <a:ext cx="4591202" cy="780898"/>
          </a:xfrm>
          <a:prstGeom prst="roundRect">
            <a:avLst>
              <a:gd name="adj" fmla="val 17136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8"/>
          <a:srcRect t="-400" b="-400"/>
          <a:stretch>
            <a:fillRect/>
          </a:stretch>
        </p:blipFill>
        <p:spPr>
          <a:xfrm>
            <a:off x="6286500" y="1904695"/>
            <a:ext cx="5143500" cy="38405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7"/>
          <a:srcRect l="-2083" r="-2083"/>
          <a:stretch>
            <a:fillRect/>
          </a:stretch>
        </p:blipFill>
        <p:spPr>
          <a:xfrm>
            <a:off x="6572707" y="2619756"/>
            <a:ext cx="4572000" cy="9144"/>
          </a:xfrm>
          <a:prstGeom prst="rect">
            <a:avLst/>
          </a:prstGeom>
        </p:spPr>
      </p:pic>
      <p:sp>
        <p:nvSpPr>
          <p:cNvPr id="17" name="Shape 5"/>
          <p:cNvSpPr/>
          <p:nvPr/>
        </p:nvSpPr>
        <p:spPr>
          <a:xfrm>
            <a:off x="6572707" y="3429000"/>
            <a:ext cx="1352398" cy="362102"/>
          </a:xfrm>
          <a:prstGeom prst="roundRect">
            <a:avLst>
              <a:gd name="adj" fmla="val 53163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18" name="Shape 6"/>
          <p:cNvSpPr/>
          <p:nvPr/>
        </p:nvSpPr>
        <p:spPr>
          <a:xfrm>
            <a:off x="8048549" y="3429000"/>
            <a:ext cx="1447495" cy="362102"/>
          </a:xfrm>
          <a:prstGeom prst="roundRect">
            <a:avLst>
              <a:gd name="adj" fmla="val 53163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19" name="Shape 7"/>
          <p:cNvSpPr/>
          <p:nvPr/>
        </p:nvSpPr>
        <p:spPr>
          <a:xfrm>
            <a:off x="9620402" y="3429000"/>
            <a:ext cx="1543507" cy="362102"/>
          </a:xfrm>
          <a:prstGeom prst="roundRect">
            <a:avLst>
              <a:gd name="adj" fmla="val 53163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20" name="Shape 8"/>
          <p:cNvSpPr/>
          <p:nvPr/>
        </p:nvSpPr>
        <p:spPr>
          <a:xfrm>
            <a:off x="7048195" y="3905402"/>
            <a:ext cx="1733702" cy="362102"/>
          </a:xfrm>
          <a:prstGeom prst="roundRect">
            <a:avLst>
              <a:gd name="adj" fmla="val 53163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21" name="Shape 9"/>
          <p:cNvSpPr/>
          <p:nvPr/>
        </p:nvSpPr>
        <p:spPr>
          <a:xfrm>
            <a:off x="8906256" y="3905402"/>
            <a:ext cx="1733702" cy="362102"/>
          </a:xfrm>
          <a:prstGeom prst="roundRect">
            <a:avLst>
              <a:gd name="adj" fmla="val 53163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2" name="Shape 10"/>
          <p:cNvSpPr/>
          <p:nvPr/>
        </p:nvSpPr>
        <p:spPr>
          <a:xfrm>
            <a:off x="6572707" y="4524451"/>
            <a:ext cx="4572000" cy="952805"/>
          </a:xfrm>
          <a:prstGeom prst="roundRect">
            <a:avLst>
              <a:gd name="adj" fmla="val 11516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1"/>
          <p:cNvSpPr txBox="1"/>
          <p:nvPr/>
        </p:nvSpPr>
        <p:spPr>
          <a:xfrm>
            <a:off x="761695" y="571500"/>
            <a:ext cx="7925105" cy="5239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1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结语：PB框架闭环与下一讲预告</a:t>
            </a:r>
            <a:endParaRPr lang="en-US" sz="2800" dirty="0"/>
          </a:p>
        </p:txBody>
      </p:sp>
      <p:sp>
        <p:nvSpPr>
          <p:cNvPr id="24" name="Text 12"/>
          <p:cNvSpPr txBox="1"/>
          <p:nvPr/>
        </p:nvSpPr>
        <p:spPr>
          <a:xfrm>
            <a:off x="761695" y="1333195"/>
            <a:ext cx="10858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这三个工具不是孤立的，它们是同一套投资认知的不同侧面。</a:t>
            </a:r>
            <a:endParaRPr lang="en-US" sz="120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9"/>
          <a:srcRect t="-600" b="-600"/>
          <a:stretch>
            <a:fillRect/>
          </a:stretch>
        </p:blipFill>
        <p:spPr>
          <a:xfrm>
            <a:off x="1047902" y="2274113"/>
            <a:ext cx="181051" cy="209398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1380744" y="2190902"/>
            <a:ext cx="4000500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本讲核心回顾：PB认知升级</a:t>
            </a:r>
            <a:endParaRPr lang="en-US" sz="150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047902" y="2952598"/>
            <a:ext cx="152705" cy="152705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1333195" y="2885846"/>
            <a:ext cx="436260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明确适用边界：</a:t>
            </a: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当期利润被扭曲，资产本身才是真实价值载体时（如金融、周期），必须用PB。</a:t>
            </a:r>
            <a:endParaRPr lang="en-US" sz="1100" dirty="0"/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047902" y="3524098"/>
            <a:ext cx="152705" cy="152705"/>
          </a:xfrm>
          <a:prstGeom prst="rect">
            <a:avLst/>
          </a:prstGeom>
        </p:spPr>
      </p:pic>
      <p:sp>
        <p:nvSpPr>
          <p:cNvPr id="30" name="Text 15"/>
          <p:cNvSpPr txBox="1"/>
          <p:nvPr/>
        </p:nvSpPr>
        <p:spPr>
          <a:xfrm>
            <a:off x="1333195" y="3457346"/>
            <a:ext cx="436260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掌握核心变量：</a:t>
            </a: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PB的合理中枢由 ROE高低、无风险利率走势、行业长期增速预期 共同决定。</a:t>
            </a:r>
            <a:endParaRPr lang="en-US" sz="1100" dirty="0"/>
          </a:p>
        </p:txBody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047902" y="4095598"/>
            <a:ext cx="152705" cy="152705"/>
          </a:xfrm>
          <a:prstGeom prst="rect">
            <a:avLst/>
          </a:prstGeom>
        </p:spPr>
      </p:pic>
      <p:sp>
        <p:nvSpPr>
          <p:cNvPr id="32" name="Text 16"/>
          <p:cNvSpPr txBox="1"/>
          <p:nvPr/>
        </p:nvSpPr>
        <p:spPr>
          <a:xfrm>
            <a:off x="1333195" y="4028846"/>
            <a:ext cx="436260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引入量能校准：</a:t>
            </a: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2.5万亿宽松基准下，历史底部分位的支撑逻辑更强，估值系统性上移。</a:t>
            </a:r>
            <a:endParaRPr lang="en-US" sz="1100" dirty="0"/>
          </a:p>
        </p:txBody>
      </p:sp>
      <p:pic>
        <p:nvPicPr>
          <p:cNvPr id="33" name="Image 14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238098" y="5148072"/>
            <a:ext cx="190195" cy="190195"/>
          </a:xfrm>
          <a:prstGeom prst="rect">
            <a:avLst/>
          </a:prstGeom>
        </p:spPr>
      </p:pic>
      <p:sp>
        <p:nvSpPr>
          <p:cNvPr id="34" name="Text 17"/>
          <p:cNvSpPr txBox="1"/>
          <p:nvPr/>
        </p:nvSpPr>
        <p:spPr>
          <a:xfrm>
            <a:off x="1571854" y="5020056"/>
            <a:ext cx="388620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经过本讲，你已具备读懂 </a:t>
            </a:r>
            <a:r>
              <a:rPr lang="en-US" sz="10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银、地、保、券、钢、煤</a:t>
            </a: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六大资产型行业真实估值状态的专业框架。</a:t>
            </a:r>
            <a:endParaRPr lang="en-US" sz="1000" dirty="0"/>
          </a:p>
        </p:txBody>
      </p:sp>
      <p:pic>
        <p:nvPicPr>
          <p:cNvPr id="35" name="Image 15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6572707" y="2274113"/>
            <a:ext cx="209398" cy="209398"/>
          </a:xfrm>
          <a:prstGeom prst="rect">
            <a:avLst/>
          </a:prstGeom>
        </p:spPr>
      </p:pic>
      <p:sp>
        <p:nvSpPr>
          <p:cNvPr id="36" name="Text 18"/>
          <p:cNvSpPr txBox="1"/>
          <p:nvPr/>
        </p:nvSpPr>
        <p:spPr>
          <a:xfrm>
            <a:off x="6905549" y="2190902"/>
            <a:ext cx="4000500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下一讲预告：综合应用与科技破局</a:t>
            </a:r>
            <a:endParaRPr lang="en-US" sz="1500" dirty="0"/>
          </a:p>
        </p:txBody>
      </p:sp>
      <p:sp>
        <p:nvSpPr>
          <p:cNvPr id="37" name="Text 19"/>
          <p:cNvSpPr txBox="1"/>
          <p:nvPr/>
        </p:nvSpPr>
        <p:spPr>
          <a:xfrm>
            <a:off x="6572707" y="2857500"/>
            <a:ext cx="464881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科技赛道极度复杂，用错估值工具将引发灾难。下一讲，我们将综合所有工具，专门拆解科技股的</a:t>
            </a:r>
            <a:r>
              <a:rPr lang="en-US" sz="1100" b="1" dirty="0">
                <a:solidFill>
                  <a:srgbClr val="A78B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五大类型</a:t>
            </a: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：</a:t>
            </a:r>
            <a:endParaRPr lang="en-US" sz="1100" dirty="0"/>
          </a:p>
        </p:txBody>
      </p:sp>
      <p:sp>
        <p:nvSpPr>
          <p:cNvPr id="38" name="Text 20"/>
          <p:cNvSpPr txBox="1"/>
          <p:nvPr/>
        </p:nvSpPr>
        <p:spPr>
          <a:xfrm>
            <a:off x="6518758" y="3504895"/>
            <a:ext cx="144018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B5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老牌龙头</a:t>
            </a:r>
            <a:endParaRPr lang="en-US" sz="1000" dirty="0"/>
          </a:p>
        </p:txBody>
      </p:sp>
      <p:sp>
        <p:nvSpPr>
          <p:cNvPr id="39" name="Text 21"/>
          <p:cNvSpPr txBox="1"/>
          <p:nvPr/>
        </p:nvSpPr>
        <p:spPr>
          <a:xfrm>
            <a:off x="7991856" y="3504895"/>
            <a:ext cx="154350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B5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挑战者成长股</a:t>
            </a:r>
            <a:endParaRPr lang="en-US" sz="1000" dirty="0"/>
          </a:p>
        </p:txBody>
      </p:sp>
      <p:sp>
        <p:nvSpPr>
          <p:cNvPr id="40" name="Text 22"/>
          <p:cNvSpPr txBox="1"/>
          <p:nvPr/>
        </p:nvSpPr>
        <p:spPr>
          <a:xfrm>
            <a:off x="9559138" y="3504895"/>
            <a:ext cx="164592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B5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爆发型小盘</a:t>
            </a:r>
            <a:endParaRPr lang="en-US" sz="1000" dirty="0"/>
          </a:p>
        </p:txBody>
      </p:sp>
      <p:sp>
        <p:nvSpPr>
          <p:cNvPr id="41" name="Text 23"/>
          <p:cNvSpPr txBox="1"/>
          <p:nvPr/>
        </p:nvSpPr>
        <p:spPr>
          <a:xfrm>
            <a:off x="6979615" y="3981298"/>
            <a:ext cx="185166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B5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未盈利押注型</a:t>
            </a:r>
            <a:endParaRPr lang="en-US" sz="1000" dirty="0"/>
          </a:p>
        </p:txBody>
      </p:sp>
      <p:sp>
        <p:nvSpPr>
          <p:cNvPr id="42" name="Text 24"/>
          <p:cNvSpPr txBox="1"/>
          <p:nvPr/>
        </p:nvSpPr>
        <p:spPr>
          <a:xfrm>
            <a:off x="8837676" y="3981298"/>
            <a:ext cx="185166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价值崩塌型 (陷阱)</a:t>
            </a:r>
            <a:endParaRPr lang="en-US" sz="1000" dirty="0"/>
          </a:p>
        </p:txBody>
      </p:sp>
      <p:sp>
        <p:nvSpPr>
          <p:cNvPr id="43" name="Text 25"/>
          <p:cNvSpPr txBox="1"/>
          <p:nvPr/>
        </p:nvSpPr>
        <p:spPr>
          <a:xfrm>
            <a:off x="6724498" y="4667098"/>
            <a:ext cx="4267505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每一种类型，都有完全不同的</a:t>
            </a:r>
            <a:r>
              <a:rPr lang="en-US" sz="10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估值锚点</a:t>
            </a: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、</a:t>
            </a:r>
            <a:r>
              <a:rPr lang="en-US" sz="10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操作方法</a:t>
            </a: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和</a:t>
            </a:r>
            <a:r>
              <a:rPr lang="en-US" sz="10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仓位逻辑</a:t>
            </a: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将PE/PEG/PB融会贯通，我们下一讲见。</a:t>
            </a:r>
            <a:endParaRPr lang="en-US" sz="1000" dirty="0"/>
          </a:p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2286000" y="6436462"/>
            <a:ext cx="133502" cy="133502"/>
          </a:xfrm>
          <a:prstGeom prst="rect">
            <a:avLst/>
          </a:prstGeom>
        </p:spPr>
      </p:pic>
      <p:sp>
        <p:nvSpPr>
          <p:cNvPr id="45" name="Text 26"/>
          <p:cNvSpPr txBox="1"/>
          <p:nvPr/>
        </p:nvSpPr>
        <p:spPr>
          <a:xfrm>
            <a:off x="2428646" y="6381598"/>
            <a:ext cx="7810805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75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特别声明：本课程所涉及个股、行业及相关数据仅用于教学方法演示，不构成任何投资建议。投资有风险，入市需谨慎。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6855</Words>
  <Application>WPS 演示</Application>
  <PresentationFormat>On-screen Show (16:9)</PresentationFormat>
  <Paragraphs>718</Paragraphs>
  <Slides>15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Noto Sans SC</vt:lpstr>
      <vt:lpstr>Noto Sans SC</vt:lpstr>
      <vt:lpstr>Courier New</vt:lpstr>
      <vt:lpstr>Courier New</vt:lpstr>
      <vt:lpstr>Courier New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Han</cp:lastModifiedBy>
  <cp:revision>2</cp:revision>
  <dcterms:created xsi:type="dcterms:W3CDTF">2026-03-11T12:44:00Z</dcterms:created>
  <dcterms:modified xsi:type="dcterms:W3CDTF">2026-03-14T02:15:35Z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9BE9DC8ED8EE4C4DBDC57757DF97FF2C_12</vt:lpwstr>
  </property>
</Properties>
</file>