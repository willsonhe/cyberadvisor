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0" Type="http://schemas.openxmlformats.org/officeDocument/2006/relationships/notesSlide" Target="../notesSlides/notesSlide5.xml"/><Relationship Id="rId2" Type="http://schemas.openxmlformats.org/officeDocument/2006/relationships/image" Target="../media/image4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45.png"/><Relationship Id="rId17" Type="http://schemas.openxmlformats.org/officeDocument/2006/relationships/image" Target="../media/image44.png"/><Relationship Id="rId16" Type="http://schemas.openxmlformats.org/officeDocument/2006/relationships/image" Target="../media/image43.png"/><Relationship Id="rId15" Type="http://schemas.openxmlformats.org/officeDocument/2006/relationships/image" Target="../media/image42.png"/><Relationship Id="rId14" Type="http://schemas.openxmlformats.org/officeDocument/2006/relationships/image" Target="../media/image41.png"/><Relationship Id="rId13" Type="http://schemas.openxmlformats.org/officeDocument/2006/relationships/image" Target="../media/image40.png"/><Relationship Id="rId12" Type="http://schemas.openxmlformats.org/officeDocument/2006/relationships/image" Target="../media/image39.png"/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png"/><Relationship Id="rId8" Type="http://schemas.openxmlformats.org/officeDocument/2006/relationships/image" Target="../media/image61.png"/><Relationship Id="rId7" Type="http://schemas.openxmlformats.org/officeDocument/2006/relationships/image" Target="../media/image60.png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20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24.png"/><Relationship Id="rId15" Type="http://schemas.openxmlformats.org/officeDocument/2006/relationships/image" Target="../media/image68.png"/><Relationship Id="rId14" Type="http://schemas.openxmlformats.org/officeDocument/2006/relationships/image" Target="../media/image67.png"/><Relationship Id="rId13" Type="http://schemas.openxmlformats.org/officeDocument/2006/relationships/image" Target="../media/image66.png"/><Relationship Id="rId12" Type="http://schemas.openxmlformats.org/officeDocument/2006/relationships/image" Target="../media/image65.png"/><Relationship Id="rId11" Type="http://schemas.openxmlformats.org/officeDocument/2006/relationships/image" Target="../media/image64.png"/><Relationship Id="rId10" Type="http://schemas.openxmlformats.org/officeDocument/2006/relationships/image" Target="../media/image63.png"/><Relationship Id="rId1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4.png"/><Relationship Id="rId10" Type="http://schemas.openxmlformats.org/officeDocument/2006/relationships/image" Target="../media/image75.png"/><Relationship Id="rId1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png"/><Relationship Id="rId8" Type="http://schemas.openxmlformats.org/officeDocument/2006/relationships/image" Target="../media/image79.png"/><Relationship Id="rId7" Type="http://schemas.openxmlformats.org/officeDocument/2006/relationships/image" Target="../media/image78.png"/><Relationship Id="rId6" Type="http://schemas.openxmlformats.org/officeDocument/2006/relationships/image" Target="../media/image5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4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png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3.png"/><Relationship Id="rId23" Type="http://schemas.openxmlformats.org/officeDocument/2006/relationships/notesSlide" Target="../notesSlides/notesSlide12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102.png"/><Relationship Id="rId20" Type="http://schemas.openxmlformats.org/officeDocument/2006/relationships/image" Target="../media/image101.png"/><Relationship Id="rId2" Type="http://schemas.openxmlformats.org/officeDocument/2006/relationships/image" Target="../media/image2.png"/><Relationship Id="rId19" Type="http://schemas.openxmlformats.org/officeDocument/2006/relationships/image" Target="../media/image100.png"/><Relationship Id="rId18" Type="http://schemas.openxmlformats.org/officeDocument/2006/relationships/image" Target="../media/image79.png"/><Relationship Id="rId17" Type="http://schemas.openxmlformats.org/officeDocument/2006/relationships/image" Target="../media/image99.png"/><Relationship Id="rId16" Type="http://schemas.openxmlformats.org/officeDocument/2006/relationships/image" Target="../media/image98.png"/><Relationship Id="rId15" Type="http://schemas.openxmlformats.org/officeDocument/2006/relationships/image" Target="../media/image97.png"/><Relationship Id="rId14" Type="http://schemas.openxmlformats.org/officeDocument/2006/relationships/image" Target="../media/image84.png"/><Relationship Id="rId13" Type="http://schemas.openxmlformats.org/officeDocument/2006/relationships/image" Target="../media/image96.png"/><Relationship Id="rId12" Type="http://schemas.openxmlformats.org/officeDocument/2006/relationships/image" Target="../media/image95.png"/><Relationship Id="rId11" Type="http://schemas.openxmlformats.org/officeDocument/2006/relationships/image" Target="../media/image94.png"/><Relationship Id="rId10" Type="http://schemas.openxmlformats.org/officeDocument/2006/relationships/image" Target="../media/image9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-400" r="-400"/>
          <a:stretch>
            <a:fillRect/>
          </a:stretch>
        </p:blipFill>
        <p:spPr>
          <a:xfrm>
            <a:off x="0" y="0"/>
            <a:ext cx="57607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rcRect l="-4" r="-4"/>
          <a:stretch>
            <a:fillRect/>
          </a:stretch>
        </p:blipFill>
        <p:spPr>
          <a:xfrm>
            <a:off x="8382305" y="0"/>
            <a:ext cx="3810305" cy="68580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9810598" y="4000500"/>
            <a:ext cx="1904695" cy="1904695"/>
          </a:xfrm>
          <a:prstGeom prst="ellipse">
            <a:avLst/>
          </a:prstGeom>
          <a:noFill/>
          <a:ln w="12700">
            <a:solidFill>
              <a:srgbClr val="FF9500">
                <a:alpha val="10000"/>
              </a:srgbClr>
            </a:solidFill>
            <a:prstDash val="solid"/>
          </a:ln>
        </p:spPr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305" y="286207"/>
            <a:ext cx="190195" cy="190195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714146" y="280721"/>
            <a:ext cx="199613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WALL STREET INTELLIGENCE</a:t>
            </a:r>
            <a:endParaRPr lang="en-US" sz="1000" dirty="0"/>
          </a:p>
        </p:txBody>
      </p:sp>
      <p:sp>
        <p:nvSpPr>
          <p:cNvPr id="9" name="Text 3"/>
          <p:cNvSpPr txBox="1"/>
          <p:nvPr/>
        </p:nvSpPr>
        <p:spPr>
          <a:xfrm>
            <a:off x="10607040" y="295351"/>
            <a:ext cx="71140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2026.04.06</a:t>
            </a:r>
            <a:endParaRPr lang="en-US" sz="900" dirty="0"/>
          </a:p>
        </p:txBody>
      </p:sp>
      <p:sp>
        <p:nvSpPr>
          <p:cNvPr id="10" name="Text 4"/>
          <p:cNvSpPr txBox="1"/>
          <p:nvPr/>
        </p:nvSpPr>
        <p:spPr>
          <a:xfrm>
            <a:off x="11568074" y="295351"/>
            <a:ext cx="3209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LIVE</a:t>
            </a:r>
            <a:endParaRPr lang="en-US" sz="9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>
            <a:alphaModFix amt="56000"/>
          </a:blip>
          <a:srcRect/>
          <a:stretch>
            <a:fillRect/>
          </a:stretch>
        </p:blipFill>
        <p:spPr>
          <a:xfrm>
            <a:off x="11419942" y="318211"/>
            <a:ext cx="123444" cy="12344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71500" y="1133856"/>
            <a:ext cx="8401507" cy="5532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全球市场深度研究报告</a:t>
            </a:r>
            <a:endParaRPr lang="en-US" sz="3600" dirty="0"/>
          </a:p>
        </p:txBody>
      </p:sp>
      <p:sp>
        <p:nvSpPr>
          <p:cNvPr id="13" name="Text 6"/>
          <p:cNvSpPr txBox="1"/>
          <p:nvPr/>
        </p:nvSpPr>
        <p:spPr>
          <a:xfrm>
            <a:off x="571500" y="1825142"/>
            <a:ext cx="8287207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防御模式下的</a:t>
            </a:r>
            <a:r>
              <a:rPr lang="en-US" sz="1500" dirty="0">
                <a:solidFill>
                  <a:srgbClr val="FF95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结构性机遇</a:t>
            </a:r>
            <a:r>
              <a:rPr lang="en-US" sz="15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与后市路径推演 </a:t>
            </a:r>
            <a:endParaRPr lang="en-US" sz="1500" dirty="0"/>
          </a:p>
        </p:txBody>
      </p:sp>
      <p:sp>
        <p:nvSpPr>
          <p:cNvPr id="14" name="Shape 7"/>
          <p:cNvSpPr/>
          <p:nvPr/>
        </p:nvSpPr>
        <p:spPr>
          <a:xfrm>
            <a:off x="647700" y="2216379"/>
            <a:ext cx="1933956" cy="437998"/>
          </a:xfrm>
          <a:prstGeom prst="roundRect">
            <a:avLst>
              <a:gd name="adj" fmla="val 72615"/>
            </a:avLst>
          </a:prstGeom>
          <a:solidFill>
            <a:srgbClr val="FF9500">
              <a:alpha val="1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8953805" y="761695"/>
            <a:ext cx="2667305" cy="1800454"/>
          </a:xfrm>
          <a:prstGeom prst="roundRect">
            <a:avLst>
              <a:gd name="adj" fmla="val 6449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9153144" y="961949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市场状态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1059668" y="961949"/>
            <a:ext cx="444398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+2.4%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9115654" y="1276502"/>
            <a:ext cx="116220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4.3%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9110167" y="1533449"/>
            <a:ext cx="117317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失业率</a:t>
            </a:r>
            <a:endParaRPr lang="en-US" sz="800" dirty="0"/>
          </a:p>
        </p:txBody>
      </p:sp>
      <p:sp>
        <p:nvSpPr>
          <p:cNvPr id="21" name="Text 14"/>
          <p:cNvSpPr txBox="1"/>
          <p:nvPr/>
        </p:nvSpPr>
        <p:spPr>
          <a:xfrm>
            <a:off x="10296144" y="1276502"/>
            <a:ext cx="116220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+17.8万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10291572" y="1533449"/>
            <a:ext cx="117317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非农新增</a:t>
            </a:r>
            <a:endParaRPr lang="en-US" sz="8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" y="800100"/>
            <a:ext cx="240761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GLOBAL MARKET RESEARCH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71754" y="2349119"/>
            <a:ext cx="705002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发布日期：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390802" y="2339340"/>
            <a:ext cx="9912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2026年4月6日</a:t>
            </a:r>
            <a:endParaRPr lang="en-US" sz="10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rcRect l="-133" r="-133"/>
          <a:stretch>
            <a:fillRect/>
          </a:stretch>
        </p:blipFill>
        <p:spPr>
          <a:xfrm>
            <a:off x="10941710" y="985723"/>
            <a:ext cx="85954" cy="11430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9153144" y="1785823"/>
            <a:ext cx="2266798" cy="571500"/>
          </a:xfrm>
          <a:prstGeom prst="roundRect">
            <a:avLst>
              <a:gd name="adj" fmla="val 32000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rcRect t="-43" b="-43"/>
          <a:stretch>
            <a:fillRect/>
          </a:stretch>
        </p:blipFill>
        <p:spPr>
          <a:xfrm>
            <a:off x="9153144" y="1976018"/>
            <a:ext cx="2266798" cy="38130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571500" y="2667305"/>
            <a:ext cx="2095805" cy="1114654"/>
          </a:xfrm>
          <a:prstGeom prst="roundRect">
            <a:avLst>
              <a:gd name="adj" fmla="val 16828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771754" y="28666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美伊战争</a:t>
            </a:r>
            <a:endParaRPr lang="en-US" sz="9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2333549" y="2885846"/>
            <a:ext cx="133502" cy="13350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71754" y="3133649"/>
            <a:ext cx="183154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后半场阶段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771754" y="3409798"/>
            <a:ext cx="183154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⚠ 危险信号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2809951" y="2667305"/>
            <a:ext cx="2095805" cy="1114654"/>
          </a:xfrm>
          <a:prstGeom prst="roundRect">
            <a:avLst>
              <a:gd name="adj" fmla="val 16828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3010205" y="28666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霍尔木兹</a:t>
            </a:r>
            <a:endParaRPr lang="en-US" sz="9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rcRect l="-837" r="-837"/>
          <a:stretch>
            <a:fillRect/>
          </a:stretch>
        </p:blipFill>
        <p:spPr>
          <a:xfrm>
            <a:off x="4552798" y="2885846"/>
            <a:ext cx="152705" cy="133502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3010205" y="3133649"/>
            <a:ext cx="183154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通行受限</a:t>
            </a:r>
            <a:endParaRPr lang="en-US" sz="1200" dirty="0"/>
          </a:p>
        </p:txBody>
      </p:sp>
      <p:sp>
        <p:nvSpPr>
          <p:cNvPr id="41" name="Text 30"/>
          <p:cNvSpPr txBox="1"/>
          <p:nvPr/>
        </p:nvSpPr>
        <p:spPr>
          <a:xfrm>
            <a:off x="3010205" y="3409798"/>
            <a:ext cx="177210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⚠ 2,000万桶/日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5048402" y="2667305"/>
            <a:ext cx="2095805" cy="1114654"/>
          </a:xfrm>
          <a:prstGeom prst="roundRect">
            <a:avLst>
              <a:gd name="adj" fmla="val 16828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5248656" y="28666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非农数据</a:t>
            </a:r>
            <a:endParaRPr lang="en-US" sz="9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810451" y="2885846"/>
            <a:ext cx="133502" cy="1335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5248656" y="3133649"/>
            <a:ext cx="17721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+17.8万</a:t>
            </a:r>
            <a:endParaRPr lang="en-US" sz="1200" dirty="0"/>
          </a:p>
        </p:txBody>
      </p:sp>
      <p:sp>
        <p:nvSpPr>
          <p:cNvPr id="46" name="Text 34"/>
          <p:cNvSpPr txBox="1"/>
          <p:nvPr/>
        </p:nvSpPr>
        <p:spPr>
          <a:xfrm>
            <a:off x="5248656" y="3409798"/>
            <a:ext cx="183154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✓ 超预期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7286854" y="2667305"/>
            <a:ext cx="2095805" cy="1114654"/>
          </a:xfrm>
          <a:prstGeom prst="roundRect">
            <a:avLst>
              <a:gd name="adj" fmla="val 16828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8" name="Text 36"/>
          <p:cNvSpPr txBox="1"/>
          <p:nvPr/>
        </p:nvSpPr>
        <p:spPr>
          <a:xfrm>
            <a:off x="7487107" y="28666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美元指数</a:t>
            </a:r>
            <a:endParaRPr lang="en-US" sz="900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>
            <a:fillRect/>
          </a:stretch>
        </p:blipFill>
        <p:spPr>
          <a:xfrm>
            <a:off x="9096451" y="2885846"/>
            <a:ext cx="85954" cy="133502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7487107" y="3133649"/>
            <a:ext cx="17721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103.5</a:t>
            </a:r>
            <a:endParaRPr lang="en-US" sz="1200" dirty="0"/>
          </a:p>
        </p:txBody>
      </p:sp>
      <p:sp>
        <p:nvSpPr>
          <p:cNvPr id="51" name="Text 38"/>
          <p:cNvSpPr txBox="1"/>
          <p:nvPr/>
        </p:nvSpPr>
        <p:spPr>
          <a:xfrm>
            <a:off x="7487107" y="3409798"/>
            <a:ext cx="177210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↗ +0.8%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9525305" y="2667305"/>
            <a:ext cx="2095805" cy="1114654"/>
          </a:xfrm>
          <a:prstGeom prst="roundRect">
            <a:avLst>
              <a:gd name="adj" fmla="val 16828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3" name="Text 40"/>
          <p:cNvSpPr txBox="1"/>
          <p:nvPr/>
        </p:nvSpPr>
        <p:spPr>
          <a:xfrm>
            <a:off x="9724644" y="28666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原油价格</a:t>
            </a:r>
            <a:endParaRPr lang="en-US" sz="9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12"/>
          <a:srcRect l="-1507" r="-1507"/>
          <a:stretch>
            <a:fillRect/>
          </a:stretch>
        </p:blipFill>
        <p:spPr>
          <a:xfrm>
            <a:off x="11248949" y="2885846"/>
            <a:ext cx="171907" cy="133502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9724644" y="3133649"/>
            <a:ext cx="17721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$112.5</a:t>
            </a:r>
            <a:endParaRPr lang="en-US" sz="1200" dirty="0"/>
          </a:p>
        </p:txBody>
      </p:sp>
      <p:sp>
        <p:nvSpPr>
          <p:cNvPr id="56" name="Text 42"/>
          <p:cNvSpPr txBox="1"/>
          <p:nvPr/>
        </p:nvSpPr>
        <p:spPr>
          <a:xfrm>
            <a:off x="9724644" y="3409798"/>
            <a:ext cx="177210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↗ +3.2%</a:t>
            </a:r>
            <a:endParaRPr lang="en-US" sz="900" dirty="0"/>
          </a:p>
        </p:txBody>
      </p:sp>
      <p:sp>
        <p:nvSpPr>
          <p:cNvPr id="57" name="Shape 43"/>
          <p:cNvSpPr/>
          <p:nvPr/>
        </p:nvSpPr>
        <p:spPr>
          <a:xfrm>
            <a:off x="571500" y="6439205"/>
            <a:ext cx="75895" cy="7589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44"/>
          <p:cNvSpPr txBox="1"/>
          <p:nvPr/>
        </p:nvSpPr>
        <p:spPr>
          <a:xfrm>
            <a:off x="743407" y="6391656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市场活跃</a:t>
            </a:r>
            <a:endParaRPr lang="en-US" sz="900" dirty="0"/>
          </a:p>
        </p:txBody>
      </p:sp>
      <p:sp>
        <p:nvSpPr>
          <p:cNvPr id="59" name="Shape 45"/>
          <p:cNvSpPr/>
          <p:nvPr/>
        </p:nvSpPr>
        <p:spPr>
          <a:xfrm>
            <a:off x="1485900" y="6439205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46"/>
          <p:cNvSpPr txBox="1"/>
          <p:nvPr/>
        </p:nvSpPr>
        <p:spPr>
          <a:xfrm>
            <a:off x="1657807" y="6391656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关注风险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-400" r="-400"/>
          <a:stretch>
            <a:fillRect/>
          </a:stretch>
        </p:blipFill>
        <p:spPr>
          <a:xfrm>
            <a:off x="0" y="0"/>
            <a:ext cx="57607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rcRect l="-4" r="-4"/>
          <a:stretch>
            <a:fillRect/>
          </a:stretch>
        </p:blipFill>
        <p:spPr>
          <a:xfrm>
            <a:off x="8382305" y="0"/>
            <a:ext cx="3810305" cy="6858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rcRect l="-1282" r="-1282"/>
          <a:stretch>
            <a:fillRect/>
          </a:stretch>
        </p:blipFill>
        <p:spPr>
          <a:xfrm>
            <a:off x="381305" y="286207"/>
            <a:ext cx="219456" cy="190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743407" y="280721"/>
            <a:ext cx="155265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EXECUTIVE SUMMARY</a:t>
            </a:r>
            <a:endParaRPr lang="en-US" sz="1000" dirty="0"/>
          </a:p>
        </p:txBody>
      </p:sp>
      <p:sp>
        <p:nvSpPr>
          <p:cNvPr id="11" name="Text 4"/>
          <p:cNvSpPr txBox="1"/>
          <p:nvPr/>
        </p:nvSpPr>
        <p:spPr>
          <a:xfrm>
            <a:off x="571500" y="1086307"/>
            <a:ext cx="8049463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防御模式下的</a:t>
            </a:r>
            <a:r>
              <a:rPr lang="en-US" sz="2400" b="1" dirty="0">
                <a:solidFill>
                  <a:srgbClr val="FF95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结构性机遇</a:t>
            </a: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与后市路径推演 </a:t>
            </a:r>
            <a:endParaRPr lang="en-US" sz="2400" dirty="0"/>
          </a:p>
        </p:txBody>
      </p:sp>
      <p:sp>
        <p:nvSpPr>
          <p:cNvPr id="12" name="Shape 5"/>
          <p:cNvSpPr/>
          <p:nvPr/>
        </p:nvSpPr>
        <p:spPr>
          <a:xfrm>
            <a:off x="8713318" y="907085"/>
            <a:ext cx="1248156" cy="400507"/>
          </a:xfrm>
          <a:prstGeom prst="roundRect">
            <a:avLst>
              <a:gd name="adj" fmla="val 86975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0099548" y="907085"/>
            <a:ext cx="1524305" cy="400507"/>
          </a:xfrm>
          <a:prstGeom prst="roundRect">
            <a:avLst>
              <a:gd name="adj" fmla="val 86975"/>
            </a:avLst>
          </a:prstGeom>
          <a:solidFill>
            <a:srgbClr val="FF9500">
              <a:alpha val="1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71500" y="800100"/>
            <a:ext cx="9912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核心观点速览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8865108" y="1049731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核心观点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9323222" y="1030529"/>
            <a:ext cx="5623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5大主题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0252253" y="1049731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发布日期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0709453" y="1030529"/>
            <a:ext cx="8577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2026.04.06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71500" y="1524305"/>
            <a:ext cx="3590849" cy="2219249"/>
          </a:xfrm>
          <a:prstGeom prst="roundRect">
            <a:avLst>
              <a:gd name="adj" fmla="val 4244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771754" y="1776679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961949" y="1723644"/>
            <a:ext cx="1296619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非农超预期的双刃剑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806647" y="1747418"/>
            <a:ext cx="152705" cy="152705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71754" y="2066544"/>
            <a:ext cx="3191256" cy="638251"/>
          </a:xfrm>
          <a:prstGeom prst="roundRect">
            <a:avLst>
              <a:gd name="adj" fmla="val 34213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866851" y="2176272"/>
            <a:ext cx="72420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3月非农新增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3399739" y="2162556"/>
            <a:ext cx="55595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+17.8万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866851" y="2424074"/>
            <a:ext cx="4288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失业率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3521354" y="2409444"/>
            <a:ext cx="4197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4.3%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771754" y="2800807"/>
            <a:ext cx="3267151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短期强化"通胀交易"叙事，压制降息预期；中期逻辑是"油价上涨→经济受伤→最终降息"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4302252" y="1524305"/>
            <a:ext cx="3590849" cy="2219249"/>
          </a:xfrm>
          <a:prstGeom prst="roundRect">
            <a:avLst>
              <a:gd name="adj" fmla="val 4244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502506" y="1776679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4692701" y="1723644"/>
            <a:ext cx="115214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全球切入防御模式</a:t>
            </a:r>
            <a:endParaRPr lang="en-US" sz="10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537399" y="1747418"/>
            <a:ext cx="152705" cy="152705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4502506" y="2066544"/>
            <a:ext cx="3191256" cy="638251"/>
          </a:xfrm>
          <a:prstGeom prst="roundRect">
            <a:avLst>
              <a:gd name="adj" fmla="val 3421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4597603" y="2176272"/>
            <a:ext cx="8860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美元与原油同步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7060997" y="2162556"/>
            <a:ext cx="6099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危险信号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4597603" y="242407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滞胀交易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7328002" y="2409444"/>
            <a:ext cx="34290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回归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4502506" y="2800807"/>
            <a:ext cx="3267151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美元与原油同步走强，意味着"滞胀交易"正在回归，全球流动性收紧同时通胀抬头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8033004" y="1524305"/>
            <a:ext cx="3590849" cy="2219249"/>
          </a:xfrm>
          <a:prstGeom prst="roundRect">
            <a:avLst>
              <a:gd name="adj" fmla="val 4244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8232343" y="1776679"/>
            <a:ext cx="95098" cy="9509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8423453" y="1723644"/>
            <a:ext cx="117774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美股"无灵魂"反弹</a:t>
            </a:r>
            <a:endParaRPr lang="en-US" sz="10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268151" y="1747418"/>
            <a:ext cx="152705" cy="152705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8232343" y="2066544"/>
            <a:ext cx="3191256" cy="609905"/>
          </a:xfrm>
          <a:prstGeom prst="roundRect">
            <a:avLst>
              <a:gd name="adj" fmla="val 37481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8328355" y="2176272"/>
            <a:ext cx="53401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CTA净空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10673791" y="2162556"/>
            <a:ext cx="73426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470亿美元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8328355" y="24094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反弹本质</a:t>
            </a:r>
            <a:endParaRPr lang="en-US" sz="900" dirty="0"/>
          </a:p>
        </p:txBody>
      </p:sp>
      <p:sp>
        <p:nvSpPr>
          <p:cNvPr id="47" name="Text 37"/>
          <p:cNvSpPr txBox="1"/>
          <p:nvPr/>
        </p:nvSpPr>
        <p:spPr>
          <a:xfrm>
            <a:off x="10867644" y="24094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空头回补</a:t>
            </a:r>
            <a:endParaRPr lang="en-US" sz="900" dirty="0"/>
          </a:p>
        </p:txBody>
      </p:sp>
      <p:sp>
        <p:nvSpPr>
          <p:cNvPr id="48" name="Text 38"/>
          <p:cNvSpPr txBox="1"/>
          <p:nvPr/>
        </p:nvSpPr>
        <p:spPr>
          <a:xfrm>
            <a:off x="8232343" y="2771546"/>
            <a:ext cx="338145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反弹本质是空头回补+养老金被动买盘，没有主动多头介入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571500" y="3881628"/>
            <a:ext cx="3590849" cy="2219249"/>
          </a:xfrm>
          <a:prstGeom prst="roundRect">
            <a:avLst>
              <a:gd name="adj" fmla="val 4244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771754" y="4134002"/>
            <a:ext cx="95098" cy="9509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961949" y="4081882"/>
            <a:ext cx="126553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A股防御、港股左侧</a:t>
            </a:r>
            <a:endParaRPr lang="en-US" sz="1000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806647" y="4105656"/>
            <a:ext cx="152705" cy="152705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771754" y="4424782"/>
            <a:ext cx="3191256" cy="580644"/>
          </a:xfrm>
          <a:prstGeom prst="roundRect">
            <a:avLst>
              <a:gd name="adj" fmla="val 41306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866851" y="4519879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三护城河</a:t>
            </a:r>
            <a:endParaRPr lang="en-US" sz="900" dirty="0"/>
          </a:p>
        </p:txBody>
      </p:sp>
      <p:sp>
        <p:nvSpPr>
          <p:cNvPr id="55" name="Text 44"/>
          <p:cNvSpPr txBox="1"/>
          <p:nvPr/>
        </p:nvSpPr>
        <p:spPr>
          <a:xfrm>
            <a:off x="3406140" y="4519879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防御优势</a:t>
            </a:r>
            <a:endParaRPr lang="en-US" sz="900" dirty="0"/>
          </a:p>
        </p:txBody>
      </p:sp>
      <p:sp>
        <p:nvSpPr>
          <p:cNvPr id="56" name="Text 45"/>
          <p:cNvSpPr txBox="1"/>
          <p:nvPr/>
        </p:nvSpPr>
        <p:spPr>
          <a:xfrm>
            <a:off x="866851" y="4738421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港股左侧</a:t>
            </a:r>
            <a:endParaRPr lang="en-US" sz="900" dirty="0"/>
          </a:p>
        </p:txBody>
      </p:sp>
      <p:sp>
        <p:nvSpPr>
          <p:cNvPr id="57" name="Text 46"/>
          <p:cNvSpPr txBox="1"/>
          <p:nvPr/>
        </p:nvSpPr>
        <p:spPr>
          <a:xfrm>
            <a:off x="3406140" y="4738421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做多窗口</a:t>
            </a:r>
            <a:endParaRPr lang="en-US" sz="900" dirty="0"/>
          </a:p>
        </p:txBody>
      </p:sp>
      <p:sp>
        <p:nvSpPr>
          <p:cNvPr id="58" name="Text 47"/>
          <p:cNvSpPr txBox="1"/>
          <p:nvPr/>
        </p:nvSpPr>
        <p:spPr>
          <a:xfrm>
            <a:off x="771754" y="5100523"/>
            <a:ext cx="3267151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A股有"三护城河"，相对防御；港股牛市中期调整，左侧窗口已开</a:t>
            </a:r>
            <a:endParaRPr lang="en-US" sz="900" dirty="0"/>
          </a:p>
        </p:txBody>
      </p:sp>
      <p:sp>
        <p:nvSpPr>
          <p:cNvPr id="59" name="Shape 48"/>
          <p:cNvSpPr/>
          <p:nvPr/>
        </p:nvSpPr>
        <p:spPr>
          <a:xfrm>
            <a:off x="4302252" y="3881628"/>
            <a:ext cx="3590849" cy="2219249"/>
          </a:xfrm>
          <a:prstGeom prst="roundRect">
            <a:avLst>
              <a:gd name="adj" fmla="val 4244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4502506" y="4134002"/>
            <a:ext cx="95098" cy="9509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4692701" y="4081882"/>
            <a:ext cx="6099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板块主线</a:t>
            </a:r>
            <a:endParaRPr lang="en-US" sz="1000" dirty="0"/>
          </a:p>
        </p:txBody>
      </p:sp>
      <p:pic>
        <p:nvPicPr>
          <p:cNvPr id="62" name="Image 9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537399" y="4105656"/>
            <a:ext cx="152705" cy="152705"/>
          </a:xfrm>
          <a:prstGeom prst="rect">
            <a:avLst/>
          </a:prstGeom>
        </p:spPr>
      </p:pic>
      <p:sp>
        <p:nvSpPr>
          <p:cNvPr id="63" name="Shape 51"/>
          <p:cNvSpPr/>
          <p:nvPr/>
        </p:nvSpPr>
        <p:spPr>
          <a:xfrm>
            <a:off x="4502506" y="4424782"/>
            <a:ext cx="3191256" cy="580644"/>
          </a:xfrm>
          <a:prstGeom prst="roundRect">
            <a:avLst>
              <a:gd name="adj" fmla="val 41306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2"/>
          <p:cNvSpPr txBox="1"/>
          <p:nvPr/>
        </p:nvSpPr>
        <p:spPr>
          <a:xfrm>
            <a:off x="4597603" y="4519879"/>
            <a:ext cx="581558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储能/锂电</a:t>
            </a:r>
            <a:endParaRPr lang="en-US" sz="900" dirty="0"/>
          </a:p>
        </p:txBody>
      </p:sp>
      <p:sp>
        <p:nvSpPr>
          <p:cNvPr id="65" name="Text 53"/>
          <p:cNvSpPr txBox="1"/>
          <p:nvPr/>
        </p:nvSpPr>
        <p:spPr>
          <a:xfrm>
            <a:off x="7251192" y="4519879"/>
            <a:ext cx="4288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新周期</a:t>
            </a:r>
            <a:endParaRPr lang="en-US" sz="900" dirty="0"/>
          </a:p>
        </p:txBody>
      </p:sp>
      <p:sp>
        <p:nvSpPr>
          <p:cNvPr id="66" name="Text 54"/>
          <p:cNvSpPr txBox="1"/>
          <p:nvPr/>
        </p:nvSpPr>
        <p:spPr>
          <a:xfrm>
            <a:off x="4597603" y="4738421"/>
            <a:ext cx="6574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国产半导体</a:t>
            </a:r>
            <a:endParaRPr lang="en-US" sz="900" dirty="0"/>
          </a:p>
        </p:txBody>
      </p:sp>
      <p:sp>
        <p:nvSpPr>
          <p:cNvPr id="67" name="Text 55"/>
          <p:cNvSpPr txBox="1"/>
          <p:nvPr/>
        </p:nvSpPr>
        <p:spPr>
          <a:xfrm>
            <a:off x="7136892" y="4738421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替代加速</a:t>
            </a:r>
            <a:endParaRPr lang="en-US" sz="900" dirty="0"/>
          </a:p>
        </p:txBody>
      </p:sp>
      <p:sp>
        <p:nvSpPr>
          <p:cNvPr id="68" name="Text 56"/>
          <p:cNvSpPr txBox="1"/>
          <p:nvPr/>
        </p:nvSpPr>
        <p:spPr>
          <a:xfrm>
            <a:off x="4502506" y="5100523"/>
            <a:ext cx="338145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储能/锂电新周期、国产半导体替代加速、AI基础设施</a:t>
            </a:r>
            <a:endParaRPr lang="en-US" sz="900" dirty="0"/>
          </a:p>
        </p:txBody>
      </p:sp>
      <p:sp>
        <p:nvSpPr>
          <p:cNvPr id="69" name="Shape 57"/>
          <p:cNvSpPr/>
          <p:nvPr/>
        </p:nvSpPr>
        <p:spPr>
          <a:xfrm>
            <a:off x="8033004" y="3881628"/>
            <a:ext cx="3590849" cy="2219249"/>
          </a:xfrm>
          <a:prstGeom prst="roundRect">
            <a:avLst>
              <a:gd name="adj" fmla="val 4244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0" name="Shape 58"/>
          <p:cNvSpPr/>
          <p:nvPr/>
        </p:nvSpPr>
        <p:spPr>
          <a:xfrm>
            <a:off x="8232343" y="4134002"/>
            <a:ext cx="95098" cy="9509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9"/>
          <p:cNvSpPr txBox="1"/>
          <p:nvPr/>
        </p:nvSpPr>
        <p:spPr>
          <a:xfrm>
            <a:off x="8423453" y="4081882"/>
            <a:ext cx="6099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关键指标</a:t>
            </a:r>
            <a:endParaRPr lang="en-US" sz="1000" dirty="0"/>
          </a:p>
        </p:txBody>
      </p:sp>
      <p:pic>
        <p:nvPicPr>
          <p:cNvPr id="72" name="Image 10" descr="preencoded.png"/>
          <p:cNvPicPr>
            <a:picLocks noChangeAspect="1"/>
          </p:cNvPicPr>
          <p:nvPr/>
        </p:nvPicPr>
        <p:blipFill>
          <a:blip r:embed="rId10"/>
          <a:srcRect l="-33" r="-33"/>
          <a:stretch>
            <a:fillRect/>
          </a:stretch>
        </p:blipFill>
        <p:spPr>
          <a:xfrm>
            <a:off x="11248949" y="4105656"/>
            <a:ext cx="171907" cy="152705"/>
          </a:xfrm>
          <a:prstGeom prst="rect">
            <a:avLst/>
          </a:prstGeom>
        </p:spPr>
      </p:pic>
      <p:sp>
        <p:nvSpPr>
          <p:cNvPr id="73" name="Shape 60"/>
          <p:cNvSpPr/>
          <p:nvPr/>
        </p:nvSpPr>
        <p:spPr>
          <a:xfrm>
            <a:off x="8232343" y="4424782"/>
            <a:ext cx="3191256" cy="609905"/>
          </a:xfrm>
          <a:prstGeom prst="roundRect">
            <a:avLst>
              <a:gd name="adj" fmla="val 37481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61"/>
          <p:cNvSpPr txBox="1"/>
          <p:nvPr/>
        </p:nvSpPr>
        <p:spPr>
          <a:xfrm>
            <a:off x="8328355" y="4533595"/>
            <a:ext cx="50566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10Y美债</a:t>
            </a:r>
            <a:endParaRPr lang="en-US" sz="900" dirty="0"/>
          </a:p>
        </p:txBody>
      </p:sp>
      <p:sp>
        <p:nvSpPr>
          <p:cNvPr id="75" name="Text 62"/>
          <p:cNvSpPr txBox="1"/>
          <p:nvPr/>
        </p:nvSpPr>
        <p:spPr>
          <a:xfrm>
            <a:off x="10983773" y="4519879"/>
            <a:ext cx="4197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C4899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4.5%</a:t>
            </a:r>
            <a:endParaRPr lang="en-US" sz="1000" dirty="0"/>
          </a:p>
        </p:txBody>
      </p:sp>
      <p:sp>
        <p:nvSpPr>
          <p:cNvPr id="76" name="Text 63"/>
          <p:cNvSpPr txBox="1"/>
          <p:nvPr/>
        </p:nvSpPr>
        <p:spPr>
          <a:xfrm>
            <a:off x="8328355" y="4767682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关键阈值</a:t>
            </a:r>
            <a:endParaRPr lang="en-US" sz="900" dirty="0"/>
          </a:p>
        </p:txBody>
      </p:sp>
      <p:sp>
        <p:nvSpPr>
          <p:cNvPr id="77" name="Text 64"/>
          <p:cNvSpPr txBox="1"/>
          <p:nvPr/>
        </p:nvSpPr>
        <p:spPr>
          <a:xfrm>
            <a:off x="10867644" y="4767682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C4899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滞胀叙事</a:t>
            </a:r>
            <a:endParaRPr lang="en-US" sz="900" dirty="0"/>
          </a:p>
        </p:txBody>
      </p:sp>
      <p:sp>
        <p:nvSpPr>
          <p:cNvPr id="78" name="Text 65"/>
          <p:cNvSpPr txBox="1"/>
          <p:nvPr/>
        </p:nvSpPr>
        <p:spPr>
          <a:xfrm>
            <a:off x="8232343" y="5128870"/>
            <a:ext cx="338145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10Y美债收益率突破4.5%则滞胀叙事确立</a:t>
            </a:r>
            <a:endParaRPr lang="en-US" sz="900" dirty="0"/>
          </a:p>
        </p:txBody>
      </p:sp>
      <p:sp>
        <p:nvSpPr>
          <p:cNvPr id="79" name="Shape 66"/>
          <p:cNvSpPr/>
          <p:nvPr/>
        </p:nvSpPr>
        <p:spPr>
          <a:xfrm>
            <a:off x="571500" y="6439205"/>
            <a:ext cx="75895" cy="7589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67"/>
          <p:cNvSpPr txBox="1"/>
          <p:nvPr/>
        </p:nvSpPr>
        <p:spPr>
          <a:xfrm>
            <a:off x="743407" y="6391656"/>
            <a:ext cx="72420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5大核心观点</a:t>
            </a:r>
            <a:endParaRPr lang="en-US" sz="900" dirty="0"/>
          </a:p>
        </p:txBody>
      </p:sp>
      <p:sp>
        <p:nvSpPr>
          <p:cNvPr id="81" name="Shape 68"/>
          <p:cNvSpPr/>
          <p:nvPr/>
        </p:nvSpPr>
        <p:spPr>
          <a:xfrm>
            <a:off x="1667866" y="6439205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69"/>
          <p:cNvSpPr txBox="1"/>
          <p:nvPr/>
        </p:nvSpPr>
        <p:spPr>
          <a:xfrm>
            <a:off x="1839773" y="6391656"/>
            <a:ext cx="6574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结构性机遇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-400" r="-400"/>
          <a:stretch>
            <a:fillRect/>
          </a:stretch>
        </p:blipFill>
        <p:spPr>
          <a:xfrm>
            <a:off x="0" y="0"/>
            <a:ext cx="57607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rcRect l="-4" r="-4"/>
          <a:stretch>
            <a:fillRect/>
          </a:stretch>
        </p:blipFill>
        <p:spPr>
          <a:xfrm>
            <a:off x="8382305" y="0"/>
            <a:ext cx="3810305" cy="6858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305" y="286207"/>
            <a:ext cx="190195" cy="190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714146" y="280721"/>
            <a:ext cx="233812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MACRO ENVIRONMENT OVERVIEW</a:t>
            </a:r>
            <a:endParaRPr lang="en-US" sz="1000" dirty="0"/>
          </a:p>
        </p:txBody>
      </p:sp>
      <p:sp>
        <p:nvSpPr>
          <p:cNvPr id="11" name="Text 4"/>
          <p:cNvSpPr txBox="1"/>
          <p:nvPr/>
        </p:nvSpPr>
        <p:spPr>
          <a:xfrm>
            <a:off x="571500" y="1086307"/>
            <a:ext cx="8620963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三重冲击</a:t>
            </a:r>
            <a:r>
              <a:rPr lang="en-US" sz="2400" b="1" dirty="0">
                <a:solidFill>
                  <a:srgbClr val="FF95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叠加</a:t>
            </a: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：美伊战争 + 霍尔木兹海峡 + 非农数据 </a:t>
            </a:r>
            <a:endParaRPr lang="en-US" sz="2400" dirty="0"/>
          </a:p>
        </p:txBody>
      </p:sp>
      <p:sp>
        <p:nvSpPr>
          <p:cNvPr id="12" name="Shape 5"/>
          <p:cNvSpPr/>
          <p:nvPr/>
        </p:nvSpPr>
        <p:spPr>
          <a:xfrm>
            <a:off x="9286646" y="907085"/>
            <a:ext cx="905256" cy="400507"/>
          </a:xfrm>
          <a:prstGeom prst="roundRect">
            <a:avLst>
              <a:gd name="adj" fmla="val 86975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0325405" y="907085"/>
            <a:ext cx="1304849" cy="400507"/>
          </a:xfrm>
          <a:prstGeom prst="roundRect">
            <a:avLst>
              <a:gd name="adj" fmla="val 86975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71500" y="800100"/>
            <a:ext cx="9912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宏观环境总览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9439351" y="1049731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风险等级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9896551" y="1030529"/>
            <a:ext cx="210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高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0477195" y="1049731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市场状态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0934395" y="1030529"/>
            <a:ext cx="6099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防御模式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71500" y="1524305"/>
            <a:ext cx="3562502" cy="4572000"/>
          </a:xfrm>
          <a:prstGeom prst="roundRect">
            <a:avLst>
              <a:gd name="adj" fmla="val 1647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771754" y="1790395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961949" y="1723644"/>
            <a:ext cx="116311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美伊战争后半场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rcRect l="-1064" r="-1064"/>
          <a:stretch>
            <a:fillRect/>
          </a:stretch>
        </p:blipFill>
        <p:spPr>
          <a:xfrm>
            <a:off x="3708806" y="1752905"/>
            <a:ext cx="219456" cy="171907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71754" y="2095805"/>
            <a:ext cx="3161995" cy="647395"/>
          </a:xfrm>
          <a:prstGeom prst="roundRect">
            <a:avLst>
              <a:gd name="adj" fmla="val 3323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886054" y="2216506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战争阶段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3193999" y="2210105"/>
            <a:ext cx="7050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强度升级期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886054" y="2450592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持续时间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3482035" y="2443277"/>
            <a:ext cx="40965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2-3周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771754" y="2838298"/>
            <a:ext cx="32388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美国打击11,000+目标，伊朗仍有5,600+次攻击能力，战争进入消耗战结构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771754" y="3323844"/>
            <a:ext cx="1533449" cy="495605"/>
          </a:xfrm>
          <a:prstGeom prst="roundRect">
            <a:avLst>
              <a:gd name="adj" fmla="val 4257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809244" y="3400654"/>
            <a:ext cx="145755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11,000+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792785" y="3600907"/>
            <a:ext cx="14923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打击目标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2396642" y="3323844"/>
            <a:ext cx="1533449" cy="495605"/>
          </a:xfrm>
          <a:prstGeom prst="roundRect">
            <a:avLst>
              <a:gd name="adj" fmla="val 4257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2435047" y="3400654"/>
            <a:ext cx="145755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5,600+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2417674" y="3600907"/>
            <a:ext cx="14923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攻击能力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4317797" y="1524305"/>
            <a:ext cx="3562502" cy="4572000"/>
          </a:xfrm>
          <a:prstGeom prst="roundRect">
            <a:avLst>
              <a:gd name="adj" fmla="val 1647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4518050" y="1790395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4708246" y="1723644"/>
            <a:ext cx="10003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霍尔木兹海峡</a:t>
            </a:r>
            <a:endParaRPr lang="en-US" sz="12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6"/>
          <a:srcRect t="-842" b="-842"/>
          <a:stretch>
            <a:fillRect/>
          </a:stretch>
        </p:blipFill>
        <p:spPr>
          <a:xfrm>
            <a:off x="7483450" y="1752905"/>
            <a:ext cx="190195" cy="171907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4518050" y="2095805"/>
            <a:ext cx="3161995" cy="666598"/>
          </a:xfrm>
          <a:prstGeom prst="roundRect">
            <a:avLst>
              <a:gd name="adj" fmla="val 31354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4632350" y="2223821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日均通过原油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6907378" y="2210105"/>
            <a:ext cx="73426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2,000万桶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4632350" y="2464308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全球占比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7284110" y="2457907"/>
            <a:ext cx="3529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20%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4518050" y="2852928"/>
            <a:ext cx="32388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海峡通行受限，保险费率大幅上涨，实际到岸油价高于期货报价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4518050" y="3338474"/>
            <a:ext cx="1533449" cy="495605"/>
          </a:xfrm>
          <a:prstGeom prst="roundRect">
            <a:avLst>
              <a:gd name="adj" fmla="val 4257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4539082" y="3414370"/>
            <a:ext cx="149230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受限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4539082" y="3614623"/>
            <a:ext cx="14923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通行状态</a:t>
            </a:r>
            <a:endParaRPr lang="en-US" sz="800" dirty="0"/>
          </a:p>
        </p:txBody>
      </p:sp>
      <p:sp>
        <p:nvSpPr>
          <p:cNvPr id="48" name="Shape 39"/>
          <p:cNvSpPr/>
          <p:nvPr/>
        </p:nvSpPr>
        <p:spPr>
          <a:xfrm>
            <a:off x="6143854" y="3338474"/>
            <a:ext cx="1533449" cy="495605"/>
          </a:xfrm>
          <a:prstGeom prst="roundRect">
            <a:avLst>
              <a:gd name="adj" fmla="val 4257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6181344" y="3414370"/>
            <a:ext cx="145755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+15%</a:t>
            </a:r>
            <a:endParaRPr lang="en-US" sz="1000" dirty="0"/>
          </a:p>
        </p:txBody>
      </p:sp>
      <p:sp>
        <p:nvSpPr>
          <p:cNvPr id="50" name="Text 41"/>
          <p:cNvSpPr txBox="1"/>
          <p:nvPr/>
        </p:nvSpPr>
        <p:spPr>
          <a:xfrm>
            <a:off x="6164885" y="3614623"/>
            <a:ext cx="14923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保险费率</a:t>
            </a:r>
            <a:endParaRPr lang="en-US" sz="800" dirty="0"/>
          </a:p>
        </p:txBody>
      </p:sp>
      <p:sp>
        <p:nvSpPr>
          <p:cNvPr id="51" name="Shape 42"/>
          <p:cNvSpPr/>
          <p:nvPr/>
        </p:nvSpPr>
        <p:spPr>
          <a:xfrm>
            <a:off x="8064094" y="1524305"/>
            <a:ext cx="3562502" cy="4572000"/>
          </a:xfrm>
          <a:prstGeom prst="roundRect">
            <a:avLst>
              <a:gd name="adj" fmla="val 1647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8264347" y="1790395"/>
            <a:ext cx="95098" cy="9509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8454542" y="1723644"/>
            <a:ext cx="9436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美国3月非农</a:t>
            </a:r>
            <a:endParaRPr lang="en-US" sz="1200" dirty="0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1248949" y="1752905"/>
            <a:ext cx="171907" cy="171907"/>
          </a:xfrm>
          <a:prstGeom prst="rect">
            <a:avLst/>
          </a:prstGeom>
        </p:spPr>
      </p:pic>
      <p:sp>
        <p:nvSpPr>
          <p:cNvPr id="55" name="Shape 45"/>
          <p:cNvSpPr/>
          <p:nvPr/>
        </p:nvSpPr>
        <p:spPr>
          <a:xfrm>
            <a:off x="8264347" y="2095805"/>
            <a:ext cx="3161995" cy="666598"/>
          </a:xfrm>
          <a:prstGeom prst="roundRect">
            <a:avLst>
              <a:gd name="adj" fmla="val 31354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8378647" y="2223821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新增就业</a:t>
            </a:r>
            <a:endParaRPr lang="en-US" sz="900" dirty="0"/>
          </a:p>
        </p:txBody>
      </p:sp>
      <p:sp>
        <p:nvSpPr>
          <p:cNvPr id="57" name="Text 47"/>
          <p:cNvSpPr txBox="1"/>
          <p:nvPr/>
        </p:nvSpPr>
        <p:spPr>
          <a:xfrm>
            <a:off x="10842041" y="2210105"/>
            <a:ext cx="55595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+17.8万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8378647" y="2464308"/>
            <a:ext cx="4288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失业率</a:t>
            </a:r>
            <a:endParaRPr lang="en-US" sz="900" dirty="0"/>
          </a:p>
        </p:txBody>
      </p:sp>
      <p:sp>
        <p:nvSpPr>
          <p:cNvPr id="59" name="Text 49"/>
          <p:cNvSpPr txBox="1"/>
          <p:nvPr/>
        </p:nvSpPr>
        <p:spPr>
          <a:xfrm>
            <a:off x="10988345" y="2457907"/>
            <a:ext cx="40050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4.3%</a:t>
            </a:r>
            <a:endParaRPr lang="en-US" sz="900" dirty="0"/>
          </a:p>
        </p:txBody>
      </p:sp>
      <p:sp>
        <p:nvSpPr>
          <p:cNvPr id="60" name="Text 50"/>
          <p:cNvSpPr txBox="1"/>
          <p:nvPr/>
        </p:nvSpPr>
        <p:spPr>
          <a:xfrm>
            <a:off x="8264347" y="2852928"/>
            <a:ext cx="32388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非农超预期强化通胀交易叙事，但中期逻辑是"油价上涨→经济受伤→最终降息"</a:t>
            </a:r>
            <a:endParaRPr lang="en-US" sz="900" dirty="0"/>
          </a:p>
        </p:txBody>
      </p:sp>
      <p:sp>
        <p:nvSpPr>
          <p:cNvPr id="61" name="Shape 51"/>
          <p:cNvSpPr/>
          <p:nvPr/>
        </p:nvSpPr>
        <p:spPr>
          <a:xfrm>
            <a:off x="8264347" y="3338474"/>
            <a:ext cx="1533449" cy="495605"/>
          </a:xfrm>
          <a:prstGeom prst="roundRect">
            <a:avLst>
              <a:gd name="adj" fmla="val 4257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2"/>
          <p:cNvSpPr txBox="1"/>
          <p:nvPr/>
        </p:nvSpPr>
        <p:spPr>
          <a:xfrm>
            <a:off x="8302752" y="3414370"/>
            <a:ext cx="145755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+17.8万</a:t>
            </a:r>
            <a:endParaRPr lang="en-US" sz="1000" dirty="0"/>
          </a:p>
        </p:txBody>
      </p:sp>
      <p:sp>
        <p:nvSpPr>
          <p:cNvPr id="63" name="Text 53"/>
          <p:cNvSpPr txBox="1"/>
          <p:nvPr/>
        </p:nvSpPr>
        <p:spPr>
          <a:xfrm>
            <a:off x="8285378" y="3614623"/>
            <a:ext cx="14923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新增就业</a:t>
            </a:r>
            <a:endParaRPr lang="en-US" sz="800" dirty="0"/>
          </a:p>
        </p:txBody>
      </p:sp>
      <p:sp>
        <p:nvSpPr>
          <p:cNvPr id="64" name="Shape 54"/>
          <p:cNvSpPr/>
          <p:nvPr/>
        </p:nvSpPr>
        <p:spPr>
          <a:xfrm>
            <a:off x="9890150" y="3338474"/>
            <a:ext cx="1533449" cy="495605"/>
          </a:xfrm>
          <a:prstGeom prst="roundRect">
            <a:avLst>
              <a:gd name="adj" fmla="val 4257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55"/>
          <p:cNvSpPr txBox="1"/>
          <p:nvPr/>
        </p:nvSpPr>
        <p:spPr>
          <a:xfrm>
            <a:off x="9928555" y="3414370"/>
            <a:ext cx="145755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4.3%</a:t>
            </a:r>
            <a:endParaRPr lang="en-US" sz="1000" dirty="0"/>
          </a:p>
        </p:txBody>
      </p:sp>
      <p:sp>
        <p:nvSpPr>
          <p:cNvPr id="66" name="Text 56"/>
          <p:cNvSpPr txBox="1"/>
          <p:nvPr/>
        </p:nvSpPr>
        <p:spPr>
          <a:xfrm>
            <a:off x="9911182" y="3614623"/>
            <a:ext cx="14923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失业率</a:t>
            </a:r>
            <a:endParaRPr lang="en-US" sz="800" dirty="0"/>
          </a:p>
        </p:txBody>
      </p:sp>
      <p:sp>
        <p:nvSpPr>
          <p:cNvPr id="67" name="Shape 57"/>
          <p:cNvSpPr/>
          <p:nvPr/>
        </p:nvSpPr>
        <p:spPr>
          <a:xfrm>
            <a:off x="571500" y="6238951"/>
            <a:ext cx="2991002" cy="381305"/>
          </a:xfrm>
          <a:prstGeom prst="roundRect">
            <a:avLst>
              <a:gd name="adj" fmla="val 95923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68" name="Image 8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71754" y="6362395"/>
            <a:ext cx="133502" cy="133502"/>
          </a:xfrm>
          <a:prstGeom prst="rect">
            <a:avLst/>
          </a:prstGeom>
        </p:spPr>
      </p:pic>
      <p:sp>
        <p:nvSpPr>
          <p:cNvPr id="69" name="Text 58"/>
          <p:cNvSpPr txBox="1"/>
          <p:nvPr/>
        </p:nvSpPr>
        <p:spPr>
          <a:xfrm>
            <a:off x="1000354" y="6238951"/>
            <a:ext cx="2438705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关键洞察：美元与原油同步走强=滞胀交易回归</a:t>
            </a:r>
            <a:endParaRPr lang="en-US" sz="900" dirty="0"/>
          </a:p>
        </p:txBody>
      </p:sp>
      <p:sp>
        <p:nvSpPr>
          <p:cNvPr id="70" name="Shape 59"/>
          <p:cNvSpPr/>
          <p:nvPr/>
        </p:nvSpPr>
        <p:spPr>
          <a:xfrm>
            <a:off x="9119311" y="6210605"/>
            <a:ext cx="1162202" cy="437998"/>
          </a:xfrm>
          <a:prstGeom prst="roundRect">
            <a:avLst>
              <a:gd name="adj" fmla="val 72615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10419588" y="6210605"/>
            <a:ext cx="1209751" cy="437998"/>
          </a:xfrm>
          <a:prstGeom prst="roundRect">
            <a:avLst>
              <a:gd name="adj" fmla="val 72615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2" name="Text 61"/>
          <p:cNvSpPr txBox="1"/>
          <p:nvPr/>
        </p:nvSpPr>
        <p:spPr>
          <a:xfrm>
            <a:off x="9272016" y="6372454"/>
            <a:ext cx="61996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10Y美债：</a:t>
            </a:r>
            <a:endParaRPr lang="en-US" sz="900" dirty="0"/>
          </a:p>
        </p:txBody>
      </p:sp>
      <p:sp>
        <p:nvSpPr>
          <p:cNvPr id="73" name="Text 62"/>
          <p:cNvSpPr txBox="1"/>
          <p:nvPr/>
        </p:nvSpPr>
        <p:spPr>
          <a:xfrm>
            <a:off x="9807854" y="6362395"/>
            <a:ext cx="40050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4.5%</a:t>
            </a:r>
            <a:endParaRPr lang="en-US" sz="900" dirty="0"/>
          </a:p>
        </p:txBody>
      </p:sp>
      <p:sp>
        <p:nvSpPr>
          <p:cNvPr id="74" name="Text 63"/>
          <p:cNvSpPr txBox="1"/>
          <p:nvPr/>
        </p:nvSpPr>
        <p:spPr>
          <a:xfrm>
            <a:off x="10572293" y="6372454"/>
            <a:ext cx="6574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美元指数：</a:t>
            </a:r>
            <a:endParaRPr lang="en-US" sz="900" dirty="0"/>
          </a:p>
        </p:txBody>
      </p:sp>
      <p:sp>
        <p:nvSpPr>
          <p:cNvPr id="75" name="Text 64"/>
          <p:cNvSpPr txBox="1"/>
          <p:nvPr/>
        </p:nvSpPr>
        <p:spPr>
          <a:xfrm>
            <a:off x="11143793" y="6362395"/>
            <a:ext cx="4096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103.5</a:t>
            </a:r>
            <a:endParaRPr lang="en-US" sz="900" dirty="0"/>
          </a:p>
        </p:txBody>
      </p:sp>
      <p:sp>
        <p:nvSpPr>
          <p:cNvPr id="76" name="Shape 65"/>
          <p:cNvSpPr/>
          <p:nvPr/>
        </p:nvSpPr>
        <p:spPr>
          <a:xfrm>
            <a:off x="571500" y="6676949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66"/>
          <p:cNvSpPr txBox="1"/>
          <p:nvPr/>
        </p:nvSpPr>
        <p:spPr>
          <a:xfrm>
            <a:off x="743407" y="6629400"/>
            <a:ext cx="4288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高风险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1371600" y="6676949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68"/>
          <p:cNvSpPr txBox="1"/>
          <p:nvPr/>
        </p:nvSpPr>
        <p:spPr>
          <a:xfrm>
            <a:off x="1543507" y="6629400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中等风险</a:t>
            </a:r>
            <a:endParaRPr lang="en-US" sz="900" dirty="0"/>
          </a:p>
        </p:txBody>
      </p:sp>
      <p:sp>
        <p:nvSpPr>
          <p:cNvPr id="80" name="Shape 69"/>
          <p:cNvSpPr/>
          <p:nvPr/>
        </p:nvSpPr>
        <p:spPr>
          <a:xfrm>
            <a:off x="2286000" y="6676949"/>
            <a:ext cx="75895" cy="7589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70"/>
          <p:cNvSpPr txBox="1"/>
          <p:nvPr/>
        </p:nvSpPr>
        <p:spPr>
          <a:xfrm>
            <a:off x="2457907" y="6629400"/>
            <a:ext cx="4288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低风险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-400" r="-400"/>
          <a:stretch>
            <a:fillRect/>
          </a:stretch>
        </p:blipFill>
        <p:spPr>
          <a:xfrm>
            <a:off x="0" y="0"/>
            <a:ext cx="57607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rcRect l="-4" r="-4"/>
          <a:stretch>
            <a:fillRect/>
          </a:stretch>
        </p:blipFill>
        <p:spPr>
          <a:xfrm>
            <a:off x="8382305" y="0"/>
            <a:ext cx="3810305" cy="6858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305" y="286207"/>
            <a:ext cx="237744" cy="190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761695" y="280721"/>
            <a:ext cx="142920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IRAN WAR ANALYSIS</a:t>
            </a:r>
            <a:endParaRPr lang="en-US" sz="1000" dirty="0"/>
          </a:p>
        </p:txBody>
      </p:sp>
      <p:sp>
        <p:nvSpPr>
          <p:cNvPr id="11" name="Text 4"/>
          <p:cNvSpPr txBox="1"/>
          <p:nvPr/>
        </p:nvSpPr>
        <p:spPr>
          <a:xfrm>
            <a:off x="571500" y="1086307"/>
            <a:ext cx="8258861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战争三阶段</a:t>
            </a:r>
            <a:r>
              <a:rPr lang="en-US" sz="2400" b="1" dirty="0">
                <a:solidFill>
                  <a:srgbClr val="FF95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推演</a:t>
            </a: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：从强度升级到长期对抗 </a:t>
            </a:r>
            <a:endParaRPr lang="en-US" sz="2400" dirty="0"/>
          </a:p>
        </p:txBody>
      </p:sp>
      <p:sp>
        <p:nvSpPr>
          <p:cNvPr id="12" name="Shape 5"/>
          <p:cNvSpPr/>
          <p:nvPr/>
        </p:nvSpPr>
        <p:spPr>
          <a:xfrm>
            <a:off x="8924544" y="907085"/>
            <a:ext cx="1438351" cy="400507"/>
          </a:xfrm>
          <a:prstGeom prst="roundRect">
            <a:avLst>
              <a:gd name="adj" fmla="val 86975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0496398" y="907085"/>
            <a:ext cx="1133856" cy="400507"/>
          </a:xfrm>
          <a:prstGeom prst="roundRect">
            <a:avLst>
              <a:gd name="adj" fmla="val 86975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71500" y="800100"/>
            <a:ext cx="131765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美伊战争深度分析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9076334" y="1049731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战争阶段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9533534" y="1030529"/>
            <a:ext cx="7434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强度升级期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0648188" y="1049731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预计持续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1105388" y="1030529"/>
            <a:ext cx="448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2-3周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71500" y="1524305"/>
            <a:ext cx="3562502" cy="4572000"/>
          </a:xfrm>
          <a:prstGeom prst="roundRect">
            <a:avLst>
              <a:gd name="adj" fmla="val 1647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771754" y="1790395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961949" y="1723644"/>
            <a:ext cx="6958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第一阶段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rcRect l="-760" r="-760"/>
          <a:stretch>
            <a:fillRect/>
          </a:stretch>
        </p:blipFill>
        <p:spPr>
          <a:xfrm>
            <a:off x="3774643" y="1752905"/>
            <a:ext cx="152705" cy="171907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71754" y="2095805"/>
            <a:ext cx="3161995" cy="666598"/>
          </a:xfrm>
          <a:prstGeom prst="roundRect">
            <a:avLst>
              <a:gd name="adj" fmla="val 3135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886054" y="2223821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时间跨度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3183941" y="2210105"/>
            <a:ext cx="71506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未来2-3周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886054" y="2464308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核心特征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3193999" y="2457907"/>
            <a:ext cx="7050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强度升级期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771754" y="2852928"/>
            <a:ext cx="32388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特朗普声称"极其猛烈的打击"，市场最恐慌阶段，伊朗仍有5,600+次攻击能力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771754" y="5400446"/>
            <a:ext cx="1533449" cy="495605"/>
          </a:xfrm>
          <a:prstGeom prst="roundRect">
            <a:avLst>
              <a:gd name="adj" fmla="val 4257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809244" y="5477256"/>
            <a:ext cx="145755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11,000+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792785" y="5676595"/>
            <a:ext cx="14923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打击目标</a:t>
            </a:r>
            <a:endParaRPr lang="en-US" sz="800" dirty="0"/>
          </a:p>
        </p:txBody>
      </p:sp>
      <p:sp>
        <p:nvSpPr>
          <p:cNvPr id="32" name="Shape 24"/>
          <p:cNvSpPr/>
          <p:nvPr/>
        </p:nvSpPr>
        <p:spPr>
          <a:xfrm>
            <a:off x="2396642" y="5400446"/>
            <a:ext cx="1533449" cy="495605"/>
          </a:xfrm>
          <a:prstGeom prst="roundRect">
            <a:avLst>
              <a:gd name="adj" fmla="val 4257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2435047" y="5477256"/>
            <a:ext cx="145755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5,600+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2417674" y="5676595"/>
            <a:ext cx="14923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攻击能力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4317797" y="1524305"/>
            <a:ext cx="3562502" cy="4572000"/>
          </a:xfrm>
          <a:prstGeom prst="roundRect">
            <a:avLst>
              <a:gd name="adj" fmla="val 1647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4518050" y="1790395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4708246" y="1723644"/>
            <a:ext cx="6958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第二阶段</a:t>
            </a:r>
            <a:endParaRPr lang="en-US" sz="12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502652" y="1752905"/>
            <a:ext cx="171907" cy="171907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4518050" y="2095805"/>
            <a:ext cx="3161995" cy="666598"/>
          </a:xfrm>
          <a:prstGeom prst="roundRect">
            <a:avLst>
              <a:gd name="adj" fmla="val 31354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4632350" y="2223821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时间跨度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6892747" y="2210105"/>
            <a:ext cx="74340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接下来数周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4632350" y="2464308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核心特征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6940296" y="2457907"/>
            <a:ext cx="7050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低烈度消耗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4518050" y="2852928"/>
            <a:ext cx="335310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强度下降但不停火，双方进入低烈度消耗，目标模糊化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4518050" y="5400446"/>
            <a:ext cx="1533449" cy="495605"/>
          </a:xfrm>
          <a:prstGeom prst="roundRect">
            <a:avLst>
              <a:gd name="adj" fmla="val 4257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4539082" y="5477256"/>
            <a:ext cx="149230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消耗战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4539082" y="5676595"/>
            <a:ext cx="14923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战争类型</a:t>
            </a:r>
            <a:endParaRPr lang="en-US" sz="800" dirty="0"/>
          </a:p>
        </p:txBody>
      </p:sp>
      <p:sp>
        <p:nvSpPr>
          <p:cNvPr id="48" name="Shape 39"/>
          <p:cNvSpPr/>
          <p:nvPr/>
        </p:nvSpPr>
        <p:spPr>
          <a:xfrm>
            <a:off x="6143854" y="5400446"/>
            <a:ext cx="1533449" cy="495605"/>
          </a:xfrm>
          <a:prstGeom prst="roundRect">
            <a:avLst>
              <a:gd name="adj" fmla="val 4257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6164885" y="5477256"/>
            <a:ext cx="149230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模糊化</a:t>
            </a:r>
            <a:endParaRPr lang="en-US" sz="1000" dirty="0"/>
          </a:p>
        </p:txBody>
      </p:sp>
      <p:sp>
        <p:nvSpPr>
          <p:cNvPr id="50" name="Text 41"/>
          <p:cNvSpPr txBox="1"/>
          <p:nvPr/>
        </p:nvSpPr>
        <p:spPr>
          <a:xfrm>
            <a:off x="6164885" y="5676595"/>
            <a:ext cx="14923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目标</a:t>
            </a:r>
            <a:endParaRPr lang="en-US" sz="800" dirty="0"/>
          </a:p>
        </p:txBody>
      </p:sp>
      <p:sp>
        <p:nvSpPr>
          <p:cNvPr id="51" name="Shape 42"/>
          <p:cNvSpPr/>
          <p:nvPr/>
        </p:nvSpPr>
        <p:spPr>
          <a:xfrm>
            <a:off x="8064094" y="1524305"/>
            <a:ext cx="3562502" cy="4572000"/>
          </a:xfrm>
          <a:prstGeom prst="roundRect">
            <a:avLst>
              <a:gd name="adj" fmla="val 1647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8264347" y="1790395"/>
            <a:ext cx="95098" cy="9509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8454542" y="1723644"/>
            <a:ext cx="6958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第三阶段</a:t>
            </a:r>
            <a:endParaRPr lang="en-US" sz="1200" dirty="0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7"/>
          <a:srcRect l="-1064" r="-1064"/>
          <a:stretch>
            <a:fillRect/>
          </a:stretch>
        </p:blipFill>
        <p:spPr>
          <a:xfrm>
            <a:off x="11201400" y="1752905"/>
            <a:ext cx="219456" cy="171907"/>
          </a:xfrm>
          <a:prstGeom prst="rect">
            <a:avLst/>
          </a:prstGeom>
        </p:spPr>
      </p:pic>
      <p:sp>
        <p:nvSpPr>
          <p:cNvPr id="55" name="Shape 45"/>
          <p:cNvSpPr/>
          <p:nvPr/>
        </p:nvSpPr>
        <p:spPr>
          <a:xfrm>
            <a:off x="8264347" y="2095805"/>
            <a:ext cx="3161995" cy="666598"/>
          </a:xfrm>
          <a:prstGeom prst="roundRect">
            <a:avLst>
              <a:gd name="adj" fmla="val 31354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8378647" y="2223821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时间跨度</a:t>
            </a:r>
            <a:endParaRPr lang="en-US" sz="900" dirty="0"/>
          </a:p>
        </p:txBody>
      </p:sp>
      <p:sp>
        <p:nvSpPr>
          <p:cNvPr id="57" name="Text 47"/>
          <p:cNvSpPr txBox="1"/>
          <p:nvPr/>
        </p:nvSpPr>
        <p:spPr>
          <a:xfrm>
            <a:off x="11039551" y="2210105"/>
            <a:ext cx="34290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长期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8378647" y="2464308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核心特征</a:t>
            </a:r>
            <a:endParaRPr lang="en-US" sz="900" dirty="0"/>
          </a:p>
        </p:txBody>
      </p:sp>
      <p:sp>
        <p:nvSpPr>
          <p:cNvPr id="59" name="Text 49"/>
          <p:cNvSpPr txBox="1"/>
          <p:nvPr/>
        </p:nvSpPr>
        <p:spPr>
          <a:xfrm>
            <a:off x="10810951" y="2457907"/>
            <a:ext cx="5815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慢性对抗</a:t>
            </a:r>
            <a:endParaRPr lang="en-US" sz="900" dirty="0"/>
          </a:p>
        </p:txBody>
      </p:sp>
      <p:sp>
        <p:nvSpPr>
          <p:cNvPr id="60" name="Text 50"/>
          <p:cNvSpPr txBox="1"/>
          <p:nvPr/>
        </p:nvSpPr>
        <p:spPr>
          <a:xfrm>
            <a:off x="8264347" y="2852928"/>
            <a:ext cx="335310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低烈度慢性对抗，时不时打一下，无人彻底收手</a:t>
            </a:r>
            <a:endParaRPr lang="en-US" sz="900" dirty="0"/>
          </a:p>
        </p:txBody>
      </p:sp>
      <p:sp>
        <p:nvSpPr>
          <p:cNvPr id="61" name="Shape 51"/>
          <p:cNvSpPr/>
          <p:nvPr/>
        </p:nvSpPr>
        <p:spPr>
          <a:xfrm>
            <a:off x="8264347" y="5400446"/>
            <a:ext cx="1533449" cy="495605"/>
          </a:xfrm>
          <a:prstGeom prst="roundRect">
            <a:avLst>
              <a:gd name="adj" fmla="val 4257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2"/>
          <p:cNvSpPr txBox="1"/>
          <p:nvPr/>
        </p:nvSpPr>
        <p:spPr>
          <a:xfrm>
            <a:off x="8285378" y="5477256"/>
            <a:ext cx="149230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不赢不输</a:t>
            </a:r>
            <a:endParaRPr lang="en-US" sz="1000" dirty="0"/>
          </a:p>
        </p:txBody>
      </p:sp>
      <p:sp>
        <p:nvSpPr>
          <p:cNvPr id="63" name="Text 53"/>
          <p:cNvSpPr txBox="1"/>
          <p:nvPr/>
        </p:nvSpPr>
        <p:spPr>
          <a:xfrm>
            <a:off x="8285378" y="5676595"/>
            <a:ext cx="14923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结果</a:t>
            </a:r>
            <a:endParaRPr lang="en-US" sz="800" dirty="0"/>
          </a:p>
        </p:txBody>
      </p:sp>
      <p:sp>
        <p:nvSpPr>
          <p:cNvPr id="64" name="Shape 54"/>
          <p:cNvSpPr/>
          <p:nvPr/>
        </p:nvSpPr>
        <p:spPr>
          <a:xfrm>
            <a:off x="9890150" y="5400446"/>
            <a:ext cx="1533449" cy="495605"/>
          </a:xfrm>
          <a:prstGeom prst="roundRect">
            <a:avLst>
              <a:gd name="adj" fmla="val 4257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55"/>
          <p:cNvSpPr txBox="1"/>
          <p:nvPr/>
        </p:nvSpPr>
        <p:spPr>
          <a:xfrm>
            <a:off x="9911182" y="5477256"/>
            <a:ext cx="149230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不结束</a:t>
            </a:r>
            <a:endParaRPr lang="en-US" sz="1000" dirty="0"/>
          </a:p>
        </p:txBody>
      </p:sp>
      <p:sp>
        <p:nvSpPr>
          <p:cNvPr id="66" name="Text 56"/>
          <p:cNvSpPr txBox="1"/>
          <p:nvPr/>
        </p:nvSpPr>
        <p:spPr>
          <a:xfrm>
            <a:off x="9911182" y="5676595"/>
            <a:ext cx="149230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状态</a:t>
            </a:r>
            <a:endParaRPr lang="en-US" sz="800" dirty="0"/>
          </a:p>
        </p:txBody>
      </p:sp>
      <p:sp>
        <p:nvSpPr>
          <p:cNvPr id="67" name="Shape 57"/>
          <p:cNvSpPr/>
          <p:nvPr/>
        </p:nvSpPr>
        <p:spPr>
          <a:xfrm>
            <a:off x="571500" y="6172200"/>
            <a:ext cx="3362249" cy="381305"/>
          </a:xfrm>
          <a:prstGeom prst="roundRect">
            <a:avLst>
              <a:gd name="adj" fmla="val 95923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68" name="Image 8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71754" y="6295644"/>
            <a:ext cx="133502" cy="133502"/>
          </a:xfrm>
          <a:prstGeom prst="rect">
            <a:avLst/>
          </a:prstGeom>
        </p:spPr>
      </p:pic>
      <p:sp>
        <p:nvSpPr>
          <p:cNvPr id="69" name="Text 58"/>
          <p:cNvSpPr txBox="1"/>
          <p:nvPr/>
        </p:nvSpPr>
        <p:spPr>
          <a:xfrm>
            <a:off x="1000354" y="6172200"/>
            <a:ext cx="2809951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核心结论：这不是"快结束的战争"，而是"慢变量风险"</a:t>
            </a:r>
            <a:endParaRPr lang="en-US" sz="900" dirty="0"/>
          </a:p>
        </p:txBody>
      </p:sp>
      <p:sp>
        <p:nvSpPr>
          <p:cNvPr id="70" name="Shape 59"/>
          <p:cNvSpPr/>
          <p:nvPr/>
        </p:nvSpPr>
        <p:spPr>
          <a:xfrm>
            <a:off x="8857793" y="6143854"/>
            <a:ext cx="1257300" cy="437998"/>
          </a:xfrm>
          <a:prstGeom prst="roundRect">
            <a:avLst>
              <a:gd name="adj" fmla="val 72615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10248595" y="6143854"/>
            <a:ext cx="1380744" cy="437998"/>
          </a:xfrm>
          <a:prstGeom prst="roundRect">
            <a:avLst>
              <a:gd name="adj" fmla="val 72615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2" name="Text 61"/>
          <p:cNvSpPr txBox="1"/>
          <p:nvPr/>
        </p:nvSpPr>
        <p:spPr>
          <a:xfrm>
            <a:off x="9010498" y="6305702"/>
            <a:ext cx="6574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战争类型：</a:t>
            </a:r>
            <a:endParaRPr lang="en-US" sz="900" dirty="0"/>
          </a:p>
        </p:txBody>
      </p:sp>
      <p:sp>
        <p:nvSpPr>
          <p:cNvPr id="73" name="Text 62"/>
          <p:cNvSpPr txBox="1"/>
          <p:nvPr/>
        </p:nvSpPr>
        <p:spPr>
          <a:xfrm>
            <a:off x="9581998" y="6295644"/>
            <a:ext cx="4572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消耗战</a:t>
            </a:r>
            <a:endParaRPr lang="en-US" sz="900" dirty="0"/>
          </a:p>
        </p:txBody>
      </p:sp>
      <p:sp>
        <p:nvSpPr>
          <p:cNvPr id="74" name="Text 63"/>
          <p:cNvSpPr txBox="1"/>
          <p:nvPr/>
        </p:nvSpPr>
        <p:spPr>
          <a:xfrm>
            <a:off x="10401300" y="6305702"/>
            <a:ext cx="6574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战略状态：</a:t>
            </a:r>
            <a:endParaRPr lang="en-US" sz="900" dirty="0"/>
          </a:p>
        </p:txBody>
      </p:sp>
      <p:sp>
        <p:nvSpPr>
          <p:cNvPr id="75" name="Text 64"/>
          <p:cNvSpPr txBox="1"/>
          <p:nvPr/>
        </p:nvSpPr>
        <p:spPr>
          <a:xfrm>
            <a:off x="10972800" y="6295644"/>
            <a:ext cx="581558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进退两难</a:t>
            </a:r>
            <a:endParaRPr lang="en-US" sz="900" dirty="0"/>
          </a:p>
        </p:txBody>
      </p:sp>
      <p:sp>
        <p:nvSpPr>
          <p:cNvPr id="76" name="Shape 65"/>
          <p:cNvSpPr/>
          <p:nvPr/>
        </p:nvSpPr>
        <p:spPr>
          <a:xfrm>
            <a:off x="571500" y="6439205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66"/>
          <p:cNvSpPr txBox="1"/>
          <p:nvPr/>
        </p:nvSpPr>
        <p:spPr>
          <a:xfrm>
            <a:off x="743407" y="6391656"/>
            <a:ext cx="4288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高强度</a:t>
            </a:r>
            <a:endParaRPr lang="en-US" sz="900" dirty="0"/>
          </a:p>
        </p:txBody>
      </p:sp>
      <p:sp>
        <p:nvSpPr>
          <p:cNvPr id="78" name="Shape 67"/>
          <p:cNvSpPr/>
          <p:nvPr/>
        </p:nvSpPr>
        <p:spPr>
          <a:xfrm>
            <a:off x="1371600" y="6439205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68"/>
          <p:cNvSpPr txBox="1"/>
          <p:nvPr/>
        </p:nvSpPr>
        <p:spPr>
          <a:xfrm>
            <a:off x="1543507" y="6391656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中等强度</a:t>
            </a:r>
            <a:endParaRPr lang="en-US" sz="900" dirty="0"/>
          </a:p>
        </p:txBody>
      </p:sp>
      <p:sp>
        <p:nvSpPr>
          <p:cNvPr id="80" name="Shape 69"/>
          <p:cNvSpPr/>
          <p:nvPr/>
        </p:nvSpPr>
        <p:spPr>
          <a:xfrm>
            <a:off x="2286000" y="6439205"/>
            <a:ext cx="75895" cy="7589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70"/>
          <p:cNvSpPr txBox="1"/>
          <p:nvPr/>
        </p:nvSpPr>
        <p:spPr>
          <a:xfrm>
            <a:off x="2457907" y="6391656"/>
            <a:ext cx="4288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低强度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760960" cy="76295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571500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0" y="562356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5061" y="114300"/>
            <a:ext cx="3657600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非农数据解读：超预期的"双刃剑" </a:t>
            </a:r>
            <a:endParaRPr lang="en-US" sz="1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305" y="185623"/>
            <a:ext cx="190195" cy="1901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70694" y="185623"/>
            <a:ext cx="9244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2026年4月6日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-1100" b="-1100"/>
          <a:stretch>
            <a:fillRect/>
          </a:stretch>
        </p:blipFill>
        <p:spPr>
          <a:xfrm>
            <a:off x="9480499" y="213970"/>
            <a:ext cx="114300" cy="1335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011205" y="185623"/>
            <a:ext cx="8814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发布于长周末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801807" y="213970"/>
            <a:ext cx="133502" cy="13350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81305" y="761695"/>
            <a:ext cx="3619195" cy="1466698"/>
          </a:xfrm>
          <a:prstGeom prst="roundRect">
            <a:avLst>
              <a:gd name="adj" fmla="val 64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800100" y="961949"/>
            <a:ext cx="88148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新增就业人数 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rcRect t="-80" b="-80"/>
          <a:stretch>
            <a:fillRect/>
          </a:stretch>
        </p:blipFill>
        <p:spPr>
          <a:xfrm>
            <a:off x="580644" y="1000354"/>
            <a:ext cx="142646" cy="1143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3333902" y="961949"/>
            <a:ext cx="54315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+17.8万 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 l="-133" r="-133"/>
          <a:stretch>
            <a:fillRect/>
          </a:stretch>
        </p:blipFill>
        <p:spPr>
          <a:xfrm>
            <a:off x="3200400" y="1000354"/>
            <a:ext cx="85954" cy="1143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80644" y="1295705"/>
            <a:ext cx="3410712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17.8万</a:t>
            </a:r>
            <a:endParaRPr lang="en-US" sz="2700" dirty="0"/>
          </a:p>
        </p:txBody>
      </p:sp>
      <p:sp>
        <p:nvSpPr>
          <p:cNvPr id="18" name="Text 10"/>
          <p:cNvSpPr txBox="1"/>
          <p:nvPr/>
        </p:nvSpPr>
        <p:spPr>
          <a:xfrm>
            <a:off x="580644" y="1837944"/>
            <a:ext cx="11622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高于预期 +12.5万</a:t>
            </a:r>
            <a:endParaRPr lang="en-US" sz="1000" dirty="0"/>
          </a:p>
        </p:txBody>
      </p:sp>
      <p:sp>
        <p:nvSpPr>
          <p:cNvPr id="19" name="Text 11"/>
          <p:cNvSpPr txBox="1"/>
          <p:nvPr/>
        </p:nvSpPr>
        <p:spPr>
          <a:xfrm>
            <a:off x="1753819" y="1837944"/>
            <a:ext cx="89519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前值 +13.2万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4286707" y="761695"/>
            <a:ext cx="3619195" cy="1466698"/>
          </a:xfrm>
          <a:prstGeom prst="roundRect">
            <a:avLst>
              <a:gd name="adj" fmla="val 64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4647895" y="961949"/>
            <a:ext cx="4764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失业率 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133" r="-133"/>
          <a:stretch>
            <a:fillRect/>
          </a:stretch>
        </p:blipFill>
        <p:spPr>
          <a:xfrm>
            <a:off x="4486046" y="1000354"/>
            <a:ext cx="85954" cy="1143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397496" y="961949"/>
            <a:ext cx="39044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47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4.3% </a:t>
            </a:r>
            <a:endParaRPr lang="en-US" sz="10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rcRect l="-133" r="-133"/>
          <a:stretch>
            <a:fillRect/>
          </a:stretch>
        </p:blipFill>
        <p:spPr>
          <a:xfrm>
            <a:off x="7263994" y="1000354"/>
            <a:ext cx="85954" cy="1143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4486046" y="1295705"/>
            <a:ext cx="3410712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4.3%</a:t>
            </a:r>
            <a:endParaRPr lang="en-US" sz="2700" dirty="0"/>
          </a:p>
        </p:txBody>
      </p:sp>
      <p:sp>
        <p:nvSpPr>
          <p:cNvPr id="26" name="Text 16"/>
          <p:cNvSpPr txBox="1"/>
          <p:nvPr/>
        </p:nvSpPr>
        <p:spPr>
          <a:xfrm>
            <a:off x="4486046" y="1837944"/>
            <a:ext cx="6099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475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意外下降</a:t>
            </a:r>
            <a:endParaRPr lang="en-US" sz="1000" dirty="0"/>
          </a:p>
        </p:txBody>
      </p:sp>
      <p:sp>
        <p:nvSpPr>
          <p:cNvPr id="27" name="Text 17"/>
          <p:cNvSpPr txBox="1"/>
          <p:nvPr/>
        </p:nvSpPr>
        <p:spPr>
          <a:xfrm>
            <a:off x="5162702" y="1837944"/>
            <a:ext cx="65745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预期4.4%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8191195" y="761695"/>
            <a:ext cx="3619195" cy="1466698"/>
          </a:xfrm>
          <a:prstGeom prst="roundRect">
            <a:avLst>
              <a:gd name="adj" fmla="val 64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8544154" y="961949"/>
            <a:ext cx="6099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市场反应 </a:t>
            </a:r>
            <a:endParaRPr lang="en-US" sz="10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rcRect l="-3120" r="-3120"/>
          <a:stretch>
            <a:fillRect/>
          </a:stretch>
        </p:blipFill>
        <p:spPr>
          <a:xfrm>
            <a:off x="8391449" y="1000354"/>
            <a:ext cx="75895" cy="11430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11211458" y="961949"/>
            <a:ext cx="4764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美元强 </a:t>
            </a:r>
            <a:endParaRPr lang="en-US" sz="10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6"/>
          <a:srcRect l="-133" r="-133"/>
          <a:stretch>
            <a:fillRect/>
          </a:stretch>
        </p:blipFill>
        <p:spPr>
          <a:xfrm>
            <a:off x="11077956" y="1000354"/>
            <a:ext cx="85954" cy="11430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8391449" y="1295705"/>
            <a:ext cx="3410712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美债下跌</a:t>
            </a:r>
            <a:endParaRPr lang="en-US" sz="1800" dirty="0"/>
          </a:p>
        </p:txBody>
      </p:sp>
      <p:sp>
        <p:nvSpPr>
          <p:cNvPr id="34" name="Text 22"/>
          <p:cNvSpPr txBox="1"/>
          <p:nvPr/>
        </p:nvSpPr>
        <p:spPr>
          <a:xfrm>
            <a:off x="8391449" y="1676095"/>
            <a:ext cx="743407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FF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收益率上升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201607" y="1676095"/>
            <a:ext cx="9244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4.5%关键阈值</a:t>
            </a:r>
            <a:endParaRPr lang="en-US" sz="1000" dirty="0"/>
          </a:p>
        </p:txBody>
      </p:sp>
      <p:sp>
        <p:nvSpPr>
          <p:cNvPr id="36" name="Shape 24"/>
          <p:cNvSpPr/>
          <p:nvPr/>
        </p:nvSpPr>
        <p:spPr>
          <a:xfrm>
            <a:off x="381305" y="2467051"/>
            <a:ext cx="5572354" cy="3038551"/>
          </a:xfrm>
          <a:prstGeom prst="roundRect">
            <a:avLst>
              <a:gd name="adj" fmla="val 150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Text 25"/>
          <p:cNvSpPr txBox="1"/>
          <p:nvPr/>
        </p:nvSpPr>
        <p:spPr>
          <a:xfrm>
            <a:off x="847649" y="2671877"/>
            <a:ext cx="19915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2022 vs 2026 本质差异对比 </a:t>
            </a:r>
            <a:endParaRPr lang="en-US" sz="12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0"/>
          <a:srcRect t="-180" b="-180"/>
          <a:stretch>
            <a:fillRect/>
          </a:stretch>
        </p:blipFill>
        <p:spPr>
          <a:xfrm>
            <a:off x="580644" y="2710282"/>
            <a:ext cx="190195" cy="152705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5067605" y="2667305"/>
            <a:ext cx="694944" cy="237744"/>
          </a:xfrm>
          <a:prstGeom prst="roundRect">
            <a:avLst>
              <a:gd name="adj" fmla="val 123077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7"/>
          <p:cNvSpPr txBox="1"/>
          <p:nvPr/>
        </p:nvSpPr>
        <p:spPr>
          <a:xfrm>
            <a:off x="5067605" y="2667305"/>
            <a:ext cx="7525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95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关键对比</a:t>
            </a:r>
            <a:endParaRPr lang="en-US" sz="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/>
        </p:nvGraphicFramePr>
        <p:xfrm>
          <a:off x="580644" y="3047695"/>
          <a:ext cx="5172761" cy="2257656"/>
        </p:xfrm>
        <a:graphic>
          <a:graphicData uri="http://schemas.openxmlformats.org/drawingml/2006/table">
            <a:tbl>
              <a:tblPr/>
              <a:tblGrid>
                <a:gridCol w="838505"/>
                <a:gridCol w="1898294"/>
                <a:gridCol w="1595628"/>
                <a:gridCol w="839419"/>
              </a:tblGrid>
              <a:tr h="376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>
                              <a:alpha val="70000"/>
                            </a:srgbClr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对比维度</a:t>
                      </a:r>
                      <a:endParaRPr lang="en-US" sz="90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>
                              <a:alpha val="70000"/>
                            </a:srgbClr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2022年</a:t>
                      </a:r>
                      <a:endParaRPr lang="en-US" sz="90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>
                              <a:alpha val="70000"/>
                            </a:srgbClr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2026年</a:t>
                      </a:r>
                      <a:endParaRPr lang="en-US" sz="90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>
                              <a:alpha val="70000"/>
                            </a:srgbClr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差异</a:t>
                      </a:r>
                      <a:endParaRPr lang="en-US" sz="90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376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起点利率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0%（超级宽松）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950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接近中性偏紧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00FF88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+400bps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通胀来源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需求侧（财政补贴过度）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950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供给侧（能源战争）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4757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供给冲击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加息效果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有效抑制需求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950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无法增加石油供应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4757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打错方向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经济状态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经济过热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950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经济已在放缓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4757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需求破坏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联储处境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政治压力可强硬加息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950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更重就业压力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00FF88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被迫转向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" name="Shape 28"/>
          <p:cNvSpPr/>
          <p:nvPr/>
        </p:nvSpPr>
        <p:spPr>
          <a:xfrm>
            <a:off x="6238951" y="2467051"/>
            <a:ext cx="5572354" cy="3038551"/>
          </a:xfrm>
          <a:prstGeom prst="roundRect">
            <a:avLst>
              <a:gd name="adj" fmla="val 150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3" name="Text 29"/>
          <p:cNvSpPr txBox="1"/>
          <p:nvPr/>
        </p:nvSpPr>
        <p:spPr>
          <a:xfrm>
            <a:off x="6667805" y="2671877"/>
            <a:ext cx="85222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正确逻辑链 </a:t>
            </a:r>
            <a:endParaRPr lang="en-US" sz="120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6439205" y="2710282"/>
            <a:ext cx="152705" cy="152705"/>
          </a:xfrm>
          <a:prstGeom prst="rect">
            <a:avLst/>
          </a:prstGeom>
        </p:spPr>
      </p:pic>
      <p:sp>
        <p:nvSpPr>
          <p:cNvPr id="45" name="Shape 30"/>
          <p:cNvSpPr/>
          <p:nvPr/>
        </p:nvSpPr>
        <p:spPr>
          <a:xfrm>
            <a:off x="10925251" y="2667305"/>
            <a:ext cx="694944" cy="237744"/>
          </a:xfrm>
          <a:prstGeom prst="roundRect">
            <a:avLst>
              <a:gd name="adj" fmla="val 123077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1"/>
          <p:cNvSpPr txBox="1"/>
          <p:nvPr/>
        </p:nvSpPr>
        <p:spPr>
          <a:xfrm>
            <a:off x="10925251" y="2667305"/>
            <a:ext cx="7525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95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核心逻辑</a:t>
            </a:r>
            <a:endParaRPr lang="en-US" sz="900" dirty="0"/>
          </a:p>
        </p:txBody>
      </p:sp>
      <p:sp>
        <p:nvSpPr>
          <p:cNvPr id="47" name="Shape 32"/>
          <p:cNvSpPr/>
          <p:nvPr/>
        </p:nvSpPr>
        <p:spPr>
          <a:xfrm>
            <a:off x="6439205" y="3057754"/>
            <a:ext cx="1037844" cy="371246"/>
          </a:xfrm>
          <a:prstGeom prst="roundRect">
            <a:avLst>
              <a:gd name="adj" fmla="val 7578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3"/>
          <p:cNvSpPr txBox="1"/>
          <p:nvPr/>
        </p:nvSpPr>
        <p:spPr>
          <a:xfrm>
            <a:off x="6409944" y="3057754"/>
            <a:ext cx="10954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1016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油价↑</a:t>
            </a:r>
            <a:endParaRPr lang="en-US" sz="900" dirty="0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12"/>
          <a:srcRect t="-43" b="-43"/>
          <a:stretch>
            <a:fillRect/>
          </a:stretch>
        </p:blipFill>
        <p:spPr>
          <a:xfrm>
            <a:off x="7619695" y="3176626"/>
            <a:ext cx="133502" cy="152705"/>
          </a:xfrm>
          <a:prstGeom prst="rect">
            <a:avLst/>
          </a:prstGeom>
        </p:spPr>
      </p:pic>
      <p:sp>
        <p:nvSpPr>
          <p:cNvPr id="50" name="Shape 34"/>
          <p:cNvSpPr/>
          <p:nvPr/>
        </p:nvSpPr>
        <p:spPr>
          <a:xfrm>
            <a:off x="7895844" y="3057754"/>
            <a:ext cx="1037844" cy="371246"/>
          </a:xfrm>
          <a:prstGeom prst="roundRect">
            <a:avLst>
              <a:gd name="adj" fmla="val 7578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867498" y="3057754"/>
            <a:ext cx="10954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1016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经济受伤</a:t>
            </a:r>
            <a:endParaRPr lang="en-US" sz="90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2"/>
          <a:srcRect t="-43" b="-43"/>
          <a:stretch>
            <a:fillRect/>
          </a:stretch>
        </p:blipFill>
        <p:spPr>
          <a:xfrm>
            <a:off x="9077249" y="3176626"/>
            <a:ext cx="133502" cy="152705"/>
          </a:xfrm>
          <a:prstGeom prst="rect">
            <a:avLst/>
          </a:prstGeom>
        </p:spPr>
      </p:pic>
      <p:sp>
        <p:nvSpPr>
          <p:cNvPr id="53" name="Shape 36"/>
          <p:cNvSpPr/>
          <p:nvPr/>
        </p:nvSpPr>
        <p:spPr>
          <a:xfrm>
            <a:off x="9353398" y="3057754"/>
            <a:ext cx="1037844" cy="371246"/>
          </a:xfrm>
          <a:prstGeom prst="roundRect">
            <a:avLst>
              <a:gd name="adj" fmla="val 7578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37"/>
          <p:cNvSpPr txBox="1"/>
          <p:nvPr/>
        </p:nvSpPr>
        <p:spPr>
          <a:xfrm>
            <a:off x="9325051" y="3057754"/>
            <a:ext cx="1095451" cy="3721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1016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增长↓</a:t>
            </a:r>
            <a:endParaRPr lang="en-US" sz="900" dirty="0"/>
          </a:p>
        </p:txBody>
      </p:sp>
      <p:pic>
        <p:nvPicPr>
          <p:cNvPr id="55" name="Image 14" descr="preencoded.png"/>
          <p:cNvPicPr>
            <a:picLocks noChangeAspect="1"/>
          </p:cNvPicPr>
          <p:nvPr/>
        </p:nvPicPr>
        <p:blipFill>
          <a:blip r:embed="rId12"/>
          <a:srcRect t="-43" b="-43"/>
          <a:stretch>
            <a:fillRect/>
          </a:stretch>
        </p:blipFill>
        <p:spPr>
          <a:xfrm>
            <a:off x="10534802" y="3176626"/>
            <a:ext cx="133502" cy="152705"/>
          </a:xfrm>
          <a:prstGeom prst="rect">
            <a:avLst/>
          </a:prstGeom>
        </p:spPr>
      </p:pic>
      <p:sp>
        <p:nvSpPr>
          <p:cNvPr id="56" name="Shape 38"/>
          <p:cNvSpPr/>
          <p:nvPr/>
        </p:nvSpPr>
        <p:spPr>
          <a:xfrm>
            <a:off x="10810951" y="3047695"/>
            <a:ext cx="809244" cy="390449"/>
          </a:xfrm>
          <a:prstGeom prst="roundRect">
            <a:avLst>
              <a:gd name="adj" fmla="val 68544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57" name="Text 39"/>
          <p:cNvSpPr txBox="1"/>
          <p:nvPr/>
        </p:nvSpPr>
        <p:spPr>
          <a:xfrm>
            <a:off x="10810951" y="3047695"/>
            <a:ext cx="866851" cy="3913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01600" rIns="139700" bIns="1016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D4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最终降息</a:t>
            </a:r>
            <a:endParaRPr lang="en-US" sz="900" dirty="0"/>
          </a:p>
        </p:txBody>
      </p:sp>
      <p:sp>
        <p:nvSpPr>
          <p:cNvPr id="58" name="Text 40"/>
          <p:cNvSpPr txBox="1"/>
          <p:nvPr/>
        </p:nvSpPr>
        <p:spPr>
          <a:xfrm>
            <a:off x="6638544" y="3581705"/>
            <a:ext cx="5163617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与2022年加息剧本根本不同：2026年加息无法增加石油供应 </a:t>
            </a:r>
            <a:endParaRPr lang="en-US" sz="900" dirty="0"/>
          </a:p>
        </p:txBody>
      </p:sp>
      <p:pic>
        <p:nvPicPr>
          <p:cNvPr id="59" name="Image 15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6439205" y="3615538"/>
            <a:ext cx="123444" cy="123444"/>
          </a:xfrm>
          <a:prstGeom prst="rect">
            <a:avLst/>
          </a:prstGeom>
        </p:spPr>
      </p:pic>
      <p:sp>
        <p:nvSpPr>
          <p:cNvPr id="60" name="Shape 41"/>
          <p:cNvSpPr/>
          <p:nvPr/>
        </p:nvSpPr>
        <p:spPr>
          <a:xfrm>
            <a:off x="381305" y="5743346"/>
            <a:ext cx="11430000" cy="1314907"/>
          </a:xfrm>
          <a:prstGeom prst="roundRect">
            <a:avLst>
              <a:gd name="adj" fmla="val 806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1" name="Text 42"/>
          <p:cNvSpPr txBox="1"/>
          <p:nvPr/>
        </p:nvSpPr>
        <p:spPr>
          <a:xfrm>
            <a:off x="809244" y="5948172"/>
            <a:ext cx="101681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资产影响分析 </a:t>
            </a:r>
            <a:endParaRPr lang="en-US" sz="1200" dirty="0"/>
          </a:p>
        </p:txBody>
      </p:sp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580644" y="5986577"/>
            <a:ext cx="152705" cy="152705"/>
          </a:xfrm>
          <a:prstGeom prst="rect">
            <a:avLst/>
          </a:prstGeom>
        </p:spPr>
      </p:pic>
      <p:sp>
        <p:nvSpPr>
          <p:cNvPr id="63" name="Shape 43"/>
          <p:cNvSpPr/>
          <p:nvPr/>
        </p:nvSpPr>
        <p:spPr>
          <a:xfrm>
            <a:off x="10810951" y="5943600"/>
            <a:ext cx="809244" cy="237744"/>
          </a:xfrm>
          <a:prstGeom prst="roundRect">
            <a:avLst>
              <a:gd name="adj" fmla="val 123077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44"/>
          <p:cNvSpPr txBox="1"/>
          <p:nvPr/>
        </p:nvSpPr>
        <p:spPr>
          <a:xfrm>
            <a:off x="10810951" y="5943600"/>
            <a:ext cx="8668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95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短期→中期</a:t>
            </a:r>
            <a:endParaRPr lang="en-US" sz="900" dirty="0"/>
          </a:p>
        </p:txBody>
      </p:sp>
      <p:sp>
        <p:nvSpPr>
          <p:cNvPr id="65" name="Shape 45"/>
          <p:cNvSpPr/>
          <p:nvPr/>
        </p:nvSpPr>
        <p:spPr>
          <a:xfrm>
            <a:off x="580644" y="6324905"/>
            <a:ext cx="2657246" cy="533095"/>
          </a:xfrm>
          <a:prstGeom prst="roundRect">
            <a:avLst>
              <a:gd name="adj" fmla="val 3675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46"/>
          <p:cNvSpPr/>
          <p:nvPr/>
        </p:nvSpPr>
        <p:spPr>
          <a:xfrm>
            <a:off x="676656" y="6448349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7" name="Image 17" descr="preencoded.png"/>
          <p:cNvPicPr>
            <a:picLocks noChangeAspect="1"/>
          </p:cNvPicPr>
          <p:nvPr/>
        </p:nvPicPr>
        <p:blipFill>
          <a:blip r:embed="rId15"/>
          <a:srcRect l="-1507" r="-1507"/>
          <a:stretch>
            <a:fillRect/>
          </a:stretch>
        </p:blipFill>
        <p:spPr>
          <a:xfrm>
            <a:off x="776326" y="6524244"/>
            <a:ext cx="85954" cy="133502"/>
          </a:xfrm>
          <a:prstGeom prst="rect">
            <a:avLst/>
          </a:prstGeom>
        </p:spPr>
      </p:pic>
      <p:sp>
        <p:nvSpPr>
          <p:cNvPr id="68" name="Text 47"/>
          <p:cNvSpPr txBox="1"/>
          <p:nvPr/>
        </p:nvSpPr>
        <p:spPr>
          <a:xfrm>
            <a:off x="1057046" y="6420002"/>
            <a:ext cx="225308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美元指数</a:t>
            </a:r>
            <a:endParaRPr lang="en-US" sz="900" dirty="0"/>
          </a:p>
        </p:txBody>
      </p:sp>
      <p:sp>
        <p:nvSpPr>
          <p:cNvPr id="69" name="Text 48"/>
          <p:cNvSpPr txBox="1"/>
          <p:nvPr/>
        </p:nvSpPr>
        <p:spPr>
          <a:xfrm>
            <a:off x="1057046" y="6581851"/>
            <a:ext cx="2253082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FF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短期强 → 中期见顶</a:t>
            </a:r>
            <a:endParaRPr lang="en-US" sz="900" dirty="0"/>
          </a:p>
        </p:txBody>
      </p:sp>
      <p:sp>
        <p:nvSpPr>
          <p:cNvPr id="70" name="Shape 49"/>
          <p:cNvSpPr/>
          <p:nvPr/>
        </p:nvSpPr>
        <p:spPr>
          <a:xfrm>
            <a:off x="3374136" y="6324905"/>
            <a:ext cx="2657246" cy="533095"/>
          </a:xfrm>
          <a:prstGeom prst="roundRect">
            <a:avLst>
              <a:gd name="adj" fmla="val 3675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50"/>
          <p:cNvSpPr/>
          <p:nvPr/>
        </p:nvSpPr>
        <p:spPr>
          <a:xfrm>
            <a:off x="3469234" y="6448349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2" name="Image 18" descr="preencoded.png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3546043" y="6524244"/>
            <a:ext cx="133502" cy="133502"/>
          </a:xfrm>
          <a:prstGeom prst="rect">
            <a:avLst/>
          </a:prstGeom>
        </p:spPr>
      </p:pic>
      <p:sp>
        <p:nvSpPr>
          <p:cNvPr id="73" name="Text 51"/>
          <p:cNvSpPr txBox="1"/>
          <p:nvPr/>
        </p:nvSpPr>
        <p:spPr>
          <a:xfrm>
            <a:off x="3850538" y="6420002"/>
            <a:ext cx="216987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10Y美债</a:t>
            </a:r>
            <a:endParaRPr lang="en-US" sz="900" dirty="0"/>
          </a:p>
        </p:txBody>
      </p:sp>
      <p:sp>
        <p:nvSpPr>
          <p:cNvPr id="74" name="Text 52"/>
          <p:cNvSpPr txBox="1"/>
          <p:nvPr/>
        </p:nvSpPr>
        <p:spPr>
          <a:xfrm>
            <a:off x="3850538" y="6581851"/>
            <a:ext cx="2169871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FF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收益率升 → 4.5%关键</a:t>
            </a:r>
            <a:endParaRPr lang="en-US" sz="900" dirty="0"/>
          </a:p>
        </p:txBody>
      </p:sp>
      <p:sp>
        <p:nvSpPr>
          <p:cNvPr id="75" name="Shape 53"/>
          <p:cNvSpPr/>
          <p:nvPr/>
        </p:nvSpPr>
        <p:spPr>
          <a:xfrm>
            <a:off x="6167628" y="6324905"/>
            <a:ext cx="2657246" cy="533095"/>
          </a:xfrm>
          <a:prstGeom prst="roundRect">
            <a:avLst>
              <a:gd name="adj" fmla="val 3675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54"/>
          <p:cNvSpPr/>
          <p:nvPr/>
        </p:nvSpPr>
        <p:spPr>
          <a:xfrm>
            <a:off x="6262726" y="6448349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7" name="Image 19" descr="preencoded.png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6338621" y="6524244"/>
            <a:ext cx="133502" cy="133502"/>
          </a:xfrm>
          <a:prstGeom prst="rect">
            <a:avLst/>
          </a:prstGeom>
        </p:spPr>
      </p:pic>
      <p:sp>
        <p:nvSpPr>
          <p:cNvPr id="78" name="Text 55"/>
          <p:cNvSpPr txBox="1"/>
          <p:nvPr/>
        </p:nvSpPr>
        <p:spPr>
          <a:xfrm>
            <a:off x="6644030" y="6420002"/>
            <a:ext cx="225308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黄金</a:t>
            </a:r>
            <a:endParaRPr lang="en-US" sz="900" dirty="0"/>
          </a:p>
        </p:txBody>
      </p:sp>
      <p:sp>
        <p:nvSpPr>
          <p:cNvPr id="79" name="Text 56"/>
          <p:cNvSpPr txBox="1"/>
          <p:nvPr/>
        </p:nvSpPr>
        <p:spPr>
          <a:xfrm>
            <a:off x="6644030" y="6581851"/>
            <a:ext cx="2253082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FF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短期承压 → 中期看涨</a:t>
            </a:r>
            <a:endParaRPr lang="en-US" sz="900" dirty="0"/>
          </a:p>
        </p:txBody>
      </p:sp>
      <p:sp>
        <p:nvSpPr>
          <p:cNvPr id="80" name="Shape 57"/>
          <p:cNvSpPr/>
          <p:nvPr/>
        </p:nvSpPr>
        <p:spPr>
          <a:xfrm>
            <a:off x="8960206" y="6324905"/>
            <a:ext cx="2657246" cy="533095"/>
          </a:xfrm>
          <a:prstGeom prst="roundRect">
            <a:avLst>
              <a:gd name="adj" fmla="val 3675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58"/>
          <p:cNvSpPr/>
          <p:nvPr/>
        </p:nvSpPr>
        <p:spPr>
          <a:xfrm>
            <a:off x="9056218" y="6448349"/>
            <a:ext cx="286207" cy="286207"/>
          </a:xfrm>
          <a:prstGeom prst="roundRect">
            <a:avLst>
              <a:gd name="adj" fmla="val 85197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2" name="Image 20" descr="preencoded.png"/>
          <p:cNvPicPr>
            <a:picLocks noChangeAspect="1"/>
          </p:cNvPicPr>
          <p:nvPr/>
        </p:nvPicPr>
        <p:blipFill>
          <a:blip r:embed="rId18"/>
          <a:srcRect l="-1507" r="-1507"/>
          <a:stretch>
            <a:fillRect/>
          </a:stretch>
        </p:blipFill>
        <p:spPr>
          <a:xfrm>
            <a:off x="9112910" y="6524244"/>
            <a:ext cx="171907" cy="133502"/>
          </a:xfrm>
          <a:prstGeom prst="rect">
            <a:avLst/>
          </a:prstGeom>
        </p:spPr>
      </p:pic>
      <p:sp>
        <p:nvSpPr>
          <p:cNvPr id="83" name="Text 59"/>
          <p:cNvSpPr txBox="1"/>
          <p:nvPr/>
        </p:nvSpPr>
        <p:spPr>
          <a:xfrm>
            <a:off x="9436608" y="6420002"/>
            <a:ext cx="225308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原油</a:t>
            </a:r>
            <a:endParaRPr lang="en-US" sz="900" dirty="0"/>
          </a:p>
        </p:txBody>
      </p:sp>
      <p:sp>
        <p:nvSpPr>
          <p:cNvPr id="84" name="Text 60"/>
          <p:cNvSpPr txBox="1"/>
          <p:nvPr/>
        </p:nvSpPr>
        <p:spPr>
          <a:xfrm>
            <a:off x="9436608" y="6581851"/>
            <a:ext cx="2169871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FF8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强势看涨 103-116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-400" r="-400"/>
          <a:stretch>
            <a:fillRect/>
          </a:stretch>
        </p:blipFill>
        <p:spPr>
          <a:xfrm>
            <a:off x="0" y="0"/>
            <a:ext cx="57607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rcRect l="-4" r="-4"/>
          <a:stretch>
            <a:fillRect/>
          </a:stretch>
        </p:blipFill>
        <p:spPr>
          <a:xfrm>
            <a:off x="8382305" y="0"/>
            <a:ext cx="3810305" cy="6858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305" y="286207"/>
            <a:ext cx="237744" cy="190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761695" y="280721"/>
            <a:ext cx="16770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STAGFLATION ANALYSIS</a:t>
            </a:r>
            <a:endParaRPr lang="en-US" sz="1000" dirty="0"/>
          </a:p>
        </p:txBody>
      </p:sp>
      <p:sp>
        <p:nvSpPr>
          <p:cNvPr id="11" name="Text 4"/>
          <p:cNvSpPr txBox="1"/>
          <p:nvPr/>
        </p:nvSpPr>
        <p:spPr>
          <a:xfrm>
            <a:off x="571500" y="1086307"/>
            <a:ext cx="8620963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通胀思维</a:t>
            </a:r>
            <a:r>
              <a:rPr lang="en-US" sz="2400" b="1" dirty="0">
                <a:solidFill>
                  <a:srgbClr val="FF95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vs</a:t>
            </a: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衰退思维的核心矛盾 </a:t>
            </a:r>
            <a:endParaRPr lang="en-US" sz="2400" dirty="0"/>
          </a:p>
        </p:txBody>
      </p:sp>
      <p:sp>
        <p:nvSpPr>
          <p:cNvPr id="12" name="Shape 5"/>
          <p:cNvSpPr/>
          <p:nvPr/>
        </p:nvSpPr>
        <p:spPr>
          <a:xfrm>
            <a:off x="9286646" y="907085"/>
            <a:ext cx="905256" cy="400507"/>
          </a:xfrm>
          <a:prstGeom prst="roundRect">
            <a:avLst>
              <a:gd name="adj" fmla="val 86975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0325405" y="907085"/>
            <a:ext cx="1304849" cy="400507"/>
          </a:xfrm>
          <a:prstGeom prst="roundRect">
            <a:avLst>
              <a:gd name="adj" fmla="val 86975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71500" y="800100"/>
            <a:ext cx="9912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滞胀交易回归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9439351" y="1049731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风险等级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9896551" y="1030529"/>
            <a:ext cx="210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高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0477195" y="1049731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市场状态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0934395" y="1030529"/>
            <a:ext cx="6099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防御模式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71500" y="1524305"/>
            <a:ext cx="5429707" cy="1657807"/>
          </a:xfrm>
          <a:prstGeom prst="roundRect">
            <a:avLst>
              <a:gd name="adj" fmla="val 7608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rcRect l="-33" r="-33"/>
          <a:stretch>
            <a:fillRect/>
          </a:stretch>
        </p:blipFill>
        <p:spPr>
          <a:xfrm>
            <a:off x="724205" y="1699870"/>
            <a:ext cx="171907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90295" y="1676095"/>
            <a:ext cx="8769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四重叠加冲击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5391302" y="1690726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同时发生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724205" y="1971446"/>
            <a:ext cx="2514600" cy="485546"/>
          </a:xfrm>
          <a:prstGeom prst="roundRect">
            <a:avLst>
              <a:gd name="adj" fmla="val 44312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800100" y="2048256"/>
            <a:ext cx="6382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① 风险冲击</a:t>
            </a:r>
            <a:endParaRPr lang="en-US" sz="800" dirty="0"/>
          </a:p>
        </p:txBody>
      </p:sp>
      <p:sp>
        <p:nvSpPr>
          <p:cNvPr id="25" name="Text 17"/>
          <p:cNvSpPr txBox="1"/>
          <p:nvPr/>
        </p:nvSpPr>
        <p:spPr>
          <a:xfrm>
            <a:off x="2533802" y="2048256"/>
            <a:ext cx="7050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不确定性爆炸</a:t>
            </a:r>
            <a:endParaRPr lang="en-US" sz="800" dirty="0"/>
          </a:p>
        </p:txBody>
      </p:sp>
      <p:sp>
        <p:nvSpPr>
          <p:cNvPr id="26" name="Text 18"/>
          <p:cNvSpPr txBox="1"/>
          <p:nvPr/>
        </p:nvSpPr>
        <p:spPr>
          <a:xfrm>
            <a:off x="800100" y="2233879"/>
            <a:ext cx="255117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波动率飙升,传统对冲失效</a:t>
            </a:r>
            <a:endParaRPr lang="en-US" sz="800" dirty="0"/>
          </a:p>
        </p:txBody>
      </p:sp>
      <p:sp>
        <p:nvSpPr>
          <p:cNvPr id="27" name="Shape 19"/>
          <p:cNvSpPr/>
          <p:nvPr/>
        </p:nvSpPr>
        <p:spPr>
          <a:xfrm>
            <a:off x="3333902" y="1971446"/>
            <a:ext cx="2514600" cy="485546"/>
          </a:xfrm>
          <a:prstGeom prst="roundRect">
            <a:avLst>
              <a:gd name="adj" fmla="val 4431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3409798" y="2048256"/>
            <a:ext cx="6382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② 经济抽血</a:t>
            </a:r>
            <a:endParaRPr lang="en-US" sz="800" dirty="0"/>
          </a:p>
        </p:txBody>
      </p:sp>
      <p:sp>
        <p:nvSpPr>
          <p:cNvPr id="29" name="Text 21"/>
          <p:cNvSpPr txBox="1"/>
          <p:nvPr/>
        </p:nvSpPr>
        <p:spPr>
          <a:xfrm>
            <a:off x="5352898" y="2048256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需求受损</a:t>
            </a:r>
            <a:endParaRPr lang="en-US" sz="800" dirty="0"/>
          </a:p>
        </p:txBody>
      </p:sp>
      <p:sp>
        <p:nvSpPr>
          <p:cNvPr id="30" name="Text 22"/>
          <p:cNvSpPr txBox="1"/>
          <p:nvPr/>
        </p:nvSpPr>
        <p:spPr>
          <a:xfrm>
            <a:off x="3409798" y="2233879"/>
            <a:ext cx="255117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欧日等进口国被抽血</a:t>
            </a:r>
            <a:endParaRPr lang="en-US" sz="800" dirty="0"/>
          </a:p>
        </p:txBody>
      </p:sp>
      <p:sp>
        <p:nvSpPr>
          <p:cNvPr id="31" name="Shape 23"/>
          <p:cNvSpPr/>
          <p:nvPr/>
        </p:nvSpPr>
        <p:spPr>
          <a:xfrm>
            <a:off x="724205" y="2547518"/>
            <a:ext cx="2514600" cy="485546"/>
          </a:xfrm>
          <a:prstGeom prst="roundRect">
            <a:avLst>
              <a:gd name="adj" fmla="val 44312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800100" y="2624328"/>
            <a:ext cx="6382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③ 通胀推升</a:t>
            </a:r>
            <a:endParaRPr lang="en-US" sz="800" dirty="0"/>
          </a:p>
        </p:txBody>
      </p:sp>
      <p:sp>
        <p:nvSpPr>
          <p:cNvPr id="33" name="Text 25"/>
          <p:cNvSpPr txBox="1"/>
          <p:nvPr/>
        </p:nvSpPr>
        <p:spPr>
          <a:xfrm>
            <a:off x="2638044" y="2624328"/>
            <a:ext cx="6007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美联储两难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800100" y="2809951"/>
            <a:ext cx="255117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加息经济更差/不加息通胀失控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3333902" y="2547518"/>
            <a:ext cx="2514600" cy="485546"/>
          </a:xfrm>
          <a:prstGeom prst="roundRect">
            <a:avLst>
              <a:gd name="adj" fmla="val 44312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3409798" y="2624328"/>
            <a:ext cx="6382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④ 政策误判</a:t>
            </a:r>
            <a:endParaRPr lang="en-US" sz="800" dirty="0"/>
          </a:p>
        </p:txBody>
      </p:sp>
      <p:sp>
        <p:nvSpPr>
          <p:cNvPr id="37" name="Text 29"/>
          <p:cNvSpPr txBox="1"/>
          <p:nvPr/>
        </p:nvSpPr>
        <p:spPr>
          <a:xfrm>
            <a:off x="5458054" y="2624328"/>
            <a:ext cx="3913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最危险</a:t>
            </a:r>
            <a:endParaRPr lang="en-US" sz="800" dirty="0"/>
          </a:p>
        </p:txBody>
      </p:sp>
      <p:sp>
        <p:nvSpPr>
          <p:cNvPr id="38" name="Text 30"/>
          <p:cNvSpPr txBox="1"/>
          <p:nvPr/>
        </p:nvSpPr>
        <p:spPr>
          <a:xfrm>
            <a:off x="3409798" y="2809951"/>
            <a:ext cx="255117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低估经济下行速度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571500" y="3323844"/>
            <a:ext cx="5429707" cy="1295705"/>
          </a:xfrm>
          <a:prstGeom prst="roundRect">
            <a:avLst>
              <a:gd name="adj" fmla="val 12454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24205" y="3500323"/>
            <a:ext cx="152705" cy="15270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972007" y="3476549"/>
            <a:ext cx="1296619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通胀预期脱锚三步走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5244084" y="3491179"/>
            <a:ext cx="68580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当前:怀疑期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724205" y="3771900"/>
            <a:ext cx="1647749" cy="694944"/>
          </a:xfrm>
          <a:prstGeom prst="roundRect">
            <a:avLst>
              <a:gd name="adj" fmla="val 21629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809244" y="3898087"/>
            <a:ext cx="75895" cy="7589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933602" y="3857854"/>
            <a:ext cx="3913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第一步</a:t>
            </a:r>
            <a:endParaRPr lang="en-US" sz="800" dirty="0"/>
          </a:p>
        </p:txBody>
      </p:sp>
      <p:sp>
        <p:nvSpPr>
          <p:cNvPr id="46" name="Text 37"/>
          <p:cNvSpPr txBox="1"/>
          <p:nvPr/>
        </p:nvSpPr>
        <p:spPr>
          <a:xfrm>
            <a:off x="809244" y="4062679"/>
            <a:ext cx="159471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怀疑期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809244" y="4233672"/>
            <a:ext cx="159471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质疑通胀能否回落至2%</a:t>
            </a:r>
            <a:endParaRPr lang="en-US" sz="800" dirty="0"/>
          </a:p>
        </p:txBody>
      </p:sp>
      <p:sp>
        <p:nvSpPr>
          <p:cNvPr id="48" name="Shape 39"/>
          <p:cNvSpPr/>
          <p:nvPr/>
        </p:nvSpPr>
        <p:spPr>
          <a:xfrm>
            <a:off x="2463394" y="3771900"/>
            <a:ext cx="1647749" cy="694944"/>
          </a:xfrm>
          <a:prstGeom prst="roundRect">
            <a:avLst>
              <a:gd name="adj" fmla="val 21629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2549347" y="3898087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2673706" y="3857854"/>
            <a:ext cx="3913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第二步</a:t>
            </a:r>
            <a:endParaRPr lang="en-US" sz="800" dirty="0"/>
          </a:p>
        </p:txBody>
      </p:sp>
      <p:sp>
        <p:nvSpPr>
          <p:cNvPr id="51" name="Text 42"/>
          <p:cNvSpPr txBox="1"/>
          <p:nvPr/>
        </p:nvSpPr>
        <p:spPr>
          <a:xfrm>
            <a:off x="2549347" y="4062679"/>
            <a:ext cx="159471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重新定价</a:t>
            </a:r>
            <a:endParaRPr lang="en-US" sz="900" dirty="0"/>
          </a:p>
        </p:txBody>
      </p:sp>
      <p:sp>
        <p:nvSpPr>
          <p:cNvPr id="52" name="Text 43"/>
          <p:cNvSpPr txBox="1"/>
          <p:nvPr/>
        </p:nvSpPr>
        <p:spPr>
          <a:xfrm>
            <a:off x="2549347" y="4233672"/>
            <a:ext cx="159471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债券要求更高收益率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4203497" y="3771900"/>
            <a:ext cx="1647749" cy="694944"/>
          </a:xfrm>
          <a:prstGeom prst="roundRect">
            <a:avLst>
              <a:gd name="adj" fmla="val 21629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4289450" y="3898087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4412894" y="3857854"/>
            <a:ext cx="3913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第三步</a:t>
            </a:r>
            <a:endParaRPr lang="en-US" sz="800" dirty="0"/>
          </a:p>
        </p:txBody>
      </p:sp>
      <p:sp>
        <p:nvSpPr>
          <p:cNvPr id="56" name="Text 47"/>
          <p:cNvSpPr txBox="1"/>
          <p:nvPr/>
        </p:nvSpPr>
        <p:spPr>
          <a:xfrm>
            <a:off x="4289450" y="4062679"/>
            <a:ext cx="159471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自我实现</a:t>
            </a:r>
            <a:endParaRPr lang="en-US" sz="900" dirty="0"/>
          </a:p>
        </p:txBody>
      </p:sp>
      <p:sp>
        <p:nvSpPr>
          <p:cNvPr id="57" name="Text 48"/>
          <p:cNvSpPr txBox="1"/>
          <p:nvPr/>
        </p:nvSpPr>
        <p:spPr>
          <a:xfrm>
            <a:off x="4289450" y="4233672"/>
            <a:ext cx="159471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通胀自我强化</a:t>
            </a:r>
            <a:endParaRPr lang="en-US" sz="800" dirty="0"/>
          </a:p>
        </p:txBody>
      </p:sp>
      <p:sp>
        <p:nvSpPr>
          <p:cNvPr id="58" name="Shape 49"/>
          <p:cNvSpPr/>
          <p:nvPr/>
        </p:nvSpPr>
        <p:spPr>
          <a:xfrm>
            <a:off x="6191402" y="1524305"/>
            <a:ext cx="5429707" cy="1828800"/>
          </a:xfrm>
          <a:prstGeom prst="roundRect">
            <a:avLst>
              <a:gd name="adj" fmla="val 6250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344107" y="1699870"/>
            <a:ext cx="152705" cy="152705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6590995" y="1676095"/>
            <a:ext cx="8769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认知错位分析</a:t>
            </a:r>
            <a:endParaRPr lang="en-US" sz="1000" dirty="0"/>
          </a:p>
        </p:txBody>
      </p:sp>
      <p:sp>
        <p:nvSpPr>
          <p:cNvPr id="61" name="Text 51"/>
          <p:cNvSpPr txBox="1"/>
          <p:nvPr/>
        </p:nvSpPr>
        <p:spPr>
          <a:xfrm>
            <a:off x="10593324" y="1690726"/>
            <a:ext cx="100309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市场 vs 应该交易</a:t>
            </a:r>
            <a:endParaRPr lang="en-US" sz="900" dirty="0"/>
          </a:p>
        </p:txBody>
      </p:sp>
      <p:sp>
        <p:nvSpPr>
          <p:cNvPr id="62" name="Shape 52"/>
          <p:cNvSpPr/>
          <p:nvPr/>
        </p:nvSpPr>
        <p:spPr>
          <a:xfrm>
            <a:off x="6344107" y="1971446"/>
            <a:ext cx="5124298" cy="571500"/>
          </a:xfrm>
          <a:prstGeom prst="roundRect">
            <a:avLst>
              <a:gd name="adj" fmla="val 32000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3"/>
          <p:cNvSpPr txBox="1"/>
          <p:nvPr/>
        </p:nvSpPr>
        <p:spPr>
          <a:xfrm>
            <a:off x="6439205" y="2066544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市场当前交易</a:t>
            </a:r>
            <a:endParaRPr lang="en-US" sz="900" dirty="0"/>
          </a:p>
        </p:txBody>
      </p:sp>
      <p:sp>
        <p:nvSpPr>
          <p:cNvPr id="64" name="Text 54"/>
          <p:cNvSpPr txBox="1"/>
          <p:nvPr/>
        </p:nvSpPr>
        <p:spPr>
          <a:xfrm>
            <a:off x="10740542" y="2066544"/>
            <a:ext cx="71506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❌ 通胀思维</a:t>
            </a:r>
            <a:endParaRPr lang="en-US" sz="900" dirty="0"/>
          </a:p>
        </p:txBody>
      </p:sp>
      <p:sp>
        <p:nvSpPr>
          <p:cNvPr id="65" name="Text 55"/>
          <p:cNvSpPr txBox="1"/>
          <p:nvPr/>
        </p:nvSpPr>
        <p:spPr>
          <a:xfrm>
            <a:off x="6439205" y="2286000"/>
            <a:ext cx="5125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油价↑→通胀↑→加息→持有美元/空股票</a:t>
            </a:r>
            <a:endParaRPr lang="en-US" sz="800" dirty="0"/>
          </a:p>
        </p:txBody>
      </p:sp>
      <p:sp>
        <p:nvSpPr>
          <p:cNvPr id="66" name="Shape 56"/>
          <p:cNvSpPr/>
          <p:nvPr/>
        </p:nvSpPr>
        <p:spPr>
          <a:xfrm>
            <a:off x="6344107" y="2633472"/>
            <a:ext cx="5124298" cy="571500"/>
          </a:xfrm>
          <a:prstGeom prst="roundRect">
            <a:avLst>
              <a:gd name="adj" fmla="val 32000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57"/>
          <p:cNvSpPr txBox="1"/>
          <p:nvPr/>
        </p:nvSpPr>
        <p:spPr>
          <a:xfrm>
            <a:off x="6439205" y="2728570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应该交易</a:t>
            </a:r>
            <a:endParaRPr lang="en-US" sz="900" dirty="0"/>
          </a:p>
        </p:txBody>
      </p:sp>
      <p:sp>
        <p:nvSpPr>
          <p:cNvPr id="68" name="Text 58"/>
          <p:cNvSpPr txBox="1"/>
          <p:nvPr/>
        </p:nvSpPr>
        <p:spPr>
          <a:xfrm>
            <a:off x="10805465" y="2728570"/>
            <a:ext cx="64831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✓ 衰退思维</a:t>
            </a:r>
            <a:endParaRPr lang="en-US" sz="900" dirty="0"/>
          </a:p>
        </p:txBody>
      </p:sp>
      <p:sp>
        <p:nvSpPr>
          <p:cNvPr id="69" name="Text 59"/>
          <p:cNvSpPr txBox="1"/>
          <p:nvPr/>
        </p:nvSpPr>
        <p:spPr>
          <a:xfrm>
            <a:off x="6439205" y="2948026"/>
            <a:ext cx="51252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油价↑→经济受伤→增长↓→最终降息→做多债券</a:t>
            </a:r>
            <a:endParaRPr lang="en-US" sz="800" dirty="0"/>
          </a:p>
        </p:txBody>
      </p:sp>
      <p:sp>
        <p:nvSpPr>
          <p:cNvPr id="70" name="Shape 60"/>
          <p:cNvSpPr/>
          <p:nvPr/>
        </p:nvSpPr>
        <p:spPr>
          <a:xfrm>
            <a:off x="6191402" y="3495751"/>
            <a:ext cx="5429707" cy="1695298"/>
          </a:xfrm>
          <a:prstGeom prst="roundRect">
            <a:avLst>
              <a:gd name="adj" fmla="val 7272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71" name="Image 8" descr="preencoded.png"/>
          <p:cNvPicPr>
            <a:picLocks noChangeAspect="1"/>
          </p:cNvPicPr>
          <p:nvPr/>
        </p:nvPicPr>
        <p:blipFill>
          <a:blip r:embed="rId8"/>
          <a:srcRect t="-100" b="-100"/>
          <a:stretch>
            <a:fillRect/>
          </a:stretch>
        </p:blipFill>
        <p:spPr>
          <a:xfrm>
            <a:off x="6344107" y="3672230"/>
            <a:ext cx="114300" cy="152705"/>
          </a:xfrm>
          <a:prstGeom prst="rect">
            <a:avLst/>
          </a:prstGeom>
        </p:spPr>
      </p:pic>
      <p:sp>
        <p:nvSpPr>
          <p:cNvPr id="72" name="Text 61"/>
          <p:cNvSpPr txBox="1"/>
          <p:nvPr/>
        </p:nvSpPr>
        <p:spPr>
          <a:xfrm>
            <a:off x="6553505" y="3648456"/>
            <a:ext cx="8769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切换触发条件</a:t>
            </a:r>
            <a:endParaRPr lang="en-US" sz="1000" dirty="0"/>
          </a:p>
        </p:txBody>
      </p:sp>
      <p:sp>
        <p:nvSpPr>
          <p:cNvPr id="73" name="Text 62"/>
          <p:cNvSpPr txBox="1"/>
          <p:nvPr/>
        </p:nvSpPr>
        <p:spPr>
          <a:xfrm>
            <a:off x="11011205" y="3662172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任一即可</a:t>
            </a:r>
            <a:endParaRPr lang="en-US" sz="900" dirty="0"/>
          </a:p>
        </p:txBody>
      </p:sp>
      <p:sp>
        <p:nvSpPr>
          <p:cNvPr id="74" name="Shape 63"/>
          <p:cNvSpPr/>
          <p:nvPr/>
        </p:nvSpPr>
        <p:spPr>
          <a:xfrm>
            <a:off x="6344107" y="3943807"/>
            <a:ext cx="2514600" cy="504749"/>
          </a:xfrm>
          <a:prstGeom prst="roundRect">
            <a:avLst>
              <a:gd name="adj" fmla="val 41017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pic>
        <p:nvPicPr>
          <p:cNvPr id="75" name="Image 9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429146" y="4059936"/>
            <a:ext cx="95098" cy="95098"/>
          </a:xfrm>
          <a:prstGeom prst="rect">
            <a:avLst/>
          </a:prstGeom>
        </p:spPr>
      </p:pic>
      <p:sp>
        <p:nvSpPr>
          <p:cNvPr id="76" name="Text 64"/>
          <p:cNvSpPr txBox="1"/>
          <p:nvPr/>
        </p:nvSpPr>
        <p:spPr>
          <a:xfrm>
            <a:off x="6572707" y="4028846"/>
            <a:ext cx="7050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经济数据转弱</a:t>
            </a:r>
            <a:endParaRPr lang="en-US" sz="800" dirty="0"/>
          </a:p>
        </p:txBody>
      </p:sp>
      <p:sp>
        <p:nvSpPr>
          <p:cNvPr id="77" name="Text 65"/>
          <p:cNvSpPr txBox="1"/>
          <p:nvPr/>
        </p:nvSpPr>
        <p:spPr>
          <a:xfrm>
            <a:off x="6429146" y="4214470"/>
            <a:ext cx="253105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非农转负/PMI跌破荣枯线</a:t>
            </a:r>
            <a:endParaRPr lang="en-US" sz="800" dirty="0"/>
          </a:p>
        </p:txBody>
      </p:sp>
      <p:sp>
        <p:nvSpPr>
          <p:cNvPr id="78" name="Shape 66"/>
          <p:cNvSpPr/>
          <p:nvPr/>
        </p:nvSpPr>
        <p:spPr>
          <a:xfrm>
            <a:off x="8953805" y="3943807"/>
            <a:ext cx="2514600" cy="504749"/>
          </a:xfrm>
          <a:prstGeom prst="roundRect">
            <a:avLst>
              <a:gd name="adj" fmla="val 41017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pic>
        <p:nvPicPr>
          <p:cNvPr id="79" name="Image 10" descr="preencoded.png"/>
          <p:cNvPicPr>
            <a:picLocks noChangeAspect="1"/>
          </p:cNvPicPr>
          <p:nvPr/>
        </p:nvPicPr>
        <p:blipFill>
          <a:blip r:embed="rId10"/>
          <a:srcRect t="-870" b="-870"/>
          <a:stretch>
            <a:fillRect/>
          </a:stretch>
        </p:blipFill>
        <p:spPr>
          <a:xfrm>
            <a:off x="9038844" y="4059936"/>
            <a:ext cx="105156" cy="95098"/>
          </a:xfrm>
          <a:prstGeom prst="rect">
            <a:avLst/>
          </a:prstGeom>
        </p:spPr>
      </p:pic>
      <p:sp>
        <p:nvSpPr>
          <p:cNvPr id="80" name="Text 67"/>
          <p:cNvSpPr txBox="1"/>
          <p:nvPr/>
        </p:nvSpPr>
        <p:spPr>
          <a:xfrm>
            <a:off x="9191549" y="4028846"/>
            <a:ext cx="70500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信用利差飙升</a:t>
            </a:r>
            <a:endParaRPr lang="en-US" sz="800" dirty="0"/>
          </a:p>
        </p:txBody>
      </p:sp>
      <p:sp>
        <p:nvSpPr>
          <p:cNvPr id="81" name="Text 68"/>
          <p:cNvSpPr txBox="1"/>
          <p:nvPr/>
        </p:nvSpPr>
        <p:spPr>
          <a:xfrm>
            <a:off x="9038844" y="4214470"/>
            <a:ext cx="253105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金融条件过度收紧</a:t>
            </a:r>
            <a:endParaRPr lang="en-US" sz="800" dirty="0"/>
          </a:p>
        </p:txBody>
      </p:sp>
      <p:sp>
        <p:nvSpPr>
          <p:cNvPr id="82" name="Shape 69"/>
          <p:cNvSpPr/>
          <p:nvPr/>
        </p:nvSpPr>
        <p:spPr>
          <a:xfrm>
            <a:off x="6344107" y="4539082"/>
            <a:ext cx="2514600" cy="504749"/>
          </a:xfrm>
          <a:prstGeom prst="roundRect">
            <a:avLst>
              <a:gd name="adj" fmla="val 41017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pic>
        <p:nvPicPr>
          <p:cNvPr id="83" name="Image 11" descr="preencoded.png"/>
          <p:cNvPicPr>
            <a:picLocks noChangeAspect="1"/>
          </p:cNvPicPr>
          <p:nvPr/>
        </p:nvPicPr>
        <p:blipFill>
          <a:blip r:embed="rId11"/>
          <a:srcRect l="-1923" r="-1923"/>
          <a:stretch>
            <a:fillRect/>
          </a:stretch>
        </p:blipFill>
        <p:spPr>
          <a:xfrm>
            <a:off x="6429146" y="4655210"/>
            <a:ext cx="123444" cy="95098"/>
          </a:xfrm>
          <a:prstGeom prst="rect">
            <a:avLst/>
          </a:prstGeom>
        </p:spPr>
      </p:pic>
      <p:sp>
        <p:nvSpPr>
          <p:cNvPr id="84" name="Text 70"/>
          <p:cNvSpPr txBox="1"/>
          <p:nvPr/>
        </p:nvSpPr>
        <p:spPr>
          <a:xfrm>
            <a:off x="6601054" y="4624121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油价再冲</a:t>
            </a:r>
            <a:endParaRPr lang="en-US" sz="800" dirty="0"/>
          </a:p>
        </p:txBody>
      </p:sp>
      <p:sp>
        <p:nvSpPr>
          <p:cNvPr id="85" name="Text 71"/>
          <p:cNvSpPr txBox="1"/>
          <p:nvPr/>
        </p:nvSpPr>
        <p:spPr>
          <a:xfrm>
            <a:off x="6429146" y="4809744"/>
            <a:ext cx="253105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需求破坏+衰退双杀</a:t>
            </a:r>
            <a:endParaRPr lang="en-US" sz="800" dirty="0"/>
          </a:p>
        </p:txBody>
      </p:sp>
      <p:sp>
        <p:nvSpPr>
          <p:cNvPr id="86" name="Shape 72"/>
          <p:cNvSpPr/>
          <p:nvPr/>
        </p:nvSpPr>
        <p:spPr>
          <a:xfrm>
            <a:off x="8953805" y="4539082"/>
            <a:ext cx="2514600" cy="504749"/>
          </a:xfrm>
          <a:prstGeom prst="roundRect">
            <a:avLst>
              <a:gd name="adj" fmla="val 41017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pic>
        <p:nvPicPr>
          <p:cNvPr id="87" name="Image 12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038844" y="4655210"/>
            <a:ext cx="95098" cy="95098"/>
          </a:xfrm>
          <a:prstGeom prst="rect">
            <a:avLst/>
          </a:prstGeom>
        </p:spPr>
      </p:pic>
      <p:sp>
        <p:nvSpPr>
          <p:cNvPr id="88" name="Text 73"/>
          <p:cNvSpPr txBox="1"/>
          <p:nvPr/>
        </p:nvSpPr>
        <p:spPr>
          <a:xfrm>
            <a:off x="9182405" y="4624121"/>
            <a:ext cx="6007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流动性危机</a:t>
            </a:r>
            <a:endParaRPr lang="en-US" sz="800" dirty="0"/>
          </a:p>
        </p:txBody>
      </p:sp>
      <p:sp>
        <p:nvSpPr>
          <p:cNvPr id="89" name="Text 74"/>
          <p:cNvSpPr txBox="1"/>
          <p:nvPr/>
        </p:nvSpPr>
        <p:spPr>
          <a:xfrm>
            <a:off x="9038844" y="4809744"/>
            <a:ext cx="253105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被迫平仓连锁效应</a:t>
            </a:r>
            <a:endParaRPr lang="en-US" sz="800" dirty="0"/>
          </a:p>
        </p:txBody>
      </p:sp>
      <p:sp>
        <p:nvSpPr>
          <p:cNvPr id="90" name="Shape 75"/>
          <p:cNvSpPr/>
          <p:nvPr/>
        </p:nvSpPr>
        <p:spPr>
          <a:xfrm>
            <a:off x="571500" y="6439205"/>
            <a:ext cx="75895" cy="7589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Text 76"/>
          <p:cNvSpPr txBox="1"/>
          <p:nvPr/>
        </p:nvSpPr>
        <p:spPr>
          <a:xfrm>
            <a:off x="743407" y="6391656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滞胀交易回归</a:t>
            </a:r>
            <a:endParaRPr lang="en-US" sz="900" dirty="0"/>
          </a:p>
        </p:txBody>
      </p:sp>
      <p:sp>
        <p:nvSpPr>
          <p:cNvPr id="92" name="Shape 77"/>
          <p:cNvSpPr/>
          <p:nvPr/>
        </p:nvSpPr>
        <p:spPr>
          <a:xfrm>
            <a:off x="1714500" y="6439205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Text 78"/>
          <p:cNvSpPr txBox="1"/>
          <p:nvPr/>
        </p:nvSpPr>
        <p:spPr>
          <a:xfrm>
            <a:off x="1886407" y="6391656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通胀预期脱锚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-400" r="-400"/>
          <a:stretch>
            <a:fillRect/>
          </a:stretch>
        </p:blipFill>
        <p:spPr>
          <a:xfrm>
            <a:off x="0" y="0"/>
            <a:ext cx="57607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rcRect l="-4" r="-4"/>
          <a:stretch>
            <a:fillRect/>
          </a:stretch>
        </p:blipFill>
        <p:spPr>
          <a:xfrm>
            <a:off x="8382305" y="0"/>
            <a:ext cx="3810305" cy="6858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305" y="286207"/>
            <a:ext cx="190195" cy="190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714146" y="280721"/>
            <a:ext cx="202082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GLOBAL EQUITY ALLOCATION</a:t>
            </a:r>
            <a:endParaRPr lang="en-US" sz="1000" dirty="0"/>
          </a:p>
        </p:txBody>
      </p:sp>
      <p:sp>
        <p:nvSpPr>
          <p:cNvPr id="11" name="Text 4"/>
          <p:cNvSpPr txBox="1"/>
          <p:nvPr/>
        </p:nvSpPr>
        <p:spPr>
          <a:xfrm>
            <a:off x="571500" y="1067105"/>
            <a:ext cx="8278063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美股｜A股｜港股</a:t>
            </a:r>
            <a:r>
              <a:rPr lang="en-US" sz="2100" b="1" dirty="0">
                <a:solidFill>
                  <a:srgbClr val="FF95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配置策略</a:t>
            </a: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与投资机会 </a:t>
            </a:r>
            <a:endParaRPr lang="en-US" sz="2100" dirty="0"/>
          </a:p>
        </p:txBody>
      </p:sp>
      <p:sp>
        <p:nvSpPr>
          <p:cNvPr id="12" name="Shape 5"/>
          <p:cNvSpPr/>
          <p:nvPr/>
        </p:nvSpPr>
        <p:spPr>
          <a:xfrm>
            <a:off x="8934602" y="874166"/>
            <a:ext cx="1304849" cy="400507"/>
          </a:xfrm>
          <a:prstGeom prst="roundRect">
            <a:avLst>
              <a:gd name="adj" fmla="val 86975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0372954" y="874166"/>
            <a:ext cx="1248156" cy="400507"/>
          </a:xfrm>
          <a:prstGeom prst="roundRect">
            <a:avLst>
              <a:gd name="adj" fmla="val 86975"/>
            </a:avLst>
          </a:prstGeom>
          <a:solidFill>
            <a:srgbClr val="FF9500">
              <a:alpha val="1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71500" y="800100"/>
            <a:ext cx="181142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全球资产配置策略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9087307" y="1016813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市场状态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9544507" y="998525"/>
            <a:ext cx="6099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防御为主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0525658" y="1016813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配置重点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0982858" y="998525"/>
            <a:ext cx="5623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3大市场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71500" y="1429207"/>
            <a:ext cx="3562502" cy="4762195"/>
          </a:xfrm>
          <a:prstGeom prst="roundRect">
            <a:avLst>
              <a:gd name="adj" fmla="val 1647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733349" y="1676095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923544" y="1616659"/>
            <a:ext cx="37216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美股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3069641" y="1591056"/>
            <a:ext cx="905256" cy="267005"/>
          </a:xfrm>
          <a:prstGeom prst="roundRect">
            <a:avLst>
              <a:gd name="adj" fmla="val 97847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155594" y="1666951"/>
            <a:ext cx="114300" cy="1143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308299" y="1591056"/>
            <a:ext cx="63825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无灵魂反弹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733349" y="1971446"/>
            <a:ext cx="3238805" cy="580644"/>
          </a:xfrm>
          <a:prstGeom prst="roundRect">
            <a:avLst>
              <a:gd name="adj" fmla="val 41306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828446" y="20665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核心判断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2878531" y="2066544"/>
            <a:ext cx="108082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空头回补+被动买盘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828446" y="2286000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主动多头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3641141" y="2286000"/>
            <a:ext cx="3145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缺席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733349" y="2648102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反弹质量</a:t>
            </a:r>
            <a:endParaRPr lang="en-US" sz="800" dirty="0"/>
          </a:p>
        </p:txBody>
      </p:sp>
      <p:sp>
        <p:nvSpPr>
          <p:cNvPr id="31" name="Text 23"/>
          <p:cNvSpPr txBox="1"/>
          <p:nvPr/>
        </p:nvSpPr>
        <p:spPr>
          <a:xfrm>
            <a:off x="3735324" y="2648102"/>
            <a:ext cx="3145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65%</a:t>
            </a:r>
            <a:endParaRPr lang="en-US" sz="80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6"/>
          <a:srcRect t="-395" b="-395"/>
          <a:stretch>
            <a:fillRect/>
          </a:stretch>
        </p:blipFill>
        <p:spPr>
          <a:xfrm>
            <a:off x="733349" y="2852928"/>
            <a:ext cx="3232404" cy="57607"/>
          </a:xfrm>
          <a:prstGeom prst="rect">
            <a:avLst/>
          </a:prstGeom>
        </p:spPr>
      </p:pic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7"/>
          <a:srcRect t="-390" b="-390"/>
          <a:stretch>
            <a:fillRect/>
          </a:stretch>
        </p:blipFill>
        <p:spPr>
          <a:xfrm>
            <a:off x="733349" y="2852928"/>
            <a:ext cx="2101291" cy="57607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733349" y="5315407"/>
            <a:ext cx="1571854" cy="485546"/>
          </a:xfrm>
          <a:prstGeom prst="roundRect">
            <a:avLst>
              <a:gd name="adj" fmla="val 44312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771754" y="5391302"/>
            <a:ext cx="14959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-2.5%</a:t>
            </a:r>
            <a:endParaRPr lang="en-US" sz="900" dirty="0"/>
          </a:p>
        </p:txBody>
      </p:sp>
      <p:sp>
        <p:nvSpPr>
          <p:cNvPr id="36" name="Text 26"/>
          <p:cNvSpPr txBox="1"/>
          <p:nvPr/>
        </p:nvSpPr>
        <p:spPr>
          <a:xfrm>
            <a:off x="752551" y="5576926"/>
            <a:ext cx="153344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本周跌幅</a:t>
            </a:r>
            <a:endParaRPr lang="en-US" sz="800" dirty="0"/>
          </a:p>
        </p:txBody>
      </p:sp>
      <p:sp>
        <p:nvSpPr>
          <p:cNvPr id="37" name="Shape 27"/>
          <p:cNvSpPr/>
          <p:nvPr/>
        </p:nvSpPr>
        <p:spPr>
          <a:xfrm>
            <a:off x="2396642" y="5315407"/>
            <a:ext cx="1571854" cy="485546"/>
          </a:xfrm>
          <a:prstGeom prst="roundRect">
            <a:avLst>
              <a:gd name="adj" fmla="val 44312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2435047" y="5391302"/>
            <a:ext cx="14959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470亿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2435047" y="5576926"/>
            <a:ext cx="14959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CTA净空</a:t>
            </a:r>
            <a:endParaRPr lang="en-US" sz="800" dirty="0"/>
          </a:p>
        </p:txBody>
      </p:sp>
      <p:sp>
        <p:nvSpPr>
          <p:cNvPr id="40" name="Text 30"/>
          <p:cNvSpPr txBox="1"/>
          <p:nvPr/>
        </p:nvSpPr>
        <p:spPr>
          <a:xfrm>
            <a:off x="915314" y="5872277"/>
            <a:ext cx="324703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无主动做多信仰,上涨缺乏持续性 </a:t>
            </a:r>
            <a:endParaRPr lang="en-US" sz="800" dirty="0"/>
          </a:p>
        </p:txBody>
      </p:sp>
      <p:sp>
        <p:nvSpPr>
          <p:cNvPr id="41" name="Shape 31"/>
          <p:cNvSpPr/>
          <p:nvPr/>
        </p:nvSpPr>
        <p:spPr>
          <a:xfrm>
            <a:off x="4317797" y="1429207"/>
            <a:ext cx="3562502" cy="4762195"/>
          </a:xfrm>
          <a:prstGeom prst="roundRect">
            <a:avLst>
              <a:gd name="adj" fmla="val 1647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4479646" y="1676095"/>
            <a:ext cx="95098" cy="9509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4670755" y="1616659"/>
            <a:ext cx="3246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A股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6931152" y="1591056"/>
            <a:ext cx="790956" cy="267005"/>
          </a:xfrm>
          <a:prstGeom prst="roundRect">
            <a:avLst>
              <a:gd name="adj" fmla="val 97847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016191" y="1666951"/>
            <a:ext cx="114300" cy="11430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7168896" y="1591056"/>
            <a:ext cx="52395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三护城河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4479646" y="1971446"/>
            <a:ext cx="3238805" cy="580644"/>
          </a:xfrm>
          <a:prstGeom prst="roundRect">
            <a:avLst>
              <a:gd name="adj" fmla="val 41306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7"/>
          <p:cNvSpPr txBox="1"/>
          <p:nvPr/>
        </p:nvSpPr>
        <p:spPr>
          <a:xfrm>
            <a:off x="4574743" y="20665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防御优势</a:t>
            </a:r>
            <a:endParaRPr lang="en-US" sz="900" dirty="0"/>
          </a:p>
        </p:txBody>
      </p:sp>
      <p:sp>
        <p:nvSpPr>
          <p:cNvPr id="49" name="Text 38"/>
          <p:cNvSpPr txBox="1"/>
          <p:nvPr/>
        </p:nvSpPr>
        <p:spPr>
          <a:xfrm>
            <a:off x="7159752" y="20665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相对抗跌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4574743" y="2286000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外资占比</a:t>
            </a:r>
            <a:endParaRPr lang="en-US" sz="900" dirty="0"/>
          </a:p>
        </p:txBody>
      </p:sp>
      <p:sp>
        <p:nvSpPr>
          <p:cNvPr id="51" name="Text 40"/>
          <p:cNvSpPr txBox="1"/>
          <p:nvPr/>
        </p:nvSpPr>
        <p:spPr>
          <a:xfrm>
            <a:off x="7502652" y="2286000"/>
            <a:ext cx="2002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低</a:t>
            </a:r>
            <a:endParaRPr lang="en-US" sz="900" dirty="0"/>
          </a:p>
        </p:txBody>
      </p:sp>
      <p:sp>
        <p:nvSpPr>
          <p:cNvPr id="52" name="Text 41"/>
          <p:cNvSpPr txBox="1"/>
          <p:nvPr/>
        </p:nvSpPr>
        <p:spPr>
          <a:xfrm>
            <a:off x="4479646" y="2648102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防御能力</a:t>
            </a:r>
            <a:endParaRPr lang="en-US" sz="800" dirty="0"/>
          </a:p>
        </p:txBody>
      </p:sp>
      <p:sp>
        <p:nvSpPr>
          <p:cNvPr id="53" name="Text 42"/>
          <p:cNvSpPr txBox="1"/>
          <p:nvPr/>
        </p:nvSpPr>
        <p:spPr>
          <a:xfrm>
            <a:off x="7481621" y="2648102"/>
            <a:ext cx="31455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85%</a:t>
            </a:r>
            <a:endParaRPr lang="en-US" sz="800" dirty="0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6"/>
          <a:srcRect t="-395" b="-395"/>
          <a:stretch>
            <a:fillRect/>
          </a:stretch>
        </p:blipFill>
        <p:spPr>
          <a:xfrm>
            <a:off x="4479646" y="2852928"/>
            <a:ext cx="3232404" cy="57607"/>
          </a:xfrm>
          <a:prstGeom prst="rect">
            <a:avLst/>
          </a:prstGeom>
        </p:spPr>
      </p:pic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9"/>
          <a:srcRect t="-407" b="-407"/>
          <a:stretch>
            <a:fillRect/>
          </a:stretch>
        </p:blipFill>
        <p:spPr>
          <a:xfrm>
            <a:off x="4479646" y="2852928"/>
            <a:ext cx="2746858" cy="57607"/>
          </a:xfrm>
          <a:prstGeom prst="rect">
            <a:avLst/>
          </a:prstGeom>
        </p:spPr>
      </p:pic>
      <p:sp>
        <p:nvSpPr>
          <p:cNvPr id="56" name="Shape 43"/>
          <p:cNvSpPr/>
          <p:nvPr/>
        </p:nvSpPr>
        <p:spPr>
          <a:xfrm>
            <a:off x="4479646" y="5315407"/>
            <a:ext cx="1571854" cy="485546"/>
          </a:xfrm>
          <a:prstGeom prst="roundRect">
            <a:avLst>
              <a:gd name="adj" fmla="val 44312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4"/>
          <p:cNvSpPr txBox="1"/>
          <p:nvPr/>
        </p:nvSpPr>
        <p:spPr>
          <a:xfrm>
            <a:off x="4518050" y="5391302"/>
            <a:ext cx="14959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+1.2%</a:t>
            </a:r>
            <a:endParaRPr lang="en-US" sz="900" dirty="0"/>
          </a:p>
        </p:txBody>
      </p:sp>
      <p:sp>
        <p:nvSpPr>
          <p:cNvPr id="58" name="Text 45"/>
          <p:cNvSpPr txBox="1"/>
          <p:nvPr/>
        </p:nvSpPr>
        <p:spPr>
          <a:xfrm>
            <a:off x="4499762" y="5576926"/>
            <a:ext cx="153344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本周涨幅</a:t>
            </a:r>
            <a:endParaRPr lang="en-US" sz="800" dirty="0"/>
          </a:p>
        </p:txBody>
      </p:sp>
      <p:sp>
        <p:nvSpPr>
          <p:cNvPr id="59" name="Shape 46"/>
          <p:cNvSpPr/>
          <p:nvPr/>
        </p:nvSpPr>
        <p:spPr>
          <a:xfrm>
            <a:off x="6143854" y="5315407"/>
            <a:ext cx="1571854" cy="485546"/>
          </a:xfrm>
          <a:prstGeom prst="roundRect">
            <a:avLst>
              <a:gd name="adj" fmla="val 44312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47"/>
          <p:cNvSpPr txBox="1"/>
          <p:nvPr/>
        </p:nvSpPr>
        <p:spPr>
          <a:xfrm>
            <a:off x="6163056" y="5391302"/>
            <a:ext cx="153344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三护城河</a:t>
            </a:r>
            <a:endParaRPr lang="en-US" sz="900" dirty="0"/>
          </a:p>
        </p:txBody>
      </p:sp>
      <p:sp>
        <p:nvSpPr>
          <p:cNvPr id="61" name="Text 48"/>
          <p:cNvSpPr txBox="1"/>
          <p:nvPr/>
        </p:nvSpPr>
        <p:spPr>
          <a:xfrm>
            <a:off x="6163056" y="5576926"/>
            <a:ext cx="153344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防御优势</a:t>
            </a:r>
            <a:endParaRPr lang="en-US" sz="800" dirty="0"/>
          </a:p>
        </p:txBody>
      </p:sp>
      <p:sp>
        <p:nvSpPr>
          <p:cNvPr id="62" name="Text 49"/>
          <p:cNvSpPr txBox="1"/>
          <p:nvPr/>
        </p:nvSpPr>
        <p:spPr>
          <a:xfrm>
            <a:off x="4661611" y="5872277"/>
            <a:ext cx="324703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供应链完整+能源结构安全 </a:t>
            </a:r>
            <a:endParaRPr lang="en-US" sz="800" dirty="0"/>
          </a:p>
        </p:txBody>
      </p:sp>
      <p:sp>
        <p:nvSpPr>
          <p:cNvPr id="63" name="Shape 50"/>
          <p:cNvSpPr/>
          <p:nvPr/>
        </p:nvSpPr>
        <p:spPr>
          <a:xfrm>
            <a:off x="8064094" y="1429207"/>
            <a:ext cx="3562502" cy="4762195"/>
          </a:xfrm>
          <a:prstGeom prst="roundRect">
            <a:avLst>
              <a:gd name="adj" fmla="val 1647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4" name="Shape 51"/>
          <p:cNvSpPr/>
          <p:nvPr/>
        </p:nvSpPr>
        <p:spPr>
          <a:xfrm>
            <a:off x="8225942" y="1676095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52"/>
          <p:cNvSpPr txBox="1"/>
          <p:nvPr/>
        </p:nvSpPr>
        <p:spPr>
          <a:xfrm>
            <a:off x="8417052" y="1616659"/>
            <a:ext cx="37216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港股</a:t>
            </a:r>
            <a:endParaRPr lang="en-US" sz="1100" dirty="0"/>
          </a:p>
        </p:txBody>
      </p:sp>
      <p:sp>
        <p:nvSpPr>
          <p:cNvPr id="66" name="Shape 53"/>
          <p:cNvSpPr/>
          <p:nvPr/>
        </p:nvSpPr>
        <p:spPr>
          <a:xfrm>
            <a:off x="10677449" y="1591056"/>
            <a:ext cx="790956" cy="267005"/>
          </a:xfrm>
          <a:prstGeom prst="roundRect">
            <a:avLst>
              <a:gd name="adj" fmla="val 97847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pic>
        <p:nvPicPr>
          <p:cNvPr id="67" name="Image 11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763402" y="1666951"/>
            <a:ext cx="114300" cy="114300"/>
          </a:xfrm>
          <a:prstGeom prst="rect">
            <a:avLst/>
          </a:prstGeom>
        </p:spPr>
      </p:pic>
      <p:sp>
        <p:nvSpPr>
          <p:cNvPr id="68" name="Text 54"/>
          <p:cNvSpPr txBox="1"/>
          <p:nvPr/>
        </p:nvSpPr>
        <p:spPr>
          <a:xfrm>
            <a:off x="10915193" y="1591056"/>
            <a:ext cx="52395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左侧布局</a:t>
            </a:r>
            <a:endParaRPr lang="en-US" sz="900" dirty="0"/>
          </a:p>
        </p:txBody>
      </p:sp>
      <p:sp>
        <p:nvSpPr>
          <p:cNvPr id="69" name="Shape 55"/>
          <p:cNvSpPr/>
          <p:nvPr/>
        </p:nvSpPr>
        <p:spPr>
          <a:xfrm>
            <a:off x="8225942" y="1971446"/>
            <a:ext cx="3238805" cy="580644"/>
          </a:xfrm>
          <a:prstGeom prst="roundRect">
            <a:avLst>
              <a:gd name="adj" fmla="val 41306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56"/>
          <p:cNvSpPr txBox="1"/>
          <p:nvPr/>
        </p:nvSpPr>
        <p:spPr>
          <a:xfrm>
            <a:off x="8321954" y="20665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市场状态</a:t>
            </a:r>
            <a:endParaRPr lang="en-US" sz="900" dirty="0"/>
          </a:p>
        </p:txBody>
      </p:sp>
      <p:sp>
        <p:nvSpPr>
          <p:cNvPr id="71" name="Text 57"/>
          <p:cNvSpPr txBox="1"/>
          <p:nvPr/>
        </p:nvSpPr>
        <p:spPr>
          <a:xfrm>
            <a:off x="10677449" y="2066544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牛市中期调整</a:t>
            </a:r>
            <a:endParaRPr lang="en-US" sz="900" dirty="0"/>
          </a:p>
        </p:txBody>
      </p:sp>
      <p:sp>
        <p:nvSpPr>
          <p:cNvPr id="72" name="Text 58"/>
          <p:cNvSpPr txBox="1"/>
          <p:nvPr/>
        </p:nvSpPr>
        <p:spPr>
          <a:xfrm>
            <a:off x="8321954" y="2286000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左侧窗口</a:t>
            </a:r>
            <a:endParaRPr lang="en-US" sz="900" dirty="0"/>
          </a:p>
        </p:txBody>
      </p:sp>
      <p:sp>
        <p:nvSpPr>
          <p:cNvPr id="73" name="Text 59"/>
          <p:cNvSpPr txBox="1"/>
          <p:nvPr/>
        </p:nvSpPr>
        <p:spPr>
          <a:xfrm>
            <a:off x="11020349" y="2286000"/>
            <a:ext cx="4288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已开启</a:t>
            </a:r>
            <a:endParaRPr lang="en-US" sz="900" dirty="0"/>
          </a:p>
        </p:txBody>
      </p:sp>
      <p:sp>
        <p:nvSpPr>
          <p:cNvPr id="74" name="Text 60"/>
          <p:cNvSpPr txBox="1"/>
          <p:nvPr/>
        </p:nvSpPr>
        <p:spPr>
          <a:xfrm>
            <a:off x="8225942" y="2648102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调整幅度</a:t>
            </a:r>
            <a:endParaRPr lang="en-US" sz="800" dirty="0"/>
          </a:p>
        </p:txBody>
      </p:sp>
      <p:sp>
        <p:nvSpPr>
          <p:cNvPr id="75" name="Text 61"/>
          <p:cNvSpPr txBox="1"/>
          <p:nvPr/>
        </p:nvSpPr>
        <p:spPr>
          <a:xfrm>
            <a:off x="11202314" y="2648102"/>
            <a:ext cx="3337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-15%</a:t>
            </a:r>
            <a:endParaRPr lang="en-US" sz="800" dirty="0"/>
          </a:p>
        </p:txBody>
      </p:sp>
      <p:pic>
        <p:nvPicPr>
          <p:cNvPr id="76" name="Image 12" descr="preencoded.png"/>
          <p:cNvPicPr>
            <a:picLocks noChangeAspect="1"/>
          </p:cNvPicPr>
          <p:nvPr/>
        </p:nvPicPr>
        <p:blipFill>
          <a:blip r:embed="rId11"/>
          <a:srcRect t="-398" b="-398"/>
          <a:stretch>
            <a:fillRect/>
          </a:stretch>
        </p:blipFill>
        <p:spPr>
          <a:xfrm>
            <a:off x="8225942" y="2852928"/>
            <a:ext cx="3232404" cy="57607"/>
          </a:xfrm>
          <a:prstGeom prst="rect">
            <a:avLst/>
          </a:prstGeom>
        </p:spPr>
      </p:pic>
      <p:pic>
        <p:nvPicPr>
          <p:cNvPr id="77" name="Image 13" descr="preencoded.png"/>
          <p:cNvPicPr>
            <a:picLocks noChangeAspect="1"/>
          </p:cNvPicPr>
          <p:nvPr/>
        </p:nvPicPr>
        <p:blipFill>
          <a:blip r:embed="rId12"/>
          <a:srcRect t="-401" b="-401"/>
          <a:stretch>
            <a:fillRect/>
          </a:stretch>
        </p:blipFill>
        <p:spPr>
          <a:xfrm>
            <a:off x="8225942" y="2852928"/>
            <a:ext cx="2424074" cy="57607"/>
          </a:xfrm>
          <a:prstGeom prst="rect">
            <a:avLst/>
          </a:prstGeom>
        </p:spPr>
      </p:pic>
      <p:sp>
        <p:nvSpPr>
          <p:cNvPr id="78" name="Shape 62"/>
          <p:cNvSpPr/>
          <p:nvPr/>
        </p:nvSpPr>
        <p:spPr>
          <a:xfrm>
            <a:off x="8225942" y="5315407"/>
            <a:ext cx="1571854" cy="485546"/>
          </a:xfrm>
          <a:prstGeom prst="roundRect">
            <a:avLst>
              <a:gd name="adj" fmla="val 44312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63"/>
          <p:cNvSpPr txBox="1"/>
          <p:nvPr/>
        </p:nvSpPr>
        <p:spPr>
          <a:xfrm>
            <a:off x="8264347" y="5391302"/>
            <a:ext cx="14959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-3.2%</a:t>
            </a:r>
            <a:endParaRPr lang="en-US" sz="900" dirty="0"/>
          </a:p>
        </p:txBody>
      </p:sp>
      <p:sp>
        <p:nvSpPr>
          <p:cNvPr id="80" name="Text 64"/>
          <p:cNvSpPr txBox="1"/>
          <p:nvPr/>
        </p:nvSpPr>
        <p:spPr>
          <a:xfrm>
            <a:off x="8246059" y="5576926"/>
            <a:ext cx="153344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本周跌幅</a:t>
            </a:r>
            <a:endParaRPr lang="en-US" sz="800" dirty="0"/>
          </a:p>
        </p:txBody>
      </p:sp>
      <p:sp>
        <p:nvSpPr>
          <p:cNvPr id="81" name="Shape 65"/>
          <p:cNvSpPr/>
          <p:nvPr/>
        </p:nvSpPr>
        <p:spPr>
          <a:xfrm>
            <a:off x="9890150" y="5315407"/>
            <a:ext cx="1571854" cy="485546"/>
          </a:xfrm>
          <a:prstGeom prst="roundRect">
            <a:avLst>
              <a:gd name="adj" fmla="val 44312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Text 66"/>
          <p:cNvSpPr txBox="1"/>
          <p:nvPr/>
        </p:nvSpPr>
        <p:spPr>
          <a:xfrm>
            <a:off x="9909353" y="5391302"/>
            <a:ext cx="153344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左侧</a:t>
            </a:r>
            <a:endParaRPr lang="en-US" sz="900" dirty="0"/>
          </a:p>
        </p:txBody>
      </p:sp>
      <p:sp>
        <p:nvSpPr>
          <p:cNvPr id="83" name="Text 67"/>
          <p:cNvSpPr txBox="1"/>
          <p:nvPr/>
        </p:nvSpPr>
        <p:spPr>
          <a:xfrm>
            <a:off x="9909353" y="5576926"/>
            <a:ext cx="1533449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布局窗口</a:t>
            </a:r>
            <a:endParaRPr lang="en-US" sz="800" dirty="0"/>
          </a:p>
        </p:txBody>
      </p:sp>
      <p:sp>
        <p:nvSpPr>
          <p:cNvPr id="84" name="Text 68"/>
          <p:cNvSpPr txBox="1"/>
          <p:nvPr/>
        </p:nvSpPr>
        <p:spPr>
          <a:xfrm>
            <a:off x="8407908" y="5872277"/>
            <a:ext cx="324703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年内首次左侧做多窗口 </a:t>
            </a:r>
            <a:endParaRPr lang="en-US" sz="800" dirty="0"/>
          </a:p>
        </p:txBody>
      </p:sp>
      <p:pic>
        <p:nvPicPr>
          <p:cNvPr id="85" name="Image 14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733349" y="5895137"/>
            <a:ext cx="105156" cy="105156"/>
          </a:xfrm>
          <a:prstGeom prst="rect">
            <a:avLst/>
          </a:prstGeom>
        </p:spPr>
      </p:pic>
      <p:pic>
        <p:nvPicPr>
          <p:cNvPr id="86" name="Image 15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4479646" y="5895137"/>
            <a:ext cx="105156" cy="105156"/>
          </a:xfrm>
          <a:prstGeom prst="rect">
            <a:avLst/>
          </a:prstGeom>
        </p:spPr>
      </p:pic>
      <p:pic>
        <p:nvPicPr>
          <p:cNvPr id="87" name="Image 16" descr="preencoded.pn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8225942" y="5895137"/>
            <a:ext cx="105156" cy="105156"/>
          </a:xfrm>
          <a:prstGeom prst="rect">
            <a:avLst/>
          </a:prstGeom>
        </p:spPr>
      </p:pic>
      <p:sp>
        <p:nvSpPr>
          <p:cNvPr id="88" name="Shape 69"/>
          <p:cNvSpPr/>
          <p:nvPr/>
        </p:nvSpPr>
        <p:spPr>
          <a:xfrm>
            <a:off x="571500" y="6305702"/>
            <a:ext cx="4257446" cy="381305"/>
          </a:xfrm>
          <a:prstGeom prst="roundRect">
            <a:avLst>
              <a:gd name="adj" fmla="val 95923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89" name="Image 17" descr="preencoded.png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771754" y="6429146"/>
            <a:ext cx="133502" cy="133502"/>
          </a:xfrm>
          <a:prstGeom prst="rect">
            <a:avLst/>
          </a:prstGeom>
        </p:spPr>
      </p:pic>
      <p:sp>
        <p:nvSpPr>
          <p:cNvPr id="90" name="Text 70"/>
          <p:cNvSpPr txBox="1"/>
          <p:nvPr/>
        </p:nvSpPr>
        <p:spPr>
          <a:xfrm>
            <a:off x="1000354" y="6305702"/>
            <a:ext cx="3706063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关键洞察：美股无灵魂反弹，A股三护城河防御，港股左侧布局窗口已开</a:t>
            </a:r>
            <a:endParaRPr lang="en-US" sz="900" dirty="0"/>
          </a:p>
        </p:txBody>
      </p:sp>
      <p:sp>
        <p:nvSpPr>
          <p:cNvPr id="91" name="Shape 71"/>
          <p:cNvSpPr/>
          <p:nvPr/>
        </p:nvSpPr>
        <p:spPr>
          <a:xfrm>
            <a:off x="9113825" y="6277356"/>
            <a:ext cx="2514600" cy="437998"/>
          </a:xfrm>
          <a:prstGeom prst="roundRect">
            <a:avLst>
              <a:gd name="adj" fmla="val 72615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2" name="Text 72"/>
          <p:cNvSpPr txBox="1"/>
          <p:nvPr/>
        </p:nvSpPr>
        <p:spPr>
          <a:xfrm>
            <a:off x="9266530" y="6439205"/>
            <a:ext cx="6574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配置比例：</a:t>
            </a:r>
            <a:endParaRPr lang="en-US" sz="900" dirty="0"/>
          </a:p>
        </p:txBody>
      </p:sp>
      <p:sp>
        <p:nvSpPr>
          <p:cNvPr id="93" name="Text 73"/>
          <p:cNvSpPr txBox="1"/>
          <p:nvPr/>
        </p:nvSpPr>
        <p:spPr>
          <a:xfrm>
            <a:off x="9838030" y="6429146"/>
            <a:ext cx="17145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美股30% A股40% 港股30%</a:t>
            </a:r>
            <a:endParaRPr lang="en-US" sz="900" dirty="0"/>
          </a:p>
        </p:txBody>
      </p:sp>
      <p:sp>
        <p:nvSpPr>
          <p:cNvPr id="94" name="Shape 74"/>
          <p:cNvSpPr/>
          <p:nvPr/>
        </p:nvSpPr>
        <p:spPr>
          <a:xfrm>
            <a:off x="571500" y="6648602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Text 75"/>
          <p:cNvSpPr txBox="1"/>
          <p:nvPr/>
        </p:nvSpPr>
        <p:spPr>
          <a:xfrm>
            <a:off x="743407" y="6601054"/>
            <a:ext cx="2181758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美股：无灵魂反弹，下行风险&gt;上行空间</a:t>
            </a:r>
            <a:endParaRPr lang="en-US" sz="900" dirty="0"/>
          </a:p>
        </p:txBody>
      </p:sp>
      <p:sp>
        <p:nvSpPr>
          <p:cNvPr id="96" name="Shape 76"/>
          <p:cNvSpPr/>
          <p:nvPr/>
        </p:nvSpPr>
        <p:spPr>
          <a:xfrm>
            <a:off x="3047695" y="6648602"/>
            <a:ext cx="75895" cy="7589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Text 77"/>
          <p:cNvSpPr txBox="1"/>
          <p:nvPr/>
        </p:nvSpPr>
        <p:spPr>
          <a:xfrm>
            <a:off x="3218688" y="6601054"/>
            <a:ext cx="145115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A股：三护城河，相对防御</a:t>
            </a:r>
            <a:endParaRPr lang="en-US" sz="900" dirty="0"/>
          </a:p>
        </p:txBody>
      </p:sp>
      <p:sp>
        <p:nvSpPr>
          <p:cNvPr id="98" name="Shape 78"/>
          <p:cNvSpPr/>
          <p:nvPr/>
        </p:nvSpPr>
        <p:spPr>
          <a:xfrm>
            <a:off x="4840834" y="6648602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Text 79"/>
          <p:cNvSpPr txBox="1"/>
          <p:nvPr/>
        </p:nvSpPr>
        <p:spPr>
          <a:xfrm>
            <a:off x="5012741" y="6601054"/>
            <a:ext cx="136885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港股：左侧布局窗口已开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-400" r="-400"/>
          <a:stretch>
            <a:fillRect/>
          </a:stretch>
        </p:blipFill>
        <p:spPr>
          <a:xfrm>
            <a:off x="0" y="0"/>
            <a:ext cx="57607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rcRect l="-4" r="-4"/>
          <a:stretch>
            <a:fillRect/>
          </a:stretch>
        </p:blipFill>
        <p:spPr>
          <a:xfrm>
            <a:off x="8382305" y="0"/>
            <a:ext cx="3810305" cy="6858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rcRect l="-1282" r="-1282"/>
          <a:stretch>
            <a:fillRect/>
          </a:stretch>
        </p:blipFill>
        <p:spPr>
          <a:xfrm>
            <a:off x="381305" y="286207"/>
            <a:ext cx="219456" cy="190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743407" y="280721"/>
            <a:ext cx="24963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ENERGY STORAGE &amp; LITHIUM CYCLE</a:t>
            </a:r>
            <a:endParaRPr lang="en-US" sz="1000" dirty="0"/>
          </a:p>
        </p:txBody>
      </p:sp>
      <p:sp>
        <p:nvSpPr>
          <p:cNvPr id="11" name="Text 4"/>
          <p:cNvSpPr txBox="1"/>
          <p:nvPr/>
        </p:nvSpPr>
        <p:spPr>
          <a:xfrm>
            <a:off x="571500" y="1086307"/>
            <a:ext cx="7944307" cy="372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114号文容量电价驱动</a:t>
            </a:r>
            <a:r>
              <a:rPr lang="en-US" sz="2400" b="1" dirty="0">
                <a:solidFill>
                  <a:srgbClr val="FF95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储能新周期</a:t>
            </a: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启动 </a:t>
            </a:r>
            <a:endParaRPr lang="en-US" sz="2400" dirty="0"/>
          </a:p>
        </p:txBody>
      </p:sp>
      <p:sp>
        <p:nvSpPr>
          <p:cNvPr id="12" name="Shape 5"/>
          <p:cNvSpPr/>
          <p:nvPr/>
        </p:nvSpPr>
        <p:spPr>
          <a:xfrm>
            <a:off x="8606333" y="907085"/>
            <a:ext cx="1600200" cy="400507"/>
          </a:xfrm>
          <a:prstGeom prst="roundRect">
            <a:avLst>
              <a:gd name="adj" fmla="val 86975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0341864" y="907085"/>
            <a:ext cx="1285646" cy="400507"/>
          </a:xfrm>
          <a:prstGeom prst="roundRect">
            <a:avLst>
              <a:gd name="adj" fmla="val 86975"/>
            </a:avLst>
          </a:prstGeom>
          <a:solidFill>
            <a:srgbClr val="FF9500">
              <a:alpha val="1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71500" y="800100"/>
            <a:ext cx="115214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储能锂电新周期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8759038" y="1049731"/>
            <a:ext cx="81930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2026装机预测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9498787" y="1030529"/>
            <a:ext cx="629107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491GWh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0494569" y="1049731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同比增长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0951769" y="1030529"/>
            <a:ext cx="6007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+62.6%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71500" y="1429207"/>
            <a:ext cx="5429707" cy="1181405"/>
          </a:xfrm>
          <a:prstGeom prst="roundRect">
            <a:avLst>
              <a:gd name="adj" fmla="val 14981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rcRect t="-43" b="-43"/>
          <a:stretch>
            <a:fillRect/>
          </a:stretch>
        </p:blipFill>
        <p:spPr>
          <a:xfrm>
            <a:off x="724205" y="1604772"/>
            <a:ext cx="133502" cy="15270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952805" y="1580998"/>
            <a:ext cx="8769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双轮驱动机制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5315407" y="1595628"/>
            <a:ext cx="60990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政策+市场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724205" y="1895551"/>
            <a:ext cx="2514600" cy="562356"/>
          </a:xfrm>
          <a:prstGeom prst="roundRect">
            <a:avLst>
              <a:gd name="adj" fmla="val 3307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828446" y="2000707"/>
            <a:ext cx="4672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136号文</a:t>
            </a:r>
            <a:endParaRPr lang="en-US" sz="800" dirty="0"/>
          </a:p>
        </p:txBody>
      </p:sp>
      <p:sp>
        <p:nvSpPr>
          <p:cNvPr id="25" name="Text 17"/>
          <p:cNvSpPr txBox="1"/>
          <p:nvPr/>
        </p:nvSpPr>
        <p:spPr>
          <a:xfrm>
            <a:off x="2609698" y="2000707"/>
            <a:ext cx="6007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新能源入市</a:t>
            </a:r>
            <a:endParaRPr lang="en-US" sz="800" dirty="0"/>
          </a:p>
        </p:txBody>
      </p:sp>
      <p:sp>
        <p:nvSpPr>
          <p:cNvPr id="26" name="Text 18"/>
          <p:cNvSpPr txBox="1"/>
          <p:nvPr/>
        </p:nvSpPr>
        <p:spPr>
          <a:xfrm>
            <a:off x="828446" y="2204618"/>
            <a:ext cx="248991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推动新能源全面入市</a:t>
            </a:r>
            <a:endParaRPr lang="en-US" sz="800" dirty="0"/>
          </a:p>
        </p:txBody>
      </p:sp>
      <p:sp>
        <p:nvSpPr>
          <p:cNvPr id="27" name="Shape 19"/>
          <p:cNvSpPr/>
          <p:nvPr/>
        </p:nvSpPr>
        <p:spPr>
          <a:xfrm>
            <a:off x="3333902" y="1895551"/>
            <a:ext cx="2514600" cy="562356"/>
          </a:xfrm>
          <a:prstGeom prst="roundRect">
            <a:avLst>
              <a:gd name="adj" fmla="val 33072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3438144" y="2000707"/>
            <a:ext cx="448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114号文</a:t>
            </a:r>
            <a:endParaRPr lang="en-US" sz="800" dirty="0"/>
          </a:p>
        </p:txBody>
      </p:sp>
      <p:sp>
        <p:nvSpPr>
          <p:cNvPr id="29" name="Text 21"/>
          <p:cNvSpPr txBox="1"/>
          <p:nvPr/>
        </p:nvSpPr>
        <p:spPr>
          <a:xfrm>
            <a:off x="5324551" y="2000707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容量电价</a:t>
            </a:r>
            <a:endParaRPr lang="en-US" sz="800" dirty="0"/>
          </a:p>
        </p:txBody>
      </p:sp>
      <p:sp>
        <p:nvSpPr>
          <p:cNvPr id="30" name="Text 22"/>
          <p:cNvSpPr txBox="1"/>
          <p:nvPr/>
        </p:nvSpPr>
        <p:spPr>
          <a:xfrm>
            <a:off x="3438144" y="2204618"/>
            <a:ext cx="2397557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165-330元/kW/年</a:t>
            </a:r>
            <a:endParaRPr lang="en-US" sz="800" dirty="0"/>
          </a:p>
        </p:txBody>
      </p:sp>
      <p:sp>
        <p:nvSpPr>
          <p:cNvPr id="31" name="Shape 23"/>
          <p:cNvSpPr/>
          <p:nvPr/>
        </p:nvSpPr>
        <p:spPr>
          <a:xfrm>
            <a:off x="571500" y="2747772"/>
            <a:ext cx="5429707" cy="1476756"/>
          </a:xfrm>
          <a:prstGeom prst="roundRect">
            <a:avLst>
              <a:gd name="adj" fmla="val 9588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24205" y="2924251"/>
            <a:ext cx="152705" cy="152705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72007" y="2900477"/>
            <a:ext cx="1090879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2026年装机预测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5190134" y="2915107"/>
            <a:ext cx="74340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同比+62.6%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724205" y="3221431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储能装机</a:t>
            </a:r>
            <a:endParaRPr lang="en-US" sz="800" dirty="0"/>
          </a:p>
        </p:txBody>
      </p:sp>
      <p:sp>
        <p:nvSpPr>
          <p:cNvPr id="36" name="Text 27"/>
          <p:cNvSpPr txBox="1"/>
          <p:nvPr/>
        </p:nvSpPr>
        <p:spPr>
          <a:xfrm>
            <a:off x="2715768" y="3215030"/>
            <a:ext cx="581558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491 GWh</a:t>
            </a:r>
            <a:endParaRPr lang="en-US" sz="90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7"/>
          <a:srcRect t="-399" b="-399"/>
          <a:stretch>
            <a:fillRect/>
          </a:stretch>
        </p:blipFill>
        <p:spPr>
          <a:xfrm>
            <a:off x="724205" y="3433572"/>
            <a:ext cx="2490826" cy="57607"/>
          </a:xfrm>
          <a:prstGeom prst="rect">
            <a:avLst/>
          </a:prstGeom>
        </p:spPr>
      </p:pic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8"/>
          <a:srcRect t="-399" b="-399"/>
          <a:stretch>
            <a:fillRect/>
          </a:stretch>
        </p:blipFill>
        <p:spPr>
          <a:xfrm>
            <a:off x="724205" y="3433572"/>
            <a:ext cx="1868119" cy="57607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3357677" y="3221431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锂电需求</a:t>
            </a:r>
            <a:endParaRPr lang="en-US" sz="800" dirty="0"/>
          </a:p>
        </p:txBody>
      </p:sp>
      <p:sp>
        <p:nvSpPr>
          <p:cNvPr id="40" name="Text 29"/>
          <p:cNvSpPr txBox="1"/>
          <p:nvPr/>
        </p:nvSpPr>
        <p:spPr>
          <a:xfrm>
            <a:off x="5224882" y="3215030"/>
            <a:ext cx="70500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3,065 GWh</a:t>
            </a:r>
            <a:endParaRPr lang="en-US" sz="90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7"/>
          <a:srcRect t="-399" b="-399"/>
          <a:stretch>
            <a:fillRect/>
          </a:stretch>
        </p:blipFill>
        <p:spPr>
          <a:xfrm>
            <a:off x="3357677" y="3433572"/>
            <a:ext cx="2490826" cy="57607"/>
          </a:xfrm>
          <a:prstGeom prst="rect">
            <a:avLst/>
          </a:prstGeom>
        </p:spPr>
      </p:pic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9"/>
          <a:srcRect t="-406" b="-406"/>
          <a:stretch>
            <a:fillRect/>
          </a:stretch>
        </p:blipFill>
        <p:spPr>
          <a:xfrm>
            <a:off x="3357677" y="3433572"/>
            <a:ext cx="2116836" cy="57607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724205" y="3586277"/>
            <a:ext cx="2514600" cy="485546"/>
          </a:xfrm>
          <a:prstGeom prst="roundRect">
            <a:avLst>
              <a:gd name="adj" fmla="val 44312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1"/>
          <p:cNvSpPr txBox="1"/>
          <p:nvPr/>
        </p:nvSpPr>
        <p:spPr>
          <a:xfrm>
            <a:off x="752551" y="3662172"/>
            <a:ext cx="245699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+62.6%</a:t>
            </a:r>
            <a:endParaRPr lang="en-US" sz="900" dirty="0"/>
          </a:p>
        </p:txBody>
      </p:sp>
      <p:sp>
        <p:nvSpPr>
          <p:cNvPr id="45" name="Text 32"/>
          <p:cNvSpPr txBox="1"/>
          <p:nvPr/>
        </p:nvSpPr>
        <p:spPr>
          <a:xfrm>
            <a:off x="705917" y="3847795"/>
            <a:ext cx="255117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储能装机</a:t>
            </a:r>
            <a:endParaRPr lang="en-US" sz="800" dirty="0"/>
          </a:p>
        </p:txBody>
      </p:sp>
      <p:sp>
        <p:nvSpPr>
          <p:cNvPr id="46" name="Shape 33"/>
          <p:cNvSpPr/>
          <p:nvPr/>
        </p:nvSpPr>
        <p:spPr>
          <a:xfrm>
            <a:off x="3333902" y="3586277"/>
            <a:ext cx="2514600" cy="485546"/>
          </a:xfrm>
          <a:prstGeom prst="roundRect">
            <a:avLst>
              <a:gd name="adj" fmla="val 44312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4"/>
          <p:cNvSpPr txBox="1"/>
          <p:nvPr/>
        </p:nvSpPr>
        <p:spPr>
          <a:xfrm>
            <a:off x="3363163" y="3662172"/>
            <a:ext cx="245699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+34%</a:t>
            </a:r>
            <a:endParaRPr lang="en-US" sz="900" dirty="0"/>
          </a:p>
        </p:txBody>
      </p:sp>
      <p:sp>
        <p:nvSpPr>
          <p:cNvPr id="48" name="Text 35"/>
          <p:cNvSpPr txBox="1"/>
          <p:nvPr/>
        </p:nvSpPr>
        <p:spPr>
          <a:xfrm>
            <a:off x="3315614" y="3847795"/>
            <a:ext cx="255117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锂电需求</a:t>
            </a:r>
            <a:endParaRPr lang="en-US" sz="800" dirty="0"/>
          </a:p>
        </p:txBody>
      </p:sp>
      <p:sp>
        <p:nvSpPr>
          <p:cNvPr id="49" name="Shape 36"/>
          <p:cNvSpPr/>
          <p:nvPr/>
        </p:nvSpPr>
        <p:spPr>
          <a:xfrm>
            <a:off x="6191402" y="1429207"/>
            <a:ext cx="5429707" cy="1686154"/>
          </a:xfrm>
          <a:prstGeom prst="roundRect">
            <a:avLst>
              <a:gd name="adj" fmla="val 7353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0"/>
          <a:srcRect l="-33" r="-33"/>
          <a:stretch>
            <a:fillRect/>
          </a:stretch>
        </p:blipFill>
        <p:spPr>
          <a:xfrm>
            <a:off x="6344107" y="1604772"/>
            <a:ext cx="171907" cy="15270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610198" y="1580998"/>
            <a:ext cx="74340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子板块机会</a:t>
            </a:r>
            <a:endParaRPr lang="en-US" sz="1000" dirty="0"/>
          </a:p>
        </p:txBody>
      </p:sp>
      <p:sp>
        <p:nvSpPr>
          <p:cNvPr id="52" name="Text 38"/>
          <p:cNvSpPr txBox="1"/>
          <p:nvPr/>
        </p:nvSpPr>
        <p:spPr>
          <a:xfrm>
            <a:off x="10825582" y="1595628"/>
            <a:ext cx="72420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6大细分领域</a:t>
            </a:r>
            <a:endParaRPr lang="en-US" sz="900" dirty="0"/>
          </a:p>
        </p:txBody>
      </p:sp>
      <p:sp>
        <p:nvSpPr>
          <p:cNvPr id="53" name="Shape 39"/>
          <p:cNvSpPr/>
          <p:nvPr/>
        </p:nvSpPr>
        <p:spPr>
          <a:xfrm>
            <a:off x="6344107" y="1895551"/>
            <a:ext cx="1647749" cy="485546"/>
          </a:xfrm>
          <a:prstGeom prst="roundRect">
            <a:avLst>
              <a:gd name="adj" fmla="val 44312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4" name="Text 40"/>
          <p:cNvSpPr txBox="1"/>
          <p:nvPr/>
        </p:nvSpPr>
        <p:spPr>
          <a:xfrm>
            <a:off x="6429146" y="1981505"/>
            <a:ext cx="2103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6F</a:t>
            </a:r>
            <a:endParaRPr lang="en-US" sz="800" dirty="0"/>
          </a:p>
        </p:txBody>
      </p:sp>
      <p:sp>
        <p:nvSpPr>
          <p:cNvPr id="55" name="Text 41"/>
          <p:cNvSpPr txBox="1"/>
          <p:nvPr/>
        </p:nvSpPr>
        <p:spPr>
          <a:xfrm>
            <a:off x="7425842" y="1987906"/>
            <a:ext cx="55321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六氟磷酸锂</a:t>
            </a:r>
            <a:endParaRPr lang="en-US" sz="800" dirty="0"/>
          </a:p>
        </p:txBody>
      </p:sp>
      <p:sp>
        <p:nvSpPr>
          <p:cNvPr id="56" name="Text 42"/>
          <p:cNvSpPr txBox="1"/>
          <p:nvPr/>
        </p:nvSpPr>
        <p:spPr>
          <a:xfrm>
            <a:off x="6429146" y="2167128"/>
            <a:ext cx="159471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零库存+刚性产能</a:t>
            </a:r>
            <a:endParaRPr lang="en-US" sz="800" dirty="0"/>
          </a:p>
        </p:txBody>
      </p:sp>
      <p:sp>
        <p:nvSpPr>
          <p:cNvPr id="57" name="Shape 43"/>
          <p:cNvSpPr/>
          <p:nvPr/>
        </p:nvSpPr>
        <p:spPr>
          <a:xfrm>
            <a:off x="8083296" y="1895551"/>
            <a:ext cx="1647749" cy="485546"/>
          </a:xfrm>
          <a:prstGeom prst="roundRect">
            <a:avLst>
              <a:gd name="adj" fmla="val 4431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8" name="Text 44"/>
          <p:cNvSpPr txBox="1"/>
          <p:nvPr/>
        </p:nvSpPr>
        <p:spPr>
          <a:xfrm>
            <a:off x="8169250" y="1981505"/>
            <a:ext cx="2286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VC</a:t>
            </a:r>
            <a:endParaRPr lang="en-US" sz="800" dirty="0"/>
          </a:p>
        </p:txBody>
      </p:sp>
      <p:sp>
        <p:nvSpPr>
          <p:cNvPr id="59" name="Text 45"/>
          <p:cNvSpPr txBox="1"/>
          <p:nvPr/>
        </p:nvSpPr>
        <p:spPr>
          <a:xfrm>
            <a:off x="9070848" y="1987906"/>
            <a:ext cx="64831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碳酸亚乙烯酯</a:t>
            </a:r>
            <a:endParaRPr lang="en-US" sz="800" dirty="0"/>
          </a:p>
        </p:txBody>
      </p:sp>
      <p:sp>
        <p:nvSpPr>
          <p:cNvPr id="60" name="Text 46"/>
          <p:cNvSpPr txBox="1"/>
          <p:nvPr/>
        </p:nvSpPr>
        <p:spPr>
          <a:xfrm>
            <a:off x="8169250" y="2167128"/>
            <a:ext cx="159471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全年紧平衡</a:t>
            </a:r>
            <a:endParaRPr lang="en-US" sz="800" dirty="0"/>
          </a:p>
        </p:txBody>
      </p:sp>
      <p:sp>
        <p:nvSpPr>
          <p:cNvPr id="61" name="Shape 47"/>
          <p:cNvSpPr/>
          <p:nvPr/>
        </p:nvSpPr>
        <p:spPr>
          <a:xfrm>
            <a:off x="9823399" y="1895551"/>
            <a:ext cx="1647749" cy="485546"/>
          </a:xfrm>
          <a:prstGeom prst="roundRect">
            <a:avLst>
              <a:gd name="adj" fmla="val 44312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62" name="Text 48"/>
          <p:cNvSpPr txBox="1"/>
          <p:nvPr/>
        </p:nvSpPr>
        <p:spPr>
          <a:xfrm>
            <a:off x="9909353" y="1981505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铁锂正极</a:t>
            </a:r>
            <a:endParaRPr lang="en-US" sz="800" dirty="0"/>
          </a:p>
        </p:txBody>
      </p:sp>
      <p:sp>
        <p:nvSpPr>
          <p:cNvPr id="63" name="Text 49"/>
          <p:cNvSpPr txBox="1"/>
          <p:nvPr/>
        </p:nvSpPr>
        <p:spPr>
          <a:xfrm>
            <a:off x="11096244" y="1987906"/>
            <a:ext cx="36210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高压密</a:t>
            </a:r>
            <a:endParaRPr lang="en-US" sz="800" dirty="0"/>
          </a:p>
        </p:txBody>
      </p:sp>
      <p:sp>
        <p:nvSpPr>
          <p:cNvPr id="64" name="Text 50"/>
          <p:cNvSpPr txBox="1"/>
          <p:nvPr/>
        </p:nvSpPr>
        <p:spPr>
          <a:xfrm>
            <a:off x="9909353" y="2167128"/>
            <a:ext cx="159471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渗透率提升</a:t>
            </a:r>
            <a:endParaRPr lang="en-US" sz="800" dirty="0"/>
          </a:p>
        </p:txBody>
      </p:sp>
      <p:sp>
        <p:nvSpPr>
          <p:cNvPr id="65" name="Shape 51"/>
          <p:cNvSpPr/>
          <p:nvPr/>
        </p:nvSpPr>
        <p:spPr>
          <a:xfrm>
            <a:off x="6344107" y="2476195"/>
            <a:ext cx="1647749" cy="485546"/>
          </a:xfrm>
          <a:prstGeom prst="roundRect">
            <a:avLst>
              <a:gd name="adj" fmla="val 44312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66" name="Text 52"/>
          <p:cNvSpPr txBox="1"/>
          <p:nvPr/>
        </p:nvSpPr>
        <p:spPr>
          <a:xfrm>
            <a:off x="6429146" y="2562149"/>
            <a:ext cx="3913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碳酸锂</a:t>
            </a:r>
            <a:endParaRPr lang="en-US" sz="800" dirty="0"/>
          </a:p>
        </p:txBody>
      </p:sp>
      <p:sp>
        <p:nvSpPr>
          <p:cNvPr id="67" name="Text 53"/>
          <p:cNvSpPr txBox="1"/>
          <p:nvPr/>
        </p:nvSpPr>
        <p:spPr>
          <a:xfrm>
            <a:off x="7521854" y="2569464"/>
            <a:ext cx="45720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产能刚性</a:t>
            </a:r>
            <a:endParaRPr lang="en-US" sz="800" dirty="0"/>
          </a:p>
        </p:txBody>
      </p:sp>
      <p:sp>
        <p:nvSpPr>
          <p:cNvPr id="68" name="Text 54"/>
          <p:cNvSpPr txBox="1"/>
          <p:nvPr/>
        </p:nvSpPr>
        <p:spPr>
          <a:xfrm>
            <a:off x="6429146" y="2747772"/>
            <a:ext cx="159471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价格上不言顶</a:t>
            </a:r>
            <a:endParaRPr lang="en-US" sz="800" dirty="0"/>
          </a:p>
        </p:txBody>
      </p:sp>
      <p:sp>
        <p:nvSpPr>
          <p:cNvPr id="69" name="Shape 55"/>
          <p:cNvSpPr/>
          <p:nvPr/>
        </p:nvSpPr>
        <p:spPr>
          <a:xfrm>
            <a:off x="8083296" y="2476195"/>
            <a:ext cx="1647749" cy="485546"/>
          </a:xfrm>
          <a:prstGeom prst="roundRect">
            <a:avLst>
              <a:gd name="adj" fmla="val 4431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70" name="Text 56"/>
          <p:cNvSpPr txBox="1"/>
          <p:nvPr/>
        </p:nvSpPr>
        <p:spPr>
          <a:xfrm>
            <a:off x="8169250" y="2562149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B82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储能集成</a:t>
            </a:r>
            <a:endParaRPr lang="en-US" sz="800" dirty="0"/>
          </a:p>
        </p:txBody>
      </p:sp>
      <p:sp>
        <p:nvSpPr>
          <p:cNvPr id="71" name="Text 57"/>
          <p:cNvSpPr txBox="1"/>
          <p:nvPr/>
        </p:nvSpPr>
        <p:spPr>
          <a:xfrm>
            <a:off x="9357055" y="2569464"/>
            <a:ext cx="36210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国央企</a:t>
            </a:r>
            <a:endParaRPr lang="en-US" sz="800" dirty="0"/>
          </a:p>
        </p:txBody>
      </p:sp>
      <p:sp>
        <p:nvSpPr>
          <p:cNvPr id="72" name="Text 58"/>
          <p:cNvSpPr txBox="1"/>
          <p:nvPr/>
        </p:nvSpPr>
        <p:spPr>
          <a:xfrm>
            <a:off x="8169250" y="2747772"/>
            <a:ext cx="159471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大单释放</a:t>
            </a:r>
            <a:endParaRPr lang="en-US" sz="800" dirty="0"/>
          </a:p>
        </p:txBody>
      </p:sp>
      <p:sp>
        <p:nvSpPr>
          <p:cNvPr id="73" name="Shape 59"/>
          <p:cNvSpPr/>
          <p:nvPr/>
        </p:nvSpPr>
        <p:spPr>
          <a:xfrm>
            <a:off x="9823399" y="2476195"/>
            <a:ext cx="1647749" cy="485546"/>
          </a:xfrm>
          <a:prstGeom prst="roundRect">
            <a:avLst>
              <a:gd name="adj" fmla="val 44312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74" name="Text 60"/>
          <p:cNvSpPr txBox="1"/>
          <p:nvPr/>
        </p:nvSpPr>
        <p:spPr>
          <a:xfrm>
            <a:off x="9909353" y="2562149"/>
            <a:ext cx="3913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电解液</a:t>
            </a:r>
            <a:endParaRPr lang="en-US" sz="800" dirty="0"/>
          </a:p>
        </p:txBody>
      </p:sp>
      <p:sp>
        <p:nvSpPr>
          <p:cNvPr id="75" name="Text 61"/>
          <p:cNvSpPr txBox="1"/>
          <p:nvPr/>
        </p:nvSpPr>
        <p:spPr>
          <a:xfrm>
            <a:off x="10996574" y="2569464"/>
            <a:ext cx="4672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EC/DMC</a:t>
            </a:r>
            <a:endParaRPr lang="en-US" sz="800" dirty="0"/>
          </a:p>
        </p:txBody>
      </p:sp>
      <p:sp>
        <p:nvSpPr>
          <p:cNvPr id="76" name="Text 62"/>
          <p:cNvSpPr txBox="1"/>
          <p:nvPr/>
        </p:nvSpPr>
        <p:spPr>
          <a:xfrm>
            <a:off x="9909353" y="2747772"/>
            <a:ext cx="159471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成本传导</a:t>
            </a:r>
            <a:endParaRPr lang="en-US" sz="800" dirty="0"/>
          </a:p>
        </p:txBody>
      </p:sp>
      <p:sp>
        <p:nvSpPr>
          <p:cNvPr id="77" name="Shape 63"/>
          <p:cNvSpPr/>
          <p:nvPr/>
        </p:nvSpPr>
        <p:spPr>
          <a:xfrm>
            <a:off x="571500" y="6115507"/>
            <a:ext cx="2800807" cy="381305"/>
          </a:xfrm>
          <a:prstGeom prst="roundRect">
            <a:avLst>
              <a:gd name="adj" fmla="val 95923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78" name="Image 12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771754" y="6238951"/>
            <a:ext cx="133502" cy="133502"/>
          </a:xfrm>
          <a:prstGeom prst="rect">
            <a:avLst/>
          </a:prstGeom>
        </p:spPr>
      </p:pic>
      <p:sp>
        <p:nvSpPr>
          <p:cNvPr id="79" name="Text 64"/>
          <p:cNvSpPr txBox="1"/>
          <p:nvPr/>
        </p:nvSpPr>
        <p:spPr>
          <a:xfrm>
            <a:off x="1000354" y="6115507"/>
            <a:ext cx="2248510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历史参照：复刻光伏平价后"量价齐升"行情</a:t>
            </a:r>
            <a:endParaRPr lang="en-US" sz="900" dirty="0"/>
          </a:p>
        </p:txBody>
      </p:sp>
      <p:sp>
        <p:nvSpPr>
          <p:cNvPr id="80" name="Shape 65"/>
          <p:cNvSpPr/>
          <p:nvPr/>
        </p:nvSpPr>
        <p:spPr>
          <a:xfrm>
            <a:off x="8481974" y="6086246"/>
            <a:ext cx="1543507" cy="437998"/>
          </a:xfrm>
          <a:prstGeom prst="roundRect">
            <a:avLst>
              <a:gd name="adj" fmla="val 72615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81" name="Shape 66"/>
          <p:cNvSpPr/>
          <p:nvPr/>
        </p:nvSpPr>
        <p:spPr>
          <a:xfrm>
            <a:off x="10167214" y="6086246"/>
            <a:ext cx="1457554" cy="437998"/>
          </a:xfrm>
          <a:prstGeom prst="roundRect">
            <a:avLst>
              <a:gd name="adj" fmla="val 72615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82" name="Text 67"/>
          <p:cNvSpPr txBox="1"/>
          <p:nvPr/>
        </p:nvSpPr>
        <p:spPr>
          <a:xfrm>
            <a:off x="8633765" y="6248095"/>
            <a:ext cx="6574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招标容量：</a:t>
            </a:r>
            <a:endParaRPr lang="en-US" sz="900" dirty="0"/>
          </a:p>
        </p:txBody>
      </p:sp>
      <p:sp>
        <p:nvSpPr>
          <p:cNvPr id="83" name="Text 68"/>
          <p:cNvSpPr txBox="1"/>
          <p:nvPr/>
        </p:nvSpPr>
        <p:spPr>
          <a:xfrm>
            <a:off x="9205265" y="6238951"/>
            <a:ext cx="743407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同比+120%</a:t>
            </a:r>
            <a:endParaRPr lang="en-US" sz="900" dirty="0"/>
          </a:p>
        </p:txBody>
      </p:sp>
      <p:sp>
        <p:nvSpPr>
          <p:cNvPr id="84" name="Text 69"/>
          <p:cNvSpPr txBox="1"/>
          <p:nvPr/>
        </p:nvSpPr>
        <p:spPr>
          <a:xfrm>
            <a:off x="10319918" y="6248095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中标量：</a:t>
            </a:r>
            <a:endParaRPr lang="en-US" sz="900" dirty="0"/>
          </a:p>
        </p:txBody>
      </p:sp>
      <p:sp>
        <p:nvSpPr>
          <p:cNvPr id="85" name="Text 70"/>
          <p:cNvSpPr txBox="1"/>
          <p:nvPr/>
        </p:nvSpPr>
        <p:spPr>
          <a:xfrm>
            <a:off x="10777118" y="6238951"/>
            <a:ext cx="771754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同比+350%</a:t>
            </a:r>
            <a:endParaRPr lang="en-US" sz="900" dirty="0"/>
          </a:p>
        </p:txBody>
      </p:sp>
      <p:sp>
        <p:nvSpPr>
          <p:cNvPr id="86" name="Shape 71"/>
          <p:cNvSpPr/>
          <p:nvPr/>
        </p:nvSpPr>
        <p:spPr>
          <a:xfrm>
            <a:off x="571500" y="6534302"/>
            <a:ext cx="75895" cy="7589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72"/>
          <p:cNvSpPr txBox="1"/>
          <p:nvPr/>
        </p:nvSpPr>
        <p:spPr>
          <a:xfrm>
            <a:off x="743407" y="6486754"/>
            <a:ext cx="136885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储能锂电新周期正式启动</a:t>
            </a:r>
            <a:endParaRPr lang="en-US" sz="900" dirty="0"/>
          </a:p>
        </p:txBody>
      </p:sp>
      <p:sp>
        <p:nvSpPr>
          <p:cNvPr id="88" name="Shape 73"/>
          <p:cNvSpPr/>
          <p:nvPr/>
        </p:nvSpPr>
        <p:spPr>
          <a:xfrm>
            <a:off x="2286000" y="6534302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Text 74"/>
          <p:cNvSpPr txBox="1"/>
          <p:nvPr/>
        </p:nvSpPr>
        <p:spPr>
          <a:xfrm>
            <a:off x="2457907" y="6486754"/>
            <a:ext cx="117317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114号文明确容量电价</a:t>
            </a:r>
            <a:endParaRPr lang="en-US" sz="900" dirty="0"/>
          </a:p>
        </p:txBody>
      </p:sp>
      <p:sp>
        <p:nvSpPr>
          <p:cNvPr id="90" name="Shape 75"/>
          <p:cNvSpPr/>
          <p:nvPr/>
        </p:nvSpPr>
        <p:spPr>
          <a:xfrm>
            <a:off x="3824935" y="6534302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Text 76"/>
          <p:cNvSpPr txBox="1"/>
          <p:nvPr/>
        </p:nvSpPr>
        <p:spPr>
          <a:xfrm>
            <a:off x="3995928" y="6486754"/>
            <a:ext cx="116220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2026年装机491GWh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-400" r="-400"/>
          <a:stretch>
            <a:fillRect/>
          </a:stretch>
        </p:blipFill>
        <p:spPr>
          <a:xfrm>
            <a:off x="0" y="0"/>
            <a:ext cx="57607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rcRect l="-4" r="-4"/>
          <a:stretch>
            <a:fillRect/>
          </a:stretch>
        </p:blipFill>
        <p:spPr>
          <a:xfrm>
            <a:off x="8382305" y="0"/>
            <a:ext cx="3810305" cy="6858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305" y="286207"/>
            <a:ext cx="190195" cy="190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714146" y="280721"/>
            <a:ext cx="227868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SEMICONDUCTOR &amp; AI INDUSTRY</a:t>
            </a:r>
            <a:endParaRPr lang="en-US" sz="1000" dirty="0"/>
          </a:p>
        </p:txBody>
      </p:sp>
      <p:sp>
        <p:nvSpPr>
          <p:cNvPr id="11" name="Text 4"/>
          <p:cNvSpPr txBox="1"/>
          <p:nvPr/>
        </p:nvSpPr>
        <p:spPr>
          <a:xfrm>
            <a:off x="571500" y="1086307"/>
            <a:ext cx="8830361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史上最严芯片法案催化</a:t>
            </a:r>
            <a:r>
              <a:rPr lang="en-US" sz="2100" b="1" dirty="0">
                <a:solidFill>
                  <a:srgbClr val="FF95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国产替代</a:t>
            </a: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与AI</a:t>
            </a:r>
            <a:r>
              <a:rPr lang="en-US" sz="2100" b="1" dirty="0">
                <a:solidFill>
                  <a:srgbClr val="22C5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产业重构</a:t>
            </a:r>
            <a:endParaRPr lang="en-US" sz="2100" dirty="0"/>
          </a:p>
        </p:txBody>
      </p:sp>
      <p:sp>
        <p:nvSpPr>
          <p:cNvPr id="12" name="Shape 5"/>
          <p:cNvSpPr/>
          <p:nvPr/>
        </p:nvSpPr>
        <p:spPr>
          <a:xfrm>
            <a:off x="9495130" y="884225"/>
            <a:ext cx="1037844" cy="400507"/>
          </a:xfrm>
          <a:prstGeom prst="roundRect">
            <a:avLst>
              <a:gd name="adj" fmla="val 86975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0666476" y="884225"/>
            <a:ext cx="961949" cy="400507"/>
          </a:xfrm>
          <a:prstGeom prst="roundRect">
            <a:avLst>
              <a:gd name="adj" fmla="val 86975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71500" y="800100"/>
            <a:ext cx="16770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国产半导体与AI产业链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9646920" y="1026871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国产替代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10105034" y="1007669"/>
            <a:ext cx="3429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加速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0819181" y="1026871"/>
            <a:ext cx="41971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AI投资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1157509" y="1007669"/>
            <a:ext cx="3913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40%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71500" y="1524305"/>
            <a:ext cx="5429707" cy="4572000"/>
          </a:xfrm>
          <a:prstGeom prst="roundRect">
            <a:avLst>
              <a:gd name="adj" fmla="val 1000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33349" y="1733702"/>
            <a:ext cx="171907" cy="171907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00354" y="1705356"/>
            <a:ext cx="23152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国产半导体：史上最严芯片法案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257446" y="1686154"/>
            <a:ext cx="1591056" cy="267005"/>
          </a:xfrm>
          <a:prstGeom prst="roundRect">
            <a:avLst>
              <a:gd name="adj" fmla="val 97847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343400" y="1762049"/>
            <a:ext cx="114300" cy="1143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496105" y="1686154"/>
            <a:ext cx="1324051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两党支持，落地概率极高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733349" y="2066544"/>
            <a:ext cx="2505456" cy="562356"/>
          </a:xfrm>
          <a:prstGeom prst="roundRect">
            <a:avLst>
              <a:gd name="adj" fmla="val 33072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838505" y="2171700"/>
            <a:ext cx="6007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核心条款一</a:t>
            </a:r>
            <a:endParaRPr lang="en-US" sz="800" dirty="0"/>
          </a:p>
        </p:txBody>
      </p:sp>
      <p:sp>
        <p:nvSpPr>
          <p:cNvPr id="27" name="Text 18"/>
          <p:cNvSpPr txBox="1"/>
          <p:nvPr/>
        </p:nvSpPr>
        <p:spPr>
          <a:xfrm>
            <a:off x="2692908" y="2179015"/>
            <a:ext cx="52395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150天对齐</a:t>
            </a:r>
            <a:endParaRPr lang="en-US" sz="800" dirty="0"/>
          </a:p>
        </p:txBody>
      </p:sp>
      <p:sp>
        <p:nvSpPr>
          <p:cNvPr id="28" name="Text 19"/>
          <p:cNvSpPr txBox="1"/>
          <p:nvPr/>
        </p:nvSpPr>
        <p:spPr>
          <a:xfrm>
            <a:off x="838505" y="2376526"/>
            <a:ext cx="24798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盟国对华半导体设备出口管制与美国对齐</a:t>
            </a:r>
            <a:endParaRPr lang="en-US" sz="800" dirty="0"/>
          </a:p>
        </p:txBody>
      </p:sp>
      <p:sp>
        <p:nvSpPr>
          <p:cNvPr id="29" name="Shape 20"/>
          <p:cNvSpPr/>
          <p:nvPr/>
        </p:nvSpPr>
        <p:spPr>
          <a:xfrm>
            <a:off x="3333902" y="2066544"/>
            <a:ext cx="2505456" cy="562356"/>
          </a:xfrm>
          <a:prstGeom prst="roundRect">
            <a:avLst>
              <a:gd name="adj" fmla="val 33072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3438144" y="2171700"/>
            <a:ext cx="6007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核心条款二</a:t>
            </a:r>
            <a:endParaRPr lang="en-US" sz="800" dirty="0"/>
          </a:p>
        </p:txBody>
      </p:sp>
      <p:sp>
        <p:nvSpPr>
          <p:cNvPr id="31" name="Text 22"/>
          <p:cNvSpPr txBox="1"/>
          <p:nvPr/>
        </p:nvSpPr>
        <p:spPr>
          <a:xfrm>
            <a:off x="5257800" y="2179015"/>
            <a:ext cx="55321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扩大禁清单</a:t>
            </a:r>
            <a:endParaRPr lang="en-US" sz="800" dirty="0"/>
          </a:p>
        </p:txBody>
      </p:sp>
      <p:sp>
        <p:nvSpPr>
          <p:cNvPr id="32" name="Text 23"/>
          <p:cNvSpPr txBox="1"/>
          <p:nvPr/>
        </p:nvSpPr>
        <p:spPr>
          <a:xfrm>
            <a:off x="3438144" y="2376526"/>
            <a:ext cx="24798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全面禁止对华出口DUV浸没式光刻机</a:t>
            </a:r>
            <a:endParaRPr lang="en-US" sz="800" dirty="0"/>
          </a:p>
        </p:txBody>
      </p:sp>
      <p:sp>
        <p:nvSpPr>
          <p:cNvPr id="33" name="Shape 24"/>
          <p:cNvSpPr/>
          <p:nvPr/>
        </p:nvSpPr>
        <p:spPr>
          <a:xfrm>
            <a:off x="733349" y="2719426"/>
            <a:ext cx="2505456" cy="562356"/>
          </a:xfrm>
          <a:prstGeom prst="roundRect">
            <a:avLst>
              <a:gd name="adj" fmla="val 33072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38505" y="2824582"/>
            <a:ext cx="6007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核心条款三</a:t>
            </a:r>
            <a:endParaRPr lang="en-US" sz="800" dirty="0"/>
          </a:p>
        </p:txBody>
      </p:sp>
      <p:sp>
        <p:nvSpPr>
          <p:cNvPr id="35" name="Text 26"/>
          <p:cNvSpPr txBox="1"/>
          <p:nvPr/>
        </p:nvSpPr>
        <p:spPr>
          <a:xfrm>
            <a:off x="2752344" y="2830982"/>
            <a:ext cx="45720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全面限制</a:t>
            </a:r>
            <a:endParaRPr lang="en-US" sz="800" dirty="0"/>
          </a:p>
        </p:txBody>
      </p:sp>
      <p:sp>
        <p:nvSpPr>
          <p:cNvPr id="36" name="Text 27"/>
          <p:cNvSpPr txBox="1"/>
          <p:nvPr/>
        </p:nvSpPr>
        <p:spPr>
          <a:xfrm>
            <a:off x="838505" y="3029407"/>
            <a:ext cx="24798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对长鑫、长存、中芯等实施更严厉限制</a:t>
            </a:r>
            <a:endParaRPr lang="en-US" sz="800" dirty="0"/>
          </a:p>
        </p:txBody>
      </p:sp>
      <p:sp>
        <p:nvSpPr>
          <p:cNvPr id="37" name="Shape 28"/>
          <p:cNvSpPr/>
          <p:nvPr/>
        </p:nvSpPr>
        <p:spPr>
          <a:xfrm>
            <a:off x="3333902" y="2719426"/>
            <a:ext cx="2505456" cy="562356"/>
          </a:xfrm>
          <a:prstGeom prst="roundRect">
            <a:avLst>
              <a:gd name="adj" fmla="val 33072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3438144" y="2824582"/>
            <a:ext cx="60076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核心条款四</a:t>
            </a:r>
            <a:endParaRPr lang="en-US" sz="800" dirty="0"/>
          </a:p>
        </p:txBody>
      </p:sp>
      <p:sp>
        <p:nvSpPr>
          <p:cNvPr id="39" name="Text 30"/>
          <p:cNvSpPr txBox="1"/>
          <p:nvPr/>
        </p:nvSpPr>
        <p:spPr>
          <a:xfrm>
            <a:off x="5352898" y="2830982"/>
            <a:ext cx="45720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维保禁令</a:t>
            </a:r>
            <a:endParaRPr lang="en-US" sz="800" dirty="0"/>
          </a:p>
        </p:txBody>
      </p:sp>
      <p:sp>
        <p:nvSpPr>
          <p:cNvPr id="40" name="Text 31"/>
          <p:cNvSpPr txBox="1"/>
          <p:nvPr/>
        </p:nvSpPr>
        <p:spPr>
          <a:xfrm>
            <a:off x="3438144" y="3029407"/>
            <a:ext cx="24798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安装、维护、校准、软件更新全部纳入管制</a:t>
            </a:r>
            <a:endParaRPr lang="en-US" sz="800" dirty="0"/>
          </a:p>
        </p:txBody>
      </p:sp>
      <p:sp>
        <p:nvSpPr>
          <p:cNvPr id="41" name="Shape 32"/>
          <p:cNvSpPr/>
          <p:nvPr/>
        </p:nvSpPr>
        <p:spPr>
          <a:xfrm>
            <a:off x="733349" y="3372307"/>
            <a:ext cx="5105095" cy="629107"/>
          </a:xfrm>
          <a:prstGeom prst="roundRect">
            <a:avLst>
              <a:gd name="adj" fmla="val 2642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828446" y="3467405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中国应对准备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5171846" y="3467405"/>
            <a:ext cx="6574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已提前布局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828446" y="3685946"/>
            <a:ext cx="952805" cy="219456"/>
          </a:xfrm>
          <a:prstGeom prst="roundRect">
            <a:avLst>
              <a:gd name="adj" fmla="val 144928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1016813" y="3685946"/>
            <a:ext cx="822046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大规模囤积DUV </a:t>
            </a:r>
            <a:endParaRPr lang="en-US" sz="800" dirty="0"/>
          </a:p>
        </p:txBody>
      </p:sp>
      <p:sp>
        <p:nvSpPr>
          <p:cNvPr id="46" name="Shape 37"/>
          <p:cNvSpPr/>
          <p:nvPr/>
        </p:nvSpPr>
        <p:spPr>
          <a:xfrm>
            <a:off x="1870862" y="3685946"/>
            <a:ext cx="933602" cy="219456"/>
          </a:xfrm>
          <a:prstGeom prst="roundRect">
            <a:avLst>
              <a:gd name="adj" fmla="val 144928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2059229" y="3685946"/>
            <a:ext cx="802843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国产光刻机突破 </a:t>
            </a:r>
            <a:endParaRPr lang="en-US" sz="800" dirty="0"/>
          </a:p>
        </p:txBody>
      </p:sp>
      <p:sp>
        <p:nvSpPr>
          <p:cNvPr id="48" name="Shape 39"/>
          <p:cNvSpPr/>
          <p:nvPr/>
        </p:nvSpPr>
        <p:spPr>
          <a:xfrm>
            <a:off x="2897734" y="3685946"/>
            <a:ext cx="933602" cy="219456"/>
          </a:xfrm>
          <a:prstGeom prst="roundRect">
            <a:avLst>
              <a:gd name="adj" fmla="val 144928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3086100" y="3685946"/>
            <a:ext cx="802843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镀膜设备国产化 </a:t>
            </a:r>
            <a:endParaRPr lang="en-US" sz="800" dirty="0"/>
          </a:p>
        </p:txBody>
      </p:sp>
      <p:sp>
        <p:nvSpPr>
          <p:cNvPr id="50" name="Shape 41"/>
          <p:cNvSpPr/>
          <p:nvPr/>
        </p:nvSpPr>
        <p:spPr>
          <a:xfrm>
            <a:off x="6191402" y="1524305"/>
            <a:ext cx="5429707" cy="4572000"/>
          </a:xfrm>
          <a:prstGeom prst="roundRect">
            <a:avLst>
              <a:gd name="adj" fmla="val 1000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7"/>
          <a:srcRect l="-1064" r="-1064"/>
          <a:stretch>
            <a:fillRect/>
          </a:stretch>
        </p:blipFill>
        <p:spPr>
          <a:xfrm>
            <a:off x="6353251" y="1733702"/>
            <a:ext cx="219456" cy="171907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6667805" y="1705356"/>
            <a:ext cx="165689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AI产业链：赢家与输家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10458907" y="1686154"/>
            <a:ext cx="1000354" cy="267005"/>
          </a:xfrm>
          <a:prstGeom prst="roundRect">
            <a:avLst>
              <a:gd name="adj" fmla="val 97847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544861" y="1762049"/>
            <a:ext cx="114300" cy="114300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10697566" y="1686154"/>
            <a:ext cx="734263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净受益+23%</a:t>
            </a:r>
            <a:endParaRPr lang="en-US" sz="900" dirty="0"/>
          </a:p>
        </p:txBody>
      </p:sp>
      <p:sp>
        <p:nvSpPr>
          <p:cNvPr id="56" name="Shape 45"/>
          <p:cNvSpPr/>
          <p:nvPr/>
        </p:nvSpPr>
        <p:spPr>
          <a:xfrm>
            <a:off x="6353251" y="2066544"/>
            <a:ext cx="2505456" cy="619049"/>
          </a:xfrm>
          <a:prstGeom prst="roundRect">
            <a:avLst>
              <a:gd name="adj" fmla="val 27270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57" name="Text 46"/>
          <p:cNvSpPr txBox="1"/>
          <p:nvPr/>
        </p:nvSpPr>
        <p:spPr>
          <a:xfrm>
            <a:off x="6458407" y="2200046"/>
            <a:ext cx="108082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✅ 赢家：数据护城河</a:t>
            </a:r>
            <a:endParaRPr lang="en-US" sz="800" dirty="0"/>
          </a:p>
        </p:txBody>
      </p:sp>
      <p:sp>
        <p:nvSpPr>
          <p:cNvPr id="58" name="Shape 47"/>
          <p:cNvSpPr/>
          <p:nvPr/>
        </p:nvSpPr>
        <p:spPr>
          <a:xfrm>
            <a:off x="7991856" y="2171700"/>
            <a:ext cx="761695" cy="219456"/>
          </a:xfrm>
          <a:prstGeom prst="roundRect">
            <a:avLst>
              <a:gd name="adj" fmla="val 144928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7991856" y="2171700"/>
            <a:ext cx="81930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独特数据资产</a:t>
            </a:r>
            <a:endParaRPr lang="en-US" sz="800" dirty="0"/>
          </a:p>
        </p:txBody>
      </p:sp>
      <p:sp>
        <p:nvSpPr>
          <p:cNvPr id="60" name="Text 49"/>
          <p:cNvSpPr txBox="1"/>
          <p:nvPr/>
        </p:nvSpPr>
        <p:spPr>
          <a:xfrm>
            <a:off x="6458407" y="2433218"/>
            <a:ext cx="24798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AI时代数据比人力更值钱</a:t>
            </a:r>
            <a:endParaRPr lang="en-US" sz="800" dirty="0"/>
          </a:p>
        </p:txBody>
      </p:sp>
      <p:sp>
        <p:nvSpPr>
          <p:cNvPr id="61" name="Shape 50"/>
          <p:cNvSpPr/>
          <p:nvPr/>
        </p:nvSpPr>
        <p:spPr>
          <a:xfrm>
            <a:off x="8953805" y="2066544"/>
            <a:ext cx="2505456" cy="619049"/>
          </a:xfrm>
          <a:prstGeom prst="roundRect">
            <a:avLst>
              <a:gd name="adj" fmla="val 27270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9058046" y="2200046"/>
            <a:ext cx="119329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✅ 赢家：系统核心地位</a:t>
            </a:r>
            <a:endParaRPr lang="en-US" sz="800" dirty="0"/>
          </a:p>
        </p:txBody>
      </p:sp>
      <p:sp>
        <p:nvSpPr>
          <p:cNvPr id="63" name="Shape 52"/>
          <p:cNvSpPr/>
          <p:nvPr/>
        </p:nvSpPr>
        <p:spPr>
          <a:xfrm>
            <a:off x="10801807" y="2171700"/>
            <a:ext cx="552298" cy="219456"/>
          </a:xfrm>
          <a:prstGeom prst="roundRect">
            <a:avLst>
              <a:gd name="adj" fmla="val 144928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10801807" y="2171700"/>
            <a:ext cx="609905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核心系统</a:t>
            </a:r>
            <a:endParaRPr lang="en-US" sz="800" dirty="0"/>
          </a:p>
        </p:txBody>
      </p:sp>
      <p:sp>
        <p:nvSpPr>
          <p:cNvPr id="65" name="Text 54"/>
          <p:cNvSpPr txBox="1"/>
          <p:nvPr/>
        </p:nvSpPr>
        <p:spPr>
          <a:xfrm>
            <a:off x="9058046" y="2433218"/>
            <a:ext cx="24798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核心财务/ERP/数据库系统</a:t>
            </a:r>
            <a:endParaRPr lang="en-US" sz="800" dirty="0"/>
          </a:p>
        </p:txBody>
      </p:sp>
      <p:sp>
        <p:nvSpPr>
          <p:cNvPr id="66" name="Shape 55"/>
          <p:cNvSpPr/>
          <p:nvPr/>
        </p:nvSpPr>
        <p:spPr>
          <a:xfrm>
            <a:off x="6353251" y="2776118"/>
            <a:ext cx="2505456" cy="619049"/>
          </a:xfrm>
          <a:prstGeom prst="roundRect">
            <a:avLst>
              <a:gd name="adj" fmla="val 27270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67" name="Text 56"/>
          <p:cNvSpPr txBox="1"/>
          <p:nvPr/>
        </p:nvSpPr>
        <p:spPr>
          <a:xfrm>
            <a:off x="6458407" y="2909621"/>
            <a:ext cx="9811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✅ 赢家：卖"铲子"</a:t>
            </a:r>
            <a:endParaRPr lang="en-US" sz="800" dirty="0"/>
          </a:p>
        </p:txBody>
      </p:sp>
      <p:sp>
        <p:nvSpPr>
          <p:cNvPr id="68" name="Shape 57"/>
          <p:cNvSpPr/>
          <p:nvPr/>
        </p:nvSpPr>
        <p:spPr>
          <a:xfrm>
            <a:off x="8162849" y="2881274"/>
            <a:ext cx="590702" cy="219456"/>
          </a:xfrm>
          <a:prstGeom prst="roundRect">
            <a:avLst>
              <a:gd name="adj" fmla="val 144928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69" name="Text 58"/>
          <p:cNvSpPr txBox="1"/>
          <p:nvPr/>
        </p:nvSpPr>
        <p:spPr>
          <a:xfrm>
            <a:off x="8162849" y="2881274"/>
            <a:ext cx="648310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算力/电力</a:t>
            </a:r>
            <a:endParaRPr lang="en-US" sz="800" dirty="0"/>
          </a:p>
        </p:txBody>
      </p:sp>
      <p:sp>
        <p:nvSpPr>
          <p:cNvPr id="70" name="Text 59"/>
          <p:cNvSpPr txBox="1"/>
          <p:nvPr/>
        </p:nvSpPr>
        <p:spPr>
          <a:xfrm>
            <a:off x="6458407" y="3143707"/>
            <a:ext cx="24798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芯片、数据中心、电力</a:t>
            </a:r>
            <a:endParaRPr lang="en-US" sz="800" dirty="0"/>
          </a:p>
        </p:txBody>
      </p:sp>
      <p:sp>
        <p:nvSpPr>
          <p:cNvPr id="71" name="Shape 60"/>
          <p:cNvSpPr/>
          <p:nvPr/>
        </p:nvSpPr>
        <p:spPr>
          <a:xfrm>
            <a:off x="8953805" y="2776118"/>
            <a:ext cx="2505456" cy="619049"/>
          </a:xfrm>
          <a:prstGeom prst="roundRect">
            <a:avLst>
              <a:gd name="adj" fmla="val 27270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72" name="Text 61"/>
          <p:cNvSpPr txBox="1"/>
          <p:nvPr/>
        </p:nvSpPr>
        <p:spPr>
          <a:xfrm>
            <a:off x="9058046" y="2909621"/>
            <a:ext cx="108082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❌ 输家：卖人力时间</a:t>
            </a:r>
            <a:endParaRPr lang="en-US" sz="800" dirty="0"/>
          </a:p>
        </p:txBody>
      </p:sp>
      <p:sp>
        <p:nvSpPr>
          <p:cNvPr id="73" name="Shape 62"/>
          <p:cNvSpPr/>
          <p:nvPr/>
        </p:nvSpPr>
        <p:spPr>
          <a:xfrm>
            <a:off x="10763402" y="2881274"/>
            <a:ext cx="590702" cy="219456"/>
          </a:xfrm>
          <a:prstGeom prst="roundRect">
            <a:avLst>
              <a:gd name="adj" fmla="val 144928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74" name="Text 63"/>
          <p:cNvSpPr txBox="1"/>
          <p:nvPr/>
        </p:nvSpPr>
        <p:spPr>
          <a:xfrm>
            <a:off x="10763402" y="2881274"/>
            <a:ext cx="648310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外包/初级</a:t>
            </a:r>
            <a:endParaRPr lang="en-US" sz="800" dirty="0"/>
          </a:p>
        </p:txBody>
      </p:sp>
      <p:sp>
        <p:nvSpPr>
          <p:cNvPr id="75" name="Text 64"/>
          <p:cNvSpPr txBox="1"/>
          <p:nvPr/>
        </p:nvSpPr>
        <p:spPr>
          <a:xfrm>
            <a:off x="9058046" y="3143707"/>
            <a:ext cx="24798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IT外包、初级程序员、客服</a:t>
            </a:r>
            <a:endParaRPr lang="en-US" sz="800" dirty="0"/>
          </a:p>
        </p:txBody>
      </p:sp>
      <p:sp>
        <p:nvSpPr>
          <p:cNvPr id="76" name="Shape 65"/>
          <p:cNvSpPr/>
          <p:nvPr/>
        </p:nvSpPr>
        <p:spPr>
          <a:xfrm>
            <a:off x="6353251" y="3486607"/>
            <a:ext cx="5105095" cy="875995"/>
          </a:xfrm>
          <a:prstGeom prst="roundRect">
            <a:avLst>
              <a:gd name="adj" fmla="val 13615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66"/>
          <p:cNvSpPr txBox="1"/>
          <p:nvPr/>
        </p:nvSpPr>
        <p:spPr>
          <a:xfrm>
            <a:off x="6448349" y="3581705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高盛核心标的</a:t>
            </a:r>
            <a:endParaRPr lang="en-US" sz="900" dirty="0"/>
          </a:p>
        </p:txBody>
      </p:sp>
      <p:sp>
        <p:nvSpPr>
          <p:cNvPr id="78" name="Text 67"/>
          <p:cNvSpPr txBox="1"/>
          <p:nvPr/>
        </p:nvSpPr>
        <p:spPr>
          <a:xfrm>
            <a:off x="10612526" y="3581705"/>
            <a:ext cx="82936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AVGO + NOW</a:t>
            </a:r>
            <a:endParaRPr lang="en-US" sz="900" dirty="0"/>
          </a:p>
        </p:txBody>
      </p:sp>
      <p:sp>
        <p:nvSpPr>
          <p:cNvPr id="79" name="Shape 68"/>
          <p:cNvSpPr/>
          <p:nvPr/>
        </p:nvSpPr>
        <p:spPr>
          <a:xfrm>
            <a:off x="6448349" y="3800246"/>
            <a:ext cx="2409444" cy="466344"/>
          </a:xfrm>
          <a:prstGeom prst="roundRect">
            <a:avLst>
              <a:gd name="adj" fmla="val 32013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Text 69"/>
          <p:cNvSpPr txBox="1"/>
          <p:nvPr/>
        </p:nvSpPr>
        <p:spPr>
          <a:xfrm>
            <a:off x="6479438" y="3877056"/>
            <a:ext cx="234817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AVGO</a:t>
            </a:r>
            <a:endParaRPr lang="en-US" sz="900" dirty="0"/>
          </a:p>
        </p:txBody>
      </p:sp>
      <p:sp>
        <p:nvSpPr>
          <p:cNvPr id="81" name="Text 70"/>
          <p:cNvSpPr txBox="1"/>
          <p:nvPr/>
        </p:nvSpPr>
        <p:spPr>
          <a:xfrm>
            <a:off x="6434633" y="4048049"/>
            <a:ext cx="24387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AI基础设施</a:t>
            </a:r>
            <a:endParaRPr lang="en-US" sz="800" dirty="0"/>
          </a:p>
        </p:txBody>
      </p:sp>
      <p:sp>
        <p:nvSpPr>
          <p:cNvPr id="82" name="Shape 71"/>
          <p:cNvSpPr/>
          <p:nvPr/>
        </p:nvSpPr>
        <p:spPr>
          <a:xfrm>
            <a:off x="8953805" y="3800246"/>
            <a:ext cx="2409444" cy="466344"/>
          </a:xfrm>
          <a:prstGeom prst="roundRect">
            <a:avLst>
              <a:gd name="adj" fmla="val 32013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72"/>
          <p:cNvSpPr txBox="1"/>
          <p:nvPr/>
        </p:nvSpPr>
        <p:spPr>
          <a:xfrm>
            <a:off x="8984894" y="3877056"/>
            <a:ext cx="234817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NOW</a:t>
            </a:r>
            <a:endParaRPr lang="en-US" sz="900" dirty="0"/>
          </a:p>
        </p:txBody>
      </p:sp>
      <p:sp>
        <p:nvSpPr>
          <p:cNvPr id="84" name="Text 73"/>
          <p:cNvSpPr txBox="1"/>
          <p:nvPr/>
        </p:nvSpPr>
        <p:spPr>
          <a:xfrm>
            <a:off x="8939174" y="4048049"/>
            <a:ext cx="24387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企业管理软件</a:t>
            </a:r>
            <a:endParaRPr lang="en-US" sz="800" dirty="0"/>
          </a:p>
        </p:txBody>
      </p:sp>
      <p:pic>
        <p:nvPicPr>
          <p:cNvPr id="85" name="Image 9" descr="preencoded.png"/>
          <p:cNvPicPr>
            <a:picLocks noChangeAspect="1"/>
          </p:cNvPicPr>
          <p:nvPr/>
        </p:nvPicPr>
        <p:blipFill>
          <a:blip r:embed="rId9"/>
          <a:srcRect l="-1648" r="-1648"/>
          <a:stretch>
            <a:fillRect/>
          </a:stretch>
        </p:blipFill>
        <p:spPr>
          <a:xfrm>
            <a:off x="905256" y="3745382"/>
            <a:ext cx="85954" cy="95098"/>
          </a:xfrm>
          <a:prstGeom prst="rect">
            <a:avLst/>
          </a:prstGeom>
        </p:spPr>
      </p:pic>
      <p:pic>
        <p:nvPicPr>
          <p:cNvPr id="86" name="Image 10" descr="preencoded.png"/>
          <p:cNvPicPr>
            <a:picLocks noChangeAspect="1"/>
          </p:cNvPicPr>
          <p:nvPr/>
        </p:nvPicPr>
        <p:blipFill>
          <a:blip r:embed="rId9"/>
          <a:srcRect l="-1648" r="-1648"/>
          <a:stretch>
            <a:fillRect/>
          </a:stretch>
        </p:blipFill>
        <p:spPr>
          <a:xfrm>
            <a:off x="1946758" y="3745382"/>
            <a:ext cx="85954" cy="95098"/>
          </a:xfrm>
          <a:prstGeom prst="rect">
            <a:avLst/>
          </a:prstGeom>
        </p:spPr>
      </p:pic>
      <p:pic>
        <p:nvPicPr>
          <p:cNvPr id="87" name="Image 11" descr="preencoded.png"/>
          <p:cNvPicPr>
            <a:picLocks noChangeAspect="1"/>
          </p:cNvPicPr>
          <p:nvPr/>
        </p:nvPicPr>
        <p:blipFill>
          <a:blip r:embed="rId9"/>
          <a:srcRect l="-1648" r="-1648"/>
          <a:stretch>
            <a:fillRect/>
          </a:stretch>
        </p:blipFill>
        <p:spPr>
          <a:xfrm>
            <a:off x="2973629" y="3745382"/>
            <a:ext cx="85954" cy="95098"/>
          </a:xfrm>
          <a:prstGeom prst="rect">
            <a:avLst/>
          </a:prstGeom>
        </p:spPr>
      </p:pic>
      <p:sp>
        <p:nvSpPr>
          <p:cNvPr id="88" name="Shape 74"/>
          <p:cNvSpPr/>
          <p:nvPr/>
        </p:nvSpPr>
        <p:spPr>
          <a:xfrm>
            <a:off x="571500" y="6210605"/>
            <a:ext cx="4638751" cy="381305"/>
          </a:xfrm>
          <a:prstGeom prst="roundRect">
            <a:avLst>
              <a:gd name="adj" fmla="val 95923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89" name="Image 12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71754" y="6334049"/>
            <a:ext cx="133502" cy="133502"/>
          </a:xfrm>
          <a:prstGeom prst="rect">
            <a:avLst/>
          </a:prstGeom>
        </p:spPr>
      </p:pic>
      <p:sp>
        <p:nvSpPr>
          <p:cNvPr id="90" name="Text 75"/>
          <p:cNvSpPr txBox="1"/>
          <p:nvPr/>
        </p:nvSpPr>
        <p:spPr>
          <a:xfrm>
            <a:off x="1000354" y="6210605"/>
            <a:ext cx="4086454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关键洞察：国产替代不是线性过程，部分设备导入需要更多时间进行可靠性验证</a:t>
            </a:r>
            <a:endParaRPr lang="en-US" sz="900" dirty="0"/>
          </a:p>
        </p:txBody>
      </p:sp>
      <p:sp>
        <p:nvSpPr>
          <p:cNvPr id="91" name="Shape 76"/>
          <p:cNvSpPr/>
          <p:nvPr/>
        </p:nvSpPr>
        <p:spPr>
          <a:xfrm>
            <a:off x="8541410" y="6181344"/>
            <a:ext cx="3086100" cy="437998"/>
          </a:xfrm>
          <a:prstGeom prst="roundRect">
            <a:avLst>
              <a:gd name="adj" fmla="val 72615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2" name="Text 77"/>
          <p:cNvSpPr txBox="1"/>
          <p:nvPr/>
        </p:nvSpPr>
        <p:spPr>
          <a:xfrm>
            <a:off x="8693201" y="6344107"/>
            <a:ext cx="99121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AI相关支出贡献：</a:t>
            </a:r>
            <a:endParaRPr lang="en-US" sz="900" dirty="0"/>
          </a:p>
        </p:txBody>
      </p:sp>
      <p:sp>
        <p:nvSpPr>
          <p:cNvPr id="93" name="Text 78"/>
          <p:cNvSpPr txBox="1"/>
          <p:nvPr/>
        </p:nvSpPr>
        <p:spPr>
          <a:xfrm>
            <a:off x="9603029" y="6334049"/>
            <a:ext cx="1943100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标普500 2026年利润增长约40%</a:t>
            </a:r>
            <a:endParaRPr lang="en-US" sz="900" dirty="0"/>
          </a:p>
        </p:txBody>
      </p:sp>
      <p:sp>
        <p:nvSpPr>
          <p:cNvPr id="94" name="Shape 79"/>
          <p:cNvSpPr/>
          <p:nvPr/>
        </p:nvSpPr>
        <p:spPr>
          <a:xfrm>
            <a:off x="571500" y="6629400"/>
            <a:ext cx="75895" cy="758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Text 80"/>
          <p:cNvSpPr txBox="1"/>
          <p:nvPr/>
        </p:nvSpPr>
        <p:spPr>
          <a:xfrm>
            <a:off x="743407" y="6581851"/>
            <a:ext cx="247985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国产半导体：史上最严芯片法案催化替代加速</a:t>
            </a:r>
            <a:endParaRPr lang="en-US" sz="900" dirty="0"/>
          </a:p>
        </p:txBody>
      </p:sp>
      <p:sp>
        <p:nvSpPr>
          <p:cNvPr id="96" name="Shape 81"/>
          <p:cNvSpPr/>
          <p:nvPr/>
        </p:nvSpPr>
        <p:spPr>
          <a:xfrm>
            <a:off x="3314700" y="6629400"/>
            <a:ext cx="75895" cy="75895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Text 82"/>
          <p:cNvSpPr txBox="1"/>
          <p:nvPr/>
        </p:nvSpPr>
        <p:spPr>
          <a:xfrm>
            <a:off x="3486607" y="6581851"/>
            <a:ext cx="172821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AI产业链：赢家与输家地图重写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-400" r="-400"/>
          <a:stretch>
            <a:fillRect/>
          </a:stretch>
        </p:blipFill>
        <p:spPr>
          <a:xfrm>
            <a:off x="0" y="0"/>
            <a:ext cx="57607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rcRect l="-1282" r="-1282"/>
          <a:stretch>
            <a:fillRect/>
          </a:stretch>
        </p:blipFill>
        <p:spPr>
          <a:xfrm>
            <a:off x="381305" y="286207"/>
            <a:ext cx="219456" cy="19019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743407" y="280721"/>
            <a:ext cx="248716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GOLDMAN SACHS CONVICTION LIST</a:t>
            </a:r>
            <a:endParaRPr lang="en-US" sz="10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067105"/>
            <a:ext cx="8772754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亚太21只 + 美国21只</a:t>
            </a:r>
            <a:r>
              <a:rPr lang="en-US" sz="2100" b="1" dirty="0">
                <a:solidFill>
                  <a:srgbClr val="FF95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精选标的</a:t>
            </a: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与核心逻辑 </a:t>
            </a:r>
            <a:endParaRPr lang="en-US" sz="2100" dirty="0"/>
          </a:p>
        </p:txBody>
      </p:sp>
      <p:sp>
        <p:nvSpPr>
          <p:cNvPr id="11" name="Shape 5"/>
          <p:cNvSpPr/>
          <p:nvPr/>
        </p:nvSpPr>
        <p:spPr>
          <a:xfrm>
            <a:off x="9437522" y="874166"/>
            <a:ext cx="981151" cy="400507"/>
          </a:xfrm>
          <a:prstGeom prst="roundRect">
            <a:avLst>
              <a:gd name="adj" fmla="val 86975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0553090" y="874166"/>
            <a:ext cx="1076249" cy="400507"/>
          </a:xfrm>
          <a:prstGeom prst="roundRect">
            <a:avLst>
              <a:gd name="adj" fmla="val 86975"/>
            </a:avLst>
          </a:prstGeom>
          <a:solidFill>
            <a:srgbClr val="FF9500">
              <a:alpha val="1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571500" y="800100"/>
            <a:ext cx="131765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高盛确信买入名单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9590227" y="1016813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新增标的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0047427" y="998525"/>
            <a:ext cx="2953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7只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10705795" y="1016813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覆盖市场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162995" y="998525"/>
            <a:ext cx="3913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42只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71500" y="1429207"/>
            <a:ext cx="5429707" cy="1619402"/>
          </a:xfrm>
          <a:prstGeom prst="roundRect">
            <a:avLst>
              <a:gd name="adj" fmla="val 5314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94944" y="1576426"/>
            <a:ext cx="15270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42746" y="1552651"/>
            <a:ext cx="116311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亚太市场（21只）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96866" y="1552651"/>
            <a:ext cx="362102" cy="200254"/>
          </a:xfrm>
          <a:prstGeom prst="roundRect">
            <a:avLst>
              <a:gd name="adj" fmla="val 173951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5096866" y="1552651"/>
            <a:ext cx="4197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NEW</a:t>
            </a:r>
            <a:endParaRPr lang="en-US" sz="800" dirty="0"/>
          </a:p>
        </p:txBody>
      </p:sp>
      <p:sp>
        <p:nvSpPr>
          <p:cNvPr id="23" name="Text 16"/>
          <p:cNvSpPr txBox="1"/>
          <p:nvPr/>
        </p:nvSpPr>
        <p:spPr>
          <a:xfrm>
            <a:off x="5504688" y="1552651"/>
            <a:ext cx="45720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+5新增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94944" y="1848002"/>
            <a:ext cx="1676095" cy="705002"/>
          </a:xfrm>
          <a:prstGeom prst="roundRect">
            <a:avLst>
              <a:gd name="adj" fmla="val 21033"/>
            </a:avLst>
          </a:prstGeom>
          <a:solidFill>
            <a:srgbClr val="FF9500">
              <a:alpha val="1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80898" y="1954987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百胜中国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1925726" y="1933956"/>
            <a:ext cx="362102" cy="200254"/>
          </a:xfrm>
          <a:prstGeom prst="roundRect">
            <a:avLst>
              <a:gd name="adj" fmla="val 173951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1925726" y="1933956"/>
            <a:ext cx="4197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NEW</a:t>
            </a:r>
            <a:endParaRPr lang="en-US" sz="800" dirty="0"/>
          </a:p>
        </p:txBody>
      </p:sp>
      <p:sp>
        <p:nvSpPr>
          <p:cNvPr id="28" name="Text 21"/>
          <p:cNvSpPr txBox="1"/>
          <p:nvPr/>
        </p:nvSpPr>
        <p:spPr>
          <a:xfrm>
            <a:off x="780898" y="2162556"/>
            <a:ext cx="16258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餐饮连锁龙头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780898" y="2318918"/>
            <a:ext cx="33375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+15%</a:t>
            </a:r>
            <a:endParaRPr lang="en-US" sz="800" dirty="0"/>
          </a:p>
        </p:txBody>
      </p:sp>
      <p:sp>
        <p:nvSpPr>
          <p:cNvPr id="30" name="Text 23"/>
          <p:cNvSpPr txBox="1"/>
          <p:nvPr/>
        </p:nvSpPr>
        <p:spPr>
          <a:xfrm>
            <a:off x="1943100" y="2318918"/>
            <a:ext cx="4288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9987.HK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2447849" y="1848002"/>
            <a:ext cx="1676095" cy="705002"/>
          </a:xfrm>
          <a:prstGeom prst="roundRect">
            <a:avLst>
              <a:gd name="adj" fmla="val 21033"/>
            </a:avLst>
          </a:prstGeom>
          <a:solidFill>
            <a:srgbClr val="FF9500">
              <a:alpha val="1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2533802" y="1954987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药明康德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3677717" y="1933956"/>
            <a:ext cx="362102" cy="200254"/>
          </a:xfrm>
          <a:prstGeom prst="roundRect">
            <a:avLst>
              <a:gd name="adj" fmla="val 173951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3677717" y="1933956"/>
            <a:ext cx="4197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NEW</a:t>
            </a:r>
            <a:endParaRPr lang="en-US" sz="800" dirty="0"/>
          </a:p>
        </p:txBody>
      </p:sp>
      <p:sp>
        <p:nvSpPr>
          <p:cNvPr id="35" name="Text 28"/>
          <p:cNvSpPr txBox="1"/>
          <p:nvPr/>
        </p:nvSpPr>
        <p:spPr>
          <a:xfrm>
            <a:off x="2533802" y="2162556"/>
            <a:ext cx="1581912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CXO龙头</a:t>
            </a:r>
            <a:endParaRPr lang="en-US" sz="800" dirty="0"/>
          </a:p>
        </p:txBody>
      </p:sp>
      <p:sp>
        <p:nvSpPr>
          <p:cNvPr id="36" name="Text 29"/>
          <p:cNvSpPr txBox="1"/>
          <p:nvPr/>
        </p:nvSpPr>
        <p:spPr>
          <a:xfrm>
            <a:off x="2533802" y="2318918"/>
            <a:ext cx="33375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+18%</a:t>
            </a:r>
            <a:endParaRPr lang="en-US" sz="800" dirty="0"/>
          </a:p>
        </p:txBody>
      </p:sp>
      <p:sp>
        <p:nvSpPr>
          <p:cNvPr id="37" name="Text 30"/>
          <p:cNvSpPr txBox="1"/>
          <p:nvPr/>
        </p:nvSpPr>
        <p:spPr>
          <a:xfrm>
            <a:off x="3685032" y="2318918"/>
            <a:ext cx="43891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2359.HK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4200754" y="1848002"/>
            <a:ext cx="1676095" cy="705002"/>
          </a:xfrm>
          <a:prstGeom prst="roundRect">
            <a:avLst>
              <a:gd name="adj" fmla="val 21033"/>
            </a:avLst>
          </a:prstGeom>
          <a:solidFill>
            <a:srgbClr val="FF9500">
              <a:alpha val="1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4286707" y="1954987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海天味业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5430622" y="1933956"/>
            <a:ext cx="362102" cy="200254"/>
          </a:xfrm>
          <a:prstGeom prst="roundRect">
            <a:avLst>
              <a:gd name="adj" fmla="val 173951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5430622" y="1933956"/>
            <a:ext cx="4197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NEW</a:t>
            </a:r>
            <a:endParaRPr lang="en-US" sz="800" dirty="0"/>
          </a:p>
        </p:txBody>
      </p:sp>
      <p:sp>
        <p:nvSpPr>
          <p:cNvPr id="42" name="Text 35"/>
          <p:cNvSpPr txBox="1"/>
          <p:nvPr/>
        </p:nvSpPr>
        <p:spPr>
          <a:xfrm>
            <a:off x="4286707" y="2162556"/>
            <a:ext cx="16258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调味品霸主</a:t>
            </a:r>
            <a:endParaRPr lang="en-US" sz="800" dirty="0"/>
          </a:p>
        </p:txBody>
      </p:sp>
      <p:sp>
        <p:nvSpPr>
          <p:cNvPr id="43" name="Text 36"/>
          <p:cNvSpPr txBox="1"/>
          <p:nvPr/>
        </p:nvSpPr>
        <p:spPr>
          <a:xfrm>
            <a:off x="4286707" y="2318918"/>
            <a:ext cx="33375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+12%</a:t>
            </a:r>
            <a:endParaRPr lang="en-US" sz="800" dirty="0"/>
          </a:p>
        </p:txBody>
      </p:sp>
      <p:sp>
        <p:nvSpPr>
          <p:cNvPr id="44" name="Text 37"/>
          <p:cNvSpPr txBox="1"/>
          <p:nvPr/>
        </p:nvSpPr>
        <p:spPr>
          <a:xfrm>
            <a:off x="5340096" y="2318918"/>
            <a:ext cx="53401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603288.SS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694944" y="2624328"/>
            <a:ext cx="1676095" cy="705002"/>
          </a:xfrm>
          <a:prstGeom prst="roundRect">
            <a:avLst>
              <a:gd name="adj" fmla="val 21033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780898" y="2731313"/>
            <a:ext cx="391363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台积电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2061058" y="2710282"/>
            <a:ext cx="228600" cy="200254"/>
          </a:xfrm>
          <a:prstGeom prst="roundRect">
            <a:avLst>
              <a:gd name="adj" fmla="val 173951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2061058" y="2710282"/>
            <a:ext cx="2862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</a:t>
            </a:r>
            <a:endParaRPr lang="en-US" sz="800" dirty="0"/>
          </a:p>
        </p:txBody>
      </p:sp>
      <p:sp>
        <p:nvSpPr>
          <p:cNvPr id="49" name="Text 42"/>
          <p:cNvSpPr txBox="1"/>
          <p:nvPr/>
        </p:nvSpPr>
        <p:spPr>
          <a:xfrm>
            <a:off x="780898" y="2938882"/>
            <a:ext cx="16258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AI军火商</a:t>
            </a:r>
            <a:endParaRPr lang="en-US" sz="800" dirty="0"/>
          </a:p>
        </p:txBody>
      </p:sp>
      <p:sp>
        <p:nvSpPr>
          <p:cNvPr id="50" name="Text 43"/>
          <p:cNvSpPr txBox="1"/>
          <p:nvPr/>
        </p:nvSpPr>
        <p:spPr>
          <a:xfrm>
            <a:off x="780898" y="3095244"/>
            <a:ext cx="3529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+25%</a:t>
            </a:r>
            <a:endParaRPr lang="en-US" sz="800" dirty="0"/>
          </a:p>
        </p:txBody>
      </p:sp>
      <p:sp>
        <p:nvSpPr>
          <p:cNvPr id="51" name="Text 44"/>
          <p:cNvSpPr txBox="1"/>
          <p:nvPr/>
        </p:nvSpPr>
        <p:spPr>
          <a:xfrm>
            <a:off x="1913839" y="3095244"/>
            <a:ext cx="45720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2330.TW</a:t>
            </a:r>
            <a:endParaRPr lang="en-US" sz="800" dirty="0"/>
          </a:p>
        </p:txBody>
      </p:sp>
      <p:sp>
        <p:nvSpPr>
          <p:cNvPr id="52" name="Shape 45"/>
          <p:cNvSpPr/>
          <p:nvPr/>
        </p:nvSpPr>
        <p:spPr>
          <a:xfrm>
            <a:off x="2447849" y="2624328"/>
            <a:ext cx="1676095" cy="705002"/>
          </a:xfrm>
          <a:prstGeom prst="roundRect">
            <a:avLst>
              <a:gd name="adj" fmla="val 21033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53" name="Text 46"/>
          <p:cNvSpPr txBox="1"/>
          <p:nvPr/>
        </p:nvSpPr>
        <p:spPr>
          <a:xfrm>
            <a:off x="2533802" y="2731313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腾讯控股</a:t>
            </a:r>
            <a:endParaRPr lang="en-US" sz="800" dirty="0"/>
          </a:p>
        </p:txBody>
      </p:sp>
      <p:sp>
        <p:nvSpPr>
          <p:cNvPr id="54" name="Shape 47"/>
          <p:cNvSpPr/>
          <p:nvPr/>
        </p:nvSpPr>
        <p:spPr>
          <a:xfrm>
            <a:off x="3813962" y="2710282"/>
            <a:ext cx="228600" cy="200254"/>
          </a:xfrm>
          <a:prstGeom prst="roundRect">
            <a:avLst>
              <a:gd name="adj" fmla="val 173951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3813962" y="2710282"/>
            <a:ext cx="2862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</a:t>
            </a:r>
            <a:endParaRPr lang="en-US" sz="800" dirty="0"/>
          </a:p>
        </p:txBody>
      </p:sp>
      <p:sp>
        <p:nvSpPr>
          <p:cNvPr id="56" name="Text 49"/>
          <p:cNvSpPr txBox="1"/>
          <p:nvPr/>
        </p:nvSpPr>
        <p:spPr>
          <a:xfrm>
            <a:off x="2533802" y="2938882"/>
            <a:ext cx="16258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游戏+广告</a:t>
            </a:r>
            <a:endParaRPr lang="en-US" sz="800" dirty="0"/>
          </a:p>
        </p:txBody>
      </p:sp>
      <p:sp>
        <p:nvSpPr>
          <p:cNvPr id="57" name="Text 50"/>
          <p:cNvSpPr txBox="1"/>
          <p:nvPr/>
        </p:nvSpPr>
        <p:spPr>
          <a:xfrm>
            <a:off x="2533802" y="3095244"/>
            <a:ext cx="3529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+20%</a:t>
            </a:r>
            <a:endParaRPr lang="en-US" sz="800" dirty="0"/>
          </a:p>
        </p:txBody>
      </p:sp>
      <p:sp>
        <p:nvSpPr>
          <p:cNvPr id="58" name="Text 51"/>
          <p:cNvSpPr txBox="1"/>
          <p:nvPr/>
        </p:nvSpPr>
        <p:spPr>
          <a:xfrm>
            <a:off x="3738982" y="3095244"/>
            <a:ext cx="3813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700.HK</a:t>
            </a:r>
            <a:endParaRPr lang="en-US" sz="800" dirty="0"/>
          </a:p>
        </p:txBody>
      </p:sp>
      <p:sp>
        <p:nvSpPr>
          <p:cNvPr id="59" name="Shape 52"/>
          <p:cNvSpPr/>
          <p:nvPr/>
        </p:nvSpPr>
        <p:spPr>
          <a:xfrm>
            <a:off x="4200754" y="2624328"/>
            <a:ext cx="1676095" cy="705002"/>
          </a:xfrm>
          <a:prstGeom prst="roundRect">
            <a:avLst>
              <a:gd name="adj" fmla="val 21033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4286707" y="2731313"/>
            <a:ext cx="6483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鸿海/富士康</a:t>
            </a:r>
            <a:endParaRPr lang="en-US" sz="800" dirty="0"/>
          </a:p>
        </p:txBody>
      </p:sp>
      <p:sp>
        <p:nvSpPr>
          <p:cNvPr id="61" name="Shape 54"/>
          <p:cNvSpPr/>
          <p:nvPr/>
        </p:nvSpPr>
        <p:spPr>
          <a:xfrm>
            <a:off x="5566867" y="2710282"/>
            <a:ext cx="228600" cy="200254"/>
          </a:xfrm>
          <a:prstGeom prst="roundRect">
            <a:avLst>
              <a:gd name="adj" fmla="val 173951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5566867" y="2710282"/>
            <a:ext cx="2862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</a:t>
            </a:r>
            <a:endParaRPr lang="en-US" sz="800" dirty="0"/>
          </a:p>
        </p:txBody>
      </p:sp>
      <p:sp>
        <p:nvSpPr>
          <p:cNvPr id="63" name="Text 56"/>
          <p:cNvSpPr txBox="1"/>
          <p:nvPr/>
        </p:nvSpPr>
        <p:spPr>
          <a:xfrm>
            <a:off x="4286707" y="2938882"/>
            <a:ext cx="16258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AI服务器</a:t>
            </a:r>
            <a:endParaRPr lang="en-US" sz="800" dirty="0"/>
          </a:p>
        </p:txBody>
      </p:sp>
      <p:sp>
        <p:nvSpPr>
          <p:cNvPr id="64" name="Text 57"/>
          <p:cNvSpPr txBox="1"/>
          <p:nvPr/>
        </p:nvSpPr>
        <p:spPr>
          <a:xfrm>
            <a:off x="4286707" y="3095244"/>
            <a:ext cx="3529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+22%</a:t>
            </a:r>
            <a:endParaRPr lang="en-US" sz="800" dirty="0"/>
          </a:p>
        </p:txBody>
      </p:sp>
      <p:sp>
        <p:nvSpPr>
          <p:cNvPr id="65" name="Text 58"/>
          <p:cNvSpPr txBox="1"/>
          <p:nvPr/>
        </p:nvSpPr>
        <p:spPr>
          <a:xfrm>
            <a:off x="5451653" y="3095244"/>
            <a:ext cx="41971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2317.TW</a:t>
            </a:r>
            <a:endParaRPr lang="en-US" sz="800" dirty="0"/>
          </a:p>
        </p:txBody>
      </p:sp>
      <p:sp>
        <p:nvSpPr>
          <p:cNvPr id="66" name="Shape 59"/>
          <p:cNvSpPr/>
          <p:nvPr/>
        </p:nvSpPr>
        <p:spPr>
          <a:xfrm>
            <a:off x="694944" y="3419856"/>
            <a:ext cx="2542946" cy="514807"/>
          </a:xfrm>
          <a:prstGeom prst="roundRect">
            <a:avLst>
              <a:gd name="adj" fmla="val 3947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0"/>
          <p:cNvSpPr txBox="1"/>
          <p:nvPr/>
        </p:nvSpPr>
        <p:spPr>
          <a:xfrm>
            <a:off x="771754" y="3516782"/>
            <a:ext cx="52120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Lasertec</a:t>
            </a:r>
            <a:endParaRPr lang="en-US" sz="800" dirty="0"/>
          </a:p>
        </p:txBody>
      </p:sp>
      <p:sp>
        <p:nvSpPr>
          <p:cNvPr id="68" name="Shape 61"/>
          <p:cNvSpPr/>
          <p:nvPr/>
        </p:nvSpPr>
        <p:spPr>
          <a:xfrm>
            <a:off x="2801722" y="3495751"/>
            <a:ext cx="362102" cy="200254"/>
          </a:xfrm>
          <a:prstGeom prst="roundRect">
            <a:avLst>
              <a:gd name="adj" fmla="val 173951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69" name="Text 62"/>
          <p:cNvSpPr txBox="1"/>
          <p:nvPr/>
        </p:nvSpPr>
        <p:spPr>
          <a:xfrm>
            <a:off x="2801722" y="3495751"/>
            <a:ext cx="4197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NEW</a:t>
            </a:r>
            <a:endParaRPr lang="en-US" sz="800" dirty="0"/>
          </a:p>
        </p:txBody>
      </p:sp>
      <p:sp>
        <p:nvSpPr>
          <p:cNvPr id="70" name="Text 63"/>
          <p:cNvSpPr txBox="1"/>
          <p:nvPr/>
        </p:nvSpPr>
        <p:spPr>
          <a:xfrm>
            <a:off x="771754" y="3724351"/>
            <a:ext cx="25813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半导体光刻检测</a:t>
            </a:r>
            <a:endParaRPr lang="en-US" sz="800" dirty="0"/>
          </a:p>
        </p:txBody>
      </p:sp>
      <p:sp>
        <p:nvSpPr>
          <p:cNvPr id="71" name="Shape 64"/>
          <p:cNvSpPr/>
          <p:nvPr/>
        </p:nvSpPr>
        <p:spPr>
          <a:xfrm>
            <a:off x="3333902" y="3419856"/>
            <a:ext cx="2542946" cy="514807"/>
          </a:xfrm>
          <a:prstGeom prst="roundRect">
            <a:avLst>
              <a:gd name="adj" fmla="val 3947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5"/>
          <p:cNvSpPr txBox="1"/>
          <p:nvPr/>
        </p:nvSpPr>
        <p:spPr>
          <a:xfrm>
            <a:off x="3409798" y="3516782"/>
            <a:ext cx="5239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Ramelius</a:t>
            </a:r>
            <a:endParaRPr lang="en-US" sz="800" dirty="0"/>
          </a:p>
        </p:txBody>
      </p:sp>
      <p:sp>
        <p:nvSpPr>
          <p:cNvPr id="73" name="Shape 66"/>
          <p:cNvSpPr/>
          <p:nvPr/>
        </p:nvSpPr>
        <p:spPr>
          <a:xfrm>
            <a:off x="5439766" y="3495751"/>
            <a:ext cx="362102" cy="200254"/>
          </a:xfrm>
          <a:prstGeom prst="roundRect">
            <a:avLst>
              <a:gd name="adj" fmla="val 173951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74" name="Text 67"/>
          <p:cNvSpPr txBox="1"/>
          <p:nvPr/>
        </p:nvSpPr>
        <p:spPr>
          <a:xfrm>
            <a:off x="5439766" y="3495751"/>
            <a:ext cx="4197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NEW</a:t>
            </a:r>
            <a:endParaRPr lang="en-US" sz="800" dirty="0"/>
          </a:p>
        </p:txBody>
      </p:sp>
      <p:sp>
        <p:nvSpPr>
          <p:cNvPr id="75" name="Text 68"/>
          <p:cNvSpPr txBox="1"/>
          <p:nvPr/>
        </p:nvSpPr>
        <p:spPr>
          <a:xfrm>
            <a:off x="3409798" y="3724351"/>
            <a:ext cx="25813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澳洲低成本金矿</a:t>
            </a:r>
            <a:endParaRPr lang="en-US" sz="800" dirty="0"/>
          </a:p>
        </p:txBody>
      </p:sp>
      <p:sp>
        <p:nvSpPr>
          <p:cNvPr id="76" name="Shape 69"/>
          <p:cNvSpPr/>
          <p:nvPr/>
        </p:nvSpPr>
        <p:spPr>
          <a:xfrm>
            <a:off x="6191402" y="1429207"/>
            <a:ext cx="5429707" cy="1619402"/>
          </a:xfrm>
          <a:prstGeom prst="roundRect">
            <a:avLst>
              <a:gd name="adj" fmla="val 5314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77" name="Image 5" descr="preencoded.png"/>
          <p:cNvPicPr>
            <a:picLocks noChangeAspect="1"/>
          </p:cNvPicPr>
          <p:nvPr/>
        </p:nvPicPr>
        <p:blipFill>
          <a:blip r:embed="rId5"/>
          <a:srcRect t="-43" b="-43"/>
          <a:stretch>
            <a:fillRect/>
          </a:stretch>
        </p:blipFill>
        <p:spPr>
          <a:xfrm>
            <a:off x="6314846" y="1576426"/>
            <a:ext cx="133502" cy="152705"/>
          </a:xfrm>
          <a:prstGeom prst="rect">
            <a:avLst/>
          </a:prstGeom>
        </p:spPr>
      </p:pic>
      <p:sp>
        <p:nvSpPr>
          <p:cNvPr id="78" name="Text 70"/>
          <p:cNvSpPr txBox="1"/>
          <p:nvPr/>
        </p:nvSpPr>
        <p:spPr>
          <a:xfrm>
            <a:off x="6543446" y="1552651"/>
            <a:ext cx="116311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美国市场（21只）</a:t>
            </a:r>
            <a:endParaRPr lang="en-US" sz="1000" dirty="0"/>
          </a:p>
        </p:txBody>
      </p:sp>
      <p:sp>
        <p:nvSpPr>
          <p:cNvPr id="79" name="Shape 71"/>
          <p:cNvSpPr/>
          <p:nvPr/>
        </p:nvSpPr>
        <p:spPr>
          <a:xfrm>
            <a:off x="10718597" y="1552651"/>
            <a:ext cx="362102" cy="200254"/>
          </a:xfrm>
          <a:prstGeom prst="roundRect">
            <a:avLst>
              <a:gd name="adj" fmla="val 173951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80" name="Text 72"/>
          <p:cNvSpPr txBox="1"/>
          <p:nvPr/>
        </p:nvSpPr>
        <p:spPr>
          <a:xfrm>
            <a:off x="10718597" y="1552651"/>
            <a:ext cx="4197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NEW</a:t>
            </a:r>
            <a:endParaRPr lang="en-US" sz="800" dirty="0"/>
          </a:p>
        </p:txBody>
      </p:sp>
      <p:sp>
        <p:nvSpPr>
          <p:cNvPr id="81" name="Text 73"/>
          <p:cNvSpPr txBox="1"/>
          <p:nvPr/>
        </p:nvSpPr>
        <p:spPr>
          <a:xfrm>
            <a:off x="11126419" y="1552651"/>
            <a:ext cx="44805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+2新增</a:t>
            </a:r>
            <a:endParaRPr lang="en-US" sz="900" dirty="0"/>
          </a:p>
        </p:txBody>
      </p:sp>
      <p:sp>
        <p:nvSpPr>
          <p:cNvPr id="82" name="Shape 74"/>
          <p:cNvSpPr/>
          <p:nvPr/>
        </p:nvSpPr>
        <p:spPr>
          <a:xfrm>
            <a:off x="6314846" y="1848002"/>
            <a:ext cx="1676095" cy="705002"/>
          </a:xfrm>
          <a:prstGeom prst="roundRect">
            <a:avLst>
              <a:gd name="adj" fmla="val 21033"/>
            </a:avLst>
          </a:prstGeom>
          <a:solidFill>
            <a:srgbClr val="FF9500">
              <a:alpha val="1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83" name="Text 75"/>
          <p:cNvSpPr txBox="1"/>
          <p:nvPr/>
        </p:nvSpPr>
        <p:spPr>
          <a:xfrm>
            <a:off x="6400800" y="1954987"/>
            <a:ext cx="106619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Citizens Financial</a:t>
            </a:r>
            <a:endParaRPr lang="en-US" sz="800" dirty="0"/>
          </a:p>
        </p:txBody>
      </p:sp>
      <p:sp>
        <p:nvSpPr>
          <p:cNvPr id="84" name="Shape 76"/>
          <p:cNvSpPr/>
          <p:nvPr/>
        </p:nvSpPr>
        <p:spPr>
          <a:xfrm>
            <a:off x="7544714" y="1933956"/>
            <a:ext cx="362102" cy="200254"/>
          </a:xfrm>
          <a:prstGeom prst="roundRect">
            <a:avLst>
              <a:gd name="adj" fmla="val 173951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85" name="Text 77"/>
          <p:cNvSpPr txBox="1"/>
          <p:nvPr/>
        </p:nvSpPr>
        <p:spPr>
          <a:xfrm>
            <a:off x="7544714" y="1933956"/>
            <a:ext cx="4197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NEW</a:t>
            </a:r>
            <a:endParaRPr lang="en-US" sz="800" dirty="0"/>
          </a:p>
        </p:txBody>
      </p:sp>
      <p:sp>
        <p:nvSpPr>
          <p:cNvPr id="86" name="Text 78"/>
          <p:cNvSpPr txBox="1"/>
          <p:nvPr/>
        </p:nvSpPr>
        <p:spPr>
          <a:xfrm>
            <a:off x="6400800" y="2162556"/>
            <a:ext cx="16258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银行股</a:t>
            </a:r>
            <a:endParaRPr lang="en-US" sz="800" dirty="0"/>
          </a:p>
        </p:txBody>
      </p:sp>
      <p:sp>
        <p:nvSpPr>
          <p:cNvPr id="87" name="Text 79"/>
          <p:cNvSpPr txBox="1"/>
          <p:nvPr/>
        </p:nvSpPr>
        <p:spPr>
          <a:xfrm>
            <a:off x="6400800" y="2318918"/>
            <a:ext cx="34290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+27%</a:t>
            </a:r>
            <a:endParaRPr lang="en-US" sz="800" dirty="0"/>
          </a:p>
        </p:txBody>
      </p:sp>
      <p:sp>
        <p:nvSpPr>
          <p:cNvPr id="88" name="Text 80"/>
          <p:cNvSpPr txBox="1"/>
          <p:nvPr/>
        </p:nvSpPr>
        <p:spPr>
          <a:xfrm>
            <a:off x="7728509" y="2318918"/>
            <a:ext cx="2578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CFG</a:t>
            </a:r>
            <a:endParaRPr lang="en-US" sz="800" dirty="0"/>
          </a:p>
        </p:txBody>
      </p:sp>
      <p:sp>
        <p:nvSpPr>
          <p:cNvPr id="89" name="Shape 81"/>
          <p:cNvSpPr/>
          <p:nvPr/>
        </p:nvSpPr>
        <p:spPr>
          <a:xfrm>
            <a:off x="8067751" y="1848002"/>
            <a:ext cx="1676095" cy="705002"/>
          </a:xfrm>
          <a:prstGeom prst="roundRect">
            <a:avLst>
              <a:gd name="adj" fmla="val 21033"/>
            </a:avLst>
          </a:prstGeom>
          <a:solidFill>
            <a:srgbClr val="FF9500">
              <a:alpha val="1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90" name="Text 82"/>
          <p:cNvSpPr txBox="1"/>
          <p:nvPr/>
        </p:nvSpPr>
        <p:spPr>
          <a:xfrm>
            <a:off x="8153705" y="1954987"/>
            <a:ext cx="726034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Carlisle Cos</a:t>
            </a:r>
            <a:endParaRPr lang="en-US" sz="800" dirty="0"/>
          </a:p>
        </p:txBody>
      </p:sp>
      <p:sp>
        <p:nvSpPr>
          <p:cNvPr id="91" name="Shape 83"/>
          <p:cNvSpPr/>
          <p:nvPr/>
        </p:nvSpPr>
        <p:spPr>
          <a:xfrm>
            <a:off x="9297619" y="1933956"/>
            <a:ext cx="362102" cy="200254"/>
          </a:xfrm>
          <a:prstGeom prst="roundRect">
            <a:avLst>
              <a:gd name="adj" fmla="val 173951"/>
            </a:avLst>
          </a:prstGeom>
          <a:solidFill>
            <a:srgbClr val="FF9500">
              <a:alpha val="2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92" name="Text 84"/>
          <p:cNvSpPr txBox="1"/>
          <p:nvPr/>
        </p:nvSpPr>
        <p:spPr>
          <a:xfrm>
            <a:off x="9297619" y="1933956"/>
            <a:ext cx="41971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NEW</a:t>
            </a:r>
            <a:endParaRPr lang="en-US" sz="800" dirty="0"/>
          </a:p>
        </p:txBody>
      </p:sp>
      <p:sp>
        <p:nvSpPr>
          <p:cNvPr id="93" name="Text 85"/>
          <p:cNvSpPr txBox="1"/>
          <p:nvPr/>
        </p:nvSpPr>
        <p:spPr>
          <a:xfrm>
            <a:off x="8153705" y="2162556"/>
            <a:ext cx="16258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建筑材料</a:t>
            </a:r>
            <a:endParaRPr lang="en-US" sz="800" dirty="0"/>
          </a:p>
        </p:txBody>
      </p:sp>
      <p:sp>
        <p:nvSpPr>
          <p:cNvPr id="94" name="Text 86"/>
          <p:cNvSpPr txBox="1"/>
          <p:nvPr/>
        </p:nvSpPr>
        <p:spPr>
          <a:xfrm>
            <a:off x="8153705" y="2318918"/>
            <a:ext cx="3529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+32%</a:t>
            </a:r>
            <a:endParaRPr lang="en-US" sz="800" dirty="0"/>
          </a:p>
        </p:txBody>
      </p:sp>
      <p:sp>
        <p:nvSpPr>
          <p:cNvPr id="95" name="Text 87"/>
          <p:cNvSpPr txBox="1"/>
          <p:nvPr/>
        </p:nvSpPr>
        <p:spPr>
          <a:xfrm>
            <a:off x="9492386" y="2318918"/>
            <a:ext cx="247802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CSL</a:t>
            </a:r>
            <a:endParaRPr lang="en-US" sz="800" dirty="0"/>
          </a:p>
        </p:txBody>
      </p:sp>
      <p:sp>
        <p:nvSpPr>
          <p:cNvPr id="96" name="Shape 88"/>
          <p:cNvSpPr/>
          <p:nvPr/>
        </p:nvSpPr>
        <p:spPr>
          <a:xfrm>
            <a:off x="9820656" y="1848002"/>
            <a:ext cx="1676095" cy="705002"/>
          </a:xfrm>
          <a:prstGeom prst="roundRect">
            <a:avLst>
              <a:gd name="adj" fmla="val 21033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97" name="Text 89"/>
          <p:cNvSpPr txBox="1"/>
          <p:nvPr/>
        </p:nvSpPr>
        <p:spPr>
          <a:xfrm>
            <a:off x="9905695" y="1954987"/>
            <a:ext cx="6675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博通(AVGO)</a:t>
            </a:r>
            <a:endParaRPr lang="en-US" sz="800" dirty="0"/>
          </a:p>
        </p:txBody>
      </p:sp>
      <p:sp>
        <p:nvSpPr>
          <p:cNvPr id="98" name="Shape 90"/>
          <p:cNvSpPr/>
          <p:nvPr/>
        </p:nvSpPr>
        <p:spPr>
          <a:xfrm>
            <a:off x="11185855" y="1933956"/>
            <a:ext cx="228600" cy="200254"/>
          </a:xfrm>
          <a:prstGeom prst="roundRect">
            <a:avLst>
              <a:gd name="adj" fmla="val 173951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99" name="Text 91"/>
          <p:cNvSpPr txBox="1"/>
          <p:nvPr/>
        </p:nvSpPr>
        <p:spPr>
          <a:xfrm>
            <a:off x="11185855" y="1933956"/>
            <a:ext cx="2862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</a:t>
            </a:r>
            <a:endParaRPr lang="en-US" sz="800" dirty="0"/>
          </a:p>
        </p:txBody>
      </p:sp>
      <p:sp>
        <p:nvSpPr>
          <p:cNvPr id="100" name="Text 92"/>
          <p:cNvSpPr txBox="1"/>
          <p:nvPr/>
        </p:nvSpPr>
        <p:spPr>
          <a:xfrm>
            <a:off x="9905695" y="2162556"/>
            <a:ext cx="16258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AI基础设施</a:t>
            </a:r>
            <a:endParaRPr lang="en-US" sz="800" dirty="0"/>
          </a:p>
        </p:txBody>
      </p:sp>
      <p:sp>
        <p:nvSpPr>
          <p:cNvPr id="101" name="Text 93"/>
          <p:cNvSpPr txBox="1"/>
          <p:nvPr/>
        </p:nvSpPr>
        <p:spPr>
          <a:xfrm>
            <a:off x="9905695" y="2318918"/>
            <a:ext cx="3529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+55%</a:t>
            </a:r>
            <a:endParaRPr lang="en-US" sz="800" dirty="0"/>
          </a:p>
        </p:txBody>
      </p:sp>
      <p:sp>
        <p:nvSpPr>
          <p:cNvPr id="102" name="Text 94"/>
          <p:cNvSpPr txBox="1"/>
          <p:nvPr/>
        </p:nvSpPr>
        <p:spPr>
          <a:xfrm>
            <a:off x="11193170" y="2318918"/>
            <a:ext cx="29535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$480</a:t>
            </a:r>
            <a:endParaRPr lang="en-US" sz="800" dirty="0"/>
          </a:p>
        </p:txBody>
      </p:sp>
      <p:sp>
        <p:nvSpPr>
          <p:cNvPr id="103" name="Shape 95"/>
          <p:cNvSpPr/>
          <p:nvPr/>
        </p:nvSpPr>
        <p:spPr>
          <a:xfrm>
            <a:off x="6314846" y="2624328"/>
            <a:ext cx="1676095" cy="705002"/>
          </a:xfrm>
          <a:prstGeom prst="roundRect">
            <a:avLst>
              <a:gd name="adj" fmla="val 21033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04" name="Text 96"/>
          <p:cNvSpPr txBox="1"/>
          <p:nvPr/>
        </p:nvSpPr>
        <p:spPr>
          <a:xfrm>
            <a:off x="6400800" y="2731313"/>
            <a:ext cx="6958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ServiceNow</a:t>
            </a:r>
            <a:endParaRPr lang="en-US" sz="800" dirty="0"/>
          </a:p>
        </p:txBody>
      </p:sp>
      <p:sp>
        <p:nvSpPr>
          <p:cNvPr id="105" name="Shape 97"/>
          <p:cNvSpPr/>
          <p:nvPr/>
        </p:nvSpPr>
        <p:spPr>
          <a:xfrm>
            <a:off x="7680960" y="2710282"/>
            <a:ext cx="228600" cy="200254"/>
          </a:xfrm>
          <a:prstGeom prst="roundRect">
            <a:avLst>
              <a:gd name="adj" fmla="val 173951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06" name="Text 98"/>
          <p:cNvSpPr txBox="1"/>
          <p:nvPr/>
        </p:nvSpPr>
        <p:spPr>
          <a:xfrm>
            <a:off x="7680960" y="2710282"/>
            <a:ext cx="2862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</a:t>
            </a:r>
            <a:endParaRPr lang="en-US" sz="800" dirty="0"/>
          </a:p>
        </p:txBody>
      </p:sp>
      <p:sp>
        <p:nvSpPr>
          <p:cNvPr id="107" name="Text 99"/>
          <p:cNvSpPr txBox="1"/>
          <p:nvPr/>
        </p:nvSpPr>
        <p:spPr>
          <a:xfrm>
            <a:off x="6400800" y="2938882"/>
            <a:ext cx="16258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企业管理软件</a:t>
            </a:r>
            <a:endParaRPr lang="en-US" sz="800" dirty="0"/>
          </a:p>
        </p:txBody>
      </p:sp>
      <p:sp>
        <p:nvSpPr>
          <p:cNvPr id="108" name="Text 100"/>
          <p:cNvSpPr txBox="1"/>
          <p:nvPr/>
        </p:nvSpPr>
        <p:spPr>
          <a:xfrm>
            <a:off x="6400800" y="3095244"/>
            <a:ext cx="39136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+107%</a:t>
            </a:r>
            <a:endParaRPr lang="en-US" sz="800" dirty="0"/>
          </a:p>
        </p:txBody>
      </p:sp>
      <p:sp>
        <p:nvSpPr>
          <p:cNvPr id="109" name="Text 101"/>
          <p:cNvSpPr txBox="1"/>
          <p:nvPr/>
        </p:nvSpPr>
        <p:spPr>
          <a:xfrm>
            <a:off x="7711135" y="3095244"/>
            <a:ext cx="27706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$105</a:t>
            </a:r>
            <a:endParaRPr lang="en-US" sz="800" dirty="0"/>
          </a:p>
        </p:txBody>
      </p:sp>
      <p:sp>
        <p:nvSpPr>
          <p:cNvPr id="110" name="Shape 102"/>
          <p:cNvSpPr/>
          <p:nvPr/>
        </p:nvSpPr>
        <p:spPr>
          <a:xfrm>
            <a:off x="8067751" y="2624328"/>
            <a:ext cx="1676095" cy="705002"/>
          </a:xfrm>
          <a:prstGeom prst="roundRect">
            <a:avLst>
              <a:gd name="adj" fmla="val 21033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11" name="Text 103"/>
          <p:cNvSpPr txBox="1"/>
          <p:nvPr/>
        </p:nvSpPr>
        <p:spPr>
          <a:xfrm>
            <a:off x="8153705" y="2731313"/>
            <a:ext cx="58155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DoorDash</a:t>
            </a:r>
            <a:endParaRPr lang="en-US" sz="800" dirty="0"/>
          </a:p>
        </p:txBody>
      </p:sp>
      <p:sp>
        <p:nvSpPr>
          <p:cNvPr id="112" name="Shape 104"/>
          <p:cNvSpPr/>
          <p:nvPr/>
        </p:nvSpPr>
        <p:spPr>
          <a:xfrm>
            <a:off x="9334195" y="2710282"/>
            <a:ext cx="323698" cy="200254"/>
          </a:xfrm>
          <a:prstGeom prst="roundRect">
            <a:avLst>
              <a:gd name="adj" fmla="val 173951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13" name="Text 105"/>
          <p:cNvSpPr txBox="1"/>
          <p:nvPr/>
        </p:nvSpPr>
        <p:spPr>
          <a:xfrm>
            <a:off x="9334195" y="2710282"/>
            <a:ext cx="3813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消费</a:t>
            </a:r>
            <a:endParaRPr lang="en-US" sz="800" dirty="0"/>
          </a:p>
        </p:txBody>
      </p:sp>
      <p:sp>
        <p:nvSpPr>
          <p:cNvPr id="114" name="Text 106"/>
          <p:cNvSpPr txBox="1"/>
          <p:nvPr/>
        </p:nvSpPr>
        <p:spPr>
          <a:xfrm>
            <a:off x="8153705" y="2938882"/>
            <a:ext cx="16258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本地配送AI化</a:t>
            </a:r>
            <a:endParaRPr lang="en-US" sz="800" dirty="0"/>
          </a:p>
        </p:txBody>
      </p:sp>
      <p:sp>
        <p:nvSpPr>
          <p:cNvPr id="115" name="Text 107"/>
          <p:cNvSpPr txBox="1"/>
          <p:nvPr/>
        </p:nvSpPr>
        <p:spPr>
          <a:xfrm>
            <a:off x="8153705" y="3095244"/>
            <a:ext cx="3529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+90%</a:t>
            </a:r>
            <a:endParaRPr lang="en-US" sz="800" dirty="0"/>
          </a:p>
        </p:txBody>
      </p:sp>
      <p:sp>
        <p:nvSpPr>
          <p:cNvPr id="116" name="Text 108"/>
          <p:cNvSpPr txBox="1"/>
          <p:nvPr/>
        </p:nvSpPr>
        <p:spPr>
          <a:xfrm>
            <a:off x="9463126" y="3095244"/>
            <a:ext cx="27706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$150</a:t>
            </a:r>
            <a:endParaRPr lang="en-US" sz="800" dirty="0"/>
          </a:p>
        </p:txBody>
      </p:sp>
      <p:sp>
        <p:nvSpPr>
          <p:cNvPr id="117" name="Shape 109"/>
          <p:cNvSpPr/>
          <p:nvPr/>
        </p:nvSpPr>
        <p:spPr>
          <a:xfrm>
            <a:off x="9820656" y="2624328"/>
            <a:ext cx="1676095" cy="705002"/>
          </a:xfrm>
          <a:prstGeom prst="roundRect">
            <a:avLst>
              <a:gd name="adj" fmla="val 21033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18" name="Text 110"/>
          <p:cNvSpPr txBox="1"/>
          <p:nvPr/>
        </p:nvSpPr>
        <p:spPr>
          <a:xfrm>
            <a:off x="9905695" y="2731313"/>
            <a:ext cx="56692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Celestica</a:t>
            </a:r>
            <a:endParaRPr lang="en-US" sz="800" dirty="0"/>
          </a:p>
        </p:txBody>
      </p:sp>
      <p:sp>
        <p:nvSpPr>
          <p:cNvPr id="119" name="Shape 111"/>
          <p:cNvSpPr/>
          <p:nvPr/>
        </p:nvSpPr>
        <p:spPr>
          <a:xfrm>
            <a:off x="11185855" y="2710282"/>
            <a:ext cx="228600" cy="200254"/>
          </a:xfrm>
          <a:prstGeom prst="roundRect">
            <a:avLst>
              <a:gd name="adj" fmla="val 173951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120" name="Text 112"/>
          <p:cNvSpPr txBox="1"/>
          <p:nvPr/>
        </p:nvSpPr>
        <p:spPr>
          <a:xfrm>
            <a:off x="11185855" y="2710282"/>
            <a:ext cx="286207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5C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</a:t>
            </a:r>
            <a:endParaRPr lang="en-US" sz="800" dirty="0"/>
          </a:p>
        </p:txBody>
      </p:sp>
      <p:sp>
        <p:nvSpPr>
          <p:cNvPr id="121" name="Text 113"/>
          <p:cNvSpPr txBox="1"/>
          <p:nvPr/>
        </p:nvSpPr>
        <p:spPr>
          <a:xfrm>
            <a:off x="9905695" y="2938882"/>
            <a:ext cx="1625803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AI服务器供应链</a:t>
            </a:r>
            <a:endParaRPr lang="en-US" sz="800" dirty="0"/>
          </a:p>
        </p:txBody>
      </p:sp>
      <p:sp>
        <p:nvSpPr>
          <p:cNvPr id="122" name="Text 114"/>
          <p:cNvSpPr txBox="1"/>
          <p:nvPr/>
        </p:nvSpPr>
        <p:spPr>
          <a:xfrm>
            <a:off x="9905695" y="3095244"/>
            <a:ext cx="352958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+53%</a:t>
            </a:r>
            <a:endParaRPr lang="en-US" sz="800" dirty="0"/>
          </a:p>
        </p:txBody>
      </p:sp>
      <p:sp>
        <p:nvSpPr>
          <p:cNvPr id="123" name="Text 115"/>
          <p:cNvSpPr txBox="1"/>
          <p:nvPr/>
        </p:nvSpPr>
        <p:spPr>
          <a:xfrm>
            <a:off x="11193170" y="3095244"/>
            <a:ext cx="29535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$430</a:t>
            </a:r>
            <a:endParaRPr lang="en-US" sz="800" dirty="0"/>
          </a:p>
        </p:txBody>
      </p:sp>
      <p:sp>
        <p:nvSpPr>
          <p:cNvPr id="124" name="Shape 116"/>
          <p:cNvSpPr/>
          <p:nvPr/>
        </p:nvSpPr>
        <p:spPr>
          <a:xfrm>
            <a:off x="6314846" y="3419856"/>
            <a:ext cx="2542946" cy="466344"/>
          </a:xfrm>
          <a:prstGeom prst="roundRect">
            <a:avLst>
              <a:gd name="adj" fmla="val 48019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Text 117"/>
          <p:cNvSpPr txBox="1"/>
          <p:nvPr/>
        </p:nvSpPr>
        <p:spPr>
          <a:xfrm>
            <a:off x="6391656" y="3495751"/>
            <a:ext cx="9811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Ares Management</a:t>
            </a:r>
            <a:endParaRPr lang="en-US" sz="800" dirty="0"/>
          </a:p>
        </p:txBody>
      </p:sp>
      <p:sp>
        <p:nvSpPr>
          <p:cNvPr id="126" name="Text 118"/>
          <p:cNvSpPr txBox="1"/>
          <p:nvPr/>
        </p:nvSpPr>
        <p:spPr>
          <a:xfrm>
            <a:off x="8530438" y="3503066"/>
            <a:ext cx="333756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+51%</a:t>
            </a:r>
            <a:endParaRPr lang="en-US" sz="800" dirty="0"/>
          </a:p>
        </p:txBody>
      </p:sp>
      <p:sp>
        <p:nvSpPr>
          <p:cNvPr id="127" name="Text 119"/>
          <p:cNvSpPr txBox="1"/>
          <p:nvPr/>
        </p:nvSpPr>
        <p:spPr>
          <a:xfrm>
            <a:off x="6391656" y="3681374"/>
            <a:ext cx="25813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另类资产管理</a:t>
            </a:r>
            <a:endParaRPr lang="en-US" sz="800" dirty="0"/>
          </a:p>
        </p:txBody>
      </p:sp>
      <p:sp>
        <p:nvSpPr>
          <p:cNvPr id="128" name="Shape 120"/>
          <p:cNvSpPr/>
          <p:nvPr/>
        </p:nvSpPr>
        <p:spPr>
          <a:xfrm>
            <a:off x="8953805" y="3419856"/>
            <a:ext cx="2542946" cy="466344"/>
          </a:xfrm>
          <a:prstGeom prst="roundRect">
            <a:avLst>
              <a:gd name="adj" fmla="val 48019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Text 121"/>
          <p:cNvSpPr txBox="1"/>
          <p:nvPr/>
        </p:nvSpPr>
        <p:spPr>
          <a:xfrm>
            <a:off x="9029700" y="3495751"/>
            <a:ext cx="816559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nVent Electric</a:t>
            </a:r>
            <a:endParaRPr lang="en-US" sz="800" dirty="0"/>
          </a:p>
        </p:txBody>
      </p:sp>
      <p:sp>
        <p:nvSpPr>
          <p:cNvPr id="130" name="Text 122"/>
          <p:cNvSpPr txBox="1"/>
          <p:nvPr/>
        </p:nvSpPr>
        <p:spPr>
          <a:xfrm>
            <a:off x="11154766" y="3503066"/>
            <a:ext cx="342900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+27%</a:t>
            </a:r>
            <a:endParaRPr lang="en-US" sz="800" dirty="0"/>
          </a:p>
        </p:txBody>
      </p:sp>
      <p:sp>
        <p:nvSpPr>
          <p:cNvPr id="131" name="Text 123"/>
          <p:cNvSpPr txBox="1"/>
          <p:nvPr/>
        </p:nvSpPr>
        <p:spPr>
          <a:xfrm>
            <a:off x="9029700" y="3681374"/>
            <a:ext cx="2581351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数据中心电气设备</a:t>
            </a:r>
            <a:endParaRPr lang="en-US" sz="800" dirty="0"/>
          </a:p>
        </p:txBody>
      </p:sp>
      <p:pic>
        <p:nvPicPr>
          <p:cNvPr id="132" name="Image 6" descr="preencoded.png"/>
          <p:cNvPicPr>
            <a:picLocks noChangeAspect="1"/>
          </p:cNvPicPr>
          <p:nvPr/>
        </p:nvPicPr>
        <p:blipFill>
          <a:blip r:embed="rId6"/>
          <a:srcRect l="-4" r="-4"/>
          <a:stretch>
            <a:fillRect/>
          </a:stretch>
        </p:blipFill>
        <p:spPr>
          <a:xfrm>
            <a:off x="7810805" y="1429207"/>
            <a:ext cx="3810305" cy="6858000"/>
          </a:xfrm>
          <a:prstGeom prst="rect">
            <a:avLst/>
          </a:prstGeom>
        </p:spPr>
      </p:pic>
      <p:sp>
        <p:nvSpPr>
          <p:cNvPr id="134" name="Text 125"/>
          <p:cNvSpPr txBox="1"/>
          <p:nvPr/>
        </p:nvSpPr>
        <p:spPr>
          <a:xfrm>
            <a:off x="571322" y="6454546"/>
            <a:ext cx="307695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三大叙事：AI(40%) + 能源安全(35%) + 消费分级(25%)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-400" r="-400"/>
          <a:stretch>
            <a:fillRect/>
          </a:stretch>
        </p:blipFill>
        <p:spPr>
          <a:xfrm>
            <a:off x="0" y="0"/>
            <a:ext cx="57607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rcRect l="-4" r="-4"/>
          <a:stretch>
            <a:fillRect/>
          </a:stretch>
        </p:blipFill>
        <p:spPr>
          <a:xfrm>
            <a:off x="8382305" y="0"/>
            <a:ext cx="3810305" cy="6858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305" y="286207"/>
            <a:ext cx="190195" cy="190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714146" y="280721"/>
            <a:ext cx="290870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SCENARIO ANALYSIS &amp; PATH DERIVATION</a:t>
            </a:r>
            <a:endParaRPr lang="en-US" sz="1000" dirty="0"/>
          </a:p>
        </p:txBody>
      </p:sp>
      <p:sp>
        <p:nvSpPr>
          <p:cNvPr id="11" name="Text 4"/>
          <p:cNvSpPr txBox="1"/>
          <p:nvPr/>
        </p:nvSpPr>
        <p:spPr>
          <a:xfrm>
            <a:off x="571500" y="1067105"/>
            <a:ext cx="8086954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三大情景对比：</a:t>
            </a:r>
            <a:r>
              <a:rPr lang="en-US" sz="2100" b="1" dirty="0">
                <a:solidFill>
                  <a:srgbClr val="FF95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局势缓和30%</a:t>
            </a: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/ </a:t>
            </a:r>
            <a:r>
              <a:rPr lang="en-US" sz="21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油价续涨45%</a:t>
            </a: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/ </a:t>
            </a:r>
            <a:r>
              <a:rPr lang="en-US" sz="21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衰退恐慌25%</a:t>
            </a:r>
            <a:endParaRPr lang="en-US" sz="2100" dirty="0"/>
          </a:p>
        </p:txBody>
      </p:sp>
      <p:sp>
        <p:nvSpPr>
          <p:cNvPr id="12" name="Shape 5"/>
          <p:cNvSpPr/>
          <p:nvPr/>
        </p:nvSpPr>
        <p:spPr>
          <a:xfrm>
            <a:off x="8748979" y="874166"/>
            <a:ext cx="1600200" cy="400507"/>
          </a:xfrm>
          <a:prstGeom prst="roundRect">
            <a:avLst>
              <a:gd name="adj" fmla="val 86975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0491826" y="874166"/>
            <a:ext cx="1133856" cy="400507"/>
          </a:xfrm>
          <a:prstGeom prst="roundRect">
            <a:avLst>
              <a:gd name="adj" fmla="val 86975"/>
            </a:avLst>
          </a:prstGeom>
          <a:solidFill>
            <a:srgbClr val="FF9500">
              <a:alpha val="1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71500" y="800100"/>
            <a:ext cx="148132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情景分析与路径推演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8901684" y="1016813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基准情景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9358884" y="998525"/>
            <a:ext cx="91440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油价续涨45%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0644530" y="1016813"/>
            <a:ext cx="5431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概率分布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1101730" y="998525"/>
            <a:ext cx="448056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100%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71500" y="1429207"/>
            <a:ext cx="3590849" cy="4572000"/>
          </a:xfrm>
          <a:prstGeom prst="roundRect">
            <a:avLst>
              <a:gd name="adj" fmla="val 1621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733349" y="1676095"/>
            <a:ext cx="95098" cy="9509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923544" y="1623974"/>
            <a:ext cx="92445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局势缓和30%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182112" y="1591056"/>
            <a:ext cx="819302" cy="267005"/>
          </a:xfrm>
          <a:prstGeom prst="roundRect">
            <a:avLst>
              <a:gd name="adj" fmla="val 97847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67151" y="1666951"/>
            <a:ext cx="114300" cy="1143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419856" y="1591056"/>
            <a:ext cx="55321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概率30%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733349" y="1971446"/>
            <a:ext cx="3267151" cy="571500"/>
          </a:xfrm>
          <a:prstGeom prst="roundRect">
            <a:avLst>
              <a:gd name="adj" fmla="val 42667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828446" y="20665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触发条件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3215945" y="2066544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伊朗局势降温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828446" y="2286000"/>
            <a:ext cx="32671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油价稳定，霍尔木兹恢复通航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733349" y="2633472"/>
            <a:ext cx="1600200" cy="514807"/>
          </a:xfrm>
          <a:prstGeom prst="roundRect">
            <a:avLst>
              <a:gd name="adj" fmla="val 3947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809244" y="2738628"/>
            <a:ext cx="2670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美债</a:t>
            </a:r>
            <a:endParaRPr lang="en-US" sz="800" dirty="0"/>
          </a:p>
        </p:txBody>
      </p:sp>
      <p:sp>
        <p:nvSpPr>
          <p:cNvPr id="31" name="Shape 23"/>
          <p:cNvSpPr/>
          <p:nvPr/>
        </p:nvSpPr>
        <p:spPr>
          <a:xfrm>
            <a:off x="1823314" y="2710282"/>
            <a:ext cx="428854" cy="200254"/>
          </a:xfrm>
          <a:prstGeom prst="roundRect">
            <a:avLst>
              <a:gd name="adj" fmla="val 173951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1823314" y="2710282"/>
            <a:ext cx="4864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+2.5%</a:t>
            </a:r>
            <a:endParaRPr lang="en-US" sz="800" dirty="0"/>
          </a:p>
        </p:txBody>
      </p:sp>
      <p:sp>
        <p:nvSpPr>
          <p:cNvPr id="33" name="Text 25"/>
          <p:cNvSpPr txBox="1"/>
          <p:nvPr/>
        </p:nvSpPr>
        <p:spPr>
          <a:xfrm>
            <a:off x="809244" y="2938882"/>
            <a:ext cx="156362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降息预期回归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2403043" y="2633472"/>
            <a:ext cx="1600200" cy="514807"/>
          </a:xfrm>
          <a:prstGeom prst="roundRect">
            <a:avLst>
              <a:gd name="adj" fmla="val 3947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2479853" y="2738628"/>
            <a:ext cx="2670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美股</a:t>
            </a:r>
            <a:endParaRPr lang="en-US" sz="800" dirty="0"/>
          </a:p>
        </p:txBody>
      </p:sp>
      <p:sp>
        <p:nvSpPr>
          <p:cNvPr id="36" name="Shape 28"/>
          <p:cNvSpPr/>
          <p:nvPr/>
        </p:nvSpPr>
        <p:spPr>
          <a:xfrm>
            <a:off x="3490265" y="2710282"/>
            <a:ext cx="437998" cy="200254"/>
          </a:xfrm>
          <a:prstGeom prst="roundRect">
            <a:avLst>
              <a:gd name="adj" fmla="val 173951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3490265" y="2710282"/>
            <a:ext cx="4956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+3.2%</a:t>
            </a:r>
            <a:endParaRPr lang="en-US" sz="800" dirty="0"/>
          </a:p>
        </p:txBody>
      </p:sp>
      <p:sp>
        <p:nvSpPr>
          <p:cNvPr id="38" name="Text 30"/>
          <p:cNvSpPr txBox="1"/>
          <p:nvPr/>
        </p:nvSpPr>
        <p:spPr>
          <a:xfrm>
            <a:off x="2479853" y="2938882"/>
            <a:ext cx="156362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反弹修复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733349" y="3219602"/>
            <a:ext cx="1600200" cy="514807"/>
          </a:xfrm>
          <a:prstGeom prst="roundRect">
            <a:avLst>
              <a:gd name="adj" fmla="val 3947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809244" y="3323844"/>
            <a:ext cx="2670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美元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1858975" y="3295498"/>
            <a:ext cx="400507" cy="200254"/>
          </a:xfrm>
          <a:prstGeom prst="roundRect">
            <a:avLst>
              <a:gd name="adj" fmla="val 173951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1858975" y="3295498"/>
            <a:ext cx="45720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-1.5%</a:t>
            </a:r>
            <a:endParaRPr lang="en-US" sz="800" dirty="0"/>
          </a:p>
        </p:txBody>
      </p:sp>
      <p:sp>
        <p:nvSpPr>
          <p:cNvPr id="43" name="Text 35"/>
          <p:cNvSpPr txBox="1"/>
          <p:nvPr/>
        </p:nvSpPr>
        <p:spPr>
          <a:xfrm>
            <a:off x="809244" y="3524098"/>
            <a:ext cx="156362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走弱</a:t>
            </a:r>
            <a:endParaRPr lang="en-US" sz="800" dirty="0"/>
          </a:p>
        </p:txBody>
      </p:sp>
      <p:sp>
        <p:nvSpPr>
          <p:cNvPr id="44" name="Shape 36"/>
          <p:cNvSpPr/>
          <p:nvPr/>
        </p:nvSpPr>
        <p:spPr>
          <a:xfrm>
            <a:off x="2403043" y="3219602"/>
            <a:ext cx="1600200" cy="514807"/>
          </a:xfrm>
          <a:prstGeom prst="roundRect">
            <a:avLst>
              <a:gd name="adj" fmla="val 3947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2479853" y="3323844"/>
            <a:ext cx="2670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黄金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3492094" y="3295498"/>
            <a:ext cx="437998" cy="200254"/>
          </a:xfrm>
          <a:prstGeom prst="roundRect">
            <a:avLst>
              <a:gd name="adj" fmla="val 173951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3492094" y="3295498"/>
            <a:ext cx="4956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+2.8%</a:t>
            </a:r>
            <a:endParaRPr lang="en-US" sz="800" dirty="0"/>
          </a:p>
        </p:txBody>
      </p:sp>
      <p:sp>
        <p:nvSpPr>
          <p:cNvPr id="48" name="Text 40"/>
          <p:cNvSpPr txBox="1"/>
          <p:nvPr/>
        </p:nvSpPr>
        <p:spPr>
          <a:xfrm>
            <a:off x="2479853" y="3524098"/>
            <a:ext cx="156362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反弹</a:t>
            </a:r>
            <a:endParaRPr lang="en-US" sz="800" dirty="0"/>
          </a:p>
        </p:txBody>
      </p:sp>
      <p:sp>
        <p:nvSpPr>
          <p:cNvPr id="49" name="Shape 41"/>
          <p:cNvSpPr/>
          <p:nvPr/>
        </p:nvSpPr>
        <p:spPr>
          <a:xfrm>
            <a:off x="733349" y="3824021"/>
            <a:ext cx="3267151" cy="323698"/>
          </a:xfrm>
          <a:prstGeom prst="roundRect">
            <a:avLst>
              <a:gd name="adj" fmla="val 9970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809244" y="3907231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推荐仓位</a:t>
            </a:r>
            <a:endParaRPr lang="en-US" sz="800" dirty="0"/>
          </a:p>
        </p:txBody>
      </p:sp>
      <p:sp>
        <p:nvSpPr>
          <p:cNvPr id="51" name="Text 43"/>
          <p:cNvSpPr txBox="1"/>
          <p:nvPr/>
        </p:nvSpPr>
        <p:spPr>
          <a:xfrm>
            <a:off x="3158338" y="3900830"/>
            <a:ext cx="84856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加仓科技+消费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4302252" y="1429207"/>
            <a:ext cx="3590849" cy="4572000"/>
          </a:xfrm>
          <a:prstGeom prst="roundRect">
            <a:avLst>
              <a:gd name="adj" fmla="val 1621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4464101" y="1676095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4654296" y="1623974"/>
            <a:ext cx="91440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油价续涨45%</a:t>
            </a:r>
            <a:endParaRPr lang="en-US" sz="1000" dirty="0"/>
          </a:p>
        </p:txBody>
      </p:sp>
      <p:sp>
        <p:nvSpPr>
          <p:cNvPr id="55" name="Shape 47"/>
          <p:cNvSpPr/>
          <p:nvPr/>
        </p:nvSpPr>
        <p:spPr>
          <a:xfrm>
            <a:off x="6914693" y="1591056"/>
            <a:ext cx="819302" cy="267005"/>
          </a:xfrm>
          <a:prstGeom prst="roundRect">
            <a:avLst>
              <a:gd name="adj" fmla="val 97847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999732" y="1666951"/>
            <a:ext cx="114300" cy="114300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7152437" y="1591056"/>
            <a:ext cx="553212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概率45%</a:t>
            </a:r>
            <a:endParaRPr lang="en-US" sz="900" dirty="0"/>
          </a:p>
        </p:txBody>
      </p:sp>
      <p:sp>
        <p:nvSpPr>
          <p:cNvPr id="58" name="Shape 49"/>
          <p:cNvSpPr/>
          <p:nvPr/>
        </p:nvSpPr>
        <p:spPr>
          <a:xfrm>
            <a:off x="4464101" y="1971446"/>
            <a:ext cx="3267151" cy="571500"/>
          </a:xfrm>
          <a:prstGeom prst="roundRect">
            <a:avLst>
              <a:gd name="adj" fmla="val 42667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4559198" y="20665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触发条件</a:t>
            </a:r>
            <a:endParaRPr lang="en-US" sz="900" dirty="0"/>
          </a:p>
        </p:txBody>
      </p:sp>
      <p:sp>
        <p:nvSpPr>
          <p:cNvPr id="60" name="Text 51"/>
          <p:cNvSpPr txBox="1"/>
          <p:nvPr/>
        </p:nvSpPr>
        <p:spPr>
          <a:xfrm>
            <a:off x="7060997" y="2066544"/>
            <a:ext cx="6574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油价继续涨</a:t>
            </a:r>
            <a:endParaRPr lang="en-US" sz="900" dirty="0"/>
          </a:p>
        </p:txBody>
      </p:sp>
      <p:sp>
        <p:nvSpPr>
          <p:cNvPr id="61" name="Text 52"/>
          <p:cNvSpPr txBox="1"/>
          <p:nvPr/>
        </p:nvSpPr>
        <p:spPr>
          <a:xfrm>
            <a:off x="4559198" y="2286000"/>
            <a:ext cx="32671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通胀压力加大，战争持续</a:t>
            </a:r>
            <a:endParaRPr lang="en-US" sz="800" dirty="0"/>
          </a:p>
        </p:txBody>
      </p:sp>
      <p:sp>
        <p:nvSpPr>
          <p:cNvPr id="62" name="Shape 53"/>
          <p:cNvSpPr/>
          <p:nvPr/>
        </p:nvSpPr>
        <p:spPr>
          <a:xfrm>
            <a:off x="4464101" y="2633472"/>
            <a:ext cx="1600200" cy="514807"/>
          </a:xfrm>
          <a:prstGeom prst="roundRect">
            <a:avLst>
              <a:gd name="adj" fmla="val 3947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4"/>
          <p:cNvSpPr txBox="1"/>
          <p:nvPr/>
        </p:nvSpPr>
        <p:spPr>
          <a:xfrm>
            <a:off x="4539996" y="2738628"/>
            <a:ext cx="2670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美债</a:t>
            </a:r>
            <a:endParaRPr lang="en-US" sz="800" dirty="0"/>
          </a:p>
        </p:txBody>
      </p:sp>
      <p:sp>
        <p:nvSpPr>
          <p:cNvPr id="64" name="Shape 55"/>
          <p:cNvSpPr/>
          <p:nvPr/>
        </p:nvSpPr>
        <p:spPr>
          <a:xfrm>
            <a:off x="5568696" y="2710282"/>
            <a:ext cx="418795" cy="200254"/>
          </a:xfrm>
          <a:prstGeom prst="roundRect">
            <a:avLst>
              <a:gd name="adj" fmla="val 173951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5568696" y="2710282"/>
            <a:ext cx="47640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+1.8%</a:t>
            </a:r>
            <a:endParaRPr lang="en-US" sz="800" dirty="0"/>
          </a:p>
        </p:txBody>
      </p:sp>
      <p:sp>
        <p:nvSpPr>
          <p:cNvPr id="66" name="Text 57"/>
          <p:cNvSpPr txBox="1"/>
          <p:nvPr/>
        </p:nvSpPr>
        <p:spPr>
          <a:xfrm>
            <a:off x="4539996" y="2938882"/>
            <a:ext cx="156362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先升后降</a:t>
            </a:r>
            <a:endParaRPr lang="en-US" sz="800" dirty="0"/>
          </a:p>
        </p:txBody>
      </p:sp>
      <p:sp>
        <p:nvSpPr>
          <p:cNvPr id="67" name="Shape 58"/>
          <p:cNvSpPr/>
          <p:nvPr/>
        </p:nvSpPr>
        <p:spPr>
          <a:xfrm>
            <a:off x="6133795" y="2633472"/>
            <a:ext cx="1600200" cy="514807"/>
          </a:xfrm>
          <a:prstGeom prst="roundRect">
            <a:avLst>
              <a:gd name="adj" fmla="val 3947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59"/>
          <p:cNvSpPr txBox="1"/>
          <p:nvPr/>
        </p:nvSpPr>
        <p:spPr>
          <a:xfrm>
            <a:off x="6210605" y="2738628"/>
            <a:ext cx="2670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美股</a:t>
            </a:r>
            <a:endParaRPr lang="en-US" sz="800" dirty="0"/>
          </a:p>
        </p:txBody>
      </p:sp>
      <p:sp>
        <p:nvSpPr>
          <p:cNvPr id="69" name="Shape 60"/>
          <p:cNvSpPr/>
          <p:nvPr/>
        </p:nvSpPr>
        <p:spPr>
          <a:xfrm>
            <a:off x="7221017" y="2710282"/>
            <a:ext cx="437998" cy="200254"/>
          </a:xfrm>
          <a:prstGeom prst="roundRect">
            <a:avLst>
              <a:gd name="adj" fmla="val 173951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70" name="Text 61"/>
          <p:cNvSpPr txBox="1"/>
          <p:nvPr/>
        </p:nvSpPr>
        <p:spPr>
          <a:xfrm>
            <a:off x="7221017" y="2710282"/>
            <a:ext cx="4956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+0.5%</a:t>
            </a:r>
            <a:endParaRPr lang="en-US" sz="800" dirty="0"/>
          </a:p>
        </p:txBody>
      </p:sp>
      <p:sp>
        <p:nvSpPr>
          <p:cNvPr id="71" name="Text 62"/>
          <p:cNvSpPr txBox="1"/>
          <p:nvPr/>
        </p:nvSpPr>
        <p:spPr>
          <a:xfrm>
            <a:off x="6210605" y="2938882"/>
            <a:ext cx="156362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承压后反弹</a:t>
            </a:r>
            <a:endParaRPr lang="en-US" sz="800" dirty="0"/>
          </a:p>
        </p:txBody>
      </p:sp>
      <p:sp>
        <p:nvSpPr>
          <p:cNvPr id="72" name="Shape 63"/>
          <p:cNvSpPr/>
          <p:nvPr/>
        </p:nvSpPr>
        <p:spPr>
          <a:xfrm>
            <a:off x="4464101" y="3219602"/>
            <a:ext cx="1600200" cy="514807"/>
          </a:xfrm>
          <a:prstGeom prst="roundRect">
            <a:avLst>
              <a:gd name="adj" fmla="val 3947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4"/>
          <p:cNvSpPr txBox="1"/>
          <p:nvPr/>
        </p:nvSpPr>
        <p:spPr>
          <a:xfrm>
            <a:off x="4539996" y="3323844"/>
            <a:ext cx="2670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美元</a:t>
            </a:r>
            <a:endParaRPr lang="en-US" sz="800" dirty="0"/>
          </a:p>
        </p:txBody>
      </p:sp>
      <p:sp>
        <p:nvSpPr>
          <p:cNvPr id="74" name="Shape 65"/>
          <p:cNvSpPr/>
          <p:nvPr/>
        </p:nvSpPr>
        <p:spPr>
          <a:xfrm>
            <a:off x="5578754" y="3295498"/>
            <a:ext cx="409651" cy="200254"/>
          </a:xfrm>
          <a:prstGeom prst="roundRect">
            <a:avLst>
              <a:gd name="adj" fmla="val 173951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75" name="Text 66"/>
          <p:cNvSpPr txBox="1"/>
          <p:nvPr/>
        </p:nvSpPr>
        <p:spPr>
          <a:xfrm>
            <a:off x="5578754" y="3295498"/>
            <a:ext cx="46725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+2.1%</a:t>
            </a:r>
            <a:endParaRPr lang="en-US" sz="800" dirty="0"/>
          </a:p>
        </p:txBody>
      </p:sp>
      <p:sp>
        <p:nvSpPr>
          <p:cNvPr id="76" name="Text 67"/>
          <p:cNvSpPr txBox="1"/>
          <p:nvPr/>
        </p:nvSpPr>
        <p:spPr>
          <a:xfrm>
            <a:off x="4539996" y="3524098"/>
            <a:ext cx="156362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先升后降</a:t>
            </a:r>
            <a:endParaRPr lang="en-US" sz="800" dirty="0"/>
          </a:p>
        </p:txBody>
      </p:sp>
      <p:sp>
        <p:nvSpPr>
          <p:cNvPr id="77" name="Shape 68"/>
          <p:cNvSpPr/>
          <p:nvPr/>
        </p:nvSpPr>
        <p:spPr>
          <a:xfrm>
            <a:off x="6133795" y="3219602"/>
            <a:ext cx="1600200" cy="514807"/>
          </a:xfrm>
          <a:prstGeom prst="roundRect">
            <a:avLst>
              <a:gd name="adj" fmla="val 3947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69"/>
          <p:cNvSpPr txBox="1"/>
          <p:nvPr/>
        </p:nvSpPr>
        <p:spPr>
          <a:xfrm>
            <a:off x="6210605" y="3323844"/>
            <a:ext cx="2670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黄金</a:t>
            </a:r>
            <a:endParaRPr lang="en-US" sz="800" dirty="0"/>
          </a:p>
        </p:txBody>
      </p:sp>
      <p:sp>
        <p:nvSpPr>
          <p:cNvPr id="79" name="Shape 70"/>
          <p:cNvSpPr/>
          <p:nvPr/>
        </p:nvSpPr>
        <p:spPr>
          <a:xfrm>
            <a:off x="7220102" y="3295498"/>
            <a:ext cx="437998" cy="200254"/>
          </a:xfrm>
          <a:prstGeom prst="roundRect">
            <a:avLst>
              <a:gd name="adj" fmla="val 173951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80" name="Text 71"/>
          <p:cNvSpPr txBox="1"/>
          <p:nvPr/>
        </p:nvSpPr>
        <p:spPr>
          <a:xfrm>
            <a:off x="7220102" y="3295498"/>
            <a:ext cx="4956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+0.8%</a:t>
            </a:r>
            <a:endParaRPr lang="en-US" sz="800" dirty="0"/>
          </a:p>
        </p:txBody>
      </p:sp>
      <p:sp>
        <p:nvSpPr>
          <p:cNvPr id="81" name="Text 72"/>
          <p:cNvSpPr txBox="1"/>
          <p:nvPr/>
        </p:nvSpPr>
        <p:spPr>
          <a:xfrm>
            <a:off x="6210605" y="3524098"/>
            <a:ext cx="156362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震荡后强</a:t>
            </a:r>
            <a:endParaRPr lang="en-US" sz="800" dirty="0"/>
          </a:p>
        </p:txBody>
      </p:sp>
      <p:sp>
        <p:nvSpPr>
          <p:cNvPr id="82" name="Shape 73"/>
          <p:cNvSpPr/>
          <p:nvPr/>
        </p:nvSpPr>
        <p:spPr>
          <a:xfrm>
            <a:off x="4464101" y="3824021"/>
            <a:ext cx="3267151" cy="323698"/>
          </a:xfrm>
          <a:prstGeom prst="roundRect">
            <a:avLst>
              <a:gd name="adj" fmla="val 9970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74"/>
          <p:cNvSpPr txBox="1"/>
          <p:nvPr/>
        </p:nvSpPr>
        <p:spPr>
          <a:xfrm>
            <a:off x="4539996" y="3907231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推荐仓位</a:t>
            </a:r>
            <a:endParaRPr lang="en-US" sz="800" dirty="0"/>
          </a:p>
        </p:txBody>
      </p:sp>
      <p:sp>
        <p:nvSpPr>
          <p:cNvPr id="84" name="Text 75"/>
          <p:cNvSpPr txBox="1"/>
          <p:nvPr/>
        </p:nvSpPr>
        <p:spPr>
          <a:xfrm>
            <a:off x="7194499" y="3900830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防御为主</a:t>
            </a:r>
            <a:endParaRPr lang="en-US" sz="900" dirty="0"/>
          </a:p>
        </p:txBody>
      </p:sp>
      <p:sp>
        <p:nvSpPr>
          <p:cNvPr id="85" name="Shape 76"/>
          <p:cNvSpPr/>
          <p:nvPr/>
        </p:nvSpPr>
        <p:spPr>
          <a:xfrm>
            <a:off x="8033004" y="1429207"/>
            <a:ext cx="3590849" cy="4572000"/>
          </a:xfrm>
          <a:prstGeom prst="roundRect">
            <a:avLst>
              <a:gd name="adj" fmla="val 1621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86" name="Shape 77"/>
          <p:cNvSpPr/>
          <p:nvPr/>
        </p:nvSpPr>
        <p:spPr>
          <a:xfrm>
            <a:off x="8194853" y="1676095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Text 78"/>
          <p:cNvSpPr txBox="1"/>
          <p:nvPr/>
        </p:nvSpPr>
        <p:spPr>
          <a:xfrm>
            <a:off x="8385048" y="1623974"/>
            <a:ext cx="91440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衰退恐慌25%</a:t>
            </a:r>
            <a:endParaRPr lang="en-US" sz="1000" dirty="0"/>
          </a:p>
        </p:txBody>
      </p:sp>
      <p:sp>
        <p:nvSpPr>
          <p:cNvPr id="88" name="Shape 79"/>
          <p:cNvSpPr/>
          <p:nvPr/>
        </p:nvSpPr>
        <p:spPr>
          <a:xfrm>
            <a:off x="10650017" y="1591056"/>
            <a:ext cx="809244" cy="267005"/>
          </a:xfrm>
          <a:prstGeom prst="roundRect">
            <a:avLst>
              <a:gd name="adj" fmla="val 97847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pic>
        <p:nvPicPr>
          <p:cNvPr id="89" name="Image 7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735970" y="1666951"/>
            <a:ext cx="114300" cy="114300"/>
          </a:xfrm>
          <a:prstGeom prst="rect">
            <a:avLst/>
          </a:prstGeom>
        </p:spPr>
      </p:pic>
      <p:sp>
        <p:nvSpPr>
          <p:cNvPr id="90" name="Text 80"/>
          <p:cNvSpPr txBox="1"/>
          <p:nvPr/>
        </p:nvSpPr>
        <p:spPr>
          <a:xfrm>
            <a:off x="10887761" y="1591056"/>
            <a:ext cx="543154" cy="267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概率25%</a:t>
            </a:r>
            <a:endParaRPr lang="en-US" sz="900" dirty="0"/>
          </a:p>
        </p:txBody>
      </p:sp>
      <p:sp>
        <p:nvSpPr>
          <p:cNvPr id="91" name="Shape 81"/>
          <p:cNvSpPr/>
          <p:nvPr/>
        </p:nvSpPr>
        <p:spPr>
          <a:xfrm>
            <a:off x="8194853" y="1971446"/>
            <a:ext cx="3267151" cy="571500"/>
          </a:xfrm>
          <a:prstGeom prst="roundRect">
            <a:avLst>
              <a:gd name="adj" fmla="val 42667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Text 82"/>
          <p:cNvSpPr txBox="1"/>
          <p:nvPr/>
        </p:nvSpPr>
        <p:spPr>
          <a:xfrm>
            <a:off x="8289950" y="20665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触发条件</a:t>
            </a:r>
            <a:endParaRPr lang="en-US" sz="900" dirty="0"/>
          </a:p>
        </p:txBody>
      </p:sp>
      <p:sp>
        <p:nvSpPr>
          <p:cNvPr id="93" name="Text 83"/>
          <p:cNvSpPr txBox="1"/>
          <p:nvPr/>
        </p:nvSpPr>
        <p:spPr>
          <a:xfrm>
            <a:off x="10906049" y="2066544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增长崩溃</a:t>
            </a:r>
            <a:endParaRPr lang="en-US" sz="900" dirty="0"/>
          </a:p>
        </p:txBody>
      </p:sp>
      <p:sp>
        <p:nvSpPr>
          <p:cNvPr id="94" name="Text 84"/>
          <p:cNvSpPr txBox="1"/>
          <p:nvPr/>
        </p:nvSpPr>
        <p:spPr>
          <a:xfrm>
            <a:off x="8289950" y="2286000"/>
            <a:ext cx="32671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金融条件急剧收紧，信用危机</a:t>
            </a:r>
            <a:endParaRPr lang="en-US" sz="800" dirty="0"/>
          </a:p>
        </p:txBody>
      </p:sp>
      <p:sp>
        <p:nvSpPr>
          <p:cNvPr id="95" name="Shape 85"/>
          <p:cNvSpPr/>
          <p:nvPr/>
        </p:nvSpPr>
        <p:spPr>
          <a:xfrm>
            <a:off x="8194853" y="2633472"/>
            <a:ext cx="1600200" cy="514807"/>
          </a:xfrm>
          <a:prstGeom prst="roundRect">
            <a:avLst>
              <a:gd name="adj" fmla="val 3947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Text 86"/>
          <p:cNvSpPr txBox="1"/>
          <p:nvPr/>
        </p:nvSpPr>
        <p:spPr>
          <a:xfrm>
            <a:off x="8270748" y="2738628"/>
            <a:ext cx="2670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美债</a:t>
            </a:r>
            <a:endParaRPr lang="en-US" sz="800" dirty="0"/>
          </a:p>
        </p:txBody>
      </p:sp>
      <p:sp>
        <p:nvSpPr>
          <p:cNvPr id="97" name="Shape 87"/>
          <p:cNvSpPr/>
          <p:nvPr/>
        </p:nvSpPr>
        <p:spPr>
          <a:xfrm>
            <a:off x="9281160" y="2710282"/>
            <a:ext cx="437998" cy="200254"/>
          </a:xfrm>
          <a:prstGeom prst="roundRect">
            <a:avLst>
              <a:gd name="adj" fmla="val 173951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98" name="Text 88"/>
          <p:cNvSpPr txBox="1"/>
          <p:nvPr/>
        </p:nvSpPr>
        <p:spPr>
          <a:xfrm>
            <a:off x="9281160" y="2710282"/>
            <a:ext cx="4956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+4.5%</a:t>
            </a:r>
            <a:endParaRPr lang="en-US" sz="800" dirty="0"/>
          </a:p>
        </p:txBody>
      </p:sp>
      <p:sp>
        <p:nvSpPr>
          <p:cNvPr id="99" name="Text 89"/>
          <p:cNvSpPr txBox="1"/>
          <p:nvPr/>
        </p:nvSpPr>
        <p:spPr>
          <a:xfrm>
            <a:off x="8270748" y="2938882"/>
            <a:ext cx="156362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大涨</a:t>
            </a:r>
            <a:endParaRPr lang="en-US" sz="800" dirty="0"/>
          </a:p>
        </p:txBody>
      </p:sp>
      <p:sp>
        <p:nvSpPr>
          <p:cNvPr id="100" name="Shape 90"/>
          <p:cNvSpPr/>
          <p:nvPr/>
        </p:nvSpPr>
        <p:spPr>
          <a:xfrm>
            <a:off x="9864547" y="2633472"/>
            <a:ext cx="1600200" cy="514807"/>
          </a:xfrm>
          <a:prstGeom prst="roundRect">
            <a:avLst>
              <a:gd name="adj" fmla="val 3947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Text 91"/>
          <p:cNvSpPr txBox="1"/>
          <p:nvPr/>
        </p:nvSpPr>
        <p:spPr>
          <a:xfrm>
            <a:off x="9940442" y="2738628"/>
            <a:ext cx="2670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美股</a:t>
            </a:r>
            <a:endParaRPr lang="en-US" sz="800" dirty="0"/>
          </a:p>
        </p:txBody>
      </p:sp>
      <p:sp>
        <p:nvSpPr>
          <p:cNvPr id="102" name="Shape 92"/>
          <p:cNvSpPr/>
          <p:nvPr/>
        </p:nvSpPr>
        <p:spPr>
          <a:xfrm>
            <a:off x="10971886" y="2710282"/>
            <a:ext cx="418795" cy="200254"/>
          </a:xfrm>
          <a:prstGeom prst="roundRect">
            <a:avLst>
              <a:gd name="adj" fmla="val 173951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03" name="Text 93"/>
          <p:cNvSpPr txBox="1"/>
          <p:nvPr/>
        </p:nvSpPr>
        <p:spPr>
          <a:xfrm>
            <a:off x="10971886" y="2710282"/>
            <a:ext cx="47640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-5.2%</a:t>
            </a:r>
            <a:endParaRPr lang="en-US" sz="800" dirty="0"/>
          </a:p>
        </p:txBody>
      </p:sp>
      <p:sp>
        <p:nvSpPr>
          <p:cNvPr id="104" name="Text 94"/>
          <p:cNvSpPr txBox="1"/>
          <p:nvPr/>
        </p:nvSpPr>
        <p:spPr>
          <a:xfrm>
            <a:off x="9940442" y="2938882"/>
            <a:ext cx="156362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大幅下跌</a:t>
            </a:r>
            <a:endParaRPr lang="en-US" sz="800" dirty="0"/>
          </a:p>
        </p:txBody>
      </p:sp>
      <p:sp>
        <p:nvSpPr>
          <p:cNvPr id="105" name="Shape 95"/>
          <p:cNvSpPr/>
          <p:nvPr/>
        </p:nvSpPr>
        <p:spPr>
          <a:xfrm>
            <a:off x="8194853" y="3219602"/>
            <a:ext cx="1600200" cy="514807"/>
          </a:xfrm>
          <a:prstGeom prst="roundRect">
            <a:avLst>
              <a:gd name="adj" fmla="val 3947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Text 96"/>
          <p:cNvSpPr txBox="1"/>
          <p:nvPr/>
        </p:nvSpPr>
        <p:spPr>
          <a:xfrm>
            <a:off x="8270748" y="3323844"/>
            <a:ext cx="2670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美元</a:t>
            </a:r>
            <a:endParaRPr lang="en-US" sz="800" dirty="0"/>
          </a:p>
        </p:txBody>
      </p:sp>
      <p:sp>
        <p:nvSpPr>
          <p:cNvPr id="107" name="Shape 97"/>
          <p:cNvSpPr/>
          <p:nvPr/>
        </p:nvSpPr>
        <p:spPr>
          <a:xfrm>
            <a:off x="9282074" y="3295498"/>
            <a:ext cx="437998" cy="200254"/>
          </a:xfrm>
          <a:prstGeom prst="roundRect">
            <a:avLst>
              <a:gd name="adj" fmla="val 173951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08" name="Text 98"/>
          <p:cNvSpPr txBox="1"/>
          <p:nvPr/>
        </p:nvSpPr>
        <p:spPr>
          <a:xfrm>
            <a:off x="9282074" y="3295498"/>
            <a:ext cx="495605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+3.8%</a:t>
            </a:r>
            <a:endParaRPr lang="en-US" sz="800" dirty="0"/>
          </a:p>
        </p:txBody>
      </p:sp>
      <p:sp>
        <p:nvSpPr>
          <p:cNvPr id="109" name="Text 99"/>
          <p:cNvSpPr txBox="1"/>
          <p:nvPr/>
        </p:nvSpPr>
        <p:spPr>
          <a:xfrm>
            <a:off x="8270748" y="3524098"/>
            <a:ext cx="156362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先强后弱</a:t>
            </a:r>
            <a:endParaRPr lang="en-US" sz="800" dirty="0"/>
          </a:p>
        </p:txBody>
      </p:sp>
      <p:sp>
        <p:nvSpPr>
          <p:cNvPr id="110" name="Shape 100"/>
          <p:cNvSpPr/>
          <p:nvPr/>
        </p:nvSpPr>
        <p:spPr>
          <a:xfrm>
            <a:off x="9864547" y="3219602"/>
            <a:ext cx="1600200" cy="514807"/>
          </a:xfrm>
          <a:prstGeom prst="roundRect">
            <a:avLst>
              <a:gd name="adj" fmla="val 3947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Text 101"/>
          <p:cNvSpPr txBox="1"/>
          <p:nvPr/>
        </p:nvSpPr>
        <p:spPr>
          <a:xfrm>
            <a:off x="9940442" y="3323844"/>
            <a:ext cx="267005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黄金</a:t>
            </a:r>
            <a:endParaRPr lang="en-US" sz="800" dirty="0"/>
          </a:p>
        </p:txBody>
      </p:sp>
      <p:sp>
        <p:nvSpPr>
          <p:cNvPr id="112" name="Shape 102"/>
          <p:cNvSpPr/>
          <p:nvPr/>
        </p:nvSpPr>
        <p:spPr>
          <a:xfrm>
            <a:off x="10955426" y="3295498"/>
            <a:ext cx="428854" cy="200254"/>
          </a:xfrm>
          <a:prstGeom prst="roundRect">
            <a:avLst>
              <a:gd name="adj" fmla="val 173951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13" name="Text 103"/>
          <p:cNvSpPr txBox="1"/>
          <p:nvPr/>
        </p:nvSpPr>
        <p:spPr>
          <a:xfrm>
            <a:off x="10955426" y="3295498"/>
            <a:ext cx="486461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+5.5%</a:t>
            </a:r>
            <a:endParaRPr lang="en-US" sz="800" dirty="0"/>
          </a:p>
        </p:txBody>
      </p:sp>
      <p:sp>
        <p:nvSpPr>
          <p:cNvPr id="114" name="Text 104"/>
          <p:cNvSpPr txBox="1"/>
          <p:nvPr/>
        </p:nvSpPr>
        <p:spPr>
          <a:xfrm>
            <a:off x="9940442" y="3524098"/>
            <a:ext cx="1563624" cy="1335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急跌后反弹</a:t>
            </a:r>
            <a:endParaRPr lang="en-US" sz="800" dirty="0"/>
          </a:p>
        </p:txBody>
      </p:sp>
      <p:sp>
        <p:nvSpPr>
          <p:cNvPr id="115" name="Shape 105"/>
          <p:cNvSpPr/>
          <p:nvPr/>
        </p:nvSpPr>
        <p:spPr>
          <a:xfrm>
            <a:off x="8194853" y="3824021"/>
            <a:ext cx="3267151" cy="323698"/>
          </a:xfrm>
          <a:prstGeom prst="roundRect">
            <a:avLst>
              <a:gd name="adj" fmla="val 9970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Text 106"/>
          <p:cNvSpPr txBox="1"/>
          <p:nvPr/>
        </p:nvSpPr>
        <p:spPr>
          <a:xfrm>
            <a:off x="8270748" y="3907231"/>
            <a:ext cx="49560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推荐仓位</a:t>
            </a:r>
            <a:endParaRPr lang="en-US" sz="800" dirty="0"/>
          </a:p>
        </p:txBody>
      </p:sp>
      <p:sp>
        <p:nvSpPr>
          <p:cNvPr id="117" name="Text 107"/>
          <p:cNvSpPr txBox="1"/>
          <p:nvPr/>
        </p:nvSpPr>
        <p:spPr>
          <a:xfrm>
            <a:off x="10925251" y="3900830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减仓避险</a:t>
            </a:r>
            <a:endParaRPr lang="en-US" sz="900" dirty="0"/>
          </a:p>
        </p:txBody>
      </p:sp>
      <p:sp>
        <p:nvSpPr>
          <p:cNvPr id="118" name="Shape 108"/>
          <p:cNvSpPr/>
          <p:nvPr/>
        </p:nvSpPr>
        <p:spPr>
          <a:xfrm>
            <a:off x="571500" y="6115507"/>
            <a:ext cx="5201107" cy="381305"/>
          </a:xfrm>
          <a:prstGeom prst="roundRect">
            <a:avLst>
              <a:gd name="adj" fmla="val 95923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119" name="Image 8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71754" y="6238951"/>
            <a:ext cx="133502" cy="133502"/>
          </a:xfrm>
          <a:prstGeom prst="rect">
            <a:avLst/>
          </a:prstGeom>
        </p:spPr>
      </p:pic>
      <p:sp>
        <p:nvSpPr>
          <p:cNvPr id="120" name="Text 109"/>
          <p:cNvSpPr txBox="1"/>
          <p:nvPr/>
        </p:nvSpPr>
        <p:spPr>
          <a:xfrm>
            <a:off x="1000354" y="6115507"/>
            <a:ext cx="4648810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关键洞察：无论哪种情景，利率都呈"微笑曲线"走势，做多债券是最具性价比的跨情景策略</a:t>
            </a:r>
            <a:endParaRPr lang="en-US" sz="900" dirty="0"/>
          </a:p>
        </p:txBody>
      </p:sp>
      <p:sp>
        <p:nvSpPr>
          <p:cNvPr id="121" name="Shape 110"/>
          <p:cNvSpPr/>
          <p:nvPr/>
        </p:nvSpPr>
        <p:spPr>
          <a:xfrm>
            <a:off x="10414102" y="6086246"/>
            <a:ext cx="1209751" cy="437998"/>
          </a:xfrm>
          <a:prstGeom prst="roundRect">
            <a:avLst>
              <a:gd name="adj" fmla="val 72615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122" name="Text 111"/>
          <p:cNvSpPr txBox="1"/>
          <p:nvPr/>
        </p:nvSpPr>
        <p:spPr>
          <a:xfrm>
            <a:off x="10565892" y="6248095"/>
            <a:ext cx="6574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切换时点：</a:t>
            </a:r>
            <a:endParaRPr lang="en-US" sz="900" dirty="0"/>
          </a:p>
        </p:txBody>
      </p:sp>
      <p:sp>
        <p:nvSpPr>
          <p:cNvPr id="123" name="Text 112"/>
          <p:cNvSpPr txBox="1"/>
          <p:nvPr/>
        </p:nvSpPr>
        <p:spPr>
          <a:xfrm>
            <a:off x="11138306" y="6238951"/>
            <a:ext cx="409651" cy="152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4周内</a:t>
            </a:r>
            <a:endParaRPr lang="en-US" sz="900" dirty="0"/>
          </a:p>
        </p:txBody>
      </p:sp>
      <p:sp>
        <p:nvSpPr>
          <p:cNvPr id="124" name="Shape 113"/>
          <p:cNvSpPr/>
          <p:nvPr/>
        </p:nvSpPr>
        <p:spPr>
          <a:xfrm>
            <a:off x="571500" y="6629400"/>
            <a:ext cx="75895" cy="7589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Text 114"/>
          <p:cNvSpPr txBox="1"/>
          <p:nvPr/>
        </p:nvSpPr>
        <p:spPr>
          <a:xfrm>
            <a:off x="743407" y="6581851"/>
            <a:ext cx="26005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局势缓和：降息预期回归，利率下行，债券上涨</a:t>
            </a:r>
            <a:endParaRPr lang="en-US" sz="900" dirty="0"/>
          </a:p>
        </p:txBody>
      </p:sp>
      <p:sp>
        <p:nvSpPr>
          <p:cNvPr id="126" name="Shape 115"/>
          <p:cNvSpPr/>
          <p:nvPr/>
        </p:nvSpPr>
        <p:spPr>
          <a:xfrm>
            <a:off x="3429000" y="6629400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Text 116"/>
          <p:cNvSpPr txBox="1"/>
          <p:nvPr/>
        </p:nvSpPr>
        <p:spPr>
          <a:xfrm>
            <a:off x="3600907" y="6581851"/>
            <a:ext cx="223296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油价续涨：先升后降，转衰退后利率掉头</a:t>
            </a:r>
            <a:endParaRPr lang="en-US" sz="900" dirty="0"/>
          </a:p>
        </p:txBody>
      </p:sp>
      <p:sp>
        <p:nvSpPr>
          <p:cNvPr id="128" name="Shape 117"/>
          <p:cNvSpPr/>
          <p:nvPr/>
        </p:nvSpPr>
        <p:spPr>
          <a:xfrm>
            <a:off x="5943600" y="6629400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Text 118"/>
          <p:cNvSpPr txBox="1"/>
          <p:nvPr/>
        </p:nvSpPr>
        <p:spPr>
          <a:xfrm>
            <a:off x="6115507" y="6581851"/>
            <a:ext cx="198607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衰退恐慌：美债大涨，利率大幅下行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-400" r="-400"/>
          <a:stretch>
            <a:fillRect/>
          </a:stretch>
        </p:blipFill>
        <p:spPr>
          <a:xfrm>
            <a:off x="0" y="0"/>
            <a:ext cx="57607" cy="6858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rcRect l="-4" r="-4"/>
          <a:stretch>
            <a:fillRect/>
          </a:stretch>
        </p:blipFill>
        <p:spPr>
          <a:xfrm>
            <a:off x="8382305" y="0"/>
            <a:ext cx="3810305" cy="68580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305" y="286207"/>
            <a:ext cx="190195" cy="190195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714146" y="280721"/>
            <a:ext cx="274228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RISK ANALYSIS &amp; INVESTMENT ADVICE</a:t>
            </a:r>
            <a:endParaRPr lang="en-US" sz="1000" dirty="0"/>
          </a:p>
        </p:txBody>
      </p:sp>
      <p:sp>
        <p:nvSpPr>
          <p:cNvPr id="11" name="Text 4"/>
          <p:cNvSpPr txBox="1"/>
          <p:nvPr/>
        </p:nvSpPr>
        <p:spPr>
          <a:xfrm>
            <a:off x="571500" y="1067105"/>
            <a:ext cx="9078163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七大核心</a:t>
            </a:r>
            <a:r>
              <a:rPr lang="en-US" sz="2100" b="1" dirty="0">
                <a:solidFill>
                  <a:srgbClr val="FF95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风险清单</a:t>
            </a: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与</a:t>
            </a:r>
            <a:r>
              <a:rPr lang="en-US" sz="2100" b="1" dirty="0">
                <a:solidFill>
                  <a:srgbClr val="22C5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对冲策略</a:t>
            </a:r>
            <a:endParaRPr lang="en-US" sz="2100" dirty="0"/>
          </a:p>
        </p:txBody>
      </p:sp>
      <p:sp>
        <p:nvSpPr>
          <p:cNvPr id="12" name="Shape 5"/>
          <p:cNvSpPr/>
          <p:nvPr/>
        </p:nvSpPr>
        <p:spPr>
          <a:xfrm>
            <a:off x="9741103" y="874166"/>
            <a:ext cx="866851" cy="400507"/>
          </a:xfrm>
          <a:prstGeom prst="roundRect">
            <a:avLst>
              <a:gd name="adj" fmla="val 86975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10750601" y="874166"/>
            <a:ext cx="875995" cy="400507"/>
          </a:xfrm>
          <a:prstGeom prst="roundRect">
            <a:avLst>
              <a:gd name="adj" fmla="val 86975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4" name="Text 7"/>
          <p:cNvSpPr txBox="1"/>
          <p:nvPr/>
        </p:nvSpPr>
        <p:spPr>
          <a:xfrm>
            <a:off x="571500" y="800100"/>
            <a:ext cx="1481328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9500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风险提示与投资建议</a:t>
            </a:r>
            <a:endParaRPr lang="en-US" sz="1000" dirty="0"/>
          </a:p>
        </p:txBody>
      </p:sp>
      <p:sp>
        <p:nvSpPr>
          <p:cNvPr id="15" name="Text 8"/>
          <p:cNvSpPr txBox="1"/>
          <p:nvPr/>
        </p:nvSpPr>
        <p:spPr>
          <a:xfrm>
            <a:off x="9893808" y="1016813"/>
            <a:ext cx="4288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高风险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10236708" y="998525"/>
            <a:ext cx="295351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3项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0903306" y="1016813"/>
            <a:ext cx="428854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中风险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1246206" y="998525"/>
            <a:ext cx="30541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4项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71500" y="1429207"/>
            <a:ext cx="5429707" cy="4953305"/>
          </a:xfrm>
          <a:prstGeom prst="roundRect">
            <a:avLst>
              <a:gd name="adj" fmla="val 852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33349" y="1638605"/>
            <a:ext cx="171907" cy="171907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00354" y="1609344"/>
            <a:ext cx="1327709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七大核心风险清单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5137099" y="1591056"/>
            <a:ext cx="705002" cy="267005"/>
          </a:xfrm>
          <a:prstGeom prst="roundRect">
            <a:avLst>
              <a:gd name="adj" fmla="val 97847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5223053" y="1638605"/>
            <a:ext cx="60990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3项高风险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733349" y="2495398"/>
            <a:ext cx="51050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33349" y="208117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19302" y="2167128"/>
            <a:ext cx="133502" cy="13350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133856" y="2048256"/>
            <a:ext cx="9528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地缘风险（高）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5152644" y="2054657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霍尔木兹封锁</a:t>
            </a:r>
            <a:endParaRPr lang="en-US" sz="900" dirty="0"/>
          </a:p>
        </p:txBody>
      </p:sp>
      <p:sp>
        <p:nvSpPr>
          <p:cNvPr id="29" name="Text 20"/>
          <p:cNvSpPr txBox="1"/>
          <p:nvPr/>
        </p:nvSpPr>
        <p:spPr>
          <a:xfrm>
            <a:off x="1133856" y="2262226"/>
            <a:ext cx="4896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油价冲破130美元，全球供应链系统性崩溃</a:t>
            </a:r>
            <a:endParaRPr lang="en-US" sz="800" dirty="0"/>
          </a:p>
        </p:txBody>
      </p:sp>
      <p:sp>
        <p:nvSpPr>
          <p:cNvPr id="30" name="Shape 21"/>
          <p:cNvSpPr/>
          <p:nvPr/>
        </p:nvSpPr>
        <p:spPr>
          <a:xfrm>
            <a:off x="733349" y="3105302"/>
            <a:ext cx="51050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33349" y="2691079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19302" y="2776118"/>
            <a:ext cx="133502" cy="133502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133856" y="2657246"/>
            <a:ext cx="9528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通胀脱锚（高）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5289804" y="2664562"/>
            <a:ext cx="62910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10Y&gt;4.5%</a:t>
            </a:r>
            <a:endParaRPr lang="en-US" sz="900" dirty="0"/>
          </a:p>
        </p:txBody>
      </p:sp>
      <p:sp>
        <p:nvSpPr>
          <p:cNvPr id="35" name="Text 25"/>
          <p:cNvSpPr txBox="1"/>
          <p:nvPr/>
        </p:nvSpPr>
        <p:spPr>
          <a:xfrm>
            <a:off x="1133856" y="2872130"/>
            <a:ext cx="4896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通胀预期失控，资产重新定价幅度极大</a:t>
            </a:r>
            <a:endParaRPr lang="en-US" sz="800" dirty="0"/>
          </a:p>
        </p:txBody>
      </p:sp>
      <p:sp>
        <p:nvSpPr>
          <p:cNvPr id="36" name="Shape 26"/>
          <p:cNvSpPr/>
          <p:nvPr/>
        </p:nvSpPr>
        <p:spPr>
          <a:xfrm>
            <a:off x="733349" y="3715207"/>
            <a:ext cx="51050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733349" y="3300070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8"/>
          <a:srcRect l="-837" r="-837"/>
          <a:stretch>
            <a:fillRect/>
          </a:stretch>
        </p:blipFill>
        <p:spPr>
          <a:xfrm>
            <a:off x="809244" y="3386023"/>
            <a:ext cx="152705" cy="133502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133856" y="3267151"/>
            <a:ext cx="108082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美股流动性（中）</a:t>
            </a:r>
            <a:endParaRPr lang="en-US" sz="900" dirty="0"/>
          </a:p>
        </p:txBody>
      </p:sp>
      <p:sp>
        <p:nvSpPr>
          <p:cNvPr id="40" name="Text 29"/>
          <p:cNvSpPr txBox="1"/>
          <p:nvPr/>
        </p:nvSpPr>
        <p:spPr>
          <a:xfrm>
            <a:off x="5381244" y="3274466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周四跑路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1133856" y="3481121"/>
            <a:ext cx="4896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集体"抢跑"模式加速，市场结构恶化</a:t>
            </a:r>
            <a:endParaRPr lang="en-US" sz="800" dirty="0"/>
          </a:p>
        </p:txBody>
      </p:sp>
      <p:sp>
        <p:nvSpPr>
          <p:cNvPr id="42" name="Shape 31"/>
          <p:cNvSpPr/>
          <p:nvPr/>
        </p:nvSpPr>
        <p:spPr>
          <a:xfrm>
            <a:off x="733349" y="4324198"/>
            <a:ext cx="51050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733349" y="390997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9"/>
          <a:srcRect l="-2512" r="-2512"/>
          <a:stretch>
            <a:fillRect/>
          </a:stretch>
        </p:blipFill>
        <p:spPr>
          <a:xfrm>
            <a:off x="833018" y="3995928"/>
            <a:ext cx="105156" cy="1335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133856" y="3877056"/>
            <a:ext cx="9528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政策落地（中）</a:t>
            </a:r>
            <a:endParaRPr lang="en-US" sz="900" dirty="0"/>
          </a:p>
        </p:txBody>
      </p:sp>
      <p:sp>
        <p:nvSpPr>
          <p:cNvPr id="46" name="Text 34"/>
          <p:cNvSpPr txBox="1"/>
          <p:nvPr/>
        </p:nvSpPr>
        <p:spPr>
          <a:xfrm>
            <a:off x="5381244" y="3883457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不及预期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1133856" y="4091026"/>
            <a:ext cx="4896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114号文容量电价补偿若不及预期</a:t>
            </a:r>
            <a:endParaRPr lang="en-US" sz="800" dirty="0"/>
          </a:p>
        </p:txBody>
      </p:sp>
      <p:sp>
        <p:nvSpPr>
          <p:cNvPr id="48" name="Shape 36"/>
          <p:cNvSpPr/>
          <p:nvPr/>
        </p:nvSpPr>
        <p:spPr>
          <a:xfrm>
            <a:off x="733349" y="4934102"/>
            <a:ext cx="51050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37"/>
          <p:cNvSpPr/>
          <p:nvPr/>
        </p:nvSpPr>
        <p:spPr>
          <a:xfrm>
            <a:off x="733349" y="4519879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819302" y="4604918"/>
            <a:ext cx="133502" cy="133502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1133856" y="4486046"/>
            <a:ext cx="9528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芯片法案（中）</a:t>
            </a:r>
            <a:endParaRPr lang="en-US" sz="900" dirty="0"/>
          </a:p>
        </p:txBody>
      </p:sp>
      <p:sp>
        <p:nvSpPr>
          <p:cNvPr id="52" name="Text 39"/>
          <p:cNvSpPr txBox="1"/>
          <p:nvPr/>
        </p:nvSpPr>
        <p:spPr>
          <a:xfrm>
            <a:off x="5266944" y="4493362"/>
            <a:ext cx="6574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超预期执行</a:t>
            </a:r>
            <a:endParaRPr lang="en-US" sz="900" dirty="0"/>
          </a:p>
        </p:txBody>
      </p:sp>
      <p:sp>
        <p:nvSpPr>
          <p:cNvPr id="53" name="Text 40"/>
          <p:cNvSpPr txBox="1"/>
          <p:nvPr/>
        </p:nvSpPr>
        <p:spPr>
          <a:xfrm>
            <a:off x="1133856" y="4700930"/>
            <a:ext cx="4896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荷兰、日本快速配合实施</a:t>
            </a:r>
            <a:endParaRPr lang="en-US" sz="800" dirty="0"/>
          </a:p>
        </p:txBody>
      </p:sp>
      <p:sp>
        <p:nvSpPr>
          <p:cNvPr id="54" name="Shape 41"/>
          <p:cNvSpPr/>
          <p:nvPr/>
        </p:nvSpPr>
        <p:spPr>
          <a:xfrm>
            <a:off x="733349" y="5544007"/>
            <a:ext cx="51050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42"/>
          <p:cNvSpPr/>
          <p:nvPr/>
        </p:nvSpPr>
        <p:spPr>
          <a:xfrm>
            <a:off x="733349" y="5128870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819302" y="5214823"/>
            <a:ext cx="133502" cy="133502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1133856" y="5095951"/>
            <a:ext cx="9528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新兴市场（中）</a:t>
            </a:r>
            <a:endParaRPr lang="en-US" sz="900" dirty="0"/>
          </a:p>
        </p:txBody>
      </p:sp>
      <p:sp>
        <p:nvSpPr>
          <p:cNvPr id="58" name="Text 44"/>
          <p:cNvSpPr txBox="1"/>
          <p:nvPr/>
        </p:nvSpPr>
        <p:spPr>
          <a:xfrm>
            <a:off x="5381244" y="5103266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爆雷风险</a:t>
            </a:r>
            <a:endParaRPr lang="en-US" sz="900" dirty="0"/>
          </a:p>
        </p:txBody>
      </p:sp>
      <p:sp>
        <p:nvSpPr>
          <p:cNvPr id="59" name="Text 45"/>
          <p:cNvSpPr txBox="1"/>
          <p:nvPr/>
        </p:nvSpPr>
        <p:spPr>
          <a:xfrm>
            <a:off x="1133856" y="5309921"/>
            <a:ext cx="4896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高油价下汇率和财政最脆弱</a:t>
            </a:r>
            <a:endParaRPr lang="en-US" sz="800" dirty="0"/>
          </a:p>
        </p:txBody>
      </p:sp>
      <p:sp>
        <p:nvSpPr>
          <p:cNvPr id="60" name="Shape 46"/>
          <p:cNvSpPr/>
          <p:nvPr/>
        </p:nvSpPr>
        <p:spPr>
          <a:xfrm>
            <a:off x="733349" y="573877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819302" y="5824728"/>
            <a:ext cx="133502" cy="133502"/>
          </a:xfrm>
          <a:prstGeom prst="rect">
            <a:avLst/>
          </a:prstGeom>
        </p:spPr>
      </p:pic>
      <p:sp>
        <p:nvSpPr>
          <p:cNvPr id="62" name="Text 47"/>
          <p:cNvSpPr txBox="1"/>
          <p:nvPr/>
        </p:nvSpPr>
        <p:spPr>
          <a:xfrm>
            <a:off x="1133856" y="5705856"/>
            <a:ext cx="121432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非农翻转（高关注）</a:t>
            </a:r>
            <a:endParaRPr lang="en-US" sz="900" dirty="0"/>
          </a:p>
        </p:txBody>
      </p:sp>
      <p:sp>
        <p:nvSpPr>
          <p:cNvPr id="63" name="Text 48"/>
          <p:cNvSpPr txBox="1"/>
          <p:nvPr/>
        </p:nvSpPr>
        <p:spPr>
          <a:xfrm>
            <a:off x="5381244" y="5712257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F4444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预期反转</a:t>
            </a:r>
            <a:endParaRPr lang="en-US" sz="900" dirty="0"/>
          </a:p>
        </p:txBody>
      </p:sp>
      <p:sp>
        <p:nvSpPr>
          <p:cNvPr id="64" name="Text 49"/>
          <p:cNvSpPr txBox="1"/>
          <p:nvPr/>
        </p:nvSpPr>
        <p:spPr>
          <a:xfrm>
            <a:off x="1133856" y="5919826"/>
            <a:ext cx="4896612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5-6月非农显著走弱触发预期暴力反转</a:t>
            </a:r>
            <a:endParaRPr lang="en-US" sz="800" dirty="0"/>
          </a:p>
        </p:txBody>
      </p:sp>
      <p:sp>
        <p:nvSpPr>
          <p:cNvPr id="65" name="Shape 50"/>
          <p:cNvSpPr/>
          <p:nvPr/>
        </p:nvSpPr>
        <p:spPr>
          <a:xfrm>
            <a:off x="6191402" y="1429207"/>
            <a:ext cx="5429707" cy="4953305"/>
          </a:xfrm>
          <a:prstGeom prst="roundRect">
            <a:avLst>
              <a:gd name="adj" fmla="val 852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</p:sp>
      <p:pic>
        <p:nvPicPr>
          <p:cNvPr id="66" name="Image 13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6353251" y="1638605"/>
            <a:ext cx="171907" cy="171907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6620256" y="1609344"/>
            <a:ext cx="10003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风险对冲建议</a:t>
            </a:r>
            <a:endParaRPr lang="en-US" sz="1200" dirty="0"/>
          </a:p>
        </p:txBody>
      </p:sp>
      <p:sp>
        <p:nvSpPr>
          <p:cNvPr id="68" name="Shape 52"/>
          <p:cNvSpPr/>
          <p:nvPr/>
        </p:nvSpPr>
        <p:spPr>
          <a:xfrm>
            <a:off x="10874045" y="1591056"/>
            <a:ext cx="590702" cy="267005"/>
          </a:xfrm>
          <a:prstGeom prst="roundRect">
            <a:avLst>
              <a:gd name="adj" fmla="val 97847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69" name="Text 53"/>
          <p:cNvSpPr txBox="1"/>
          <p:nvPr/>
        </p:nvSpPr>
        <p:spPr>
          <a:xfrm>
            <a:off x="10959998" y="1638605"/>
            <a:ext cx="49560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5项建议</a:t>
            </a:r>
            <a:endParaRPr lang="en-US" sz="900" dirty="0"/>
          </a:p>
        </p:txBody>
      </p:sp>
      <p:sp>
        <p:nvSpPr>
          <p:cNvPr id="70" name="Shape 54"/>
          <p:cNvSpPr/>
          <p:nvPr/>
        </p:nvSpPr>
        <p:spPr>
          <a:xfrm>
            <a:off x="6353251" y="1971446"/>
            <a:ext cx="2505456" cy="571500"/>
          </a:xfrm>
          <a:prstGeom prst="roundRect">
            <a:avLst>
              <a:gd name="adj" fmla="val 32000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pic>
        <p:nvPicPr>
          <p:cNvPr id="71" name="Image 14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6458407" y="2104949"/>
            <a:ext cx="114300" cy="114300"/>
          </a:xfrm>
          <a:prstGeom prst="rect">
            <a:avLst/>
          </a:prstGeom>
        </p:spPr>
      </p:pic>
      <p:sp>
        <p:nvSpPr>
          <p:cNvPr id="72" name="Text 55"/>
          <p:cNvSpPr txBox="1"/>
          <p:nvPr/>
        </p:nvSpPr>
        <p:spPr>
          <a:xfrm>
            <a:off x="6648602" y="2076602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做多美债</a:t>
            </a:r>
            <a:endParaRPr lang="en-US" sz="900" dirty="0"/>
          </a:p>
        </p:txBody>
      </p:sp>
      <p:sp>
        <p:nvSpPr>
          <p:cNvPr id="73" name="Text 56"/>
          <p:cNvSpPr txBox="1"/>
          <p:nvPr/>
        </p:nvSpPr>
        <p:spPr>
          <a:xfrm>
            <a:off x="6458407" y="2295144"/>
            <a:ext cx="24798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最具性价比的跨情景策略</a:t>
            </a:r>
            <a:endParaRPr lang="en-US" sz="800" dirty="0"/>
          </a:p>
        </p:txBody>
      </p:sp>
      <p:sp>
        <p:nvSpPr>
          <p:cNvPr id="74" name="Shape 57"/>
          <p:cNvSpPr/>
          <p:nvPr/>
        </p:nvSpPr>
        <p:spPr>
          <a:xfrm>
            <a:off x="8953805" y="1971446"/>
            <a:ext cx="2505456" cy="571500"/>
          </a:xfrm>
          <a:prstGeom prst="roundRect">
            <a:avLst>
              <a:gd name="adj" fmla="val 32000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pic>
        <p:nvPicPr>
          <p:cNvPr id="75" name="Image 15" descr="preencoded.pn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9058046" y="2104949"/>
            <a:ext cx="114300" cy="114300"/>
          </a:xfrm>
          <a:prstGeom prst="rect">
            <a:avLst/>
          </a:prstGeom>
        </p:spPr>
      </p:pic>
      <p:sp>
        <p:nvSpPr>
          <p:cNvPr id="76" name="Text 58"/>
          <p:cNvSpPr txBox="1"/>
          <p:nvPr/>
        </p:nvSpPr>
        <p:spPr>
          <a:xfrm>
            <a:off x="9249156" y="2076602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持有黄金</a:t>
            </a:r>
            <a:endParaRPr lang="en-US" sz="900" dirty="0"/>
          </a:p>
        </p:txBody>
      </p:sp>
      <p:sp>
        <p:nvSpPr>
          <p:cNvPr id="77" name="Text 59"/>
          <p:cNvSpPr txBox="1"/>
          <p:nvPr/>
        </p:nvSpPr>
        <p:spPr>
          <a:xfrm>
            <a:off x="9058046" y="2295144"/>
            <a:ext cx="24798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等待短期调整完成后建仓</a:t>
            </a:r>
            <a:endParaRPr lang="en-US" sz="800" dirty="0"/>
          </a:p>
        </p:txBody>
      </p:sp>
      <p:sp>
        <p:nvSpPr>
          <p:cNvPr id="78" name="Shape 60"/>
          <p:cNvSpPr/>
          <p:nvPr/>
        </p:nvSpPr>
        <p:spPr>
          <a:xfrm>
            <a:off x="6353251" y="2638044"/>
            <a:ext cx="2505456" cy="571500"/>
          </a:xfrm>
          <a:prstGeom prst="roundRect">
            <a:avLst>
              <a:gd name="adj" fmla="val 32000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pic>
        <p:nvPicPr>
          <p:cNvPr id="79" name="Image 16" descr="preencoded.png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6458407" y="2771546"/>
            <a:ext cx="114300" cy="114300"/>
          </a:xfrm>
          <a:prstGeom prst="rect">
            <a:avLst/>
          </a:prstGeom>
        </p:spPr>
      </p:pic>
      <p:sp>
        <p:nvSpPr>
          <p:cNvPr id="80" name="Text 61"/>
          <p:cNvSpPr txBox="1"/>
          <p:nvPr/>
        </p:nvSpPr>
        <p:spPr>
          <a:xfrm>
            <a:off x="6648602" y="2743200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减少杠杆</a:t>
            </a:r>
            <a:endParaRPr lang="en-US" sz="900" dirty="0"/>
          </a:p>
        </p:txBody>
      </p:sp>
      <p:sp>
        <p:nvSpPr>
          <p:cNvPr id="81" name="Text 62"/>
          <p:cNvSpPr txBox="1"/>
          <p:nvPr/>
        </p:nvSpPr>
        <p:spPr>
          <a:xfrm>
            <a:off x="6458407" y="2962656"/>
            <a:ext cx="24798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避免高波动环境下被迫平仓</a:t>
            </a:r>
            <a:endParaRPr lang="en-US" sz="800" dirty="0"/>
          </a:p>
        </p:txBody>
      </p:sp>
      <p:sp>
        <p:nvSpPr>
          <p:cNvPr id="82" name="Shape 63"/>
          <p:cNvSpPr/>
          <p:nvPr/>
        </p:nvSpPr>
        <p:spPr>
          <a:xfrm>
            <a:off x="8953805" y="2638044"/>
            <a:ext cx="2505456" cy="571500"/>
          </a:xfrm>
          <a:prstGeom prst="roundRect">
            <a:avLst>
              <a:gd name="adj" fmla="val 32000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pic>
        <p:nvPicPr>
          <p:cNvPr id="83" name="Image 17" descr="preencoded.png"/>
          <p:cNvPicPr>
            <a:picLocks noChangeAspect="1"/>
          </p:cNvPicPr>
          <p:nvPr/>
        </p:nvPicPr>
        <p:blipFill>
          <a:blip r:embed="rId17"/>
          <a:srcRect l="-1911" r="-1911"/>
          <a:stretch>
            <a:fillRect/>
          </a:stretch>
        </p:blipFill>
        <p:spPr>
          <a:xfrm>
            <a:off x="9058046" y="2771546"/>
            <a:ext cx="133502" cy="114300"/>
          </a:xfrm>
          <a:prstGeom prst="rect">
            <a:avLst/>
          </a:prstGeom>
        </p:spPr>
      </p:pic>
      <p:sp>
        <p:nvSpPr>
          <p:cNvPr id="84" name="Text 64"/>
          <p:cNvSpPr txBox="1"/>
          <p:nvPr/>
        </p:nvSpPr>
        <p:spPr>
          <a:xfrm>
            <a:off x="9267444" y="2743200"/>
            <a:ext cx="10003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分批布局储能锂电</a:t>
            </a:r>
            <a:endParaRPr lang="en-US" sz="900" dirty="0"/>
          </a:p>
        </p:txBody>
      </p:sp>
      <p:sp>
        <p:nvSpPr>
          <p:cNvPr id="85" name="Text 65"/>
          <p:cNvSpPr txBox="1"/>
          <p:nvPr/>
        </p:nvSpPr>
        <p:spPr>
          <a:xfrm>
            <a:off x="9058046" y="2962656"/>
            <a:ext cx="24798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右侧确认信号：26Q2业绩超预期</a:t>
            </a:r>
            <a:endParaRPr lang="en-US" sz="800" dirty="0"/>
          </a:p>
        </p:txBody>
      </p:sp>
      <p:sp>
        <p:nvSpPr>
          <p:cNvPr id="86" name="Shape 66"/>
          <p:cNvSpPr/>
          <p:nvPr/>
        </p:nvSpPr>
        <p:spPr>
          <a:xfrm>
            <a:off x="6353251" y="3305556"/>
            <a:ext cx="2505456" cy="571500"/>
          </a:xfrm>
          <a:prstGeom prst="roundRect">
            <a:avLst>
              <a:gd name="adj" fmla="val 32000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30000"/>
              </a:srgbClr>
            </a:solidFill>
            <a:prstDash val="solid"/>
          </a:ln>
        </p:spPr>
      </p:sp>
      <p:pic>
        <p:nvPicPr>
          <p:cNvPr id="87" name="Image 18" descr="preencoded.png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6458407" y="3438144"/>
            <a:ext cx="114300" cy="114300"/>
          </a:xfrm>
          <a:prstGeom prst="rect">
            <a:avLst/>
          </a:prstGeom>
        </p:spPr>
      </p:pic>
      <p:sp>
        <p:nvSpPr>
          <p:cNvPr id="88" name="Text 67"/>
          <p:cNvSpPr txBox="1"/>
          <p:nvPr/>
        </p:nvSpPr>
        <p:spPr>
          <a:xfrm>
            <a:off x="6648602" y="3409798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2C55E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港股左侧布局</a:t>
            </a:r>
            <a:endParaRPr lang="en-US" sz="900" dirty="0"/>
          </a:p>
        </p:txBody>
      </p:sp>
      <p:sp>
        <p:nvSpPr>
          <p:cNvPr id="89" name="Text 68"/>
          <p:cNvSpPr txBox="1"/>
          <p:nvPr/>
        </p:nvSpPr>
        <p:spPr>
          <a:xfrm>
            <a:off x="6458407" y="3629254"/>
            <a:ext cx="2479853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>
                    <a:alpha val="70000"/>
                  </a:srgbClr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等待外部冲击不再升级的确认信号</a:t>
            </a:r>
            <a:endParaRPr lang="en-US" sz="800" dirty="0"/>
          </a:p>
        </p:txBody>
      </p:sp>
      <p:sp>
        <p:nvSpPr>
          <p:cNvPr id="90" name="Shape 69"/>
          <p:cNvSpPr/>
          <p:nvPr/>
        </p:nvSpPr>
        <p:spPr>
          <a:xfrm>
            <a:off x="6353251" y="3972154"/>
            <a:ext cx="5105095" cy="629107"/>
          </a:xfrm>
          <a:prstGeom prst="roundRect">
            <a:avLst>
              <a:gd name="adj" fmla="val 2642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Text 70"/>
          <p:cNvSpPr txBox="1"/>
          <p:nvPr/>
        </p:nvSpPr>
        <p:spPr>
          <a:xfrm>
            <a:off x="6448349" y="4067251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关注指标</a:t>
            </a:r>
            <a:endParaRPr lang="en-US" sz="900" dirty="0"/>
          </a:p>
        </p:txBody>
      </p:sp>
      <p:sp>
        <p:nvSpPr>
          <p:cNvPr id="92" name="Text 71"/>
          <p:cNvSpPr txBox="1"/>
          <p:nvPr/>
        </p:nvSpPr>
        <p:spPr>
          <a:xfrm>
            <a:off x="9198864" y="4067251"/>
            <a:ext cx="241310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首申失业金/10Y收益率/油价/霍尔木兹通航</a:t>
            </a:r>
            <a:endParaRPr lang="en-US" sz="900" dirty="0"/>
          </a:p>
        </p:txBody>
      </p:sp>
      <p:sp>
        <p:nvSpPr>
          <p:cNvPr id="93" name="Shape 72"/>
          <p:cNvSpPr/>
          <p:nvPr/>
        </p:nvSpPr>
        <p:spPr>
          <a:xfrm>
            <a:off x="6448349" y="4286707"/>
            <a:ext cx="819302" cy="219456"/>
          </a:xfrm>
          <a:prstGeom prst="roundRect">
            <a:avLst>
              <a:gd name="adj" fmla="val 14492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Text 73"/>
          <p:cNvSpPr txBox="1"/>
          <p:nvPr/>
        </p:nvSpPr>
        <p:spPr>
          <a:xfrm>
            <a:off x="6646774" y="4286707"/>
            <a:ext cx="678485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4周变盘窗口 </a:t>
            </a:r>
            <a:endParaRPr lang="en-US" sz="800" dirty="0"/>
          </a:p>
        </p:txBody>
      </p:sp>
      <p:sp>
        <p:nvSpPr>
          <p:cNvPr id="95" name="Shape 74"/>
          <p:cNvSpPr/>
          <p:nvPr/>
        </p:nvSpPr>
        <p:spPr>
          <a:xfrm>
            <a:off x="7356348" y="4286707"/>
            <a:ext cx="752551" cy="219456"/>
          </a:xfrm>
          <a:prstGeom prst="roundRect">
            <a:avLst>
              <a:gd name="adj" fmla="val 14492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Text 75"/>
          <p:cNvSpPr txBox="1"/>
          <p:nvPr/>
        </p:nvSpPr>
        <p:spPr>
          <a:xfrm>
            <a:off x="7554773" y="4286707"/>
            <a:ext cx="611734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首申失业金 </a:t>
            </a:r>
            <a:endParaRPr lang="en-US" sz="800" dirty="0"/>
          </a:p>
        </p:txBody>
      </p:sp>
      <p:sp>
        <p:nvSpPr>
          <p:cNvPr id="97" name="Shape 76"/>
          <p:cNvSpPr/>
          <p:nvPr/>
        </p:nvSpPr>
        <p:spPr>
          <a:xfrm>
            <a:off x="8202168" y="4286707"/>
            <a:ext cx="705002" cy="219456"/>
          </a:xfrm>
          <a:prstGeom prst="roundRect">
            <a:avLst>
              <a:gd name="adj" fmla="val 14492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Text 77"/>
          <p:cNvSpPr txBox="1"/>
          <p:nvPr/>
        </p:nvSpPr>
        <p:spPr>
          <a:xfrm>
            <a:off x="8381390" y="4286707"/>
            <a:ext cx="583387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B82F6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 10Y收益率 </a:t>
            </a:r>
            <a:endParaRPr lang="en-US" sz="800" dirty="0"/>
          </a:p>
        </p:txBody>
      </p:sp>
      <p:pic>
        <p:nvPicPr>
          <p:cNvPr id="99" name="Image 19" descr="preencoded.png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6524244" y="4346143"/>
            <a:ext cx="95098" cy="95098"/>
          </a:xfrm>
          <a:prstGeom prst="rect">
            <a:avLst/>
          </a:prstGeom>
        </p:spPr>
      </p:pic>
      <p:pic>
        <p:nvPicPr>
          <p:cNvPr id="100" name="Image 20" descr="preencoded.png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7432243" y="4346143"/>
            <a:ext cx="95098" cy="95098"/>
          </a:xfrm>
          <a:prstGeom prst="rect">
            <a:avLst/>
          </a:prstGeom>
        </p:spPr>
      </p:pic>
      <p:pic>
        <p:nvPicPr>
          <p:cNvPr id="101" name="Image 21" descr="preencoded.png"/>
          <p:cNvPicPr>
            <a:picLocks noChangeAspect="1"/>
          </p:cNvPicPr>
          <p:nvPr/>
        </p:nvPicPr>
        <p:blipFill>
          <a:blip r:embed="rId21"/>
          <a:srcRect l="-3205" r="-3205"/>
          <a:stretch>
            <a:fillRect/>
          </a:stretch>
        </p:blipFill>
        <p:spPr>
          <a:xfrm>
            <a:off x="8278063" y="4346143"/>
            <a:ext cx="75895" cy="95098"/>
          </a:xfrm>
          <a:prstGeom prst="rect">
            <a:avLst/>
          </a:prstGeom>
        </p:spPr>
      </p:pic>
      <p:sp>
        <p:nvSpPr>
          <p:cNvPr id="102" name="Shape 78"/>
          <p:cNvSpPr/>
          <p:nvPr/>
        </p:nvSpPr>
        <p:spPr>
          <a:xfrm>
            <a:off x="571500" y="6534302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Text 79"/>
          <p:cNvSpPr txBox="1"/>
          <p:nvPr/>
        </p:nvSpPr>
        <p:spPr>
          <a:xfrm>
            <a:off x="743407" y="6486754"/>
            <a:ext cx="157459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高风险：地缘/通胀/非农翻转</a:t>
            </a:r>
            <a:endParaRPr lang="en-US" sz="900" dirty="0"/>
          </a:p>
        </p:txBody>
      </p:sp>
      <p:sp>
        <p:nvSpPr>
          <p:cNvPr id="104" name="Shape 80"/>
          <p:cNvSpPr/>
          <p:nvPr/>
        </p:nvSpPr>
        <p:spPr>
          <a:xfrm>
            <a:off x="2482596" y="6534302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Text 81"/>
          <p:cNvSpPr txBox="1"/>
          <p:nvPr/>
        </p:nvSpPr>
        <p:spPr>
          <a:xfrm>
            <a:off x="2654503" y="6486754"/>
            <a:ext cx="169804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Segoe Print" panose="02000600000000000000" charset="0"/>
                <a:ea typeface="Segoe Print" panose="02000600000000000000" charset="0"/>
                <a:cs typeface="Segoe Print" panose="02000600000000000000" charset="0"/>
              </a:rPr>
              <a:t>中风险：流动性/政策/芯片法案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4724</Words>
  <Application>WPS 演示</Application>
  <PresentationFormat>On-screen Show (16:9)</PresentationFormat>
  <Paragraphs>1280</Paragraphs>
  <Slides>12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Segoe Print</vt:lpstr>
      <vt:lpstr>Noto Sans SC</vt:lpstr>
      <vt:lpstr>Noto Sans SC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Han</cp:lastModifiedBy>
  <cp:revision>3</cp:revision>
  <dcterms:created xsi:type="dcterms:W3CDTF">2026-04-06T06:13:00Z</dcterms:created>
  <dcterms:modified xsi:type="dcterms:W3CDTF">2026-04-06T12:04:57Z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BB77AEBC4F9B44BF85EDD54936D2478D_12</vt:lpwstr>
  </property>
</Properties>
</file>